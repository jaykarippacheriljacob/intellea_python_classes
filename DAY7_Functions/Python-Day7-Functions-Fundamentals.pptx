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2.png"/><Relationship Id="rId5" Type="http://schemas.openxmlformats.org/officeDocument/2006/relationships/image" Target="../media/image-12-3.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2011680"/>
            <a:ext cx="9144000" cy="457200"/>
          </a:xfrm>
          <a:prstGeom prst="rect">
            <a:avLst/>
          </a:prstGeom>
          <a:noFill/>
          <a:ln/>
        </p:spPr>
        <p:txBody>
          <a:bodyPr wrap="square" rtlCol="0" anchor="ctr"/>
          <a:lstStyle/>
          <a:p>
            <a:pPr indent="0" marL="0">
              <a:buNone/>
            </a:pPr>
            <a:r>
              <a:rPr lang="en-US" sz="1600" b="1" spc="200" kern="0" dirty="0">
                <a:solidFill>
                  <a:srgbClr val="8B5CF6"/>
                </a:solidFill>
                <a:latin typeface="Calibri" pitchFamily="34" charset="0"/>
                <a:ea typeface="Calibri" pitchFamily="34" charset="-122"/>
                <a:cs typeface="Calibri" pitchFamily="34" charset="-120"/>
              </a:rPr>
              <a:t>WEEK 2  ·  DAY 7</a:t>
            </a:r>
            <a:endParaRPr lang="en-US" sz="1600" dirty="0"/>
          </a:p>
        </p:txBody>
      </p:sp>
      <p:sp>
        <p:nvSpPr>
          <p:cNvPr id="6" name="Text 2"/>
          <p:cNvSpPr txBox="1"/>
          <p:nvPr/>
        </p:nvSpPr>
        <p:spPr>
          <a:xfrm>
            <a:off x="457200" y="2514600"/>
            <a:ext cx="10972800" cy="1188720"/>
          </a:xfrm>
          <a:prstGeom prst="rect">
            <a:avLst/>
          </a:prstGeom>
          <a:noFill/>
          <a:ln/>
        </p:spPr>
        <p:txBody>
          <a:bodyPr wrap="square"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Functions: Fundamentals</a:t>
            </a:r>
            <a:endParaRPr lang="en-US" sz="4600" dirty="0"/>
          </a:p>
        </p:txBody>
      </p:sp>
      <p:sp>
        <p:nvSpPr>
          <p:cNvPr id="7" name="Text 3"/>
          <p:cNvSpPr txBox="1"/>
          <p:nvPr/>
        </p:nvSpPr>
        <p:spPr>
          <a:xfrm>
            <a:off x="457200" y="3840480"/>
            <a:ext cx="10515600" cy="731520"/>
          </a:xfrm>
          <a:prstGeom prst="rect">
            <a:avLst/>
          </a:prstGeom>
          <a:noFill/>
          <a:ln/>
        </p:spPr>
        <p:txBody>
          <a:bodyPr wrap="square" rtlCol="0" anchor="ctr"/>
          <a:lstStyle/>
          <a:p>
            <a:pPr indent="0" marL="0">
              <a:buNone/>
            </a:pPr>
            <a:r>
              <a:rPr lang="en-US" sz="2000" dirty="0">
                <a:solidFill>
                  <a:srgbClr val="CBD5E1"/>
                </a:solidFill>
                <a:latin typeface="Calibri" pitchFamily="34" charset="0"/>
                <a:ea typeface="Calibri" pitchFamily="34" charset="-122"/>
                <a:cs typeface="Calibri" pitchFamily="34" charset="-120"/>
              </a:rPr>
              <a:t>Write a block of code once and use it again and again</a:t>
            </a:r>
            <a:endParaRPr lang="en-US" sz="2000" dirty="0"/>
          </a:p>
        </p:txBody>
      </p:sp>
      <p:sp>
        <p:nvSpPr>
          <p:cNvPr id="8" name="Text 4"/>
          <p:cNvSpPr txBox="1"/>
          <p:nvPr/>
        </p:nvSpPr>
        <p:spPr>
          <a:xfrm>
            <a:off x="457200" y="4846320"/>
            <a:ext cx="10058400" cy="36576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Python Live Class  ·  Theory and concept support</a:t>
            </a:r>
            <a:endParaRPr lang="en-US" sz="1400" dirty="0"/>
          </a:p>
        </p:txBody>
      </p:sp>
      <p:sp>
        <p:nvSpPr>
          <p:cNvPr id="9" name="Text 5"/>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10" name="Text 6"/>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11887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MEET RAVI</a:t>
            </a:r>
            <a:endParaRPr lang="en-US" sz="1400" dirty="0"/>
          </a:p>
        </p:txBody>
      </p:sp>
      <p:sp>
        <p:nvSpPr>
          <p:cNvPr id="4" name="Text 1"/>
          <p:cNvSpPr txBox="1"/>
          <p:nvPr/>
        </p:nvSpPr>
        <p:spPr>
          <a:xfrm>
            <a:off x="457200" y="1554480"/>
            <a:ext cx="11155680" cy="822960"/>
          </a:xfrm>
          <a:prstGeom prst="rect">
            <a:avLst/>
          </a:prstGeom>
          <a:noFill/>
          <a:ln/>
        </p:spPr>
        <p:txBody>
          <a:bodyPr wrap="square" rtlCol="0" anchor="ctr"/>
          <a:lstStyle/>
          <a:p>
            <a:pPr indent="0" marL="0">
              <a:buNone/>
            </a:pPr>
            <a:r>
              <a:rPr lang="en-US" sz="3200" b="1" dirty="0">
                <a:solidFill>
                  <a:srgbClr val="1E293B"/>
                </a:solidFill>
                <a:latin typeface="Calibri" pitchFamily="34" charset="0"/>
                <a:ea typeface="Calibri" pitchFamily="34" charset="-122"/>
                <a:cs typeface="Calibri" pitchFamily="34" charset="-120"/>
              </a:rPr>
              <a:t>Today's Journey</a:t>
            </a:r>
            <a:endParaRPr lang="en-US" sz="3200" dirty="0"/>
          </a:p>
        </p:txBody>
      </p:sp>
      <p:sp>
        <p:nvSpPr>
          <p:cNvPr id="5" name="rc_road"/>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822960" y="2606040"/>
            <a:ext cx="868680" cy="868680"/>
          </a:xfrm>
          <a:prstGeom prst="ellipse">
            <a:avLst/>
          </a:prstGeom>
          <a:solidFill>
            <a:srgbClr val="FCE7F3"/>
          </a:solidFill>
          <a:ln w="19050">
            <a:solidFill>
              <a:srgbClr val="EC4899"/>
            </a:solidFill>
            <a:prstDash val="solid"/>
          </a:ln>
        </p:spPr>
      </p:sp>
      <p:pic>
        <p:nvPicPr>
          <p:cNvPr id="7" name="Image 1" descr="assets/icon2_user_pink.png">    </p:cNvPr>
          <p:cNvPicPr>
            <a:picLocks noChangeAspect="1"/>
          </p:cNvPicPr>
          <p:nvPr/>
        </p:nvPicPr>
        <p:blipFill>
          <a:blip r:embed="rId2"/>
          <a:stretch>
            <a:fillRect/>
          </a:stretch>
        </p:blipFill>
        <p:spPr>
          <a:xfrm>
            <a:off x="996696" y="2779776"/>
            <a:ext cx="521208" cy="521208"/>
          </a:xfrm>
          <a:prstGeom prst="rect">
            <a:avLst/>
          </a:prstGeom>
        </p:spPr>
      </p:pic>
      <p:sp>
        <p:nvSpPr>
          <p:cNvPr id="8" name="Shape 4"/>
          <p:cNvSpPr/>
          <p:nvPr/>
        </p:nvSpPr>
        <p:spPr>
          <a:xfrm rot="2700000">
            <a:off x="1920240" y="3131820"/>
            <a:ext cx="182880" cy="182880"/>
          </a:xfrm>
          <a:prstGeom prst="rect">
            <a:avLst/>
          </a:prstGeom>
          <a:solidFill>
            <a:srgbClr val="FDF2F8"/>
          </a:solidFill>
          <a:ln w="15875">
            <a:solidFill>
              <a:srgbClr val="EC4899"/>
            </a:solidFill>
            <a:prstDash val="solid"/>
          </a:ln>
        </p:spPr>
      </p:sp>
      <p:sp>
        <p:nvSpPr>
          <p:cNvPr id="9" name="Shape 5"/>
          <p:cNvSpPr/>
          <p:nvPr/>
        </p:nvSpPr>
        <p:spPr>
          <a:xfrm>
            <a:off x="2011680" y="2560320"/>
            <a:ext cx="9418320" cy="1325880"/>
          </a:xfrm>
          <a:prstGeom prst="roundRect">
            <a:avLst>
              <a:gd name="adj" fmla="val 8276"/>
            </a:avLst>
          </a:prstGeom>
          <a:solidFill>
            <a:srgbClr val="FDF2F8"/>
          </a:solidFill>
          <a:ln w="15875">
            <a:solidFill>
              <a:srgbClr val="EC4899"/>
            </a:solidFill>
            <a:prstDash val="solid"/>
          </a:ln>
        </p:spPr>
      </p:sp>
      <p:sp>
        <p:nvSpPr>
          <p:cNvPr id="10" name="Text 6"/>
          <p:cNvSpPr txBox="1"/>
          <p:nvPr/>
        </p:nvSpPr>
        <p:spPr>
          <a:xfrm>
            <a:off x="2194560" y="2560320"/>
            <a:ext cx="9052560" cy="1325880"/>
          </a:xfrm>
          <a:prstGeom prst="rect">
            <a:avLst/>
          </a:prstGeom>
          <a:noFill/>
          <a:ln/>
        </p:spPr>
        <p:txBody>
          <a:bodyPr wrap="square"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Ravi's shop app needs the same total calculation for every order.</a:t>
            </a:r>
            <a:endParaRPr lang="en-US" sz="1500" dirty="0"/>
          </a:p>
          <a:p>
            <a:pPr indent="0" marL="0">
              <a:buNone/>
            </a:pPr>
            <a:r>
              <a:rPr lang="en-US" sz="1500" dirty="0">
                <a:solidFill>
                  <a:srgbClr val="64748B"/>
                </a:solidFill>
                <a:latin typeface="Calibri" pitchFamily="34" charset="0"/>
                <a:ea typeface="Calibri" pitchFamily="34" charset="-122"/>
                <a:cs typeface="Calibri" pitchFamily="34" charset="-120"/>
              </a:rPr>
              <a:t>Writing it again and again is slow and risky. Today he learns to write it once and reuse it.</a:t>
            </a:r>
            <a:endParaRPr lang="en-US" sz="1500" dirty="0"/>
          </a:p>
        </p:txBody>
      </p:sp>
      <p:sp>
        <p:nvSpPr>
          <p:cNvPr id="11" name="Shape 7"/>
          <p:cNvSpPr/>
          <p:nvPr/>
        </p:nvSpPr>
        <p:spPr>
          <a:xfrm>
            <a:off x="1188720" y="4846320"/>
            <a:ext cx="9784080" cy="0"/>
          </a:xfrm>
          <a:prstGeom prst="line">
            <a:avLst/>
          </a:prstGeom>
          <a:noFill/>
          <a:ln w="38100">
            <a:solidFill>
              <a:srgbClr val="8B5CF6"/>
            </a:solidFill>
            <a:prstDash val="dash"/>
          </a:ln>
        </p:spPr>
      </p:sp>
      <p:sp>
        <p:nvSpPr>
          <p:cNvPr id="12" name="Shape 8"/>
          <p:cNvSpPr/>
          <p:nvPr/>
        </p:nvSpPr>
        <p:spPr>
          <a:xfrm>
            <a:off x="822960" y="4480560"/>
            <a:ext cx="731520" cy="731520"/>
          </a:xfrm>
          <a:prstGeom prst="ellipse">
            <a:avLst/>
          </a:prstGeom>
          <a:solidFill>
            <a:srgbClr val="FFFFFF"/>
          </a:solidFill>
          <a:ln w="31750">
            <a:solidFill>
              <a:srgbClr val="8B5CF6"/>
            </a:solidFill>
            <a:prstDash val="solid"/>
          </a:ln>
        </p:spPr>
      </p:sp>
      <p:pic>
        <p:nvPicPr>
          <p:cNvPr id="13" name="Image 2" descr="assets/icon2_code_purple.png">    </p:cNvPr>
          <p:cNvPicPr>
            <a:picLocks noChangeAspect="1"/>
          </p:cNvPicPr>
          <p:nvPr/>
        </p:nvPicPr>
        <p:blipFill>
          <a:blip r:embed="rId3"/>
          <a:stretch>
            <a:fillRect/>
          </a:stretch>
        </p:blipFill>
        <p:spPr>
          <a:xfrm>
            <a:off x="987552" y="4645152"/>
            <a:ext cx="402336" cy="402336"/>
          </a:xfrm>
          <a:prstGeom prst="rect">
            <a:avLst/>
          </a:prstGeom>
        </p:spPr>
      </p:pic>
      <p:sp>
        <p:nvSpPr>
          <p:cNvPr id="14" name="Text 9"/>
          <p:cNvSpPr txBox="1"/>
          <p:nvPr/>
        </p:nvSpPr>
        <p:spPr>
          <a:xfrm>
            <a:off x="100584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1</a:t>
            </a:r>
            <a:endParaRPr lang="en-US" sz="1200" dirty="0"/>
          </a:p>
        </p:txBody>
      </p:sp>
      <p:sp>
        <p:nvSpPr>
          <p:cNvPr id="15" name="Text 10"/>
          <p:cNvSpPr txBox="1"/>
          <p:nvPr/>
        </p:nvSpPr>
        <p:spPr>
          <a:xfrm>
            <a:off x="41910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Why functions</a:t>
            </a:r>
            <a:endParaRPr lang="en-US" sz="1300" dirty="0"/>
          </a:p>
        </p:txBody>
      </p:sp>
      <p:sp>
        <p:nvSpPr>
          <p:cNvPr id="16" name="Shape 11"/>
          <p:cNvSpPr/>
          <p:nvPr/>
        </p:nvSpPr>
        <p:spPr>
          <a:xfrm>
            <a:off x="2453640" y="4480560"/>
            <a:ext cx="731520" cy="731520"/>
          </a:xfrm>
          <a:prstGeom prst="ellipse">
            <a:avLst/>
          </a:prstGeom>
          <a:solidFill>
            <a:srgbClr val="FFFFFF"/>
          </a:solidFill>
          <a:ln w="31750">
            <a:solidFill>
              <a:srgbClr val="14B8A6"/>
            </a:solidFill>
            <a:prstDash val="solid"/>
          </a:ln>
        </p:spPr>
      </p:sp>
      <p:pic>
        <p:nvPicPr>
          <p:cNvPr id="17" name="Image 3" descr="assets/icon2_layers_teal.png">    </p:cNvPr>
          <p:cNvPicPr>
            <a:picLocks noChangeAspect="1"/>
          </p:cNvPicPr>
          <p:nvPr/>
        </p:nvPicPr>
        <p:blipFill>
          <a:blip r:embed="rId4"/>
          <a:stretch>
            <a:fillRect/>
          </a:stretch>
        </p:blipFill>
        <p:spPr>
          <a:xfrm>
            <a:off x="2618232" y="4645152"/>
            <a:ext cx="402336" cy="402336"/>
          </a:xfrm>
          <a:prstGeom prst="rect">
            <a:avLst/>
          </a:prstGeom>
        </p:spPr>
      </p:pic>
      <p:sp>
        <p:nvSpPr>
          <p:cNvPr id="18" name="Text 12"/>
          <p:cNvSpPr txBox="1"/>
          <p:nvPr/>
        </p:nvSpPr>
        <p:spPr>
          <a:xfrm>
            <a:off x="263652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2</a:t>
            </a:r>
            <a:endParaRPr lang="en-US" sz="1200" dirty="0"/>
          </a:p>
        </p:txBody>
      </p:sp>
      <p:sp>
        <p:nvSpPr>
          <p:cNvPr id="19" name="Text 13"/>
          <p:cNvSpPr txBox="1"/>
          <p:nvPr/>
        </p:nvSpPr>
        <p:spPr>
          <a:xfrm>
            <a:off x="204978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Two types</a:t>
            </a:r>
            <a:endParaRPr lang="en-US" sz="1300" dirty="0"/>
          </a:p>
        </p:txBody>
      </p:sp>
      <p:sp>
        <p:nvSpPr>
          <p:cNvPr id="20" name="Shape 14"/>
          <p:cNvSpPr/>
          <p:nvPr/>
        </p:nvSpPr>
        <p:spPr>
          <a:xfrm>
            <a:off x="4084320" y="4480560"/>
            <a:ext cx="731520" cy="731520"/>
          </a:xfrm>
          <a:prstGeom prst="ellipse">
            <a:avLst/>
          </a:prstGeom>
          <a:solidFill>
            <a:srgbClr val="FFFFFF"/>
          </a:solidFill>
          <a:ln w="31750">
            <a:solidFill>
              <a:srgbClr val="8B5CF6"/>
            </a:solidFill>
            <a:prstDash val="solid"/>
          </a:ln>
        </p:spPr>
      </p:sp>
      <p:pic>
        <p:nvPicPr>
          <p:cNvPr id="21" name="Image 4" descr="assets/icon2_settings_navy.png">    </p:cNvPr>
          <p:cNvPicPr>
            <a:picLocks noChangeAspect="1"/>
          </p:cNvPicPr>
          <p:nvPr/>
        </p:nvPicPr>
        <p:blipFill>
          <a:blip r:embed="rId5"/>
          <a:stretch>
            <a:fillRect/>
          </a:stretch>
        </p:blipFill>
        <p:spPr>
          <a:xfrm>
            <a:off x="4248912" y="4645152"/>
            <a:ext cx="402336" cy="402336"/>
          </a:xfrm>
          <a:prstGeom prst="rect">
            <a:avLst/>
          </a:prstGeom>
        </p:spPr>
      </p:pic>
      <p:sp>
        <p:nvSpPr>
          <p:cNvPr id="22" name="Text 15"/>
          <p:cNvSpPr txBox="1"/>
          <p:nvPr/>
        </p:nvSpPr>
        <p:spPr>
          <a:xfrm>
            <a:off x="426720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3</a:t>
            </a:r>
            <a:endParaRPr lang="en-US" sz="1200" dirty="0"/>
          </a:p>
        </p:txBody>
      </p:sp>
      <p:sp>
        <p:nvSpPr>
          <p:cNvPr id="23" name="Text 16"/>
          <p:cNvSpPr txBox="1"/>
          <p:nvPr/>
        </p:nvSpPr>
        <p:spPr>
          <a:xfrm>
            <a:off x="368046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Parameters</a:t>
            </a:r>
            <a:endParaRPr lang="en-US" sz="1300" dirty="0"/>
          </a:p>
        </p:txBody>
      </p:sp>
      <p:sp>
        <p:nvSpPr>
          <p:cNvPr id="24" name="Shape 17"/>
          <p:cNvSpPr/>
          <p:nvPr/>
        </p:nvSpPr>
        <p:spPr>
          <a:xfrm>
            <a:off x="5715000" y="4480560"/>
            <a:ext cx="731520" cy="731520"/>
          </a:xfrm>
          <a:prstGeom prst="ellipse">
            <a:avLst/>
          </a:prstGeom>
          <a:solidFill>
            <a:srgbClr val="FFFFFF"/>
          </a:solidFill>
          <a:ln w="31750">
            <a:solidFill>
              <a:srgbClr val="14B8A6"/>
            </a:solidFill>
            <a:prstDash val="solid"/>
          </a:ln>
        </p:spPr>
      </p:sp>
      <p:pic>
        <p:nvPicPr>
          <p:cNvPr id="25" name="Image 5" descr="assets/icon2_undo_orange.png">    </p:cNvPr>
          <p:cNvPicPr>
            <a:picLocks noChangeAspect="1"/>
          </p:cNvPicPr>
          <p:nvPr/>
        </p:nvPicPr>
        <p:blipFill>
          <a:blip r:embed="rId6"/>
          <a:stretch>
            <a:fillRect/>
          </a:stretch>
        </p:blipFill>
        <p:spPr>
          <a:xfrm>
            <a:off x="5879592" y="4645152"/>
            <a:ext cx="402336" cy="402336"/>
          </a:xfrm>
          <a:prstGeom prst="rect">
            <a:avLst/>
          </a:prstGeom>
        </p:spPr>
      </p:pic>
      <p:sp>
        <p:nvSpPr>
          <p:cNvPr id="26" name="Text 18"/>
          <p:cNvSpPr txBox="1"/>
          <p:nvPr/>
        </p:nvSpPr>
        <p:spPr>
          <a:xfrm>
            <a:off x="589788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4</a:t>
            </a:r>
            <a:endParaRPr lang="en-US" sz="1200" dirty="0"/>
          </a:p>
        </p:txBody>
      </p:sp>
      <p:sp>
        <p:nvSpPr>
          <p:cNvPr id="27" name="Text 19"/>
          <p:cNvSpPr txBox="1"/>
          <p:nvPr/>
        </p:nvSpPr>
        <p:spPr>
          <a:xfrm>
            <a:off x="531114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Return values</a:t>
            </a:r>
            <a:endParaRPr lang="en-US" sz="1300" dirty="0"/>
          </a:p>
        </p:txBody>
      </p:sp>
      <p:sp>
        <p:nvSpPr>
          <p:cNvPr id="28" name="Shape 20"/>
          <p:cNvSpPr/>
          <p:nvPr/>
        </p:nvSpPr>
        <p:spPr>
          <a:xfrm>
            <a:off x="7345680" y="4480560"/>
            <a:ext cx="731520" cy="731520"/>
          </a:xfrm>
          <a:prstGeom prst="ellipse">
            <a:avLst/>
          </a:prstGeom>
          <a:solidFill>
            <a:srgbClr val="FFFFFF"/>
          </a:solidFill>
          <a:ln w="31750">
            <a:solidFill>
              <a:srgbClr val="8B5CF6"/>
            </a:solidFill>
            <a:prstDash val="solid"/>
          </a:ln>
        </p:spPr>
      </p:sp>
      <p:pic>
        <p:nvPicPr>
          <p:cNvPr id="29" name="Image 6" descr="assets/icon2_equal_teal.png">    </p:cNvPr>
          <p:cNvPicPr>
            <a:picLocks noChangeAspect="1"/>
          </p:cNvPicPr>
          <p:nvPr/>
        </p:nvPicPr>
        <p:blipFill>
          <a:blip r:embed="rId7"/>
          <a:stretch>
            <a:fillRect/>
          </a:stretch>
        </p:blipFill>
        <p:spPr>
          <a:xfrm>
            <a:off x="7510272" y="4645152"/>
            <a:ext cx="402336" cy="402336"/>
          </a:xfrm>
          <a:prstGeom prst="rect">
            <a:avLst/>
          </a:prstGeom>
        </p:spPr>
      </p:pic>
      <p:sp>
        <p:nvSpPr>
          <p:cNvPr id="30" name="Text 21"/>
          <p:cNvSpPr txBox="1"/>
          <p:nvPr/>
        </p:nvSpPr>
        <p:spPr>
          <a:xfrm>
            <a:off x="752856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5</a:t>
            </a:r>
            <a:endParaRPr lang="en-US" sz="1200" dirty="0"/>
          </a:p>
        </p:txBody>
      </p:sp>
      <p:sp>
        <p:nvSpPr>
          <p:cNvPr id="31" name="Text 22"/>
          <p:cNvSpPr txBox="1"/>
          <p:nvPr/>
        </p:nvSpPr>
        <p:spPr>
          <a:xfrm>
            <a:off x="694182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Default values</a:t>
            </a:r>
            <a:endParaRPr lang="en-US" sz="1300" dirty="0"/>
          </a:p>
        </p:txBody>
      </p:sp>
      <p:sp>
        <p:nvSpPr>
          <p:cNvPr id="32" name="Shape 23"/>
          <p:cNvSpPr/>
          <p:nvPr/>
        </p:nvSpPr>
        <p:spPr>
          <a:xfrm>
            <a:off x="8976360" y="4480560"/>
            <a:ext cx="731520" cy="731520"/>
          </a:xfrm>
          <a:prstGeom prst="ellipse">
            <a:avLst/>
          </a:prstGeom>
          <a:solidFill>
            <a:srgbClr val="FFFFFF"/>
          </a:solidFill>
          <a:ln w="31750">
            <a:solidFill>
              <a:srgbClr val="14B8A6"/>
            </a:solidFill>
            <a:prstDash val="solid"/>
          </a:ln>
        </p:spPr>
      </p:sp>
      <p:pic>
        <p:nvPicPr>
          <p:cNvPr id="33" name="Image 7" descr="assets/icon2_lock_navy.png">    </p:cNvPr>
          <p:cNvPicPr>
            <a:picLocks noChangeAspect="1"/>
          </p:cNvPicPr>
          <p:nvPr/>
        </p:nvPicPr>
        <p:blipFill>
          <a:blip r:embed="rId8"/>
          <a:stretch>
            <a:fillRect/>
          </a:stretch>
        </p:blipFill>
        <p:spPr>
          <a:xfrm>
            <a:off x="9140952" y="4645152"/>
            <a:ext cx="402336" cy="402336"/>
          </a:xfrm>
          <a:prstGeom prst="rect">
            <a:avLst/>
          </a:prstGeom>
        </p:spPr>
      </p:pic>
      <p:sp>
        <p:nvSpPr>
          <p:cNvPr id="34" name="Text 24"/>
          <p:cNvSpPr txBox="1"/>
          <p:nvPr/>
        </p:nvSpPr>
        <p:spPr>
          <a:xfrm>
            <a:off x="915924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6</a:t>
            </a:r>
            <a:endParaRPr lang="en-US" sz="1200" dirty="0"/>
          </a:p>
        </p:txBody>
      </p:sp>
      <p:sp>
        <p:nvSpPr>
          <p:cNvPr id="35" name="Text 25"/>
          <p:cNvSpPr txBox="1"/>
          <p:nvPr/>
        </p:nvSpPr>
        <p:spPr>
          <a:xfrm>
            <a:off x="857250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Local and global</a:t>
            </a:r>
            <a:endParaRPr lang="en-US" sz="1300" dirty="0"/>
          </a:p>
        </p:txBody>
      </p:sp>
      <p:sp>
        <p:nvSpPr>
          <p:cNvPr id="36" name="Shape 26"/>
          <p:cNvSpPr/>
          <p:nvPr/>
        </p:nvSpPr>
        <p:spPr>
          <a:xfrm>
            <a:off x="10607040" y="4480560"/>
            <a:ext cx="731520" cy="731520"/>
          </a:xfrm>
          <a:prstGeom prst="ellipse">
            <a:avLst/>
          </a:prstGeom>
          <a:solidFill>
            <a:srgbClr val="FFFFFF"/>
          </a:solidFill>
          <a:ln w="31750">
            <a:solidFill>
              <a:srgbClr val="8B5CF6"/>
            </a:solidFill>
            <a:prstDash val="solid"/>
          </a:ln>
        </p:spPr>
      </p:sp>
      <p:pic>
        <p:nvPicPr>
          <p:cNvPr id="37" name="Image 8" descr="assets/icon2_calc_navy.png">    </p:cNvPr>
          <p:cNvPicPr>
            <a:picLocks noChangeAspect="1"/>
          </p:cNvPicPr>
          <p:nvPr/>
        </p:nvPicPr>
        <p:blipFill>
          <a:blip r:embed="rId9"/>
          <a:stretch>
            <a:fillRect/>
          </a:stretch>
        </p:blipFill>
        <p:spPr>
          <a:xfrm>
            <a:off x="10771632" y="4645152"/>
            <a:ext cx="402336" cy="402336"/>
          </a:xfrm>
          <a:prstGeom prst="rect">
            <a:avLst/>
          </a:prstGeom>
        </p:spPr>
      </p:pic>
      <p:sp>
        <p:nvSpPr>
          <p:cNvPr id="38" name="Text 27"/>
          <p:cNvSpPr txBox="1"/>
          <p:nvPr/>
        </p:nvSpPr>
        <p:spPr>
          <a:xfrm>
            <a:off x="1078992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7</a:t>
            </a:r>
            <a:endParaRPr lang="en-US" sz="1200" dirty="0"/>
          </a:p>
        </p:txBody>
      </p:sp>
      <p:sp>
        <p:nvSpPr>
          <p:cNvPr id="39" name="Text 28"/>
          <p:cNvSpPr txBox="1"/>
          <p:nvPr/>
        </p:nvSpPr>
        <p:spPr>
          <a:xfrm>
            <a:off x="10203180" y="5303520"/>
            <a:ext cx="1539240"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Calculator</a:t>
            </a:r>
            <a:endParaRPr lang="en-US" sz="1300" dirty="0"/>
          </a:p>
        </p:txBody>
      </p:sp>
      <p:sp>
        <p:nvSpPr>
          <p:cNvPr id="40" name="Text 2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41" name="Text 3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1</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Is a Function?</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vending machine does one job. You make the same kind of request each time, it follows the same steps and it hands you the result. Nobody rebuilds the machine for every customer.</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A function is a reusable block of code that performs one particular task. You write it once and use it whenever you need it.</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Billing and tax calculations, salary and discount rules, data cleaning steps. Every large application is built from many small functions.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WHY FUNCTIONS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Same Steps, Written Once</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731520" y="2331720"/>
            <a:ext cx="4937760" cy="274320"/>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WITHOUT A FUNCTION</a:t>
            </a:r>
            <a:endParaRPr lang="en-US" sz="1100" dirty="0"/>
          </a:p>
        </p:txBody>
      </p:sp>
      <p:sp>
        <p:nvSpPr>
          <p:cNvPr id="7" name="Shape 4"/>
          <p:cNvSpPr/>
          <p:nvPr/>
        </p:nvSpPr>
        <p:spPr>
          <a:xfrm>
            <a:off x="731520" y="2651760"/>
            <a:ext cx="5029200" cy="1097280"/>
          </a:xfrm>
          <a:prstGeom prst="roundRect">
            <a:avLst>
              <a:gd name="adj" fmla="val 6667"/>
            </a:avLst>
          </a:prstGeom>
          <a:solidFill>
            <a:srgbClr val="FFF7ED"/>
          </a:solidFill>
          <a:ln w="15875">
            <a:solidFill>
              <a:srgbClr val="F97316"/>
            </a:solidFill>
            <a:prstDash val="solid"/>
          </a:ln>
        </p:spPr>
      </p:sp>
      <p:sp>
        <p:nvSpPr>
          <p:cNvPr id="8" name="Text 5"/>
          <p:cNvSpPr txBox="1"/>
          <p:nvPr/>
        </p:nvSpPr>
        <p:spPr>
          <a:xfrm>
            <a:off x="868680" y="2697480"/>
            <a:ext cx="1828800" cy="274320"/>
          </a:xfrm>
          <a:prstGeom prst="rect">
            <a:avLst/>
          </a:prstGeom>
          <a:noFill/>
          <a:ln/>
        </p:spPr>
        <p:txBody>
          <a:bodyPr wrap="square" rtlCol="0" anchor="ctr"/>
          <a:lstStyle/>
          <a:p>
            <a:pPr indent="0" marL="0">
              <a:buNone/>
            </a:pPr>
            <a:r>
              <a:rPr lang="en-US" sz="1200" b="1" dirty="0">
                <a:solidFill>
                  <a:srgbClr val="F97316"/>
                </a:solidFill>
                <a:latin typeface="Calibri" pitchFamily="34" charset="0"/>
                <a:ea typeface="Calibri" pitchFamily="34" charset="-122"/>
                <a:cs typeface="Calibri" pitchFamily="34" charset="-120"/>
              </a:rPr>
              <a:t>Order 1</a:t>
            </a:r>
            <a:endParaRPr lang="en-US" sz="1200" dirty="0"/>
          </a:p>
        </p:txBody>
      </p:sp>
      <p:sp>
        <p:nvSpPr>
          <p:cNvPr id="9" name="Shape 6"/>
          <p:cNvSpPr/>
          <p:nvPr/>
        </p:nvSpPr>
        <p:spPr>
          <a:xfrm>
            <a:off x="868680" y="3108960"/>
            <a:ext cx="1508760" cy="457200"/>
          </a:xfrm>
          <a:prstGeom prst="roundRect">
            <a:avLst>
              <a:gd name="adj" fmla="val 12000"/>
            </a:avLst>
          </a:prstGeom>
          <a:solidFill>
            <a:srgbClr val="FFEDD5"/>
          </a:solidFill>
          <a:ln w="25400">
            <a:solidFill>
              <a:srgbClr val="F97316"/>
            </a:solidFill>
            <a:prstDash val="solid"/>
          </a:ln>
        </p:spPr>
      </p:sp>
      <p:sp>
        <p:nvSpPr>
          <p:cNvPr id="10" name="Text 7"/>
          <p:cNvSpPr txBox="1"/>
          <p:nvPr/>
        </p:nvSpPr>
        <p:spPr>
          <a:xfrm>
            <a:off x="868680" y="3108960"/>
            <a:ext cx="1508760" cy="457200"/>
          </a:xfrm>
          <a:prstGeom prst="rect">
            <a:avLst/>
          </a:prstGeom>
          <a:noFill/>
          <a:ln/>
        </p:spPr>
        <p:txBody>
          <a:bodyPr wrap="square" rtlCol="0" anchor="ctr"/>
          <a:lstStyle/>
          <a:p>
            <a:pPr algn="ctr" indent="0" marL="0">
              <a:buNone/>
            </a:pPr>
            <a:r>
              <a:rPr lang="en-US" sz="1200" dirty="0">
                <a:solidFill>
                  <a:srgbClr val="1E293B"/>
                </a:solidFill>
                <a:latin typeface="Consolas" pitchFamily="34" charset="0"/>
                <a:ea typeface="Consolas" pitchFamily="34" charset="-122"/>
                <a:cs typeface="Consolas" pitchFamily="34" charset="-120"/>
              </a:rPr>
              <a:t>price 5000</a:t>
            </a:r>
            <a:endParaRPr lang="en-US" sz="1200" dirty="0"/>
          </a:p>
        </p:txBody>
      </p:sp>
      <p:sp>
        <p:nvSpPr>
          <p:cNvPr id="11" name="Shape 8"/>
          <p:cNvSpPr/>
          <p:nvPr/>
        </p:nvSpPr>
        <p:spPr>
          <a:xfrm>
            <a:off x="2468880" y="3108960"/>
            <a:ext cx="1508760" cy="457200"/>
          </a:xfrm>
          <a:prstGeom prst="roundRect">
            <a:avLst>
              <a:gd name="adj" fmla="val 12000"/>
            </a:avLst>
          </a:prstGeom>
          <a:solidFill>
            <a:srgbClr val="FFEDD5"/>
          </a:solidFill>
          <a:ln w="25400">
            <a:solidFill>
              <a:srgbClr val="F97316"/>
            </a:solidFill>
            <a:prstDash val="solid"/>
          </a:ln>
        </p:spPr>
      </p:sp>
      <p:sp>
        <p:nvSpPr>
          <p:cNvPr id="12" name="Text 9"/>
          <p:cNvSpPr txBox="1"/>
          <p:nvPr/>
        </p:nvSpPr>
        <p:spPr>
          <a:xfrm>
            <a:off x="2468880" y="3108960"/>
            <a:ext cx="1508760" cy="457200"/>
          </a:xfrm>
          <a:prstGeom prst="rect">
            <a:avLst/>
          </a:prstGeom>
          <a:noFill/>
          <a:ln/>
        </p:spPr>
        <p:txBody>
          <a:bodyPr wrap="square" rtlCol="0" anchor="ctr"/>
          <a:lstStyle/>
          <a:p>
            <a:pPr algn="ctr" indent="0" marL="0">
              <a:buNone/>
            </a:pPr>
            <a:r>
              <a:rPr lang="en-US" sz="1200" dirty="0">
                <a:solidFill>
                  <a:srgbClr val="1E293B"/>
                </a:solidFill>
                <a:latin typeface="Consolas" pitchFamily="34" charset="0"/>
                <a:ea typeface="Consolas" pitchFamily="34" charset="-122"/>
                <a:cs typeface="Consolas" pitchFamily="34" charset="-120"/>
              </a:rPr>
              <a:t>quantity 3</a:t>
            </a:r>
            <a:endParaRPr lang="en-US" sz="1200" dirty="0"/>
          </a:p>
        </p:txBody>
      </p:sp>
      <p:sp>
        <p:nvSpPr>
          <p:cNvPr id="13" name="Shape 10"/>
          <p:cNvSpPr/>
          <p:nvPr/>
        </p:nvSpPr>
        <p:spPr>
          <a:xfrm>
            <a:off x="4069080" y="3108960"/>
            <a:ext cx="1508760" cy="457200"/>
          </a:xfrm>
          <a:prstGeom prst="roundRect">
            <a:avLst>
              <a:gd name="adj" fmla="val 12000"/>
            </a:avLst>
          </a:prstGeom>
          <a:solidFill>
            <a:srgbClr val="FFEDD5"/>
          </a:solidFill>
          <a:ln w="25400">
            <a:solidFill>
              <a:srgbClr val="F97316"/>
            </a:solidFill>
            <a:prstDash val="solid"/>
          </a:ln>
        </p:spPr>
      </p:sp>
      <p:sp>
        <p:nvSpPr>
          <p:cNvPr id="14" name="Text 11"/>
          <p:cNvSpPr txBox="1"/>
          <p:nvPr/>
        </p:nvSpPr>
        <p:spPr>
          <a:xfrm>
            <a:off x="4069080" y="3108960"/>
            <a:ext cx="1508760" cy="457200"/>
          </a:xfrm>
          <a:prstGeom prst="rect">
            <a:avLst/>
          </a:prstGeom>
          <a:noFill/>
          <a:ln/>
        </p:spPr>
        <p:txBody>
          <a:bodyPr wrap="square" rtlCol="0" anchor="ctr"/>
          <a:lstStyle/>
          <a:p>
            <a:pPr algn="ctr" indent="0" marL="0">
              <a:buNone/>
            </a:pPr>
            <a:r>
              <a:rPr lang="en-US" sz="1200" dirty="0">
                <a:solidFill>
                  <a:srgbClr val="1E293B"/>
                </a:solidFill>
                <a:latin typeface="Consolas" pitchFamily="34" charset="0"/>
                <a:ea typeface="Consolas" pitchFamily="34" charset="-122"/>
                <a:cs typeface="Consolas" pitchFamily="34" charset="-120"/>
              </a:rPr>
              <a:t>total 15000</a:t>
            </a:r>
            <a:endParaRPr lang="en-US" sz="1200" dirty="0"/>
          </a:p>
        </p:txBody>
      </p:sp>
      <p:sp>
        <p:nvSpPr>
          <p:cNvPr id="15" name="Shape 12"/>
          <p:cNvSpPr/>
          <p:nvPr/>
        </p:nvSpPr>
        <p:spPr>
          <a:xfrm>
            <a:off x="731520" y="3931920"/>
            <a:ext cx="5029200" cy="1097280"/>
          </a:xfrm>
          <a:prstGeom prst="roundRect">
            <a:avLst>
              <a:gd name="adj" fmla="val 6667"/>
            </a:avLst>
          </a:prstGeom>
          <a:solidFill>
            <a:srgbClr val="FFF7ED"/>
          </a:solidFill>
          <a:ln w="15875">
            <a:solidFill>
              <a:srgbClr val="F97316"/>
            </a:solidFill>
            <a:prstDash val="solid"/>
          </a:ln>
        </p:spPr>
      </p:sp>
      <p:sp>
        <p:nvSpPr>
          <p:cNvPr id="16" name="Text 13"/>
          <p:cNvSpPr txBox="1"/>
          <p:nvPr/>
        </p:nvSpPr>
        <p:spPr>
          <a:xfrm>
            <a:off x="868680" y="3977640"/>
            <a:ext cx="1828800" cy="274320"/>
          </a:xfrm>
          <a:prstGeom prst="rect">
            <a:avLst/>
          </a:prstGeom>
          <a:noFill/>
          <a:ln/>
        </p:spPr>
        <p:txBody>
          <a:bodyPr wrap="square" rtlCol="0" anchor="ctr"/>
          <a:lstStyle/>
          <a:p>
            <a:pPr indent="0" marL="0">
              <a:buNone/>
            </a:pPr>
            <a:r>
              <a:rPr lang="en-US" sz="1200" b="1" dirty="0">
                <a:solidFill>
                  <a:srgbClr val="F97316"/>
                </a:solidFill>
                <a:latin typeface="Calibri" pitchFamily="34" charset="0"/>
                <a:ea typeface="Calibri" pitchFamily="34" charset="-122"/>
                <a:cs typeface="Calibri" pitchFamily="34" charset="-120"/>
              </a:rPr>
              <a:t>Order 2</a:t>
            </a:r>
            <a:endParaRPr lang="en-US" sz="1200" dirty="0"/>
          </a:p>
        </p:txBody>
      </p:sp>
      <p:sp>
        <p:nvSpPr>
          <p:cNvPr id="17" name="Shape 14"/>
          <p:cNvSpPr/>
          <p:nvPr/>
        </p:nvSpPr>
        <p:spPr>
          <a:xfrm>
            <a:off x="868680" y="4389120"/>
            <a:ext cx="1508760" cy="457200"/>
          </a:xfrm>
          <a:prstGeom prst="roundRect">
            <a:avLst>
              <a:gd name="adj" fmla="val 12000"/>
            </a:avLst>
          </a:prstGeom>
          <a:solidFill>
            <a:srgbClr val="FFEDD5"/>
          </a:solidFill>
          <a:ln w="25400">
            <a:solidFill>
              <a:srgbClr val="F97316"/>
            </a:solidFill>
            <a:prstDash val="solid"/>
          </a:ln>
        </p:spPr>
      </p:sp>
      <p:sp>
        <p:nvSpPr>
          <p:cNvPr id="18" name="Text 15"/>
          <p:cNvSpPr txBox="1"/>
          <p:nvPr/>
        </p:nvSpPr>
        <p:spPr>
          <a:xfrm>
            <a:off x="868680" y="4389120"/>
            <a:ext cx="1508760" cy="457200"/>
          </a:xfrm>
          <a:prstGeom prst="rect">
            <a:avLst/>
          </a:prstGeom>
          <a:noFill/>
          <a:ln/>
        </p:spPr>
        <p:txBody>
          <a:bodyPr wrap="square" rtlCol="0" anchor="ctr"/>
          <a:lstStyle/>
          <a:p>
            <a:pPr algn="ctr" indent="0" marL="0">
              <a:buNone/>
            </a:pPr>
            <a:r>
              <a:rPr lang="en-US" sz="1200" dirty="0">
                <a:solidFill>
                  <a:srgbClr val="1E293B"/>
                </a:solidFill>
                <a:latin typeface="Consolas" pitchFamily="34" charset="0"/>
                <a:ea typeface="Consolas" pitchFamily="34" charset="-122"/>
                <a:cs typeface="Consolas" pitchFamily="34" charset="-120"/>
              </a:rPr>
              <a:t>price 4888</a:t>
            </a:r>
            <a:endParaRPr lang="en-US" sz="1200" dirty="0"/>
          </a:p>
        </p:txBody>
      </p:sp>
      <p:sp>
        <p:nvSpPr>
          <p:cNvPr id="19" name="Shape 16"/>
          <p:cNvSpPr/>
          <p:nvPr/>
        </p:nvSpPr>
        <p:spPr>
          <a:xfrm>
            <a:off x="2468880" y="4389120"/>
            <a:ext cx="1508760" cy="457200"/>
          </a:xfrm>
          <a:prstGeom prst="roundRect">
            <a:avLst>
              <a:gd name="adj" fmla="val 12000"/>
            </a:avLst>
          </a:prstGeom>
          <a:solidFill>
            <a:srgbClr val="FFEDD5"/>
          </a:solidFill>
          <a:ln w="25400">
            <a:solidFill>
              <a:srgbClr val="F97316"/>
            </a:solidFill>
            <a:prstDash val="solid"/>
          </a:ln>
        </p:spPr>
      </p:sp>
      <p:sp>
        <p:nvSpPr>
          <p:cNvPr id="20" name="Text 17"/>
          <p:cNvSpPr txBox="1"/>
          <p:nvPr/>
        </p:nvSpPr>
        <p:spPr>
          <a:xfrm>
            <a:off x="2468880" y="4389120"/>
            <a:ext cx="1508760" cy="457200"/>
          </a:xfrm>
          <a:prstGeom prst="rect">
            <a:avLst/>
          </a:prstGeom>
          <a:noFill/>
          <a:ln/>
        </p:spPr>
        <p:txBody>
          <a:bodyPr wrap="square" rtlCol="0" anchor="ctr"/>
          <a:lstStyle/>
          <a:p>
            <a:pPr algn="ctr" indent="0" marL="0">
              <a:buNone/>
            </a:pPr>
            <a:r>
              <a:rPr lang="en-US" sz="1200" dirty="0">
                <a:solidFill>
                  <a:srgbClr val="1E293B"/>
                </a:solidFill>
                <a:latin typeface="Consolas" pitchFamily="34" charset="0"/>
                <a:ea typeface="Consolas" pitchFamily="34" charset="-122"/>
                <a:cs typeface="Consolas" pitchFamily="34" charset="-120"/>
              </a:rPr>
              <a:t>quantity 2</a:t>
            </a:r>
            <a:endParaRPr lang="en-US" sz="1200" dirty="0"/>
          </a:p>
        </p:txBody>
      </p:sp>
      <p:sp>
        <p:nvSpPr>
          <p:cNvPr id="21" name="Shape 18"/>
          <p:cNvSpPr/>
          <p:nvPr/>
        </p:nvSpPr>
        <p:spPr>
          <a:xfrm>
            <a:off x="4069080" y="4389120"/>
            <a:ext cx="1508760" cy="457200"/>
          </a:xfrm>
          <a:prstGeom prst="roundRect">
            <a:avLst>
              <a:gd name="adj" fmla="val 12000"/>
            </a:avLst>
          </a:prstGeom>
          <a:solidFill>
            <a:srgbClr val="FFEDD5"/>
          </a:solidFill>
          <a:ln w="25400">
            <a:solidFill>
              <a:srgbClr val="F97316"/>
            </a:solidFill>
            <a:prstDash val="solid"/>
          </a:ln>
        </p:spPr>
      </p:sp>
      <p:sp>
        <p:nvSpPr>
          <p:cNvPr id="22" name="Text 19"/>
          <p:cNvSpPr txBox="1"/>
          <p:nvPr/>
        </p:nvSpPr>
        <p:spPr>
          <a:xfrm>
            <a:off x="4069080" y="4389120"/>
            <a:ext cx="1508760" cy="457200"/>
          </a:xfrm>
          <a:prstGeom prst="rect">
            <a:avLst/>
          </a:prstGeom>
          <a:noFill/>
          <a:ln/>
        </p:spPr>
        <p:txBody>
          <a:bodyPr wrap="square" rtlCol="0" anchor="ctr"/>
          <a:lstStyle/>
          <a:p>
            <a:pPr algn="ctr" indent="0" marL="0">
              <a:buNone/>
            </a:pPr>
            <a:r>
              <a:rPr lang="en-US" sz="1200" dirty="0">
                <a:solidFill>
                  <a:srgbClr val="1E293B"/>
                </a:solidFill>
                <a:latin typeface="Consolas" pitchFamily="34" charset="0"/>
                <a:ea typeface="Consolas" pitchFamily="34" charset="-122"/>
                <a:cs typeface="Consolas" pitchFamily="34" charset="-120"/>
              </a:rPr>
              <a:t>total 9776</a:t>
            </a:r>
            <a:endParaRPr lang="en-US" sz="1200" dirty="0"/>
          </a:p>
        </p:txBody>
      </p:sp>
      <p:sp>
        <p:nvSpPr>
          <p:cNvPr id="23" name="Text 20"/>
          <p:cNvSpPr txBox="1"/>
          <p:nvPr/>
        </p:nvSpPr>
        <p:spPr>
          <a:xfrm>
            <a:off x="6309360" y="2331720"/>
            <a:ext cx="4937760" cy="274320"/>
          </a:xfrm>
          <a:prstGeom prst="rect">
            <a:avLst/>
          </a:prstGeom>
          <a:noFill/>
          <a:ln/>
        </p:spPr>
        <p:txBody>
          <a:bodyPr wrap="square" rtlCol="0" anchor="ctr"/>
          <a:lstStyle/>
          <a:p>
            <a:pPr indent="0" marL="0">
              <a:buNone/>
            </a:pPr>
            <a:r>
              <a:rPr lang="en-US" sz="1100" b="1" spc="100" kern="0" dirty="0">
                <a:solidFill>
                  <a:srgbClr val="10B981"/>
                </a:solidFill>
                <a:latin typeface="Calibri" pitchFamily="34" charset="0"/>
                <a:ea typeface="Calibri" pitchFamily="34" charset="-122"/>
                <a:cs typeface="Calibri" pitchFamily="34" charset="-120"/>
              </a:rPr>
              <a:t>WITH A FUNCTION</a:t>
            </a:r>
            <a:endParaRPr lang="en-US" sz="1100" dirty="0"/>
          </a:p>
        </p:txBody>
      </p:sp>
      <p:sp>
        <p:nvSpPr>
          <p:cNvPr id="24" name="Shape 21"/>
          <p:cNvSpPr/>
          <p:nvPr/>
        </p:nvSpPr>
        <p:spPr>
          <a:xfrm>
            <a:off x="6309360" y="2880360"/>
            <a:ext cx="1280160" cy="502920"/>
          </a:xfrm>
          <a:prstGeom prst="roundRect">
            <a:avLst>
              <a:gd name="adj" fmla="val 10909"/>
            </a:avLst>
          </a:prstGeom>
          <a:solidFill>
            <a:srgbClr val="CCFBF1"/>
          </a:solidFill>
          <a:ln w="25400">
            <a:solidFill>
              <a:srgbClr val="14B8A6"/>
            </a:solidFill>
            <a:prstDash val="solid"/>
          </a:ln>
        </p:spPr>
      </p:sp>
      <p:sp>
        <p:nvSpPr>
          <p:cNvPr id="25" name="Text 22"/>
          <p:cNvSpPr txBox="1"/>
          <p:nvPr/>
        </p:nvSpPr>
        <p:spPr>
          <a:xfrm>
            <a:off x="6309360" y="2880360"/>
            <a:ext cx="1280160" cy="50292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500, 2</a:t>
            </a:r>
            <a:endParaRPr lang="en-US" sz="1300" dirty="0"/>
          </a:p>
        </p:txBody>
      </p:sp>
      <p:sp>
        <p:nvSpPr>
          <p:cNvPr id="26" name="Shape 23"/>
          <p:cNvSpPr/>
          <p:nvPr/>
        </p:nvSpPr>
        <p:spPr>
          <a:xfrm>
            <a:off x="7635240" y="3131820"/>
            <a:ext cx="365760" cy="251460"/>
          </a:xfrm>
          <a:prstGeom prst="line">
            <a:avLst/>
          </a:prstGeom>
          <a:noFill/>
          <a:ln w="31750">
            <a:solidFill>
              <a:srgbClr val="8B5CF6"/>
            </a:solidFill>
            <a:prstDash val="solid"/>
            <a:tailEnd type="triangle"/>
          </a:ln>
        </p:spPr>
      </p:sp>
      <p:sp>
        <p:nvSpPr>
          <p:cNvPr id="27" name="Shape 24"/>
          <p:cNvSpPr/>
          <p:nvPr/>
        </p:nvSpPr>
        <p:spPr>
          <a:xfrm flipV="1">
            <a:off x="9738360" y="3131820"/>
            <a:ext cx="320040" cy="251460"/>
          </a:xfrm>
          <a:prstGeom prst="line">
            <a:avLst/>
          </a:prstGeom>
          <a:noFill/>
          <a:ln w="31750">
            <a:solidFill>
              <a:srgbClr val="10B981"/>
            </a:solidFill>
            <a:prstDash val="solid"/>
            <a:tailEnd type="triangle"/>
          </a:ln>
        </p:spPr>
      </p:sp>
      <p:sp>
        <p:nvSpPr>
          <p:cNvPr id="28" name="Shape 25"/>
          <p:cNvSpPr/>
          <p:nvPr/>
        </p:nvSpPr>
        <p:spPr>
          <a:xfrm>
            <a:off x="10104120" y="2880360"/>
            <a:ext cx="1325880" cy="502920"/>
          </a:xfrm>
          <a:prstGeom prst="roundRect">
            <a:avLst>
              <a:gd name="adj" fmla="val 10909"/>
            </a:avLst>
          </a:prstGeom>
          <a:solidFill>
            <a:srgbClr val="DCFCE7"/>
          </a:solidFill>
          <a:ln w="25400">
            <a:solidFill>
              <a:srgbClr val="10B981"/>
            </a:solidFill>
            <a:prstDash val="solid"/>
          </a:ln>
        </p:spPr>
      </p:sp>
      <p:sp>
        <p:nvSpPr>
          <p:cNvPr id="29" name="Text 26"/>
          <p:cNvSpPr txBox="1"/>
          <p:nvPr/>
        </p:nvSpPr>
        <p:spPr>
          <a:xfrm>
            <a:off x="10104120" y="2880360"/>
            <a:ext cx="1325880" cy="50292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1000</a:t>
            </a:r>
            <a:endParaRPr lang="en-US" sz="1300" dirty="0"/>
          </a:p>
        </p:txBody>
      </p:sp>
      <p:sp>
        <p:nvSpPr>
          <p:cNvPr id="30" name="Shape 27"/>
          <p:cNvSpPr/>
          <p:nvPr/>
        </p:nvSpPr>
        <p:spPr>
          <a:xfrm>
            <a:off x="6309360" y="3977640"/>
            <a:ext cx="1280160" cy="502920"/>
          </a:xfrm>
          <a:prstGeom prst="roundRect">
            <a:avLst>
              <a:gd name="adj" fmla="val 10909"/>
            </a:avLst>
          </a:prstGeom>
          <a:solidFill>
            <a:srgbClr val="CCFBF1"/>
          </a:solidFill>
          <a:ln w="25400">
            <a:solidFill>
              <a:srgbClr val="14B8A6"/>
            </a:solidFill>
            <a:prstDash val="solid"/>
          </a:ln>
        </p:spPr>
      </p:sp>
      <p:sp>
        <p:nvSpPr>
          <p:cNvPr id="31" name="Text 28"/>
          <p:cNvSpPr txBox="1"/>
          <p:nvPr/>
        </p:nvSpPr>
        <p:spPr>
          <a:xfrm>
            <a:off x="6309360" y="3977640"/>
            <a:ext cx="1280160" cy="50292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800, 3</a:t>
            </a:r>
            <a:endParaRPr lang="en-US" sz="1300" dirty="0"/>
          </a:p>
        </p:txBody>
      </p:sp>
      <p:sp>
        <p:nvSpPr>
          <p:cNvPr id="32" name="Shape 29"/>
          <p:cNvSpPr/>
          <p:nvPr/>
        </p:nvSpPr>
        <p:spPr>
          <a:xfrm flipV="1">
            <a:off x="7635240" y="3749040"/>
            <a:ext cx="365760" cy="480060"/>
          </a:xfrm>
          <a:prstGeom prst="line">
            <a:avLst/>
          </a:prstGeom>
          <a:noFill/>
          <a:ln w="31750">
            <a:solidFill>
              <a:srgbClr val="8B5CF6"/>
            </a:solidFill>
            <a:prstDash val="solid"/>
            <a:tailEnd type="triangle"/>
          </a:ln>
        </p:spPr>
      </p:sp>
      <p:sp>
        <p:nvSpPr>
          <p:cNvPr id="33" name="Shape 30"/>
          <p:cNvSpPr/>
          <p:nvPr/>
        </p:nvSpPr>
        <p:spPr>
          <a:xfrm>
            <a:off x="9738360" y="3749040"/>
            <a:ext cx="320040" cy="480060"/>
          </a:xfrm>
          <a:prstGeom prst="line">
            <a:avLst/>
          </a:prstGeom>
          <a:noFill/>
          <a:ln w="31750">
            <a:solidFill>
              <a:srgbClr val="10B981"/>
            </a:solidFill>
            <a:prstDash val="solid"/>
            <a:tailEnd type="triangle"/>
          </a:ln>
        </p:spPr>
      </p:sp>
      <p:sp>
        <p:nvSpPr>
          <p:cNvPr id="34" name="Shape 31"/>
          <p:cNvSpPr/>
          <p:nvPr/>
        </p:nvSpPr>
        <p:spPr>
          <a:xfrm>
            <a:off x="10104120" y="3977640"/>
            <a:ext cx="1325880" cy="502920"/>
          </a:xfrm>
          <a:prstGeom prst="roundRect">
            <a:avLst>
              <a:gd name="adj" fmla="val 10909"/>
            </a:avLst>
          </a:prstGeom>
          <a:solidFill>
            <a:srgbClr val="DCFCE7"/>
          </a:solidFill>
          <a:ln w="25400">
            <a:solidFill>
              <a:srgbClr val="10B981"/>
            </a:solidFill>
            <a:prstDash val="solid"/>
          </a:ln>
        </p:spPr>
      </p:sp>
      <p:sp>
        <p:nvSpPr>
          <p:cNvPr id="35" name="Text 32"/>
          <p:cNvSpPr txBox="1"/>
          <p:nvPr/>
        </p:nvSpPr>
        <p:spPr>
          <a:xfrm>
            <a:off x="10104120" y="3977640"/>
            <a:ext cx="1325880" cy="50292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2400</a:t>
            </a:r>
            <a:endParaRPr lang="en-US" sz="1300" dirty="0"/>
          </a:p>
        </p:txBody>
      </p:sp>
      <p:sp>
        <p:nvSpPr>
          <p:cNvPr id="36" name="Shape 33"/>
          <p:cNvSpPr/>
          <p:nvPr/>
        </p:nvSpPr>
        <p:spPr>
          <a:xfrm>
            <a:off x="8046720" y="2880360"/>
            <a:ext cx="1645920" cy="1417320"/>
          </a:xfrm>
          <a:prstGeom prst="roundRect">
            <a:avLst>
              <a:gd name="adj" fmla="val 6452"/>
            </a:avLst>
          </a:prstGeom>
          <a:solidFill>
            <a:srgbClr val="F5F3FF"/>
          </a:solidFill>
          <a:ln w="19050">
            <a:solidFill>
              <a:srgbClr val="8B5CF6"/>
            </a:solidFill>
            <a:prstDash val="solid"/>
          </a:ln>
        </p:spPr>
      </p:sp>
      <p:pic>
        <p:nvPicPr>
          <p:cNvPr id="37" name="Image 1" descr="assets/icon2_calc_navy.png">    </p:cNvPr>
          <p:cNvPicPr>
            <a:picLocks noChangeAspect="1"/>
          </p:cNvPicPr>
          <p:nvPr/>
        </p:nvPicPr>
        <p:blipFill>
          <a:blip r:embed="rId2"/>
          <a:stretch>
            <a:fillRect/>
          </a:stretch>
        </p:blipFill>
        <p:spPr>
          <a:xfrm>
            <a:off x="8618220" y="2990088"/>
            <a:ext cx="502920" cy="502920"/>
          </a:xfrm>
          <a:prstGeom prst="rect">
            <a:avLst/>
          </a:prstGeom>
        </p:spPr>
      </p:pic>
      <p:sp>
        <p:nvSpPr>
          <p:cNvPr id="38" name="Text 34"/>
          <p:cNvSpPr txBox="1"/>
          <p:nvPr/>
        </p:nvSpPr>
        <p:spPr>
          <a:xfrm>
            <a:off x="8119872" y="3557016"/>
            <a:ext cx="1499616" cy="320040"/>
          </a:xfrm>
          <a:prstGeom prst="rect">
            <a:avLst/>
          </a:prstGeom>
          <a:noFill/>
          <a:ln/>
        </p:spPr>
        <p:txBody>
          <a:bodyPr wrap="square" rtlCol="0" anchor="t"/>
          <a:lstStyle/>
          <a:p>
            <a:pPr algn="ctr" indent="0" marL="0">
              <a:buNone/>
            </a:pPr>
            <a:r>
              <a:rPr lang="en-US" sz="1500" b="1" dirty="0">
                <a:solidFill>
                  <a:srgbClr val="1E293B"/>
                </a:solidFill>
                <a:latin typeface="Calibri" pitchFamily="34" charset="0"/>
                <a:ea typeface="Calibri" pitchFamily="34" charset="-122"/>
                <a:cs typeface="Calibri" pitchFamily="34" charset="-120"/>
              </a:rPr>
              <a:t>total</a:t>
            </a:r>
            <a:endParaRPr lang="en-US" sz="1500" dirty="0"/>
          </a:p>
        </p:txBody>
      </p:sp>
      <p:sp>
        <p:nvSpPr>
          <p:cNvPr id="39" name="Text 35"/>
          <p:cNvSpPr txBox="1"/>
          <p:nvPr/>
        </p:nvSpPr>
        <p:spPr>
          <a:xfrm>
            <a:off x="8138160" y="3877056"/>
            <a:ext cx="1463040" cy="347472"/>
          </a:xfrm>
          <a:prstGeom prst="rect">
            <a:avLst/>
          </a:prstGeom>
          <a:noFill/>
          <a:ln/>
        </p:spPr>
        <p:txBody>
          <a:bodyPr wrap="square" rtlCol="0" anchor="t"/>
          <a:lstStyle/>
          <a:p>
            <a:pPr algn="ctr" indent="0" marL="0">
              <a:buNone/>
            </a:pPr>
            <a:r>
              <a:rPr lang="en-US" sz="1200" dirty="0">
                <a:solidFill>
                  <a:srgbClr val="64748B"/>
                </a:solidFill>
                <a:latin typeface="Calibri" pitchFamily="34" charset="0"/>
                <a:ea typeface="Calibri" pitchFamily="34" charset="-122"/>
                <a:cs typeface="Calibri" pitchFamily="34" charset="-120"/>
              </a:rPr>
              <a:t>price times quantity</a:t>
            </a:r>
            <a:endParaRPr lang="en-US" sz="1200" dirty="0"/>
          </a:p>
        </p:txBody>
      </p:sp>
      <p:sp>
        <p:nvSpPr>
          <p:cNvPr id="40" name="Text 36"/>
          <p:cNvSpPr txBox="1"/>
          <p:nvPr/>
        </p:nvSpPr>
        <p:spPr>
          <a:xfrm>
            <a:off x="6309360" y="2606040"/>
            <a:ext cx="1280160" cy="256032"/>
          </a:xfrm>
          <a:prstGeom prst="rect">
            <a:avLst/>
          </a:prstGeom>
          <a:noFill/>
          <a:ln/>
        </p:spPr>
        <p:txBody>
          <a:bodyPr wrap="square"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calls</a:t>
            </a:r>
            <a:endParaRPr lang="en-US" sz="1100" dirty="0"/>
          </a:p>
        </p:txBody>
      </p:sp>
      <p:sp>
        <p:nvSpPr>
          <p:cNvPr id="41" name="Text 37"/>
          <p:cNvSpPr txBox="1"/>
          <p:nvPr/>
        </p:nvSpPr>
        <p:spPr>
          <a:xfrm>
            <a:off x="10104120" y="2606040"/>
            <a:ext cx="1325880" cy="256032"/>
          </a:xfrm>
          <a:prstGeom prst="rect">
            <a:avLst/>
          </a:prstGeom>
          <a:noFill/>
          <a:ln/>
        </p:spPr>
        <p:txBody>
          <a:bodyPr wrap="square"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result</a:t>
            </a:r>
            <a:endParaRPr lang="en-US" sz="1100" dirty="0"/>
          </a:p>
        </p:txBody>
      </p:sp>
      <p:sp>
        <p:nvSpPr>
          <p:cNvPr id="42" name="Text 38"/>
          <p:cNvSpPr txBox="1"/>
          <p:nvPr/>
        </p:nvSpPr>
        <p:spPr>
          <a:xfrm>
            <a:off x="6309360" y="4892040"/>
            <a:ext cx="5120640" cy="457200"/>
          </a:xfrm>
          <a:prstGeom prst="rect">
            <a:avLst/>
          </a:prstGeom>
          <a:noFill/>
          <a:ln/>
        </p:spPr>
        <p:txBody>
          <a:bodyPr wrap="square" rtlCol="0" anchor="ctr"/>
          <a:lstStyle/>
          <a:p>
            <a:pPr indent="0" marL="0">
              <a:buNone/>
            </a:pPr>
            <a:r>
              <a:rPr lang="en-US" sz="1350" b="1" dirty="0">
                <a:solidFill>
                  <a:srgbClr val="1E293B"/>
                </a:solidFill>
                <a:latin typeface="Calibri" pitchFamily="34" charset="0"/>
                <a:ea typeface="Calibri" pitchFamily="34" charset="-122"/>
                <a:cs typeface="Calibri" pitchFamily="34" charset="-120"/>
              </a:rPr>
              <a:t>One function, many calls. Change the rule once and every call follows it.</a:t>
            </a:r>
            <a:endParaRPr lang="en-US" sz="1350" dirty="0"/>
          </a:p>
        </p:txBody>
      </p:sp>
      <p:sp>
        <p:nvSpPr>
          <p:cNvPr id="43" name="Shape 39"/>
          <p:cNvSpPr/>
          <p:nvPr/>
        </p:nvSpPr>
        <p:spPr>
          <a:xfrm>
            <a:off x="731520" y="5559552"/>
            <a:ext cx="10698480" cy="0"/>
          </a:xfrm>
          <a:prstGeom prst="line">
            <a:avLst/>
          </a:prstGeom>
          <a:noFill/>
          <a:ln w="12700">
            <a:solidFill>
              <a:srgbClr val="E2E8F0"/>
            </a:solidFill>
            <a:prstDash val="solid"/>
          </a:ln>
        </p:spPr>
      </p:sp>
      <p:sp>
        <p:nvSpPr>
          <p:cNvPr id="44" name="Shape 40"/>
          <p:cNvSpPr/>
          <p:nvPr/>
        </p:nvSpPr>
        <p:spPr>
          <a:xfrm>
            <a:off x="777240" y="5650992"/>
            <a:ext cx="475488" cy="475488"/>
          </a:xfrm>
          <a:prstGeom prst="ellipse">
            <a:avLst/>
          </a:prstGeom>
          <a:solidFill>
            <a:srgbClr val="FCE7F3"/>
          </a:solidFill>
          <a:ln w="19050">
            <a:solidFill>
              <a:srgbClr val="EC4899"/>
            </a:solidFill>
            <a:prstDash val="solid"/>
          </a:ln>
        </p:spPr>
      </p:sp>
      <p:pic>
        <p:nvPicPr>
          <p:cNvPr id="45" name="Image 2" descr="assets/icon2_user_pink.png">    </p:cNvPr>
          <p:cNvPicPr>
            <a:picLocks noChangeAspect="1"/>
          </p:cNvPicPr>
          <p:nvPr/>
        </p:nvPicPr>
        <p:blipFill>
          <a:blip r:embed="rId3"/>
          <a:stretch>
            <a:fillRect/>
          </a:stretch>
        </p:blipFill>
        <p:spPr>
          <a:xfrm>
            <a:off x="872338" y="5746090"/>
            <a:ext cx="285293" cy="285293"/>
          </a:xfrm>
          <a:prstGeom prst="rect">
            <a:avLst/>
          </a:prstGeom>
        </p:spPr>
      </p:pic>
      <p:sp>
        <p:nvSpPr>
          <p:cNvPr id="46" name="Shape 41"/>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47" name="Shape 42"/>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48" name="Text 43"/>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Without a function the same lines are copied for every order. One mistake gets copied too.</a:t>
            </a:r>
            <a:endParaRPr lang="en-US" sz="1400" dirty="0"/>
          </a:p>
        </p:txBody>
      </p:sp>
      <p:sp>
        <p:nvSpPr>
          <p:cNvPr id="49" name="Text 44"/>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50" name="Text 45"/>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WHY IT MATTERS IN INDUSTRY</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Five Reasons Teams Love Functions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95728"/>
            <a:ext cx="1956816" cy="3108960"/>
          </a:xfrm>
          <a:prstGeom prst="roundRect">
            <a:avLst>
              <a:gd name="adj" fmla="val 4673"/>
            </a:avLst>
          </a:prstGeom>
          <a:solidFill>
            <a:srgbClr val="F5F3FF"/>
          </a:solidFill>
          <a:ln w="19050">
            <a:solidFill>
              <a:srgbClr val="8B5CF6"/>
            </a:solidFill>
            <a:prstDash val="solid"/>
          </a:ln>
        </p:spPr>
      </p:sp>
      <p:pic>
        <p:nvPicPr>
          <p:cNvPr id="7" name="Image 1" descr="assets/icon2_repeat_purple.png">    </p:cNvPr>
          <p:cNvPicPr>
            <a:picLocks noChangeAspect="1"/>
          </p:cNvPicPr>
          <p:nvPr/>
        </p:nvPicPr>
        <p:blipFill>
          <a:blip r:embed="rId2"/>
          <a:stretch>
            <a:fillRect/>
          </a:stretch>
        </p:blipFill>
        <p:spPr>
          <a:xfrm>
            <a:off x="1458468" y="2505456"/>
            <a:ext cx="502920" cy="502920"/>
          </a:xfrm>
          <a:prstGeom prst="rect">
            <a:avLst/>
          </a:prstGeom>
        </p:spPr>
      </p:pic>
      <p:sp>
        <p:nvSpPr>
          <p:cNvPr id="8" name="Text 4"/>
          <p:cNvSpPr txBox="1"/>
          <p:nvPr/>
        </p:nvSpPr>
        <p:spPr>
          <a:xfrm>
            <a:off x="804672" y="3072384"/>
            <a:ext cx="1810512"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Reusability</a:t>
            </a:r>
            <a:endParaRPr lang="en-US" sz="1600" dirty="0"/>
          </a:p>
        </p:txBody>
      </p:sp>
      <p:sp>
        <p:nvSpPr>
          <p:cNvPr id="9" name="Text 5"/>
          <p:cNvSpPr txBox="1"/>
          <p:nvPr/>
        </p:nvSpPr>
        <p:spPr>
          <a:xfrm>
            <a:off x="822960" y="3438144"/>
            <a:ext cx="1773936" cy="1993392"/>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Write once and use in many places.</a:t>
            </a:r>
            <a:endParaRPr lang="en-US" sz="1350" dirty="0"/>
          </a:p>
        </p:txBody>
      </p:sp>
      <p:sp>
        <p:nvSpPr>
          <p:cNvPr id="10" name="Shape 6"/>
          <p:cNvSpPr/>
          <p:nvPr/>
        </p:nvSpPr>
        <p:spPr>
          <a:xfrm>
            <a:off x="2916936" y="2395728"/>
            <a:ext cx="1956816" cy="3108960"/>
          </a:xfrm>
          <a:prstGeom prst="roundRect">
            <a:avLst>
              <a:gd name="adj" fmla="val 4673"/>
            </a:avLst>
          </a:prstGeom>
          <a:solidFill>
            <a:srgbClr val="F8FAFC"/>
          </a:solidFill>
          <a:ln w="19050">
            <a:solidFill>
              <a:srgbClr val="CBD5E1"/>
            </a:solidFill>
            <a:prstDash val="solid"/>
          </a:ln>
        </p:spPr>
      </p:sp>
      <p:pic>
        <p:nvPicPr>
          <p:cNvPr id="11" name="Image 2" descr="assets/icon2_wrench_navy.png">    </p:cNvPr>
          <p:cNvPicPr>
            <a:picLocks noChangeAspect="1"/>
          </p:cNvPicPr>
          <p:nvPr/>
        </p:nvPicPr>
        <p:blipFill>
          <a:blip r:embed="rId3"/>
          <a:stretch>
            <a:fillRect/>
          </a:stretch>
        </p:blipFill>
        <p:spPr>
          <a:xfrm>
            <a:off x="3643884" y="2505456"/>
            <a:ext cx="502920" cy="502920"/>
          </a:xfrm>
          <a:prstGeom prst="rect">
            <a:avLst/>
          </a:prstGeom>
        </p:spPr>
      </p:pic>
      <p:sp>
        <p:nvSpPr>
          <p:cNvPr id="12" name="Text 7"/>
          <p:cNvSpPr txBox="1"/>
          <p:nvPr/>
        </p:nvSpPr>
        <p:spPr>
          <a:xfrm>
            <a:off x="2990088" y="3072384"/>
            <a:ext cx="1810512"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Maintainability</a:t>
            </a:r>
            <a:endParaRPr lang="en-US" sz="1600" dirty="0"/>
          </a:p>
        </p:txBody>
      </p:sp>
      <p:sp>
        <p:nvSpPr>
          <p:cNvPr id="13" name="Text 8"/>
          <p:cNvSpPr txBox="1"/>
          <p:nvPr/>
        </p:nvSpPr>
        <p:spPr>
          <a:xfrm>
            <a:off x="3008376" y="3438144"/>
            <a:ext cx="1773936" cy="1993392"/>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Fix one function and every place is fixed.</a:t>
            </a:r>
            <a:endParaRPr lang="en-US" sz="1350" dirty="0"/>
          </a:p>
        </p:txBody>
      </p:sp>
      <p:sp>
        <p:nvSpPr>
          <p:cNvPr id="14" name="Shape 9"/>
          <p:cNvSpPr/>
          <p:nvPr/>
        </p:nvSpPr>
        <p:spPr>
          <a:xfrm>
            <a:off x="5102352" y="2395728"/>
            <a:ext cx="1956816" cy="3108960"/>
          </a:xfrm>
          <a:prstGeom prst="roundRect">
            <a:avLst>
              <a:gd name="adj" fmla="val 4673"/>
            </a:avLst>
          </a:prstGeom>
          <a:solidFill>
            <a:srgbClr val="F0FDFA"/>
          </a:solidFill>
          <a:ln w="19050">
            <a:solidFill>
              <a:srgbClr val="14B8A6"/>
            </a:solidFill>
            <a:prstDash val="solid"/>
          </a:ln>
        </p:spPr>
      </p:sp>
      <p:pic>
        <p:nvPicPr>
          <p:cNvPr id="15" name="Image 3" descr="assets/icon2_book_teal.png">    </p:cNvPr>
          <p:cNvPicPr>
            <a:picLocks noChangeAspect="1"/>
          </p:cNvPicPr>
          <p:nvPr/>
        </p:nvPicPr>
        <p:blipFill>
          <a:blip r:embed="rId4"/>
          <a:stretch>
            <a:fillRect/>
          </a:stretch>
        </p:blipFill>
        <p:spPr>
          <a:xfrm>
            <a:off x="5829300" y="2505456"/>
            <a:ext cx="502920" cy="502920"/>
          </a:xfrm>
          <a:prstGeom prst="rect">
            <a:avLst/>
          </a:prstGeom>
        </p:spPr>
      </p:pic>
      <p:sp>
        <p:nvSpPr>
          <p:cNvPr id="16" name="Text 10"/>
          <p:cNvSpPr txBox="1"/>
          <p:nvPr/>
        </p:nvSpPr>
        <p:spPr>
          <a:xfrm>
            <a:off x="5175504" y="3072384"/>
            <a:ext cx="1810512"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Readability</a:t>
            </a:r>
            <a:endParaRPr lang="en-US" sz="1600" dirty="0"/>
          </a:p>
        </p:txBody>
      </p:sp>
      <p:sp>
        <p:nvSpPr>
          <p:cNvPr id="17" name="Text 11"/>
          <p:cNvSpPr txBox="1"/>
          <p:nvPr/>
        </p:nvSpPr>
        <p:spPr>
          <a:xfrm>
            <a:off x="5193792" y="3438144"/>
            <a:ext cx="1773936" cy="1993392"/>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Short named blocks are easy to read.</a:t>
            </a:r>
            <a:endParaRPr lang="en-US" sz="1350" dirty="0"/>
          </a:p>
        </p:txBody>
      </p:sp>
      <p:sp>
        <p:nvSpPr>
          <p:cNvPr id="18" name="Shape 12"/>
          <p:cNvSpPr/>
          <p:nvPr/>
        </p:nvSpPr>
        <p:spPr>
          <a:xfrm>
            <a:off x="7287768" y="2395728"/>
            <a:ext cx="1956816" cy="3108960"/>
          </a:xfrm>
          <a:prstGeom prst="roundRect">
            <a:avLst>
              <a:gd name="adj" fmla="val 4673"/>
            </a:avLst>
          </a:prstGeom>
          <a:solidFill>
            <a:srgbClr val="FFF7ED"/>
          </a:solidFill>
          <a:ln w="19050">
            <a:solidFill>
              <a:srgbClr val="F97316"/>
            </a:solidFill>
            <a:prstDash val="solid"/>
          </a:ln>
        </p:spPr>
      </p:sp>
      <p:pic>
        <p:nvPicPr>
          <p:cNvPr id="19" name="Image 4" descr="assets/icon2_bug_orange.png">    </p:cNvPr>
          <p:cNvPicPr>
            <a:picLocks noChangeAspect="1"/>
          </p:cNvPicPr>
          <p:nvPr/>
        </p:nvPicPr>
        <p:blipFill>
          <a:blip r:embed="rId5"/>
          <a:stretch>
            <a:fillRect/>
          </a:stretch>
        </p:blipFill>
        <p:spPr>
          <a:xfrm>
            <a:off x="8014716" y="2505456"/>
            <a:ext cx="502920" cy="502920"/>
          </a:xfrm>
          <a:prstGeom prst="rect">
            <a:avLst/>
          </a:prstGeom>
        </p:spPr>
      </p:pic>
      <p:sp>
        <p:nvSpPr>
          <p:cNvPr id="20" name="Text 13"/>
          <p:cNvSpPr txBox="1"/>
          <p:nvPr/>
        </p:nvSpPr>
        <p:spPr>
          <a:xfrm>
            <a:off x="7360920" y="3072384"/>
            <a:ext cx="1810512"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Testing</a:t>
            </a:r>
            <a:endParaRPr lang="en-US" sz="1600" dirty="0"/>
          </a:p>
        </p:txBody>
      </p:sp>
      <p:sp>
        <p:nvSpPr>
          <p:cNvPr id="21" name="Text 14"/>
          <p:cNvSpPr txBox="1"/>
          <p:nvPr/>
        </p:nvSpPr>
        <p:spPr>
          <a:xfrm>
            <a:off x="7379208" y="3438144"/>
            <a:ext cx="1773936" cy="1993392"/>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Test one small function on its own.</a:t>
            </a:r>
            <a:endParaRPr lang="en-US" sz="1350" dirty="0"/>
          </a:p>
        </p:txBody>
      </p:sp>
      <p:sp>
        <p:nvSpPr>
          <p:cNvPr id="22" name="Shape 15"/>
          <p:cNvSpPr/>
          <p:nvPr/>
        </p:nvSpPr>
        <p:spPr>
          <a:xfrm>
            <a:off x="9473184" y="2395728"/>
            <a:ext cx="1956816" cy="3108960"/>
          </a:xfrm>
          <a:prstGeom prst="roundRect">
            <a:avLst>
              <a:gd name="adj" fmla="val 4673"/>
            </a:avLst>
          </a:prstGeom>
          <a:solidFill>
            <a:srgbClr val="FDF2F8"/>
          </a:solidFill>
          <a:ln w="19050">
            <a:solidFill>
              <a:srgbClr val="EC4899"/>
            </a:solidFill>
            <a:prstDash val="solid"/>
          </a:ln>
        </p:spPr>
      </p:sp>
      <p:pic>
        <p:nvPicPr>
          <p:cNvPr id="23" name="Image 5" descr="assets/icon2_users_pink.png">    </p:cNvPr>
          <p:cNvPicPr>
            <a:picLocks noChangeAspect="1"/>
          </p:cNvPicPr>
          <p:nvPr/>
        </p:nvPicPr>
        <p:blipFill>
          <a:blip r:embed="rId6"/>
          <a:stretch>
            <a:fillRect/>
          </a:stretch>
        </p:blipFill>
        <p:spPr>
          <a:xfrm>
            <a:off x="10200132" y="2505456"/>
            <a:ext cx="502920" cy="502920"/>
          </a:xfrm>
          <a:prstGeom prst="rect">
            <a:avLst/>
          </a:prstGeom>
        </p:spPr>
      </p:pic>
      <p:sp>
        <p:nvSpPr>
          <p:cNvPr id="24" name="Text 16"/>
          <p:cNvSpPr txBox="1"/>
          <p:nvPr/>
        </p:nvSpPr>
        <p:spPr>
          <a:xfrm>
            <a:off x="9546336" y="3072384"/>
            <a:ext cx="1810512"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Team work</a:t>
            </a:r>
            <a:endParaRPr lang="en-US" sz="1600" dirty="0"/>
          </a:p>
        </p:txBody>
      </p:sp>
      <p:sp>
        <p:nvSpPr>
          <p:cNvPr id="25" name="Text 17"/>
          <p:cNvSpPr txBox="1"/>
          <p:nvPr/>
        </p:nvSpPr>
        <p:spPr>
          <a:xfrm>
            <a:off x="9564624" y="3438144"/>
            <a:ext cx="1773936" cy="1993392"/>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Teammates build different functions together.</a:t>
            </a:r>
            <a:endParaRPr lang="en-US" sz="1350" dirty="0"/>
          </a:p>
        </p:txBody>
      </p:sp>
      <p:sp>
        <p:nvSpPr>
          <p:cNvPr id="26" name="Shape 18"/>
          <p:cNvSpPr/>
          <p:nvPr/>
        </p:nvSpPr>
        <p:spPr>
          <a:xfrm>
            <a:off x="731520" y="5559552"/>
            <a:ext cx="10698480" cy="0"/>
          </a:xfrm>
          <a:prstGeom prst="line">
            <a:avLst/>
          </a:prstGeom>
          <a:noFill/>
          <a:ln w="12700">
            <a:solidFill>
              <a:srgbClr val="E2E8F0"/>
            </a:solidFill>
            <a:prstDash val="solid"/>
          </a:ln>
        </p:spPr>
      </p:sp>
      <p:sp>
        <p:nvSpPr>
          <p:cNvPr id="27" name="Shape 19"/>
          <p:cNvSpPr/>
          <p:nvPr/>
        </p:nvSpPr>
        <p:spPr>
          <a:xfrm>
            <a:off x="777240" y="5650992"/>
            <a:ext cx="475488" cy="475488"/>
          </a:xfrm>
          <a:prstGeom prst="ellipse">
            <a:avLst/>
          </a:prstGeom>
          <a:solidFill>
            <a:srgbClr val="FCE7F3"/>
          </a:solidFill>
          <a:ln w="19050">
            <a:solidFill>
              <a:srgbClr val="EC4899"/>
            </a:solidFill>
            <a:prstDash val="solid"/>
          </a:ln>
        </p:spPr>
      </p:sp>
      <p:pic>
        <p:nvPicPr>
          <p:cNvPr id="28" name="Image 6" descr="assets/icon2_user_pink.png">    </p:cNvPr>
          <p:cNvPicPr>
            <a:picLocks noChangeAspect="1"/>
          </p:cNvPicPr>
          <p:nvPr/>
        </p:nvPicPr>
        <p:blipFill>
          <a:blip r:embed="rId7"/>
          <a:stretch>
            <a:fillRect/>
          </a:stretch>
        </p:blipFill>
        <p:spPr>
          <a:xfrm>
            <a:off x="872338" y="5746090"/>
            <a:ext cx="285293" cy="285293"/>
          </a:xfrm>
          <a:prstGeom prst="rect">
            <a:avLst/>
          </a:prstGeom>
        </p:spPr>
      </p:pic>
      <p:sp>
        <p:nvSpPr>
          <p:cNvPr id="29" name="Shape 20"/>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0" name="Shape 21"/>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1" name="Text 22"/>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A good function does one job and has a name that says what the job is.</a:t>
            </a:r>
            <a:endParaRPr lang="en-US" sz="1400" dirty="0"/>
          </a:p>
        </p:txBody>
      </p:sp>
      <p:sp>
        <p:nvSpPr>
          <p:cNvPr id="32" name="Text 23"/>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33" name="Text 24"/>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2</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Defining and Calling a Function</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canteen order slip has blanks for the item and the quantity. The slip is designed once. Every order is the same slip filled with different values.</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def defines a function and gives it a name. A function call runs it. Parameters are the blanks in the definition. Arguments are the real values given in the call.</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Every project. A function is defined once and then called from many places with different values.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DEFINE AND CALL</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Define Once, Call Many Times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468880"/>
            <a:ext cx="2331720" cy="1920240"/>
          </a:xfrm>
          <a:prstGeom prst="roundRect">
            <a:avLst>
              <a:gd name="adj" fmla="val 4762"/>
            </a:avLst>
          </a:prstGeom>
          <a:solidFill>
            <a:srgbClr val="FFF7ED"/>
          </a:solidFill>
          <a:ln w="19050">
            <a:solidFill>
              <a:srgbClr val="F97316"/>
            </a:solidFill>
            <a:prstDash val="solid"/>
          </a:ln>
        </p:spPr>
      </p:sp>
      <p:pic>
        <p:nvPicPr>
          <p:cNvPr id="7" name="Image 1" descr="assets/icon2_pencil_orange.png">    </p:cNvPr>
          <p:cNvPicPr>
            <a:picLocks noChangeAspect="1"/>
          </p:cNvPicPr>
          <p:nvPr/>
        </p:nvPicPr>
        <p:blipFill>
          <a:blip r:embed="rId2"/>
          <a:stretch>
            <a:fillRect/>
          </a:stretch>
        </p:blipFill>
        <p:spPr>
          <a:xfrm>
            <a:off x="1645920" y="2578608"/>
            <a:ext cx="502920" cy="502920"/>
          </a:xfrm>
          <a:prstGeom prst="rect">
            <a:avLst/>
          </a:prstGeom>
        </p:spPr>
      </p:pic>
      <p:sp>
        <p:nvSpPr>
          <p:cNvPr id="8" name="Text 4"/>
          <p:cNvSpPr txBox="1"/>
          <p:nvPr/>
        </p:nvSpPr>
        <p:spPr>
          <a:xfrm>
            <a:off x="80467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Define</a:t>
            </a:r>
            <a:endParaRPr lang="en-US" sz="1600" dirty="0"/>
          </a:p>
        </p:txBody>
      </p:sp>
      <p:sp>
        <p:nvSpPr>
          <p:cNvPr id="9" name="Text 5"/>
          <p:cNvSpPr txBox="1"/>
          <p:nvPr/>
        </p:nvSpPr>
        <p:spPr>
          <a:xfrm>
            <a:off x="822960" y="3511296"/>
            <a:ext cx="2148840" cy="80467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name and parameters: price, quantity. Nothing runs yet</a:t>
            </a:r>
            <a:endParaRPr lang="en-US" sz="1300" dirty="0"/>
          </a:p>
        </p:txBody>
      </p:sp>
      <p:sp>
        <p:nvSpPr>
          <p:cNvPr id="10" name="Shape 6"/>
          <p:cNvSpPr/>
          <p:nvPr/>
        </p:nvSpPr>
        <p:spPr>
          <a:xfrm>
            <a:off x="3118104" y="3429000"/>
            <a:ext cx="347472" cy="0"/>
          </a:xfrm>
          <a:prstGeom prst="line">
            <a:avLst/>
          </a:prstGeom>
          <a:noFill/>
          <a:ln w="31750">
            <a:solidFill>
              <a:srgbClr val="8B5CF6"/>
            </a:solidFill>
            <a:prstDash val="solid"/>
            <a:tailEnd type="triangle"/>
          </a:ln>
        </p:spPr>
      </p:sp>
      <p:sp>
        <p:nvSpPr>
          <p:cNvPr id="11" name="Shape 7"/>
          <p:cNvSpPr/>
          <p:nvPr/>
        </p:nvSpPr>
        <p:spPr>
          <a:xfrm>
            <a:off x="3520440" y="2468880"/>
            <a:ext cx="2331720" cy="1920240"/>
          </a:xfrm>
          <a:prstGeom prst="roundRect">
            <a:avLst>
              <a:gd name="adj" fmla="val 4762"/>
            </a:avLst>
          </a:prstGeom>
          <a:solidFill>
            <a:srgbClr val="F0FDFA"/>
          </a:solidFill>
          <a:ln w="19050">
            <a:solidFill>
              <a:srgbClr val="14B8A6"/>
            </a:solidFill>
            <a:prstDash val="solid"/>
          </a:ln>
        </p:spPr>
      </p:sp>
      <p:pic>
        <p:nvPicPr>
          <p:cNvPr id="12" name="Image 2" descr="assets/icon2_send_teal.png">    </p:cNvPr>
          <p:cNvPicPr>
            <a:picLocks noChangeAspect="1"/>
          </p:cNvPicPr>
          <p:nvPr/>
        </p:nvPicPr>
        <p:blipFill>
          <a:blip r:embed="rId3"/>
          <a:stretch>
            <a:fillRect/>
          </a:stretch>
        </p:blipFill>
        <p:spPr>
          <a:xfrm>
            <a:off x="4434840" y="2578608"/>
            <a:ext cx="502920" cy="502920"/>
          </a:xfrm>
          <a:prstGeom prst="rect">
            <a:avLst/>
          </a:prstGeom>
        </p:spPr>
      </p:pic>
      <p:sp>
        <p:nvSpPr>
          <p:cNvPr id="13" name="Text 8"/>
          <p:cNvSpPr txBox="1"/>
          <p:nvPr/>
        </p:nvSpPr>
        <p:spPr>
          <a:xfrm>
            <a:off x="359359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Call</a:t>
            </a:r>
            <a:endParaRPr lang="en-US" sz="1600" dirty="0"/>
          </a:p>
        </p:txBody>
      </p:sp>
      <p:sp>
        <p:nvSpPr>
          <p:cNvPr id="14" name="Text 9"/>
          <p:cNvSpPr txBox="1"/>
          <p:nvPr/>
        </p:nvSpPr>
        <p:spPr>
          <a:xfrm>
            <a:off x="3611880" y="3511296"/>
            <a:ext cx="2148840" cy="80467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give the arguments: 500 and 2</a:t>
            </a:r>
            <a:endParaRPr lang="en-US" sz="1300" dirty="0"/>
          </a:p>
        </p:txBody>
      </p:sp>
      <p:sp>
        <p:nvSpPr>
          <p:cNvPr id="15" name="Shape 10"/>
          <p:cNvSpPr/>
          <p:nvPr/>
        </p:nvSpPr>
        <p:spPr>
          <a:xfrm>
            <a:off x="5907024" y="3429000"/>
            <a:ext cx="347472" cy="0"/>
          </a:xfrm>
          <a:prstGeom prst="line">
            <a:avLst/>
          </a:prstGeom>
          <a:noFill/>
          <a:ln w="31750">
            <a:solidFill>
              <a:srgbClr val="8B5CF6"/>
            </a:solidFill>
            <a:prstDash val="solid"/>
            <a:tailEnd type="triangle"/>
          </a:ln>
        </p:spPr>
      </p:sp>
      <p:sp>
        <p:nvSpPr>
          <p:cNvPr id="16" name="Shape 11"/>
          <p:cNvSpPr/>
          <p:nvPr/>
        </p:nvSpPr>
        <p:spPr>
          <a:xfrm>
            <a:off x="6309360" y="2468880"/>
            <a:ext cx="2331720" cy="1920240"/>
          </a:xfrm>
          <a:prstGeom prst="roundRect">
            <a:avLst>
              <a:gd name="adj" fmla="val 4762"/>
            </a:avLst>
          </a:prstGeom>
          <a:solidFill>
            <a:srgbClr val="F5F3FF"/>
          </a:solidFill>
          <a:ln w="19050">
            <a:solidFill>
              <a:srgbClr val="8B5CF6"/>
            </a:solidFill>
            <a:prstDash val="solid"/>
          </a:ln>
        </p:spPr>
      </p:sp>
      <p:pic>
        <p:nvPicPr>
          <p:cNvPr id="17" name="Image 3" descr="assets/icon2_settings_navy.png">    </p:cNvPr>
          <p:cNvPicPr>
            <a:picLocks noChangeAspect="1"/>
          </p:cNvPicPr>
          <p:nvPr/>
        </p:nvPicPr>
        <p:blipFill>
          <a:blip r:embed="rId4"/>
          <a:stretch>
            <a:fillRect/>
          </a:stretch>
        </p:blipFill>
        <p:spPr>
          <a:xfrm>
            <a:off x="7223760" y="2578608"/>
            <a:ext cx="502920" cy="502920"/>
          </a:xfrm>
          <a:prstGeom prst="rect">
            <a:avLst/>
          </a:prstGeom>
        </p:spPr>
      </p:pic>
      <p:sp>
        <p:nvSpPr>
          <p:cNvPr id="18" name="Text 12"/>
          <p:cNvSpPr txBox="1"/>
          <p:nvPr/>
        </p:nvSpPr>
        <p:spPr>
          <a:xfrm>
            <a:off x="638251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Body runs</a:t>
            </a:r>
            <a:endParaRPr lang="en-US" sz="1600" dirty="0"/>
          </a:p>
        </p:txBody>
      </p:sp>
      <p:sp>
        <p:nvSpPr>
          <p:cNvPr id="19" name="Text 13"/>
          <p:cNvSpPr txBox="1"/>
          <p:nvPr/>
        </p:nvSpPr>
        <p:spPr>
          <a:xfrm>
            <a:off x="6400800" y="3511296"/>
            <a:ext cx="2148840" cy="80467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price times quantity is worked out</a:t>
            </a:r>
            <a:endParaRPr lang="en-US" sz="1300" dirty="0"/>
          </a:p>
        </p:txBody>
      </p:sp>
      <p:sp>
        <p:nvSpPr>
          <p:cNvPr id="20" name="Shape 14"/>
          <p:cNvSpPr/>
          <p:nvPr/>
        </p:nvSpPr>
        <p:spPr>
          <a:xfrm>
            <a:off x="8695944" y="3429000"/>
            <a:ext cx="347472" cy="0"/>
          </a:xfrm>
          <a:prstGeom prst="line">
            <a:avLst/>
          </a:prstGeom>
          <a:noFill/>
          <a:ln w="31750">
            <a:solidFill>
              <a:srgbClr val="8B5CF6"/>
            </a:solidFill>
            <a:prstDash val="solid"/>
            <a:tailEnd type="triangle"/>
          </a:ln>
        </p:spPr>
      </p:sp>
      <p:sp>
        <p:nvSpPr>
          <p:cNvPr id="21" name="Shape 15"/>
          <p:cNvSpPr/>
          <p:nvPr/>
        </p:nvSpPr>
        <p:spPr>
          <a:xfrm>
            <a:off x="9098280" y="2468880"/>
            <a:ext cx="2331720" cy="1920240"/>
          </a:xfrm>
          <a:prstGeom prst="roundRect">
            <a:avLst>
              <a:gd name="adj" fmla="val 4762"/>
            </a:avLst>
          </a:prstGeom>
          <a:solidFill>
            <a:srgbClr val="F0FDF4"/>
          </a:solidFill>
          <a:ln w="19050">
            <a:solidFill>
              <a:srgbClr val="10B981"/>
            </a:solidFill>
            <a:prstDash val="solid"/>
          </a:ln>
        </p:spPr>
      </p:sp>
      <p:pic>
        <p:nvPicPr>
          <p:cNvPr id="22" name="Image 4" descr="assets/icon2_check_green.png">    </p:cNvPr>
          <p:cNvPicPr>
            <a:picLocks noChangeAspect="1"/>
          </p:cNvPicPr>
          <p:nvPr/>
        </p:nvPicPr>
        <p:blipFill>
          <a:blip r:embed="rId5"/>
          <a:stretch>
            <a:fillRect/>
          </a:stretch>
        </p:blipFill>
        <p:spPr>
          <a:xfrm>
            <a:off x="10012680" y="2578608"/>
            <a:ext cx="502920" cy="502920"/>
          </a:xfrm>
          <a:prstGeom prst="rect">
            <a:avLst/>
          </a:prstGeom>
        </p:spPr>
      </p:pic>
      <p:sp>
        <p:nvSpPr>
          <p:cNvPr id="23" name="Text 16"/>
          <p:cNvSpPr txBox="1"/>
          <p:nvPr/>
        </p:nvSpPr>
        <p:spPr>
          <a:xfrm>
            <a:off x="917143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Result</a:t>
            </a:r>
            <a:endParaRPr lang="en-US" sz="1600" dirty="0"/>
          </a:p>
        </p:txBody>
      </p:sp>
      <p:sp>
        <p:nvSpPr>
          <p:cNvPr id="24" name="Text 17"/>
          <p:cNvSpPr txBox="1"/>
          <p:nvPr/>
        </p:nvSpPr>
        <p:spPr>
          <a:xfrm>
            <a:off x="9189720" y="3511296"/>
            <a:ext cx="2148840" cy="80467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1000 is shown or sent back</a:t>
            </a:r>
            <a:endParaRPr lang="en-US" sz="1300" dirty="0"/>
          </a:p>
        </p:txBody>
      </p:sp>
      <p:sp>
        <p:nvSpPr>
          <p:cNvPr id="25" name="Shape 18"/>
          <p:cNvSpPr/>
          <p:nvPr/>
        </p:nvSpPr>
        <p:spPr>
          <a:xfrm>
            <a:off x="731520" y="4572000"/>
            <a:ext cx="5212080" cy="822960"/>
          </a:xfrm>
          <a:prstGeom prst="roundRect">
            <a:avLst>
              <a:gd name="adj" fmla="val 11111"/>
            </a:avLst>
          </a:prstGeom>
          <a:solidFill>
            <a:srgbClr val="F5F3FF"/>
          </a:solidFill>
          <a:ln w="19050">
            <a:solidFill>
              <a:srgbClr val="8B5CF6"/>
            </a:solidFill>
            <a:prstDash val="solid"/>
          </a:ln>
        </p:spPr>
      </p:sp>
      <p:sp>
        <p:nvSpPr>
          <p:cNvPr id="26" name="Text 19"/>
          <p:cNvSpPr txBox="1"/>
          <p:nvPr/>
        </p:nvSpPr>
        <p:spPr>
          <a:xfrm>
            <a:off x="804672" y="468172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Parameters</a:t>
            </a:r>
            <a:endParaRPr lang="en-US" sz="1550" dirty="0"/>
          </a:p>
        </p:txBody>
      </p:sp>
      <p:sp>
        <p:nvSpPr>
          <p:cNvPr id="27" name="Text 20"/>
          <p:cNvSpPr txBox="1"/>
          <p:nvPr/>
        </p:nvSpPr>
        <p:spPr>
          <a:xfrm>
            <a:off x="822960" y="5010912"/>
            <a:ext cx="5029200" cy="310896"/>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the blanks in the definition: price and quantity</a:t>
            </a:r>
            <a:endParaRPr lang="en-US" sz="1350" dirty="0"/>
          </a:p>
        </p:txBody>
      </p:sp>
      <p:sp>
        <p:nvSpPr>
          <p:cNvPr id="28" name="Shape 21"/>
          <p:cNvSpPr/>
          <p:nvPr/>
        </p:nvSpPr>
        <p:spPr>
          <a:xfrm>
            <a:off x="6217920" y="4572000"/>
            <a:ext cx="5212080" cy="822960"/>
          </a:xfrm>
          <a:prstGeom prst="roundRect">
            <a:avLst>
              <a:gd name="adj" fmla="val 11111"/>
            </a:avLst>
          </a:prstGeom>
          <a:solidFill>
            <a:srgbClr val="F0FDFA"/>
          </a:solidFill>
          <a:ln w="19050">
            <a:solidFill>
              <a:srgbClr val="14B8A6"/>
            </a:solidFill>
            <a:prstDash val="solid"/>
          </a:ln>
        </p:spPr>
      </p:sp>
      <p:sp>
        <p:nvSpPr>
          <p:cNvPr id="29" name="Text 22"/>
          <p:cNvSpPr txBox="1"/>
          <p:nvPr/>
        </p:nvSpPr>
        <p:spPr>
          <a:xfrm>
            <a:off x="6291072" y="468172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Arguments</a:t>
            </a:r>
            <a:endParaRPr lang="en-US" sz="1550" dirty="0"/>
          </a:p>
        </p:txBody>
      </p:sp>
      <p:sp>
        <p:nvSpPr>
          <p:cNvPr id="30" name="Text 23"/>
          <p:cNvSpPr txBox="1"/>
          <p:nvPr/>
        </p:nvSpPr>
        <p:spPr>
          <a:xfrm>
            <a:off x="6309360" y="5010912"/>
            <a:ext cx="5029200" cy="310896"/>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the real values in the call: 500 and 2</a:t>
            </a:r>
            <a:endParaRPr lang="en-US" sz="1350" dirty="0"/>
          </a:p>
        </p:txBody>
      </p:sp>
      <p:sp>
        <p:nvSpPr>
          <p:cNvPr id="31" name="Shape 24"/>
          <p:cNvSpPr/>
          <p:nvPr/>
        </p:nvSpPr>
        <p:spPr>
          <a:xfrm>
            <a:off x="731520" y="5559552"/>
            <a:ext cx="10698480" cy="0"/>
          </a:xfrm>
          <a:prstGeom prst="line">
            <a:avLst/>
          </a:prstGeom>
          <a:noFill/>
          <a:ln w="12700">
            <a:solidFill>
              <a:srgbClr val="E2E8F0"/>
            </a:solidFill>
            <a:prstDash val="solid"/>
          </a:ln>
        </p:spPr>
      </p:sp>
      <p:sp>
        <p:nvSpPr>
          <p:cNvPr id="32" name="Shape 25"/>
          <p:cNvSpPr/>
          <p:nvPr/>
        </p:nvSpPr>
        <p:spPr>
          <a:xfrm>
            <a:off x="777240" y="5650992"/>
            <a:ext cx="475488" cy="475488"/>
          </a:xfrm>
          <a:prstGeom prst="ellipse">
            <a:avLst/>
          </a:prstGeom>
          <a:solidFill>
            <a:srgbClr val="FCE7F3"/>
          </a:solidFill>
          <a:ln w="19050">
            <a:solidFill>
              <a:srgbClr val="EC4899"/>
            </a:solidFill>
            <a:prstDash val="solid"/>
          </a:ln>
        </p:spPr>
      </p:sp>
      <p:pic>
        <p:nvPicPr>
          <p:cNvPr id="33" name="Image 5" descr="assets/icon2_user_pink.png">    </p:cNvPr>
          <p:cNvPicPr>
            <a:picLocks noChangeAspect="1"/>
          </p:cNvPicPr>
          <p:nvPr/>
        </p:nvPicPr>
        <p:blipFill>
          <a:blip r:embed="rId6"/>
          <a:stretch>
            <a:fillRect/>
          </a:stretch>
        </p:blipFill>
        <p:spPr>
          <a:xfrm>
            <a:off x="872338" y="5746090"/>
            <a:ext cx="285293" cy="285293"/>
          </a:xfrm>
          <a:prstGeom prst="rect">
            <a:avLst/>
          </a:prstGeom>
        </p:spPr>
      </p:pic>
      <p:sp>
        <p:nvSpPr>
          <p:cNvPr id="34" name="Shape 26"/>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5" name="Shape 27"/>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6" name="Text 28"/>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Defining a function only teaches Python the steps. The steps run when you call it.</a:t>
            </a:r>
            <a:endParaRPr lang="en-US" sz="1400" dirty="0"/>
          </a:p>
        </p:txBody>
      </p:sp>
      <p:sp>
        <p:nvSpPr>
          <p:cNvPr id="37" name="Text 2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38" name="Text 3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3</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Built In and User Defined Functions</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new phone comes with ready apps such as the calculator and the camera. You can also install your own apps for jobs the phone does not do.</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Built in functions come with Python and are ready to use, such as max(), min(), len(), sum() and type(). User defined functions are the ones you write yourself.</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Built in functions handle everyday jobs in every program. User defined functions hold the rules of your own business.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TWO TYPES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Ready Made and Made by You</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731520" y="2331720"/>
            <a:ext cx="731520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BUILT IN, ON THE LIST 10, 20, 30, 40, 50</a:t>
            </a:r>
            <a:endParaRPr lang="en-US" sz="1100" dirty="0"/>
          </a:p>
        </p:txBody>
      </p:sp>
      <p:sp>
        <p:nvSpPr>
          <p:cNvPr id="7" name="Shape 4"/>
          <p:cNvSpPr/>
          <p:nvPr/>
        </p:nvSpPr>
        <p:spPr>
          <a:xfrm>
            <a:off x="731520" y="2633472"/>
            <a:ext cx="2011680" cy="1005840"/>
          </a:xfrm>
          <a:prstGeom prst="roundRect">
            <a:avLst>
              <a:gd name="adj" fmla="val 9091"/>
            </a:avLst>
          </a:prstGeom>
          <a:solidFill>
            <a:srgbClr val="F0FDFA"/>
          </a:solidFill>
          <a:ln w="19050">
            <a:solidFill>
              <a:srgbClr val="14B8A6"/>
            </a:solidFill>
            <a:prstDash val="solid"/>
          </a:ln>
        </p:spPr>
      </p:sp>
      <p:sp>
        <p:nvSpPr>
          <p:cNvPr id="8" name="Text 5"/>
          <p:cNvSpPr txBox="1"/>
          <p:nvPr/>
        </p:nvSpPr>
        <p:spPr>
          <a:xfrm>
            <a:off x="804672" y="2743200"/>
            <a:ext cx="1865376" cy="365760"/>
          </a:xfrm>
          <a:prstGeom prst="rect">
            <a:avLst/>
          </a:prstGeom>
          <a:noFill/>
          <a:ln/>
        </p:spPr>
        <p:txBody>
          <a:bodyPr wrap="square" rtlCol="0" anchor="t"/>
          <a:lstStyle/>
          <a:p>
            <a:pPr algn="ctr" indent="0" marL="0">
              <a:buNone/>
            </a:pPr>
            <a:r>
              <a:rPr lang="en-US" sz="1700" b="1" dirty="0">
                <a:solidFill>
                  <a:srgbClr val="1E293B"/>
                </a:solidFill>
                <a:latin typeface="Consolas" pitchFamily="34" charset="0"/>
                <a:ea typeface="Consolas" pitchFamily="34" charset="-122"/>
                <a:cs typeface="Consolas" pitchFamily="34" charset="-120"/>
              </a:rPr>
              <a:t>max()</a:t>
            </a:r>
            <a:endParaRPr lang="en-US" sz="1700" dirty="0"/>
          </a:p>
        </p:txBody>
      </p:sp>
      <p:sp>
        <p:nvSpPr>
          <p:cNvPr id="9" name="Text 6"/>
          <p:cNvSpPr txBox="1"/>
          <p:nvPr/>
        </p:nvSpPr>
        <p:spPr>
          <a:xfrm>
            <a:off x="822960" y="3108960"/>
            <a:ext cx="1828800" cy="45720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largest: 50</a:t>
            </a:r>
            <a:endParaRPr lang="en-US" sz="1350" dirty="0"/>
          </a:p>
        </p:txBody>
      </p:sp>
      <p:sp>
        <p:nvSpPr>
          <p:cNvPr id="10" name="Shape 7"/>
          <p:cNvSpPr/>
          <p:nvPr/>
        </p:nvSpPr>
        <p:spPr>
          <a:xfrm>
            <a:off x="2880360" y="2633472"/>
            <a:ext cx="2011680" cy="1005840"/>
          </a:xfrm>
          <a:prstGeom prst="roundRect">
            <a:avLst>
              <a:gd name="adj" fmla="val 9091"/>
            </a:avLst>
          </a:prstGeom>
          <a:solidFill>
            <a:srgbClr val="F0FDFA"/>
          </a:solidFill>
          <a:ln w="19050">
            <a:solidFill>
              <a:srgbClr val="14B8A6"/>
            </a:solidFill>
            <a:prstDash val="solid"/>
          </a:ln>
        </p:spPr>
      </p:sp>
      <p:sp>
        <p:nvSpPr>
          <p:cNvPr id="11" name="Text 8"/>
          <p:cNvSpPr txBox="1"/>
          <p:nvPr/>
        </p:nvSpPr>
        <p:spPr>
          <a:xfrm>
            <a:off x="2953512" y="2743200"/>
            <a:ext cx="1865376" cy="365760"/>
          </a:xfrm>
          <a:prstGeom prst="rect">
            <a:avLst/>
          </a:prstGeom>
          <a:noFill/>
          <a:ln/>
        </p:spPr>
        <p:txBody>
          <a:bodyPr wrap="square" rtlCol="0" anchor="t"/>
          <a:lstStyle/>
          <a:p>
            <a:pPr algn="ctr" indent="0" marL="0">
              <a:buNone/>
            </a:pPr>
            <a:r>
              <a:rPr lang="en-US" sz="1700" b="1" dirty="0">
                <a:solidFill>
                  <a:srgbClr val="1E293B"/>
                </a:solidFill>
                <a:latin typeface="Consolas" pitchFamily="34" charset="0"/>
                <a:ea typeface="Consolas" pitchFamily="34" charset="-122"/>
                <a:cs typeface="Consolas" pitchFamily="34" charset="-120"/>
              </a:rPr>
              <a:t>min()</a:t>
            </a:r>
            <a:endParaRPr lang="en-US" sz="1700" dirty="0"/>
          </a:p>
        </p:txBody>
      </p:sp>
      <p:sp>
        <p:nvSpPr>
          <p:cNvPr id="12" name="Text 9"/>
          <p:cNvSpPr txBox="1"/>
          <p:nvPr/>
        </p:nvSpPr>
        <p:spPr>
          <a:xfrm>
            <a:off x="2971800" y="3108960"/>
            <a:ext cx="1828800" cy="45720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smallest: 10</a:t>
            </a:r>
            <a:endParaRPr lang="en-US" sz="1350" dirty="0"/>
          </a:p>
        </p:txBody>
      </p:sp>
      <p:sp>
        <p:nvSpPr>
          <p:cNvPr id="13" name="Shape 10"/>
          <p:cNvSpPr/>
          <p:nvPr/>
        </p:nvSpPr>
        <p:spPr>
          <a:xfrm>
            <a:off x="5029200" y="2633472"/>
            <a:ext cx="2011680" cy="1005840"/>
          </a:xfrm>
          <a:prstGeom prst="roundRect">
            <a:avLst>
              <a:gd name="adj" fmla="val 9091"/>
            </a:avLst>
          </a:prstGeom>
          <a:solidFill>
            <a:srgbClr val="F0FDFA"/>
          </a:solidFill>
          <a:ln w="19050">
            <a:solidFill>
              <a:srgbClr val="14B8A6"/>
            </a:solidFill>
            <a:prstDash val="solid"/>
          </a:ln>
        </p:spPr>
      </p:sp>
      <p:sp>
        <p:nvSpPr>
          <p:cNvPr id="14" name="Text 11"/>
          <p:cNvSpPr txBox="1"/>
          <p:nvPr/>
        </p:nvSpPr>
        <p:spPr>
          <a:xfrm>
            <a:off x="5102352" y="2743200"/>
            <a:ext cx="1865376" cy="365760"/>
          </a:xfrm>
          <a:prstGeom prst="rect">
            <a:avLst/>
          </a:prstGeom>
          <a:noFill/>
          <a:ln/>
        </p:spPr>
        <p:txBody>
          <a:bodyPr wrap="square" rtlCol="0" anchor="t"/>
          <a:lstStyle/>
          <a:p>
            <a:pPr algn="ctr" indent="0" marL="0">
              <a:buNone/>
            </a:pPr>
            <a:r>
              <a:rPr lang="en-US" sz="1700" b="1" dirty="0">
                <a:solidFill>
                  <a:srgbClr val="1E293B"/>
                </a:solidFill>
                <a:latin typeface="Consolas" pitchFamily="34" charset="0"/>
                <a:ea typeface="Consolas" pitchFamily="34" charset="-122"/>
                <a:cs typeface="Consolas" pitchFamily="34" charset="-120"/>
              </a:rPr>
              <a:t>len()</a:t>
            </a:r>
            <a:endParaRPr lang="en-US" sz="1700" dirty="0"/>
          </a:p>
        </p:txBody>
      </p:sp>
      <p:sp>
        <p:nvSpPr>
          <p:cNvPr id="15" name="Text 12"/>
          <p:cNvSpPr txBox="1"/>
          <p:nvPr/>
        </p:nvSpPr>
        <p:spPr>
          <a:xfrm>
            <a:off x="5120640" y="3108960"/>
            <a:ext cx="1828800" cy="45720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how many: 5</a:t>
            </a:r>
            <a:endParaRPr lang="en-US" sz="1350" dirty="0"/>
          </a:p>
        </p:txBody>
      </p:sp>
      <p:sp>
        <p:nvSpPr>
          <p:cNvPr id="16" name="Shape 13"/>
          <p:cNvSpPr/>
          <p:nvPr/>
        </p:nvSpPr>
        <p:spPr>
          <a:xfrm>
            <a:off x="7178040" y="2633472"/>
            <a:ext cx="2011680" cy="1005840"/>
          </a:xfrm>
          <a:prstGeom prst="roundRect">
            <a:avLst>
              <a:gd name="adj" fmla="val 9091"/>
            </a:avLst>
          </a:prstGeom>
          <a:solidFill>
            <a:srgbClr val="F0FDFA"/>
          </a:solidFill>
          <a:ln w="19050">
            <a:solidFill>
              <a:srgbClr val="14B8A6"/>
            </a:solidFill>
            <a:prstDash val="solid"/>
          </a:ln>
        </p:spPr>
      </p:sp>
      <p:sp>
        <p:nvSpPr>
          <p:cNvPr id="17" name="Text 14"/>
          <p:cNvSpPr txBox="1"/>
          <p:nvPr/>
        </p:nvSpPr>
        <p:spPr>
          <a:xfrm>
            <a:off x="7251192" y="2743200"/>
            <a:ext cx="1865376" cy="365760"/>
          </a:xfrm>
          <a:prstGeom prst="rect">
            <a:avLst/>
          </a:prstGeom>
          <a:noFill/>
          <a:ln/>
        </p:spPr>
        <p:txBody>
          <a:bodyPr wrap="square" rtlCol="0" anchor="t"/>
          <a:lstStyle/>
          <a:p>
            <a:pPr algn="ctr" indent="0" marL="0">
              <a:buNone/>
            </a:pPr>
            <a:r>
              <a:rPr lang="en-US" sz="1700" b="1" dirty="0">
                <a:solidFill>
                  <a:srgbClr val="1E293B"/>
                </a:solidFill>
                <a:latin typeface="Consolas" pitchFamily="34" charset="0"/>
                <a:ea typeface="Consolas" pitchFamily="34" charset="-122"/>
                <a:cs typeface="Consolas" pitchFamily="34" charset="-120"/>
              </a:rPr>
              <a:t>sum()</a:t>
            </a:r>
            <a:endParaRPr lang="en-US" sz="1700" dirty="0"/>
          </a:p>
        </p:txBody>
      </p:sp>
      <p:sp>
        <p:nvSpPr>
          <p:cNvPr id="18" name="Text 15"/>
          <p:cNvSpPr txBox="1"/>
          <p:nvPr/>
        </p:nvSpPr>
        <p:spPr>
          <a:xfrm>
            <a:off x="7269480" y="3108960"/>
            <a:ext cx="1828800" cy="45720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total: 150</a:t>
            </a:r>
            <a:endParaRPr lang="en-US" sz="1350" dirty="0"/>
          </a:p>
        </p:txBody>
      </p:sp>
      <p:sp>
        <p:nvSpPr>
          <p:cNvPr id="19" name="Shape 16"/>
          <p:cNvSpPr/>
          <p:nvPr/>
        </p:nvSpPr>
        <p:spPr>
          <a:xfrm>
            <a:off x="9326880" y="2633472"/>
            <a:ext cx="2011680" cy="1005840"/>
          </a:xfrm>
          <a:prstGeom prst="roundRect">
            <a:avLst>
              <a:gd name="adj" fmla="val 9091"/>
            </a:avLst>
          </a:prstGeom>
          <a:solidFill>
            <a:srgbClr val="F0FDFA"/>
          </a:solidFill>
          <a:ln w="19050">
            <a:solidFill>
              <a:srgbClr val="14B8A6"/>
            </a:solidFill>
            <a:prstDash val="solid"/>
          </a:ln>
        </p:spPr>
      </p:sp>
      <p:sp>
        <p:nvSpPr>
          <p:cNvPr id="20" name="Text 17"/>
          <p:cNvSpPr txBox="1"/>
          <p:nvPr/>
        </p:nvSpPr>
        <p:spPr>
          <a:xfrm>
            <a:off x="9400032" y="2743200"/>
            <a:ext cx="1865376" cy="365760"/>
          </a:xfrm>
          <a:prstGeom prst="rect">
            <a:avLst/>
          </a:prstGeom>
          <a:noFill/>
          <a:ln/>
        </p:spPr>
        <p:txBody>
          <a:bodyPr wrap="square" rtlCol="0" anchor="t"/>
          <a:lstStyle/>
          <a:p>
            <a:pPr algn="ctr" indent="0" marL="0">
              <a:buNone/>
            </a:pPr>
            <a:r>
              <a:rPr lang="en-US" sz="1700" b="1" dirty="0">
                <a:solidFill>
                  <a:srgbClr val="1E293B"/>
                </a:solidFill>
                <a:latin typeface="Consolas" pitchFamily="34" charset="0"/>
                <a:ea typeface="Consolas" pitchFamily="34" charset="-122"/>
                <a:cs typeface="Consolas" pitchFamily="34" charset="-120"/>
              </a:rPr>
              <a:t>type()</a:t>
            </a:r>
            <a:endParaRPr lang="en-US" sz="1700" dirty="0"/>
          </a:p>
        </p:txBody>
      </p:sp>
      <p:sp>
        <p:nvSpPr>
          <p:cNvPr id="21" name="Text 18"/>
          <p:cNvSpPr txBox="1"/>
          <p:nvPr/>
        </p:nvSpPr>
        <p:spPr>
          <a:xfrm>
            <a:off x="9418320" y="3108960"/>
            <a:ext cx="1828800" cy="45720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kind: list</a:t>
            </a:r>
            <a:endParaRPr lang="en-US" sz="1350" dirty="0"/>
          </a:p>
        </p:txBody>
      </p:sp>
      <p:sp>
        <p:nvSpPr>
          <p:cNvPr id="22" name="Text 19"/>
          <p:cNvSpPr txBox="1"/>
          <p:nvPr/>
        </p:nvSpPr>
        <p:spPr>
          <a:xfrm>
            <a:off x="731520" y="3840480"/>
            <a:ext cx="7315200" cy="256032"/>
          </a:xfrm>
          <a:prstGeom prst="rect">
            <a:avLst/>
          </a:prstGeom>
          <a:noFill/>
          <a:ln/>
        </p:spPr>
        <p:txBody>
          <a:bodyPr wrap="square" rtlCol="0" anchor="ctr"/>
          <a:lstStyle/>
          <a:p>
            <a:pPr indent="0" marL="0">
              <a:buNone/>
            </a:pPr>
            <a:r>
              <a:rPr lang="en-US" sz="1100" b="1" spc="100" kern="0" dirty="0">
                <a:solidFill>
                  <a:srgbClr val="8B5CF6"/>
                </a:solidFill>
                <a:latin typeface="Calibri" pitchFamily="34" charset="0"/>
                <a:ea typeface="Calibri" pitchFamily="34" charset="-122"/>
                <a:cs typeface="Calibri" pitchFamily="34" charset="-120"/>
              </a:rPr>
              <a:t>USER DEFINED, WRITTEN BY YOU</a:t>
            </a:r>
            <a:endParaRPr lang="en-US" sz="1100" dirty="0"/>
          </a:p>
        </p:txBody>
      </p:sp>
      <p:sp>
        <p:nvSpPr>
          <p:cNvPr id="23" name="Shape 20"/>
          <p:cNvSpPr/>
          <p:nvPr/>
        </p:nvSpPr>
        <p:spPr>
          <a:xfrm>
            <a:off x="731520" y="4114800"/>
            <a:ext cx="3474720" cy="1325880"/>
          </a:xfrm>
          <a:prstGeom prst="roundRect">
            <a:avLst>
              <a:gd name="adj" fmla="val 6897"/>
            </a:avLst>
          </a:prstGeom>
          <a:solidFill>
            <a:srgbClr val="F5F3FF"/>
          </a:solidFill>
          <a:ln w="19050">
            <a:solidFill>
              <a:srgbClr val="8B5CF6"/>
            </a:solidFill>
            <a:prstDash val="solid"/>
          </a:ln>
        </p:spPr>
      </p:sp>
      <p:pic>
        <p:nvPicPr>
          <p:cNvPr id="24" name="Image 1" descr="assets/icon2_send_teal.png">    </p:cNvPr>
          <p:cNvPicPr>
            <a:picLocks noChangeAspect="1"/>
          </p:cNvPicPr>
          <p:nvPr/>
        </p:nvPicPr>
        <p:blipFill>
          <a:blip r:embed="rId2"/>
          <a:stretch>
            <a:fillRect/>
          </a:stretch>
        </p:blipFill>
        <p:spPr>
          <a:xfrm>
            <a:off x="2217420" y="4224528"/>
            <a:ext cx="502920" cy="502920"/>
          </a:xfrm>
          <a:prstGeom prst="rect">
            <a:avLst/>
          </a:prstGeom>
        </p:spPr>
      </p:pic>
      <p:sp>
        <p:nvSpPr>
          <p:cNvPr id="25" name="Text 21"/>
          <p:cNvSpPr txBox="1"/>
          <p:nvPr/>
        </p:nvSpPr>
        <p:spPr>
          <a:xfrm>
            <a:off x="804672" y="4791456"/>
            <a:ext cx="332841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Welcome message</a:t>
            </a:r>
            <a:endParaRPr lang="en-US" sz="1550" dirty="0"/>
          </a:p>
        </p:txBody>
      </p:sp>
      <p:sp>
        <p:nvSpPr>
          <p:cNvPr id="26" name="Text 22"/>
          <p:cNvSpPr txBox="1"/>
          <p:nvPr/>
        </p:nvSpPr>
        <p:spPr>
          <a:xfrm>
            <a:off x="822960" y="5120640"/>
            <a:ext cx="3291840" cy="246888"/>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prints a greeting when called</a:t>
            </a:r>
            <a:endParaRPr lang="en-US" sz="1350" dirty="0"/>
          </a:p>
        </p:txBody>
      </p:sp>
      <p:sp>
        <p:nvSpPr>
          <p:cNvPr id="27" name="Shape 23"/>
          <p:cNvSpPr/>
          <p:nvPr/>
        </p:nvSpPr>
        <p:spPr>
          <a:xfrm>
            <a:off x="4343400" y="4114800"/>
            <a:ext cx="3474720" cy="1325880"/>
          </a:xfrm>
          <a:prstGeom prst="roundRect">
            <a:avLst>
              <a:gd name="adj" fmla="val 6897"/>
            </a:avLst>
          </a:prstGeom>
          <a:solidFill>
            <a:srgbClr val="F5F3FF"/>
          </a:solidFill>
          <a:ln w="19050">
            <a:solidFill>
              <a:srgbClr val="8B5CF6"/>
            </a:solidFill>
            <a:prstDash val="solid"/>
          </a:ln>
        </p:spPr>
      </p:sp>
      <p:pic>
        <p:nvPicPr>
          <p:cNvPr id="28" name="Image 2" descr="assets/icon2_building_navy.png">    </p:cNvPr>
          <p:cNvPicPr>
            <a:picLocks noChangeAspect="1"/>
          </p:cNvPicPr>
          <p:nvPr/>
        </p:nvPicPr>
        <p:blipFill>
          <a:blip r:embed="rId3"/>
          <a:stretch>
            <a:fillRect/>
          </a:stretch>
        </p:blipFill>
        <p:spPr>
          <a:xfrm>
            <a:off x="5829300" y="4224528"/>
            <a:ext cx="502920" cy="502920"/>
          </a:xfrm>
          <a:prstGeom prst="rect">
            <a:avLst/>
          </a:prstGeom>
        </p:spPr>
      </p:pic>
      <p:sp>
        <p:nvSpPr>
          <p:cNvPr id="29" name="Text 24"/>
          <p:cNvSpPr txBox="1"/>
          <p:nvPr/>
        </p:nvSpPr>
        <p:spPr>
          <a:xfrm>
            <a:off x="4416552" y="4791456"/>
            <a:ext cx="332841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Company name</a:t>
            </a:r>
            <a:endParaRPr lang="en-US" sz="1550" dirty="0"/>
          </a:p>
        </p:txBody>
      </p:sp>
      <p:sp>
        <p:nvSpPr>
          <p:cNvPr id="30" name="Text 25"/>
          <p:cNvSpPr txBox="1"/>
          <p:nvPr/>
        </p:nvSpPr>
        <p:spPr>
          <a:xfrm>
            <a:off x="4434840" y="5120640"/>
            <a:ext cx="3291840" cy="246888"/>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shows Intellea whenever called</a:t>
            </a:r>
            <a:endParaRPr lang="en-US" sz="1350" dirty="0"/>
          </a:p>
        </p:txBody>
      </p:sp>
      <p:sp>
        <p:nvSpPr>
          <p:cNvPr id="31" name="Shape 26"/>
          <p:cNvSpPr/>
          <p:nvPr/>
        </p:nvSpPr>
        <p:spPr>
          <a:xfrm>
            <a:off x="7955280" y="4114800"/>
            <a:ext cx="3474720" cy="1325880"/>
          </a:xfrm>
          <a:prstGeom prst="roundRect">
            <a:avLst>
              <a:gd name="adj" fmla="val 6897"/>
            </a:avLst>
          </a:prstGeom>
          <a:solidFill>
            <a:srgbClr val="F5F3FF"/>
          </a:solidFill>
          <a:ln w="19050">
            <a:solidFill>
              <a:srgbClr val="8B5CF6"/>
            </a:solidFill>
            <a:prstDash val="solid"/>
          </a:ln>
        </p:spPr>
      </p:sp>
      <p:pic>
        <p:nvPicPr>
          <p:cNvPr id="32" name="Image 3" descr="assets/icon2_calc_navy.png">    </p:cNvPr>
          <p:cNvPicPr>
            <a:picLocks noChangeAspect="1"/>
          </p:cNvPicPr>
          <p:nvPr/>
        </p:nvPicPr>
        <p:blipFill>
          <a:blip r:embed="rId4"/>
          <a:stretch>
            <a:fillRect/>
          </a:stretch>
        </p:blipFill>
        <p:spPr>
          <a:xfrm>
            <a:off x="9441180" y="4224528"/>
            <a:ext cx="502920" cy="502920"/>
          </a:xfrm>
          <a:prstGeom prst="rect">
            <a:avLst/>
          </a:prstGeom>
        </p:spPr>
      </p:pic>
      <p:sp>
        <p:nvSpPr>
          <p:cNvPr id="33" name="Text 27"/>
          <p:cNvSpPr txBox="1"/>
          <p:nvPr/>
        </p:nvSpPr>
        <p:spPr>
          <a:xfrm>
            <a:off x="8028432" y="4791456"/>
            <a:ext cx="332841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Total calculator</a:t>
            </a:r>
            <a:endParaRPr lang="en-US" sz="1550" dirty="0"/>
          </a:p>
        </p:txBody>
      </p:sp>
      <p:sp>
        <p:nvSpPr>
          <p:cNvPr id="34" name="Text 28"/>
          <p:cNvSpPr txBox="1"/>
          <p:nvPr/>
        </p:nvSpPr>
        <p:spPr>
          <a:xfrm>
            <a:off x="8046720" y="5120640"/>
            <a:ext cx="3291840" cy="246888"/>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price times quantity</a:t>
            </a:r>
            <a:endParaRPr lang="en-US" sz="1350" dirty="0"/>
          </a:p>
        </p:txBody>
      </p:sp>
      <p:sp>
        <p:nvSpPr>
          <p:cNvPr id="35" name="Shape 29"/>
          <p:cNvSpPr/>
          <p:nvPr/>
        </p:nvSpPr>
        <p:spPr>
          <a:xfrm>
            <a:off x="731520" y="5559552"/>
            <a:ext cx="10698480" cy="0"/>
          </a:xfrm>
          <a:prstGeom prst="line">
            <a:avLst/>
          </a:prstGeom>
          <a:noFill/>
          <a:ln w="12700">
            <a:solidFill>
              <a:srgbClr val="E2E8F0"/>
            </a:solidFill>
            <a:prstDash val="solid"/>
          </a:ln>
        </p:spPr>
      </p:sp>
      <p:sp>
        <p:nvSpPr>
          <p:cNvPr id="36" name="Shape 30"/>
          <p:cNvSpPr/>
          <p:nvPr/>
        </p:nvSpPr>
        <p:spPr>
          <a:xfrm>
            <a:off x="777240" y="5650992"/>
            <a:ext cx="475488" cy="475488"/>
          </a:xfrm>
          <a:prstGeom prst="ellipse">
            <a:avLst/>
          </a:prstGeom>
          <a:solidFill>
            <a:srgbClr val="FCE7F3"/>
          </a:solidFill>
          <a:ln w="19050">
            <a:solidFill>
              <a:srgbClr val="EC4899"/>
            </a:solidFill>
            <a:prstDash val="solid"/>
          </a:ln>
        </p:spPr>
      </p:sp>
      <p:pic>
        <p:nvPicPr>
          <p:cNvPr id="37" name="Image 4" descr="assets/icon2_user_pink.png">    </p:cNvPr>
          <p:cNvPicPr>
            <a:picLocks noChangeAspect="1"/>
          </p:cNvPicPr>
          <p:nvPr/>
        </p:nvPicPr>
        <p:blipFill>
          <a:blip r:embed="rId5"/>
          <a:stretch>
            <a:fillRect/>
          </a:stretch>
        </p:blipFill>
        <p:spPr>
          <a:xfrm>
            <a:off x="872338" y="5746090"/>
            <a:ext cx="285293" cy="285293"/>
          </a:xfrm>
          <a:prstGeom prst="rect">
            <a:avLst/>
          </a:prstGeom>
        </p:spPr>
      </p:pic>
      <p:sp>
        <p:nvSpPr>
          <p:cNvPr id="38" name="Shape 31"/>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9" name="Shape 32"/>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40" name="Text 33"/>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Check for a built in function first. Write your own only when Python has none for the job.</a:t>
            </a:r>
            <a:endParaRPr lang="en-US" sz="1400" dirty="0"/>
          </a:p>
        </p:txBody>
      </p:sp>
      <p:sp>
        <p:nvSpPr>
          <p:cNvPr id="41" name="Text 34"/>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42" name="Text 35"/>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4</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Functions With and Without Parameters</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coffee machine can have one button, a size choice, or size, sugar and milk choices. The more choices it has, the more it can customise each cup.</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A function can take no parameters, one parameter or many. Arguments fill the parameters by position, or by name when you use keyword arguments.</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Greeting a user, showing an employee record, and calculating a total from a price and a quantity.</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PARAMETERS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More Parameters, More Flexibility</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731520" y="2423160"/>
            <a:ext cx="2468880" cy="822960"/>
          </a:xfrm>
          <a:prstGeom prst="rect">
            <a:avLst/>
          </a:prstGeom>
          <a:noFill/>
          <a:ln/>
        </p:spPr>
        <p:txBody>
          <a:bodyPr wrap="square" rtlCol="0" anchor="ctr"/>
          <a:lstStyle/>
          <a:p>
            <a:pPr indent="0" marL="0">
              <a:buNone/>
            </a:pPr>
            <a:r>
              <a:rPr lang="en-US" sz="1550" b="1" dirty="0">
                <a:solidFill>
                  <a:srgbClr val="1E293B"/>
                </a:solidFill>
                <a:latin typeface="Calibri" pitchFamily="34" charset="0"/>
                <a:ea typeface="Calibri" pitchFamily="34" charset="-122"/>
                <a:cs typeface="Calibri" pitchFamily="34" charset="-120"/>
              </a:rPr>
              <a:t>No parameters</a:t>
            </a:r>
            <a:endParaRPr lang="en-US" sz="1550" dirty="0"/>
          </a:p>
          <a:p>
            <a:pPr indent="0" marL="0">
              <a:buNone/>
            </a:pPr>
            <a:r>
              <a:rPr lang="en-US" sz="1250" dirty="0">
                <a:solidFill>
                  <a:srgbClr val="64748B"/>
                </a:solidFill>
                <a:latin typeface="Calibri" pitchFamily="34" charset="0"/>
                <a:ea typeface="Calibri" pitchFamily="34" charset="-122"/>
                <a:cs typeface="Calibri" pitchFamily="34" charset="-120"/>
              </a:rPr>
              <a:t>the same job every time</a:t>
            </a:r>
            <a:endParaRPr lang="en-US" sz="1550" dirty="0"/>
          </a:p>
        </p:txBody>
      </p:sp>
      <p:sp>
        <p:nvSpPr>
          <p:cNvPr id="7" name="Text 4"/>
          <p:cNvSpPr txBox="1"/>
          <p:nvPr/>
        </p:nvSpPr>
        <p:spPr>
          <a:xfrm>
            <a:off x="731520" y="3447288"/>
            <a:ext cx="2468880" cy="822960"/>
          </a:xfrm>
          <a:prstGeom prst="rect">
            <a:avLst/>
          </a:prstGeom>
          <a:noFill/>
          <a:ln/>
        </p:spPr>
        <p:txBody>
          <a:bodyPr wrap="square" rtlCol="0" anchor="ctr"/>
          <a:lstStyle/>
          <a:p>
            <a:pPr indent="0" marL="0">
              <a:buNone/>
            </a:pPr>
            <a:r>
              <a:rPr lang="en-US" sz="1550" b="1" dirty="0">
                <a:solidFill>
                  <a:srgbClr val="1E293B"/>
                </a:solidFill>
                <a:latin typeface="Calibri" pitchFamily="34" charset="0"/>
                <a:ea typeface="Calibri" pitchFamily="34" charset="-122"/>
                <a:cs typeface="Calibri" pitchFamily="34" charset="-120"/>
              </a:rPr>
              <a:t>One parameter</a:t>
            </a:r>
            <a:endParaRPr lang="en-US" sz="1550" dirty="0"/>
          </a:p>
          <a:p>
            <a:pPr indent="0" marL="0">
              <a:buNone/>
            </a:pPr>
            <a:r>
              <a:rPr lang="en-US" sz="1250" dirty="0">
                <a:solidFill>
                  <a:srgbClr val="64748B"/>
                </a:solidFill>
                <a:latin typeface="Calibri" pitchFamily="34" charset="0"/>
                <a:ea typeface="Calibri" pitchFamily="34" charset="-122"/>
                <a:cs typeface="Calibri" pitchFamily="34" charset="-120"/>
              </a:rPr>
              <a:t>the value changes</a:t>
            </a:r>
            <a:endParaRPr lang="en-US" sz="1550" dirty="0"/>
          </a:p>
        </p:txBody>
      </p:sp>
      <p:sp>
        <p:nvSpPr>
          <p:cNvPr id="8" name="Text 5"/>
          <p:cNvSpPr txBox="1"/>
          <p:nvPr/>
        </p:nvSpPr>
        <p:spPr>
          <a:xfrm>
            <a:off x="731520" y="4471416"/>
            <a:ext cx="2468880" cy="822960"/>
          </a:xfrm>
          <a:prstGeom prst="rect">
            <a:avLst/>
          </a:prstGeom>
          <a:noFill/>
          <a:ln/>
        </p:spPr>
        <p:txBody>
          <a:bodyPr wrap="square" rtlCol="0" anchor="ctr"/>
          <a:lstStyle/>
          <a:p>
            <a:pPr indent="0" marL="0">
              <a:buNone/>
            </a:pPr>
            <a:r>
              <a:rPr lang="en-US" sz="1550" b="1" dirty="0">
                <a:solidFill>
                  <a:srgbClr val="1E293B"/>
                </a:solidFill>
                <a:latin typeface="Calibri" pitchFamily="34" charset="0"/>
                <a:ea typeface="Calibri" pitchFamily="34" charset="-122"/>
                <a:cs typeface="Calibri" pitchFamily="34" charset="-120"/>
              </a:rPr>
              <a:t>Three parameters</a:t>
            </a:r>
            <a:endParaRPr lang="en-US" sz="1550" dirty="0"/>
          </a:p>
          <a:p>
            <a:pPr indent="0" marL="0">
              <a:buNone/>
            </a:pPr>
            <a:r>
              <a:rPr lang="en-US" sz="1250" dirty="0">
                <a:solidFill>
                  <a:srgbClr val="64748B"/>
                </a:solidFill>
                <a:latin typeface="Calibri" pitchFamily="34" charset="0"/>
                <a:ea typeface="Calibri" pitchFamily="34" charset="-122"/>
                <a:cs typeface="Calibri" pitchFamily="34" charset="-120"/>
              </a:rPr>
              <a:t>matched by position</a:t>
            </a:r>
            <a:endParaRPr lang="en-US" sz="1550" dirty="0"/>
          </a:p>
        </p:txBody>
      </p:sp>
      <p:sp>
        <p:nvSpPr>
          <p:cNvPr id="9" name="Shape 6"/>
          <p:cNvSpPr/>
          <p:nvPr/>
        </p:nvSpPr>
        <p:spPr>
          <a:xfrm>
            <a:off x="3291840" y="2560320"/>
            <a:ext cx="3108960" cy="548640"/>
          </a:xfrm>
          <a:prstGeom prst="roundRect">
            <a:avLst>
              <a:gd name="adj" fmla="val 10000"/>
            </a:avLst>
          </a:prstGeom>
          <a:solidFill>
            <a:srgbClr val="F5F3FF"/>
          </a:solidFill>
          <a:ln w="19050">
            <a:solidFill>
              <a:srgbClr val="8B5CF6"/>
            </a:solidFill>
            <a:prstDash val="solid"/>
          </a:ln>
        </p:spPr>
      </p:sp>
      <p:sp>
        <p:nvSpPr>
          <p:cNvPr id="10" name="Text 7"/>
          <p:cNvSpPr txBox="1"/>
          <p:nvPr/>
        </p:nvSpPr>
        <p:spPr>
          <a:xfrm>
            <a:off x="3291840" y="2560320"/>
            <a:ext cx="3108960" cy="54864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show the company name</a:t>
            </a:r>
            <a:endParaRPr lang="en-US" sz="1300" dirty="0"/>
          </a:p>
        </p:txBody>
      </p:sp>
      <p:sp>
        <p:nvSpPr>
          <p:cNvPr id="11" name="Shape 8"/>
          <p:cNvSpPr/>
          <p:nvPr/>
        </p:nvSpPr>
        <p:spPr>
          <a:xfrm>
            <a:off x="6492240" y="2834640"/>
            <a:ext cx="457200" cy="0"/>
          </a:xfrm>
          <a:prstGeom prst="line">
            <a:avLst/>
          </a:prstGeom>
          <a:noFill/>
          <a:ln w="31750">
            <a:solidFill>
              <a:srgbClr val="64748B"/>
            </a:solidFill>
            <a:prstDash val="solid"/>
            <a:tailEnd type="triangle"/>
          </a:ln>
        </p:spPr>
      </p:sp>
      <p:sp>
        <p:nvSpPr>
          <p:cNvPr id="12" name="Shape 9"/>
          <p:cNvSpPr/>
          <p:nvPr/>
        </p:nvSpPr>
        <p:spPr>
          <a:xfrm>
            <a:off x="7040880" y="2560320"/>
            <a:ext cx="1371600" cy="548640"/>
          </a:xfrm>
          <a:prstGeom prst="roundRect">
            <a:avLst>
              <a:gd name="adj" fmla="val 10000"/>
            </a:avLst>
          </a:prstGeom>
          <a:solidFill>
            <a:srgbClr val="DCFCE7"/>
          </a:solidFill>
          <a:ln w="25400">
            <a:solidFill>
              <a:srgbClr val="10B981"/>
            </a:solidFill>
            <a:prstDash val="solid"/>
          </a:ln>
        </p:spPr>
      </p:sp>
      <p:sp>
        <p:nvSpPr>
          <p:cNvPr id="13" name="Text 10"/>
          <p:cNvSpPr txBox="1"/>
          <p:nvPr/>
        </p:nvSpPr>
        <p:spPr>
          <a:xfrm>
            <a:off x="7040880" y="2560320"/>
            <a:ext cx="1371600" cy="54864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Intellea</a:t>
            </a:r>
            <a:endParaRPr lang="en-US" sz="1300" dirty="0"/>
          </a:p>
        </p:txBody>
      </p:sp>
      <p:sp>
        <p:nvSpPr>
          <p:cNvPr id="14" name="Shape 11"/>
          <p:cNvSpPr/>
          <p:nvPr/>
        </p:nvSpPr>
        <p:spPr>
          <a:xfrm>
            <a:off x="8503920" y="2560320"/>
            <a:ext cx="1371600" cy="548640"/>
          </a:xfrm>
          <a:prstGeom prst="roundRect">
            <a:avLst>
              <a:gd name="adj" fmla="val 10000"/>
            </a:avLst>
          </a:prstGeom>
          <a:solidFill>
            <a:srgbClr val="DCFCE7"/>
          </a:solidFill>
          <a:ln w="25400">
            <a:solidFill>
              <a:srgbClr val="10B981"/>
            </a:solidFill>
            <a:prstDash val="solid"/>
          </a:ln>
        </p:spPr>
      </p:sp>
      <p:sp>
        <p:nvSpPr>
          <p:cNvPr id="15" name="Text 12"/>
          <p:cNvSpPr txBox="1"/>
          <p:nvPr/>
        </p:nvSpPr>
        <p:spPr>
          <a:xfrm>
            <a:off x="8503920" y="2560320"/>
            <a:ext cx="1371600" cy="54864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Intellea</a:t>
            </a:r>
            <a:endParaRPr lang="en-US" sz="1300" dirty="0"/>
          </a:p>
        </p:txBody>
      </p:sp>
      <p:sp>
        <p:nvSpPr>
          <p:cNvPr id="16" name="Shape 13"/>
          <p:cNvSpPr/>
          <p:nvPr/>
        </p:nvSpPr>
        <p:spPr>
          <a:xfrm>
            <a:off x="9966960" y="2560320"/>
            <a:ext cx="1371600" cy="548640"/>
          </a:xfrm>
          <a:prstGeom prst="roundRect">
            <a:avLst>
              <a:gd name="adj" fmla="val 10000"/>
            </a:avLst>
          </a:prstGeom>
          <a:solidFill>
            <a:srgbClr val="DCFCE7"/>
          </a:solidFill>
          <a:ln w="25400">
            <a:solidFill>
              <a:srgbClr val="10B981"/>
            </a:solidFill>
            <a:prstDash val="solid"/>
          </a:ln>
        </p:spPr>
      </p:sp>
      <p:sp>
        <p:nvSpPr>
          <p:cNvPr id="17" name="Text 14"/>
          <p:cNvSpPr txBox="1"/>
          <p:nvPr/>
        </p:nvSpPr>
        <p:spPr>
          <a:xfrm>
            <a:off x="9966960" y="2560320"/>
            <a:ext cx="1371600" cy="54864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Intellea</a:t>
            </a:r>
            <a:endParaRPr lang="en-US" sz="1300" dirty="0"/>
          </a:p>
        </p:txBody>
      </p:sp>
      <p:sp>
        <p:nvSpPr>
          <p:cNvPr id="18" name="Shape 15"/>
          <p:cNvSpPr/>
          <p:nvPr/>
        </p:nvSpPr>
        <p:spPr>
          <a:xfrm>
            <a:off x="3291840" y="3584448"/>
            <a:ext cx="1463040" cy="548640"/>
          </a:xfrm>
          <a:prstGeom prst="roundRect">
            <a:avLst>
              <a:gd name="adj" fmla="val 10000"/>
            </a:avLst>
          </a:prstGeom>
          <a:solidFill>
            <a:srgbClr val="CCFBF1"/>
          </a:solidFill>
          <a:ln w="25400">
            <a:solidFill>
              <a:srgbClr val="14B8A6"/>
            </a:solidFill>
            <a:prstDash val="solid"/>
          </a:ln>
        </p:spPr>
      </p:sp>
      <p:sp>
        <p:nvSpPr>
          <p:cNvPr id="19" name="Text 16"/>
          <p:cNvSpPr txBox="1"/>
          <p:nvPr/>
        </p:nvSpPr>
        <p:spPr>
          <a:xfrm>
            <a:off x="3291840" y="3584448"/>
            <a:ext cx="1463040" cy="548640"/>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Arun</a:t>
            </a:r>
            <a:endParaRPr lang="en-US" sz="1400" dirty="0"/>
          </a:p>
        </p:txBody>
      </p:sp>
      <p:sp>
        <p:nvSpPr>
          <p:cNvPr id="20" name="Shape 17"/>
          <p:cNvSpPr/>
          <p:nvPr/>
        </p:nvSpPr>
        <p:spPr>
          <a:xfrm>
            <a:off x="4937760" y="3584448"/>
            <a:ext cx="1463040" cy="548640"/>
          </a:xfrm>
          <a:prstGeom prst="roundRect">
            <a:avLst>
              <a:gd name="adj" fmla="val 10000"/>
            </a:avLst>
          </a:prstGeom>
          <a:solidFill>
            <a:srgbClr val="CCFBF1"/>
          </a:solidFill>
          <a:ln w="25400">
            <a:solidFill>
              <a:srgbClr val="14B8A6"/>
            </a:solidFill>
            <a:prstDash val="solid"/>
          </a:ln>
        </p:spPr>
      </p:sp>
      <p:sp>
        <p:nvSpPr>
          <p:cNvPr id="21" name="Text 18"/>
          <p:cNvSpPr txBox="1"/>
          <p:nvPr/>
        </p:nvSpPr>
        <p:spPr>
          <a:xfrm>
            <a:off x="4937760" y="3584448"/>
            <a:ext cx="1463040" cy="548640"/>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Priya</a:t>
            </a:r>
            <a:endParaRPr lang="en-US" sz="1400" dirty="0"/>
          </a:p>
        </p:txBody>
      </p:sp>
      <p:sp>
        <p:nvSpPr>
          <p:cNvPr id="22" name="Shape 19"/>
          <p:cNvSpPr/>
          <p:nvPr/>
        </p:nvSpPr>
        <p:spPr>
          <a:xfrm>
            <a:off x="6492240" y="3858768"/>
            <a:ext cx="457200" cy="0"/>
          </a:xfrm>
          <a:prstGeom prst="line">
            <a:avLst/>
          </a:prstGeom>
          <a:noFill/>
          <a:ln w="31750">
            <a:solidFill>
              <a:srgbClr val="64748B"/>
            </a:solidFill>
            <a:prstDash val="solid"/>
            <a:tailEnd type="triangle"/>
          </a:ln>
        </p:spPr>
      </p:sp>
      <p:sp>
        <p:nvSpPr>
          <p:cNvPr id="23" name="Shape 20"/>
          <p:cNvSpPr/>
          <p:nvPr/>
        </p:nvSpPr>
        <p:spPr>
          <a:xfrm>
            <a:off x="7040880" y="3584448"/>
            <a:ext cx="2103120" cy="548640"/>
          </a:xfrm>
          <a:prstGeom prst="roundRect">
            <a:avLst>
              <a:gd name="adj" fmla="val 10000"/>
            </a:avLst>
          </a:prstGeom>
          <a:solidFill>
            <a:srgbClr val="DCFCE7"/>
          </a:solidFill>
          <a:ln w="25400">
            <a:solidFill>
              <a:srgbClr val="10B981"/>
            </a:solidFill>
            <a:prstDash val="solid"/>
          </a:ln>
        </p:spPr>
      </p:sp>
      <p:sp>
        <p:nvSpPr>
          <p:cNvPr id="24" name="Text 21"/>
          <p:cNvSpPr txBox="1"/>
          <p:nvPr/>
        </p:nvSpPr>
        <p:spPr>
          <a:xfrm>
            <a:off x="7040880" y="3584448"/>
            <a:ext cx="2103120" cy="54864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Welcome Arun</a:t>
            </a:r>
            <a:endParaRPr lang="en-US" sz="1300" dirty="0"/>
          </a:p>
        </p:txBody>
      </p:sp>
      <p:sp>
        <p:nvSpPr>
          <p:cNvPr id="25" name="Shape 22"/>
          <p:cNvSpPr/>
          <p:nvPr/>
        </p:nvSpPr>
        <p:spPr>
          <a:xfrm>
            <a:off x="9281160" y="3584448"/>
            <a:ext cx="2148840" cy="548640"/>
          </a:xfrm>
          <a:prstGeom prst="roundRect">
            <a:avLst>
              <a:gd name="adj" fmla="val 10000"/>
            </a:avLst>
          </a:prstGeom>
          <a:solidFill>
            <a:srgbClr val="DCFCE7"/>
          </a:solidFill>
          <a:ln w="25400">
            <a:solidFill>
              <a:srgbClr val="10B981"/>
            </a:solidFill>
            <a:prstDash val="solid"/>
          </a:ln>
        </p:spPr>
      </p:sp>
      <p:sp>
        <p:nvSpPr>
          <p:cNvPr id="26" name="Text 23"/>
          <p:cNvSpPr txBox="1"/>
          <p:nvPr/>
        </p:nvSpPr>
        <p:spPr>
          <a:xfrm>
            <a:off x="9281160" y="3584448"/>
            <a:ext cx="2148840" cy="54864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Welcome Priya</a:t>
            </a:r>
            <a:endParaRPr lang="en-US" sz="1300" dirty="0"/>
          </a:p>
        </p:txBody>
      </p:sp>
      <p:sp>
        <p:nvSpPr>
          <p:cNvPr id="27" name="Shape 24"/>
          <p:cNvSpPr/>
          <p:nvPr/>
        </p:nvSpPr>
        <p:spPr>
          <a:xfrm>
            <a:off x="3291840" y="4608576"/>
            <a:ext cx="3108960" cy="548640"/>
          </a:xfrm>
          <a:prstGeom prst="roundRect">
            <a:avLst>
              <a:gd name="adj" fmla="val 10000"/>
            </a:avLst>
          </a:prstGeom>
          <a:solidFill>
            <a:srgbClr val="FFEDD5"/>
          </a:solidFill>
          <a:ln w="25400">
            <a:solidFill>
              <a:srgbClr val="F97316"/>
            </a:solidFill>
            <a:prstDash val="solid"/>
          </a:ln>
        </p:spPr>
      </p:sp>
      <p:sp>
        <p:nvSpPr>
          <p:cNvPr id="28" name="Text 25"/>
          <p:cNvSpPr txBox="1"/>
          <p:nvPr/>
        </p:nvSpPr>
        <p:spPr>
          <a:xfrm>
            <a:off x="3291840" y="4608576"/>
            <a:ext cx="3108960" cy="54864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Arun, IT, 35000</a:t>
            </a:r>
            <a:endParaRPr lang="en-US" sz="1300" dirty="0"/>
          </a:p>
        </p:txBody>
      </p:sp>
      <p:sp>
        <p:nvSpPr>
          <p:cNvPr id="29" name="Shape 26"/>
          <p:cNvSpPr/>
          <p:nvPr/>
        </p:nvSpPr>
        <p:spPr>
          <a:xfrm>
            <a:off x="6492240" y="4882896"/>
            <a:ext cx="457200" cy="0"/>
          </a:xfrm>
          <a:prstGeom prst="line">
            <a:avLst/>
          </a:prstGeom>
          <a:noFill/>
          <a:ln w="31750">
            <a:solidFill>
              <a:srgbClr val="64748B"/>
            </a:solidFill>
            <a:prstDash val="solid"/>
            <a:tailEnd type="triangle"/>
          </a:ln>
        </p:spPr>
      </p:sp>
      <p:sp>
        <p:nvSpPr>
          <p:cNvPr id="30" name="Shape 27"/>
          <p:cNvSpPr/>
          <p:nvPr/>
        </p:nvSpPr>
        <p:spPr>
          <a:xfrm>
            <a:off x="7040880" y="4608576"/>
            <a:ext cx="4389120" cy="548640"/>
          </a:xfrm>
          <a:prstGeom prst="roundRect">
            <a:avLst>
              <a:gd name="adj" fmla="val 10000"/>
            </a:avLst>
          </a:prstGeom>
          <a:solidFill>
            <a:srgbClr val="DCFCE7"/>
          </a:solidFill>
          <a:ln w="25400">
            <a:solidFill>
              <a:srgbClr val="10B981"/>
            </a:solidFill>
            <a:prstDash val="solid"/>
          </a:ln>
        </p:spPr>
      </p:sp>
      <p:sp>
        <p:nvSpPr>
          <p:cNvPr id="31" name="Text 28"/>
          <p:cNvSpPr txBox="1"/>
          <p:nvPr/>
        </p:nvSpPr>
        <p:spPr>
          <a:xfrm>
            <a:off x="7040880" y="4608576"/>
            <a:ext cx="4389120" cy="548640"/>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name, department and salary on 3 lines</a:t>
            </a:r>
            <a:endParaRPr lang="en-US" sz="1250" dirty="0"/>
          </a:p>
        </p:txBody>
      </p:sp>
      <p:sp>
        <p:nvSpPr>
          <p:cNvPr id="32" name="Shape 29"/>
          <p:cNvSpPr/>
          <p:nvPr/>
        </p:nvSpPr>
        <p:spPr>
          <a:xfrm>
            <a:off x="731520" y="5559552"/>
            <a:ext cx="10698480" cy="0"/>
          </a:xfrm>
          <a:prstGeom prst="line">
            <a:avLst/>
          </a:prstGeom>
          <a:noFill/>
          <a:ln w="12700">
            <a:solidFill>
              <a:srgbClr val="E2E8F0"/>
            </a:solidFill>
            <a:prstDash val="solid"/>
          </a:ln>
        </p:spPr>
      </p:sp>
      <p:sp>
        <p:nvSpPr>
          <p:cNvPr id="33" name="Shape 30"/>
          <p:cNvSpPr/>
          <p:nvPr/>
        </p:nvSpPr>
        <p:spPr>
          <a:xfrm>
            <a:off x="777240" y="5650992"/>
            <a:ext cx="475488" cy="475488"/>
          </a:xfrm>
          <a:prstGeom prst="ellipse">
            <a:avLst/>
          </a:prstGeom>
          <a:solidFill>
            <a:srgbClr val="FCE7F3"/>
          </a:solidFill>
          <a:ln w="19050">
            <a:solidFill>
              <a:srgbClr val="EC4899"/>
            </a:solidFill>
            <a:prstDash val="solid"/>
          </a:ln>
        </p:spPr>
      </p:sp>
      <p:pic>
        <p:nvPicPr>
          <p:cNvPr id="34"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35" name="Shape 31"/>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6" name="Shape 32"/>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7" name="Text 33"/>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The steps inside stay the same. Only the values you pass in change.</a:t>
            </a:r>
            <a:endParaRPr lang="en-US" sz="1400" dirty="0"/>
          </a:p>
        </p:txBody>
      </p:sp>
      <p:sp>
        <p:nvSpPr>
          <p:cNvPr id="38" name="Text 34"/>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39" name="Text 35"/>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POSITION AND KEYWORD</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Order Matters, Unless You Use Names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731520" y="2331720"/>
            <a:ext cx="4572000" cy="256032"/>
          </a:xfrm>
          <a:prstGeom prst="rect">
            <a:avLst/>
          </a:prstGeom>
          <a:noFill/>
          <a:ln/>
        </p:spPr>
        <p:txBody>
          <a:bodyPr wrap="square" rtlCol="0" anchor="ctr"/>
          <a:lstStyle/>
          <a:p>
            <a:pPr indent="0" marL="0">
              <a:buNone/>
            </a:pPr>
            <a:r>
              <a:rPr lang="en-US" sz="1100" b="1" spc="100" kern="0" dirty="0">
                <a:solidFill>
                  <a:srgbClr val="8B5CF6"/>
                </a:solidFill>
                <a:latin typeface="Calibri" pitchFamily="34" charset="0"/>
                <a:ea typeface="Calibri" pitchFamily="34" charset="-122"/>
                <a:cs typeface="Calibri" pitchFamily="34" charset="-120"/>
              </a:rPr>
              <a:t>BY POSITION</a:t>
            </a:r>
            <a:endParaRPr lang="en-US" sz="1100" dirty="0"/>
          </a:p>
        </p:txBody>
      </p:sp>
      <p:sp>
        <p:nvSpPr>
          <p:cNvPr id="7" name="Text 4"/>
          <p:cNvSpPr txBox="1"/>
          <p:nvPr/>
        </p:nvSpPr>
        <p:spPr>
          <a:xfrm>
            <a:off x="6217920" y="2331720"/>
            <a:ext cx="521208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BY NAME, KEYWORD ARGUMENTS</a:t>
            </a:r>
            <a:endParaRPr lang="en-US" sz="1100" dirty="0"/>
          </a:p>
        </p:txBody>
      </p:sp>
      <p:sp>
        <p:nvSpPr>
          <p:cNvPr id="8" name="Shape 5"/>
          <p:cNvSpPr/>
          <p:nvPr/>
        </p:nvSpPr>
        <p:spPr>
          <a:xfrm>
            <a:off x="731520" y="2651760"/>
            <a:ext cx="5212080" cy="1325880"/>
          </a:xfrm>
          <a:prstGeom prst="roundRect">
            <a:avLst>
              <a:gd name="adj" fmla="val 6897"/>
            </a:avLst>
          </a:prstGeom>
          <a:solidFill>
            <a:srgbClr val="F0FDF4"/>
          </a:solidFill>
          <a:ln w="19050">
            <a:solidFill>
              <a:srgbClr val="10B981"/>
            </a:solidFill>
            <a:prstDash val="solid"/>
          </a:ln>
        </p:spPr>
      </p:sp>
      <p:pic>
        <p:nvPicPr>
          <p:cNvPr id="9" name="Image 1" descr="assets/icon2_circlecheck_green.png">    </p:cNvPr>
          <p:cNvPicPr>
            <a:picLocks noChangeAspect="1"/>
          </p:cNvPicPr>
          <p:nvPr/>
        </p:nvPicPr>
        <p:blipFill>
          <a:blip r:embed="rId2"/>
          <a:stretch>
            <a:fillRect/>
          </a:stretch>
        </p:blipFill>
        <p:spPr>
          <a:xfrm>
            <a:off x="3086100" y="2761488"/>
            <a:ext cx="502920" cy="502920"/>
          </a:xfrm>
          <a:prstGeom prst="rect">
            <a:avLst/>
          </a:prstGeom>
        </p:spPr>
      </p:pic>
      <p:sp>
        <p:nvSpPr>
          <p:cNvPr id="10" name="Text 6"/>
          <p:cNvSpPr txBox="1"/>
          <p:nvPr/>
        </p:nvSpPr>
        <p:spPr>
          <a:xfrm>
            <a:off x="804672" y="3328416"/>
            <a:ext cx="506577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Arun, IT, 35000</a:t>
            </a:r>
            <a:endParaRPr lang="en-US" sz="1600" dirty="0"/>
          </a:p>
        </p:txBody>
      </p:sp>
      <p:sp>
        <p:nvSpPr>
          <p:cNvPr id="11" name="Text 7"/>
          <p:cNvSpPr txBox="1"/>
          <p:nvPr/>
        </p:nvSpPr>
        <p:spPr>
          <a:xfrm>
            <a:off x="822960" y="3675888"/>
            <a:ext cx="5029200" cy="22860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name is Arun and department is IT: correct</a:t>
            </a:r>
            <a:endParaRPr lang="en-US" sz="1350" dirty="0"/>
          </a:p>
        </p:txBody>
      </p:sp>
      <p:sp>
        <p:nvSpPr>
          <p:cNvPr id="12" name="Shape 8"/>
          <p:cNvSpPr/>
          <p:nvPr/>
        </p:nvSpPr>
        <p:spPr>
          <a:xfrm>
            <a:off x="731520" y="4114800"/>
            <a:ext cx="5212080" cy="1325880"/>
          </a:xfrm>
          <a:prstGeom prst="roundRect">
            <a:avLst>
              <a:gd name="adj" fmla="val 6897"/>
            </a:avLst>
          </a:prstGeom>
          <a:solidFill>
            <a:srgbClr val="FFF7ED"/>
          </a:solidFill>
          <a:ln w="19050">
            <a:solidFill>
              <a:srgbClr val="F97316"/>
            </a:solidFill>
            <a:prstDash val="solid"/>
          </a:ln>
        </p:spPr>
      </p:sp>
      <p:pic>
        <p:nvPicPr>
          <p:cNvPr id="13" name="Image 2" descr="assets/icon2_circlex_orange.png">    </p:cNvPr>
          <p:cNvPicPr>
            <a:picLocks noChangeAspect="1"/>
          </p:cNvPicPr>
          <p:nvPr/>
        </p:nvPicPr>
        <p:blipFill>
          <a:blip r:embed="rId3"/>
          <a:stretch>
            <a:fillRect/>
          </a:stretch>
        </p:blipFill>
        <p:spPr>
          <a:xfrm>
            <a:off x="3086100" y="4224528"/>
            <a:ext cx="502920" cy="502920"/>
          </a:xfrm>
          <a:prstGeom prst="rect">
            <a:avLst/>
          </a:prstGeom>
        </p:spPr>
      </p:pic>
      <p:sp>
        <p:nvSpPr>
          <p:cNvPr id="14" name="Text 9"/>
          <p:cNvSpPr txBox="1"/>
          <p:nvPr/>
        </p:nvSpPr>
        <p:spPr>
          <a:xfrm>
            <a:off x="804672" y="4791456"/>
            <a:ext cx="506577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IT, Arun, 35000</a:t>
            </a:r>
            <a:endParaRPr lang="en-US" sz="1600" dirty="0"/>
          </a:p>
        </p:txBody>
      </p:sp>
      <p:sp>
        <p:nvSpPr>
          <p:cNvPr id="15" name="Text 10"/>
          <p:cNvSpPr txBox="1"/>
          <p:nvPr/>
        </p:nvSpPr>
        <p:spPr>
          <a:xfrm>
            <a:off x="822960" y="5138928"/>
            <a:ext cx="5029200" cy="22860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name becomes IT and department becomes Arun: wrong</a:t>
            </a:r>
            <a:endParaRPr lang="en-US" sz="1350" dirty="0"/>
          </a:p>
        </p:txBody>
      </p:sp>
      <p:sp>
        <p:nvSpPr>
          <p:cNvPr id="16" name="Shape 11"/>
          <p:cNvSpPr/>
          <p:nvPr/>
        </p:nvSpPr>
        <p:spPr>
          <a:xfrm>
            <a:off x="6217920" y="2651760"/>
            <a:ext cx="5212080" cy="1325880"/>
          </a:xfrm>
          <a:prstGeom prst="roundRect">
            <a:avLst>
              <a:gd name="adj" fmla="val 6897"/>
            </a:avLst>
          </a:prstGeom>
          <a:solidFill>
            <a:srgbClr val="F0FDF4"/>
          </a:solidFill>
          <a:ln w="19050">
            <a:solidFill>
              <a:srgbClr val="10B981"/>
            </a:solidFill>
            <a:prstDash val="solid"/>
          </a:ln>
        </p:spPr>
      </p:sp>
      <p:pic>
        <p:nvPicPr>
          <p:cNvPr id="17" name="Image 3" descr="assets/icon2_circlecheck_green.png">    </p:cNvPr>
          <p:cNvPicPr>
            <a:picLocks noChangeAspect="1"/>
          </p:cNvPicPr>
          <p:nvPr/>
        </p:nvPicPr>
        <p:blipFill>
          <a:blip r:embed="rId4"/>
          <a:stretch>
            <a:fillRect/>
          </a:stretch>
        </p:blipFill>
        <p:spPr>
          <a:xfrm>
            <a:off x="8572500" y="2761488"/>
            <a:ext cx="502920" cy="502920"/>
          </a:xfrm>
          <a:prstGeom prst="rect">
            <a:avLst/>
          </a:prstGeom>
        </p:spPr>
      </p:pic>
      <p:sp>
        <p:nvSpPr>
          <p:cNvPr id="18" name="Text 12"/>
          <p:cNvSpPr txBox="1"/>
          <p:nvPr/>
        </p:nvSpPr>
        <p:spPr>
          <a:xfrm>
            <a:off x="6291072" y="3328416"/>
            <a:ext cx="5065776" cy="347472"/>
          </a:xfrm>
          <a:prstGeom prst="rect">
            <a:avLst/>
          </a:prstGeom>
          <a:noFill/>
          <a:ln/>
        </p:spPr>
        <p:txBody>
          <a:bodyPr wrap="square" rtlCol="0" anchor="t"/>
          <a:lstStyle/>
          <a:p>
            <a:pPr algn="ctr" indent="0" marL="0">
              <a:buNone/>
            </a:pPr>
            <a:r>
              <a:rPr lang="en-US" sz="1500" b="1" dirty="0">
                <a:solidFill>
                  <a:srgbClr val="1E293B"/>
                </a:solidFill>
                <a:latin typeface="Calibri" pitchFamily="34" charset="0"/>
                <a:ea typeface="Calibri" pitchFamily="34" charset="-122"/>
                <a:cs typeface="Calibri" pitchFamily="34" charset="-120"/>
              </a:rPr>
              <a:t>department IT, name Arun, salary 35000</a:t>
            </a:r>
            <a:endParaRPr lang="en-US" sz="1500" dirty="0"/>
          </a:p>
        </p:txBody>
      </p:sp>
      <p:sp>
        <p:nvSpPr>
          <p:cNvPr id="19" name="Text 13"/>
          <p:cNvSpPr txBox="1"/>
          <p:nvPr/>
        </p:nvSpPr>
        <p:spPr>
          <a:xfrm>
            <a:off x="6309360" y="3675888"/>
            <a:ext cx="5029200" cy="22860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every value is matched by its name, so order is free</a:t>
            </a:r>
            <a:endParaRPr lang="en-US" sz="1350" dirty="0"/>
          </a:p>
        </p:txBody>
      </p:sp>
      <p:sp>
        <p:nvSpPr>
          <p:cNvPr id="20" name="Shape 14"/>
          <p:cNvSpPr/>
          <p:nvPr/>
        </p:nvSpPr>
        <p:spPr>
          <a:xfrm>
            <a:off x="6217920" y="4114800"/>
            <a:ext cx="5212080" cy="1325880"/>
          </a:xfrm>
          <a:prstGeom prst="roundRect">
            <a:avLst>
              <a:gd name="adj" fmla="val 6897"/>
            </a:avLst>
          </a:prstGeom>
          <a:solidFill>
            <a:srgbClr val="FFF7ED"/>
          </a:solidFill>
          <a:ln w="19050">
            <a:solidFill>
              <a:srgbClr val="F97316"/>
            </a:solidFill>
            <a:prstDash val="solid"/>
          </a:ln>
        </p:spPr>
      </p:sp>
      <p:pic>
        <p:nvPicPr>
          <p:cNvPr id="21" name="Image 4" descr="assets/icon2_circlex_orange.png">    </p:cNvPr>
          <p:cNvPicPr>
            <a:picLocks noChangeAspect="1"/>
          </p:cNvPicPr>
          <p:nvPr/>
        </p:nvPicPr>
        <p:blipFill>
          <a:blip r:embed="rId5"/>
          <a:stretch>
            <a:fillRect/>
          </a:stretch>
        </p:blipFill>
        <p:spPr>
          <a:xfrm>
            <a:off x="8572500" y="4224528"/>
            <a:ext cx="502920" cy="502920"/>
          </a:xfrm>
          <a:prstGeom prst="rect">
            <a:avLst/>
          </a:prstGeom>
        </p:spPr>
      </p:pic>
      <p:sp>
        <p:nvSpPr>
          <p:cNvPr id="22" name="Text 15"/>
          <p:cNvSpPr txBox="1"/>
          <p:nvPr/>
        </p:nvSpPr>
        <p:spPr>
          <a:xfrm>
            <a:off x="6291072" y="4791456"/>
            <a:ext cx="506577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Only department IT given</a:t>
            </a:r>
            <a:endParaRPr lang="en-US" sz="1600" dirty="0"/>
          </a:p>
        </p:txBody>
      </p:sp>
      <p:sp>
        <p:nvSpPr>
          <p:cNvPr id="23" name="Text 16"/>
          <p:cNvSpPr txBox="1"/>
          <p:nvPr/>
        </p:nvSpPr>
        <p:spPr>
          <a:xfrm>
            <a:off x="6309360" y="5138928"/>
            <a:ext cx="5029200" cy="228600"/>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TypeError: two required values are missing</a:t>
            </a:r>
            <a:endParaRPr lang="en-US" sz="1350" dirty="0"/>
          </a:p>
        </p:txBody>
      </p:sp>
      <p:sp>
        <p:nvSpPr>
          <p:cNvPr id="24" name="Shape 17"/>
          <p:cNvSpPr/>
          <p:nvPr/>
        </p:nvSpPr>
        <p:spPr>
          <a:xfrm>
            <a:off x="731520" y="5559552"/>
            <a:ext cx="10698480" cy="0"/>
          </a:xfrm>
          <a:prstGeom prst="line">
            <a:avLst/>
          </a:prstGeom>
          <a:noFill/>
          <a:ln w="12700">
            <a:solidFill>
              <a:srgbClr val="E2E8F0"/>
            </a:solidFill>
            <a:prstDash val="solid"/>
          </a:ln>
        </p:spPr>
      </p:sp>
      <p:sp>
        <p:nvSpPr>
          <p:cNvPr id="25" name="Shape 18"/>
          <p:cNvSpPr/>
          <p:nvPr/>
        </p:nvSpPr>
        <p:spPr>
          <a:xfrm>
            <a:off x="777240" y="5650992"/>
            <a:ext cx="475488" cy="475488"/>
          </a:xfrm>
          <a:prstGeom prst="ellipse">
            <a:avLst/>
          </a:prstGeom>
          <a:solidFill>
            <a:srgbClr val="FCE7F3"/>
          </a:solidFill>
          <a:ln w="19050">
            <a:solidFill>
              <a:srgbClr val="EC4899"/>
            </a:solidFill>
            <a:prstDash val="solid"/>
          </a:ln>
        </p:spPr>
      </p:sp>
      <p:pic>
        <p:nvPicPr>
          <p:cNvPr id="26" name="Image 5" descr="assets/icon2_user_pink.png">    </p:cNvPr>
          <p:cNvPicPr>
            <a:picLocks noChangeAspect="1"/>
          </p:cNvPicPr>
          <p:nvPr/>
        </p:nvPicPr>
        <p:blipFill>
          <a:blip r:embed="rId6"/>
          <a:stretch>
            <a:fillRect/>
          </a:stretch>
        </p:blipFill>
        <p:spPr>
          <a:xfrm>
            <a:off x="872338" y="5746090"/>
            <a:ext cx="285293" cy="285293"/>
          </a:xfrm>
          <a:prstGeom prst="rect">
            <a:avLst/>
          </a:prstGeom>
        </p:spPr>
      </p:pic>
      <p:sp>
        <p:nvSpPr>
          <p:cNvPr id="27" name="Shape 19"/>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28" name="Shape 20"/>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29" name="Text 21"/>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Give every parameter a value, by position or by name. A missing one stops the program.</a:t>
            </a:r>
            <a:endParaRPr lang="en-US" sz="1400" dirty="0"/>
          </a:p>
        </p:txBody>
      </p:sp>
      <p:sp>
        <p:nvSpPr>
          <p:cNvPr id="30" name="Text 22"/>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31" name="Text 23"/>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5</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Return Values</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cashier works out your bill and hands you the receipt. You can keep it, check it or use it later. A shop board that only displays the amount leaves you with nothing to take away.</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return sends a result back to the place that called the function. print only shows something on the screen and gives nothing back.</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Calculations that feed other calculations, checks that return True or False, and functions that return whole records.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RETURN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The Result Travels Back to the Caller</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468880"/>
            <a:ext cx="2331720" cy="1783080"/>
          </a:xfrm>
          <a:prstGeom prst="roundRect">
            <a:avLst>
              <a:gd name="adj" fmla="val 5128"/>
            </a:avLst>
          </a:prstGeom>
          <a:solidFill>
            <a:srgbClr val="F0FDFA"/>
          </a:solidFill>
          <a:ln w="19050">
            <a:solidFill>
              <a:srgbClr val="14B8A6"/>
            </a:solidFill>
            <a:prstDash val="solid"/>
          </a:ln>
        </p:spPr>
      </p:sp>
      <p:pic>
        <p:nvPicPr>
          <p:cNvPr id="7" name="Image 1" descr="assets/icon2_send_teal.png">    </p:cNvPr>
          <p:cNvPicPr>
            <a:picLocks noChangeAspect="1"/>
          </p:cNvPicPr>
          <p:nvPr/>
        </p:nvPicPr>
        <p:blipFill>
          <a:blip r:embed="rId2"/>
          <a:stretch>
            <a:fillRect/>
          </a:stretch>
        </p:blipFill>
        <p:spPr>
          <a:xfrm>
            <a:off x="1645920" y="2578608"/>
            <a:ext cx="502920" cy="502920"/>
          </a:xfrm>
          <a:prstGeom prst="rect">
            <a:avLst/>
          </a:prstGeom>
        </p:spPr>
      </p:pic>
      <p:sp>
        <p:nvSpPr>
          <p:cNvPr id="8" name="Text 4"/>
          <p:cNvSpPr txBox="1"/>
          <p:nvPr/>
        </p:nvSpPr>
        <p:spPr>
          <a:xfrm>
            <a:off x="80467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Caller sends</a:t>
            </a:r>
            <a:endParaRPr lang="en-US" sz="1600" dirty="0"/>
          </a:p>
        </p:txBody>
      </p:sp>
      <p:sp>
        <p:nvSpPr>
          <p:cNvPr id="9" name="Text 5"/>
          <p:cNvSpPr txBox="1"/>
          <p:nvPr/>
        </p:nvSpPr>
        <p:spPr>
          <a:xfrm>
            <a:off x="82296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the values 10 and 20</a:t>
            </a:r>
            <a:endParaRPr lang="en-US" sz="1300" dirty="0"/>
          </a:p>
        </p:txBody>
      </p:sp>
      <p:sp>
        <p:nvSpPr>
          <p:cNvPr id="10" name="Shape 6"/>
          <p:cNvSpPr/>
          <p:nvPr/>
        </p:nvSpPr>
        <p:spPr>
          <a:xfrm>
            <a:off x="3118104" y="3360420"/>
            <a:ext cx="347472" cy="0"/>
          </a:xfrm>
          <a:prstGeom prst="line">
            <a:avLst/>
          </a:prstGeom>
          <a:noFill/>
          <a:ln w="31750">
            <a:solidFill>
              <a:srgbClr val="8B5CF6"/>
            </a:solidFill>
            <a:prstDash val="solid"/>
            <a:tailEnd type="triangle"/>
          </a:ln>
        </p:spPr>
      </p:sp>
      <p:sp>
        <p:nvSpPr>
          <p:cNvPr id="11" name="Shape 7"/>
          <p:cNvSpPr/>
          <p:nvPr/>
        </p:nvSpPr>
        <p:spPr>
          <a:xfrm>
            <a:off x="3520440" y="2468880"/>
            <a:ext cx="2331720" cy="1783080"/>
          </a:xfrm>
          <a:prstGeom prst="roundRect">
            <a:avLst>
              <a:gd name="adj" fmla="val 5128"/>
            </a:avLst>
          </a:prstGeom>
          <a:solidFill>
            <a:srgbClr val="F5F3FF"/>
          </a:solidFill>
          <a:ln w="19050">
            <a:solidFill>
              <a:srgbClr val="8B5CF6"/>
            </a:solidFill>
            <a:prstDash val="solid"/>
          </a:ln>
        </p:spPr>
      </p:sp>
      <p:pic>
        <p:nvPicPr>
          <p:cNvPr id="12" name="Image 2" descr="assets/icon2_calc_navy.png">    </p:cNvPr>
          <p:cNvPicPr>
            <a:picLocks noChangeAspect="1"/>
          </p:cNvPicPr>
          <p:nvPr/>
        </p:nvPicPr>
        <p:blipFill>
          <a:blip r:embed="rId3"/>
          <a:stretch>
            <a:fillRect/>
          </a:stretch>
        </p:blipFill>
        <p:spPr>
          <a:xfrm>
            <a:off x="4434840" y="2578608"/>
            <a:ext cx="502920" cy="502920"/>
          </a:xfrm>
          <a:prstGeom prst="rect">
            <a:avLst/>
          </a:prstGeom>
        </p:spPr>
      </p:pic>
      <p:sp>
        <p:nvSpPr>
          <p:cNvPr id="13" name="Text 8"/>
          <p:cNvSpPr txBox="1"/>
          <p:nvPr/>
        </p:nvSpPr>
        <p:spPr>
          <a:xfrm>
            <a:off x="359359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Function works</a:t>
            </a:r>
            <a:endParaRPr lang="en-US" sz="1600" dirty="0"/>
          </a:p>
        </p:txBody>
      </p:sp>
      <p:sp>
        <p:nvSpPr>
          <p:cNvPr id="14" name="Text 9"/>
          <p:cNvSpPr txBox="1"/>
          <p:nvPr/>
        </p:nvSpPr>
        <p:spPr>
          <a:xfrm>
            <a:off x="361188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adds the two values: 30</a:t>
            </a:r>
            <a:endParaRPr lang="en-US" sz="1300" dirty="0"/>
          </a:p>
        </p:txBody>
      </p:sp>
      <p:sp>
        <p:nvSpPr>
          <p:cNvPr id="15" name="Shape 10"/>
          <p:cNvSpPr/>
          <p:nvPr/>
        </p:nvSpPr>
        <p:spPr>
          <a:xfrm>
            <a:off x="5907024" y="3360420"/>
            <a:ext cx="347472" cy="0"/>
          </a:xfrm>
          <a:prstGeom prst="line">
            <a:avLst/>
          </a:prstGeom>
          <a:noFill/>
          <a:ln w="31750">
            <a:solidFill>
              <a:srgbClr val="8B5CF6"/>
            </a:solidFill>
            <a:prstDash val="solid"/>
            <a:tailEnd type="triangle"/>
          </a:ln>
        </p:spPr>
      </p:sp>
      <p:sp>
        <p:nvSpPr>
          <p:cNvPr id="16" name="Shape 11"/>
          <p:cNvSpPr/>
          <p:nvPr/>
        </p:nvSpPr>
        <p:spPr>
          <a:xfrm>
            <a:off x="6309360" y="2468880"/>
            <a:ext cx="2331720" cy="1783080"/>
          </a:xfrm>
          <a:prstGeom prst="roundRect">
            <a:avLst>
              <a:gd name="adj" fmla="val 5128"/>
            </a:avLst>
          </a:prstGeom>
          <a:solidFill>
            <a:srgbClr val="FFF7ED"/>
          </a:solidFill>
          <a:ln w="19050">
            <a:solidFill>
              <a:srgbClr val="F97316"/>
            </a:solidFill>
            <a:prstDash val="solid"/>
          </a:ln>
        </p:spPr>
      </p:sp>
      <p:pic>
        <p:nvPicPr>
          <p:cNvPr id="17" name="Image 3" descr="assets/icon2_undo_orange.png">    </p:cNvPr>
          <p:cNvPicPr>
            <a:picLocks noChangeAspect="1"/>
          </p:cNvPicPr>
          <p:nvPr/>
        </p:nvPicPr>
        <p:blipFill>
          <a:blip r:embed="rId4"/>
          <a:stretch>
            <a:fillRect/>
          </a:stretch>
        </p:blipFill>
        <p:spPr>
          <a:xfrm>
            <a:off x="7223760" y="2578608"/>
            <a:ext cx="502920" cy="502920"/>
          </a:xfrm>
          <a:prstGeom prst="rect">
            <a:avLst/>
          </a:prstGeom>
        </p:spPr>
      </p:pic>
      <p:sp>
        <p:nvSpPr>
          <p:cNvPr id="18" name="Text 12"/>
          <p:cNvSpPr txBox="1"/>
          <p:nvPr/>
        </p:nvSpPr>
        <p:spPr>
          <a:xfrm>
            <a:off x="638251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return</a:t>
            </a:r>
            <a:endParaRPr lang="en-US" sz="1600" dirty="0"/>
          </a:p>
        </p:txBody>
      </p:sp>
      <p:sp>
        <p:nvSpPr>
          <p:cNvPr id="19" name="Text 13"/>
          <p:cNvSpPr txBox="1"/>
          <p:nvPr/>
        </p:nvSpPr>
        <p:spPr>
          <a:xfrm>
            <a:off x="640080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sends 30 back to the caller</a:t>
            </a:r>
            <a:endParaRPr lang="en-US" sz="1300" dirty="0"/>
          </a:p>
        </p:txBody>
      </p:sp>
      <p:sp>
        <p:nvSpPr>
          <p:cNvPr id="20" name="Shape 14"/>
          <p:cNvSpPr/>
          <p:nvPr/>
        </p:nvSpPr>
        <p:spPr>
          <a:xfrm>
            <a:off x="8695944" y="3360420"/>
            <a:ext cx="347472" cy="0"/>
          </a:xfrm>
          <a:prstGeom prst="line">
            <a:avLst/>
          </a:prstGeom>
          <a:noFill/>
          <a:ln w="31750">
            <a:solidFill>
              <a:srgbClr val="8B5CF6"/>
            </a:solidFill>
            <a:prstDash val="solid"/>
            <a:tailEnd type="triangle"/>
          </a:ln>
        </p:spPr>
      </p:sp>
      <p:sp>
        <p:nvSpPr>
          <p:cNvPr id="21" name="Shape 15"/>
          <p:cNvSpPr/>
          <p:nvPr/>
        </p:nvSpPr>
        <p:spPr>
          <a:xfrm>
            <a:off x="9098280" y="2468880"/>
            <a:ext cx="2331720" cy="1783080"/>
          </a:xfrm>
          <a:prstGeom prst="roundRect">
            <a:avLst>
              <a:gd name="adj" fmla="val 5128"/>
            </a:avLst>
          </a:prstGeom>
          <a:solidFill>
            <a:srgbClr val="F0FDF4"/>
          </a:solidFill>
          <a:ln w="19050">
            <a:solidFill>
              <a:srgbClr val="10B981"/>
            </a:solidFill>
            <a:prstDash val="solid"/>
          </a:ln>
        </p:spPr>
      </p:sp>
      <p:pic>
        <p:nvPicPr>
          <p:cNvPr id="22" name="Image 4" descr="assets/icon2_pkgcheck_green.png">    </p:cNvPr>
          <p:cNvPicPr>
            <a:picLocks noChangeAspect="1"/>
          </p:cNvPicPr>
          <p:nvPr/>
        </p:nvPicPr>
        <p:blipFill>
          <a:blip r:embed="rId5"/>
          <a:stretch>
            <a:fillRect/>
          </a:stretch>
        </p:blipFill>
        <p:spPr>
          <a:xfrm>
            <a:off x="10012680" y="2578608"/>
            <a:ext cx="502920" cy="502920"/>
          </a:xfrm>
          <a:prstGeom prst="rect">
            <a:avLst/>
          </a:prstGeom>
        </p:spPr>
      </p:pic>
      <p:sp>
        <p:nvSpPr>
          <p:cNvPr id="23" name="Text 16"/>
          <p:cNvSpPr txBox="1"/>
          <p:nvPr/>
        </p:nvSpPr>
        <p:spPr>
          <a:xfrm>
            <a:off x="917143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Caller stores</a:t>
            </a:r>
            <a:endParaRPr lang="en-US" sz="1600" dirty="0"/>
          </a:p>
        </p:txBody>
      </p:sp>
      <p:sp>
        <p:nvSpPr>
          <p:cNvPr id="24" name="Text 17"/>
          <p:cNvSpPr txBox="1"/>
          <p:nvPr/>
        </p:nvSpPr>
        <p:spPr>
          <a:xfrm>
            <a:off x="918972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result now holds 30</a:t>
            </a:r>
            <a:endParaRPr lang="en-US" sz="1300" dirty="0"/>
          </a:p>
        </p:txBody>
      </p:sp>
      <p:sp>
        <p:nvSpPr>
          <p:cNvPr id="25" name="Shape 18"/>
          <p:cNvSpPr/>
          <p:nvPr/>
        </p:nvSpPr>
        <p:spPr>
          <a:xfrm>
            <a:off x="731520" y="4480560"/>
            <a:ext cx="5212080" cy="914400"/>
          </a:xfrm>
          <a:prstGeom prst="roundRect">
            <a:avLst>
              <a:gd name="adj" fmla="val 10000"/>
            </a:avLst>
          </a:prstGeom>
          <a:solidFill>
            <a:srgbClr val="F0FDF4"/>
          </a:solidFill>
          <a:ln w="19050">
            <a:solidFill>
              <a:srgbClr val="10B981"/>
            </a:solidFill>
            <a:prstDash val="solid"/>
          </a:ln>
        </p:spPr>
      </p:sp>
      <p:sp>
        <p:nvSpPr>
          <p:cNvPr id="26" name="Text 19"/>
          <p:cNvSpPr txBox="1"/>
          <p:nvPr/>
        </p:nvSpPr>
        <p:spPr>
          <a:xfrm>
            <a:off x="8046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With return</a:t>
            </a:r>
            <a:endParaRPr lang="en-US" sz="1550" dirty="0"/>
          </a:p>
        </p:txBody>
      </p:sp>
      <p:sp>
        <p:nvSpPr>
          <p:cNvPr id="27" name="Text 20"/>
          <p:cNvSpPr txBox="1"/>
          <p:nvPr/>
        </p:nvSpPr>
        <p:spPr>
          <a:xfrm>
            <a:off x="822960" y="4919472"/>
            <a:ext cx="5029200" cy="402336"/>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result holds 30 and can be used again</a:t>
            </a:r>
            <a:endParaRPr lang="en-US" sz="1350" dirty="0"/>
          </a:p>
        </p:txBody>
      </p:sp>
      <p:sp>
        <p:nvSpPr>
          <p:cNvPr id="28" name="Shape 21"/>
          <p:cNvSpPr/>
          <p:nvPr/>
        </p:nvSpPr>
        <p:spPr>
          <a:xfrm>
            <a:off x="6217920" y="4480560"/>
            <a:ext cx="5212080" cy="914400"/>
          </a:xfrm>
          <a:prstGeom prst="roundRect">
            <a:avLst>
              <a:gd name="adj" fmla="val 10000"/>
            </a:avLst>
          </a:prstGeom>
          <a:solidFill>
            <a:srgbClr val="FFF7ED"/>
          </a:solidFill>
          <a:ln w="19050">
            <a:solidFill>
              <a:srgbClr val="F97316"/>
            </a:solidFill>
            <a:prstDash val="solid"/>
          </a:ln>
        </p:spPr>
      </p:sp>
      <p:sp>
        <p:nvSpPr>
          <p:cNvPr id="29" name="Text 22"/>
          <p:cNvSpPr txBox="1"/>
          <p:nvPr/>
        </p:nvSpPr>
        <p:spPr>
          <a:xfrm>
            <a:off x="62910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With print only</a:t>
            </a:r>
            <a:endParaRPr lang="en-US" sz="1550" dirty="0"/>
          </a:p>
        </p:txBody>
      </p:sp>
      <p:sp>
        <p:nvSpPr>
          <p:cNvPr id="30" name="Text 23"/>
          <p:cNvSpPr txBox="1"/>
          <p:nvPr/>
        </p:nvSpPr>
        <p:spPr>
          <a:xfrm>
            <a:off x="6309360" y="4919472"/>
            <a:ext cx="5029200" cy="402336"/>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30 appears on screen, result holds None</a:t>
            </a:r>
            <a:endParaRPr lang="en-US" sz="1350" dirty="0"/>
          </a:p>
        </p:txBody>
      </p:sp>
      <p:sp>
        <p:nvSpPr>
          <p:cNvPr id="31" name="Shape 24"/>
          <p:cNvSpPr/>
          <p:nvPr/>
        </p:nvSpPr>
        <p:spPr>
          <a:xfrm>
            <a:off x="731520" y="5559552"/>
            <a:ext cx="10698480" cy="0"/>
          </a:xfrm>
          <a:prstGeom prst="line">
            <a:avLst/>
          </a:prstGeom>
          <a:noFill/>
          <a:ln w="12700">
            <a:solidFill>
              <a:srgbClr val="E2E8F0"/>
            </a:solidFill>
            <a:prstDash val="solid"/>
          </a:ln>
        </p:spPr>
      </p:sp>
      <p:sp>
        <p:nvSpPr>
          <p:cNvPr id="32" name="Shape 25"/>
          <p:cNvSpPr/>
          <p:nvPr/>
        </p:nvSpPr>
        <p:spPr>
          <a:xfrm>
            <a:off x="777240" y="5650992"/>
            <a:ext cx="475488" cy="475488"/>
          </a:xfrm>
          <a:prstGeom prst="ellipse">
            <a:avLst/>
          </a:prstGeom>
          <a:solidFill>
            <a:srgbClr val="FCE7F3"/>
          </a:solidFill>
          <a:ln w="19050">
            <a:solidFill>
              <a:srgbClr val="EC4899"/>
            </a:solidFill>
            <a:prstDash val="solid"/>
          </a:ln>
        </p:spPr>
      </p:sp>
      <p:pic>
        <p:nvPicPr>
          <p:cNvPr id="33" name="Image 5" descr="assets/icon2_user_pink.png">    </p:cNvPr>
          <p:cNvPicPr>
            <a:picLocks noChangeAspect="1"/>
          </p:cNvPicPr>
          <p:nvPr/>
        </p:nvPicPr>
        <p:blipFill>
          <a:blip r:embed="rId6"/>
          <a:stretch>
            <a:fillRect/>
          </a:stretch>
        </p:blipFill>
        <p:spPr>
          <a:xfrm>
            <a:off x="872338" y="5746090"/>
            <a:ext cx="285293" cy="285293"/>
          </a:xfrm>
          <a:prstGeom prst="rect">
            <a:avLst/>
          </a:prstGeom>
        </p:spPr>
      </p:pic>
      <p:sp>
        <p:nvSpPr>
          <p:cNvPr id="34" name="Shape 26"/>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5" name="Shape 27"/>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6" name="Text 28"/>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Print is for people to read. Return is for the program to use.</a:t>
            </a:r>
            <a:endParaRPr lang="en-US" sz="1400" dirty="0"/>
          </a:p>
        </p:txBody>
      </p:sp>
      <p:sp>
        <p:nvSpPr>
          <p:cNvPr id="37" name="Text 2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38" name="Text 3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REUSING A RETURNED VALUE</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One Function Feeds the Next</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468880"/>
            <a:ext cx="3200400" cy="1920240"/>
          </a:xfrm>
          <a:prstGeom prst="roundRect">
            <a:avLst>
              <a:gd name="adj" fmla="val 4762"/>
            </a:avLst>
          </a:prstGeom>
          <a:solidFill>
            <a:srgbClr val="F5F3FF"/>
          </a:solidFill>
          <a:ln w="19050">
            <a:solidFill>
              <a:srgbClr val="8B5CF6"/>
            </a:solidFill>
            <a:prstDash val="solid"/>
          </a:ln>
        </p:spPr>
      </p:sp>
      <p:pic>
        <p:nvPicPr>
          <p:cNvPr id="7" name="Image 1" descr="assets/icon2_calc_navy.png">    </p:cNvPr>
          <p:cNvPicPr>
            <a:picLocks noChangeAspect="1"/>
          </p:cNvPicPr>
          <p:nvPr/>
        </p:nvPicPr>
        <p:blipFill>
          <a:blip r:embed="rId2"/>
          <a:stretch>
            <a:fillRect/>
          </a:stretch>
        </p:blipFill>
        <p:spPr>
          <a:xfrm>
            <a:off x="2080260" y="2578608"/>
            <a:ext cx="502920" cy="502920"/>
          </a:xfrm>
          <a:prstGeom prst="rect">
            <a:avLst/>
          </a:prstGeom>
        </p:spPr>
      </p:pic>
      <p:sp>
        <p:nvSpPr>
          <p:cNvPr id="8" name="Text 4"/>
          <p:cNvSpPr txBox="1"/>
          <p:nvPr/>
        </p:nvSpPr>
        <p:spPr>
          <a:xfrm>
            <a:off x="804672" y="3145536"/>
            <a:ext cx="305409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Total function</a:t>
            </a:r>
            <a:endParaRPr lang="en-US" sz="1600" dirty="0"/>
          </a:p>
        </p:txBody>
      </p:sp>
      <p:sp>
        <p:nvSpPr>
          <p:cNvPr id="9" name="Text 5"/>
          <p:cNvSpPr txBox="1"/>
          <p:nvPr/>
        </p:nvSpPr>
        <p:spPr>
          <a:xfrm>
            <a:off x="822960" y="3511296"/>
            <a:ext cx="3017520" cy="80467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1000 and 2 give 2000</a:t>
            </a:r>
            <a:endParaRPr lang="en-US" sz="1300" dirty="0"/>
          </a:p>
        </p:txBody>
      </p:sp>
      <p:sp>
        <p:nvSpPr>
          <p:cNvPr id="10" name="Shape 6"/>
          <p:cNvSpPr/>
          <p:nvPr/>
        </p:nvSpPr>
        <p:spPr>
          <a:xfrm>
            <a:off x="3986784" y="3429000"/>
            <a:ext cx="438912" cy="0"/>
          </a:xfrm>
          <a:prstGeom prst="line">
            <a:avLst/>
          </a:prstGeom>
          <a:noFill/>
          <a:ln w="31750">
            <a:solidFill>
              <a:srgbClr val="8B5CF6"/>
            </a:solidFill>
            <a:prstDash val="solid"/>
            <a:tailEnd type="triangle"/>
          </a:ln>
        </p:spPr>
      </p:sp>
      <p:sp>
        <p:nvSpPr>
          <p:cNvPr id="11" name="Shape 7"/>
          <p:cNvSpPr/>
          <p:nvPr/>
        </p:nvSpPr>
        <p:spPr>
          <a:xfrm>
            <a:off x="4480560" y="2468880"/>
            <a:ext cx="3200400" cy="1920240"/>
          </a:xfrm>
          <a:prstGeom prst="roundRect">
            <a:avLst>
              <a:gd name="adj" fmla="val 4762"/>
            </a:avLst>
          </a:prstGeom>
          <a:solidFill>
            <a:srgbClr val="FFF7ED"/>
          </a:solidFill>
          <a:ln w="19050">
            <a:solidFill>
              <a:srgbClr val="F97316"/>
            </a:solidFill>
            <a:prstDash val="solid"/>
          </a:ln>
        </p:spPr>
      </p:sp>
      <p:pic>
        <p:nvPicPr>
          <p:cNvPr id="12" name="Image 2" descr="assets/icon2_tag_purple.png">    </p:cNvPr>
          <p:cNvPicPr>
            <a:picLocks noChangeAspect="1"/>
          </p:cNvPicPr>
          <p:nvPr/>
        </p:nvPicPr>
        <p:blipFill>
          <a:blip r:embed="rId3"/>
          <a:stretch>
            <a:fillRect/>
          </a:stretch>
        </p:blipFill>
        <p:spPr>
          <a:xfrm>
            <a:off x="5829300" y="2578608"/>
            <a:ext cx="502920" cy="502920"/>
          </a:xfrm>
          <a:prstGeom prst="rect">
            <a:avLst/>
          </a:prstGeom>
        </p:spPr>
      </p:pic>
      <p:sp>
        <p:nvSpPr>
          <p:cNvPr id="13" name="Text 8"/>
          <p:cNvSpPr txBox="1"/>
          <p:nvPr/>
        </p:nvSpPr>
        <p:spPr>
          <a:xfrm>
            <a:off x="4553712" y="3145536"/>
            <a:ext cx="305409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Discount function</a:t>
            </a:r>
            <a:endParaRPr lang="en-US" sz="1600" dirty="0"/>
          </a:p>
        </p:txBody>
      </p:sp>
      <p:sp>
        <p:nvSpPr>
          <p:cNvPr id="14" name="Text 9"/>
          <p:cNvSpPr txBox="1"/>
          <p:nvPr/>
        </p:nvSpPr>
        <p:spPr>
          <a:xfrm>
            <a:off x="4572000" y="3511296"/>
            <a:ext cx="3017520" cy="80467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10 percent of 2000 is 200.0</a:t>
            </a:r>
            <a:endParaRPr lang="en-US" sz="1300" dirty="0"/>
          </a:p>
        </p:txBody>
      </p:sp>
      <p:sp>
        <p:nvSpPr>
          <p:cNvPr id="15" name="Shape 10"/>
          <p:cNvSpPr/>
          <p:nvPr/>
        </p:nvSpPr>
        <p:spPr>
          <a:xfrm>
            <a:off x="7735824" y="3429000"/>
            <a:ext cx="438912" cy="0"/>
          </a:xfrm>
          <a:prstGeom prst="line">
            <a:avLst/>
          </a:prstGeom>
          <a:noFill/>
          <a:ln w="31750">
            <a:solidFill>
              <a:srgbClr val="8B5CF6"/>
            </a:solidFill>
            <a:prstDash val="solid"/>
            <a:tailEnd type="triangle"/>
          </a:ln>
        </p:spPr>
      </p:sp>
      <p:sp>
        <p:nvSpPr>
          <p:cNvPr id="16" name="Shape 11"/>
          <p:cNvSpPr/>
          <p:nvPr/>
        </p:nvSpPr>
        <p:spPr>
          <a:xfrm>
            <a:off x="8229600" y="2468880"/>
            <a:ext cx="3200400" cy="1920240"/>
          </a:xfrm>
          <a:prstGeom prst="roundRect">
            <a:avLst>
              <a:gd name="adj" fmla="val 4762"/>
            </a:avLst>
          </a:prstGeom>
          <a:solidFill>
            <a:srgbClr val="F0FDF4"/>
          </a:solidFill>
          <a:ln w="19050">
            <a:solidFill>
              <a:srgbClr val="10B981"/>
            </a:solidFill>
            <a:prstDash val="solid"/>
          </a:ln>
        </p:spPr>
      </p:sp>
      <p:pic>
        <p:nvPicPr>
          <p:cNvPr id="17" name="Image 3" descr="assets/icon2_banknote_green.png">    </p:cNvPr>
          <p:cNvPicPr>
            <a:picLocks noChangeAspect="1"/>
          </p:cNvPicPr>
          <p:nvPr/>
        </p:nvPicPr>
        <p:blipFill>
          <a:blip r:embed="rId4"/>
          <a:stretch>
            <a:fillRect/>
          </a:stretch>
        </p:blipFill>
        <p:spPr>
          <a:xfrm>
            <a:off x="9578340" y="2578608"/>
            <a:ext cx="502920" cy="502920"/>
          </a:xfrm>
          <a:prstGeom prst="rect">
            <a:avLst/>
          </a:prstGeom>
        </p:spPr>
      </p:pic>
      <p:sp>
        <p:nvSpPr>
          <p:cNvPr id="18" name="Text 12"/>
          <p:cNvSpPr txBox="1"/>
          <p:nvPr/>
        </p:nvSpPr>
        <p:spPr>
          <a:xfrm>
            <a:off x="8302752" y="3145536"/>
            <a:ext cx="305409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Final amount</a:t>
            </a:r>
            <a:endParaRPr lang="en-US" sz="1600" dirty="0"/>
          </a:p>
        </p:txBody>
      </p:sp>
      <p:sp>
        <p:nvSpPr>
          <p:cNvPr id="19" name="Text 13"/>
          <p:cNvSpPr txBox="1"/>
          <p:nvPr/>
        </p:nvSpPr>
        <p:spPr>
          <a:xfrm>
            <a:off x="8321040" y="3511296"/>
            <a:ext cx="3017520" cy="80467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2000 minus 200.0 gives 1800.0</a:t>
            </a:r>
            <a:endParaRPr lang="en-US" sz="1300" dirty="0"/>
          </a:p>
        </p:txBody>
      </p:sp>
      <p:sp>
        <p:nvSpPr>
          <p:cNvPr id="20" name="Shape 14"/>
          <p:cNvSpPr/>
          <p:nvPr/>
        </p:nvSpPr>
        <p:spPr>
          <a:xfrm>
            <a:off x="731520" y="4617720"/>
            <a:ext cx="10698480" cy="731520"/>
          </a:xfrm>
          <a:prstGeom prst="roundRect">
            <a:avLst>
              <a:gd name="adj" fmla="val 12500"/>
            </a:avLst>
          </a:prstGeom>
          <a:solidFill>
            <a:srgbClr val="F8FAFC"/>
          </a:solidFill>
          <a:ln w="19050">
            <a:solidFill>
              <a:srgbClr val="CBD5E1"/>
            </a:solidFill>
            <a:prstDash val="solid"/>
          </a:ln>
        </p:spPr>
      </p:sp>
      <p:sp>
        <p:nvSpPr>
          <p:cNvPr id="21" name="Text 15"/>
          <p:cNvSpPr txBox="1"/>
          <p:nvPr/>
        </p:nvSpPr>
        <p:spPr>
          <a:xfrm>
            <a:off x="804672" y="4727448"/>
            <a:ext cx="10552176" cy="530352"/>
          </a:xfrm>
          <a:prstGeom prst="rect">
            <a:avLst/>
          </a:prstGeom>
          <a:noFill/>
          <a:ln/>
        </p:spPr>
        <p:txBody>
          <a:bodyPr wrap="square" rtlCol="0" anchor="ctr"/>
          <a:lstStyle/>
          <a:p>
            <a:pPr algn="ctr" indent="0" marL="0">
              <a:buNone/>
            </a:pPr>
            <a:r>
              <a:rPr lang="en-US" sz="1550" b="1" dirty="0">
                <a:solidFill>
                  <a:srgbClr val="1E293B"/>
                </a:solidFill>
                <a:latin typeface="Calibri" pitchFamily="34" charset="0"/>
                <a:ea typeface="Calibri" pitchFamily="34" charset="-122"/>
                <a:cs typeface="Calibri" pitchFamily="34" charset="-120"/>
              </a:rPr>
              <a:t>The output of one function becomes the input of the next</a:t>
            </a:r>
            <a:endParaRPr lang="en-US" sz="1550" dirty="0"/>
          </a:p>
        </p:txBody>
      </p:sp>
      <p:sp>
        <p:nvSpPr>
          <p:cNvPr id="22" name="Shape 16"/>
          <p:cNvSpPr/>
          <p:nvPr/>
        </p:nvSpPr>
        <p:spPr>
          <a:xfrm>
            <a:off x="731520" y="5559552"/>
            <a:ext cx="10698480" cy="0"/>
          </a:xfrm>
          <a:prstGeom prst="line">
            <a:avLst/>
          </a:prstGeom>
          <a:noFill/>
          <a:ln w="12700">
            <a:solidFill>
              <a:srgbClr val="E2E8F0"/>
            </a:solidFill>
            <a:prstDash val="solid"/>
          </a:ln>
        </p:spPr>
      </p:sp>
      <p:sp>
        <p:nvSpPr>
          <p:cNvPr id="23" name="Shape 17"/>
          <p:cNvSpPr/>
          <p:nvPr/>
        </p:nvSpPr>
        <p:spPr>
          <a:xfrm>
            <a:off x="777240" y="5650992"/>
            <a:ext cx="475488" cy="475488"/>
          </a:xfrm>
          <a:prstGeom prst="ellipse">
            <a:avLst/>
          </a:prstGeom>
          <a:solidFill>
            <a:srgbClr val="FCE7F3"/>
          </a:solidFill>
          <a:ln w="19050">
            <a:solidFill>
              <a:srgbClr val="EC4899"/>
            </a:solidFill>
            <a:prstDash val="solid"/>
          </a:ln>
        </p:spPr>
      </p:sp>
      <p:pic>
        <p:nvPicPr>
          <p:cNvPr id="24" name="Image 4" descr="assets/icon2_user_pink.png">    </p:cNvPr>
          <p:cNvPicPr>
            <a:picLocks noChangeAspect="1"/>
          </p:cNvPicPr>
          <p:nvPr/>
        </p:nvPicPr>
        <p:blipFill>
          <a:blip r:embed="rId5"/>
          <a:stretch>
            <a:fillRect/>
          </a:stretch>
        </p:blipFill>
        <p:spPr>
          <a:xfrm>
            <a:off x="872338" y="5746090"/>
            <a:ext cx="285293" cy="285293"/>
          </a:xfrm>
          <a:prstGeom prst="rect">
            <a:avLst/>
          </a:prstGeom>
        </p:spPr>
      </p:pic>
      <p:sp>
        <p:nvSpPr>
          <p:cNvPr id="25" name="Shape 18"/>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26" name="Shape 19"/>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27" name="Text 20"/>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Small functions that return values can be chained like stations on an assembly line.</a:t>
            </a:r>
            <a:endParaRPr lang="en-US" sz="1400" dirty="0"/>
          </a:p>
        </p:txBody>
      </p:sp>
      <p:sp>
        <p:nvSpPr>
          <p:cNvPr id="28" name="Text 21"/>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29" name="Text 22"/>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RETURNING DIFFERENT TYPES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A Function Can Return Almost Anything</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95728"/>
            <a:ext cx="3413760" cy="3108960"/>
          </a:xfrm>
          <a:prstGeom prst="roundRect">
            <a:avLst>
              <a:gd name="adj" fmla="val 2941"/>
            </a:avLst>
          </a:prstGeom>
          <a:solidFill>
            <a:srgbClr val="F0FDF4"/>
          </a:solidFill>
          <a:ln w="19050">
            <a:solidFill>
              <a:srgbClr val="10B981"/>
            </a:solidFill>
            <a:prstDash val="solid"/>
          </a:ln>
        </p:spPr>
      </p:sp>
      <p:pic>
        <p:nvPicPr>
          <p:cNvPr id="7" name="Image 1" descr="assets/icon2_circlecheck_green.png">    </p:cNvPr>
          <p:cNvPicPr>
            <a:picLocks noChangeAspect="1"/>
          </p:cNvPicPr>
          <p:nvPr/>
        </p:nvPicPr>
        <p:blipFill>
          <a:blip r:embed="rId2"/>
          <a:stretch>
            <a:fillRect/>
          </a:stretch>
        </p:blipFill>
        <p:spPr>
          <a:xfrm>
            <a:off x="2186940" y="2505456"/>
            <a:ext cx="502920" cy="502920"/>
          </a:xfrm>
          <a:prstGeom prst="rect">
            <a:avLst/>
          </a:prstGeom>
        </p:spPr>
      </p:pic>
      <p:sp>
        <p:nvSpPr>
          <p:cNvPr id="8" name="Text 4"/>
          <p:cNvSpPr txBox="1"/>
          <p:nvPr/>
        </p:nvSpPr>
        <p:spPr>
          <a:xfrm>
            <a:off x="804672" y="3072384"/>
            <a:ext cx="3267456" cy="365760"/>
          </a:xfrm>
          <a:prstGeom prst="rect">
            <a:avLst/>
          </a:prstGeom>
          <a:noFill/>
          <a:ln/>
        </p:spPr>
        <p:txBody>
          <a:bodyPr wrap="square" rtlCol="0" anchor="t"/>
          <a:lstStyle/>
          <a:p>
            <a:pPr algn="ctr" indent="0" marL="0">
              <a:buNone/>
            </a:pPr>
            <a:r>
              <a:rPr lang="en-US" sz="1900" b="1" dirty="0">
                <a:solidFill>
                  <a:srgbClr val="1E293B"/>
                </a:solidFill>
                <a:latin typeface="Calibri" pitchFamily="34" charset="0"/>
                <a:ea typeface="Calibri" pitchFamily="34" charset="-122"/>
                <a:cs typeface="Calibri" pitchFamily="34" charset="-120"/>
              </a:rPr>
              <a:t>True or False</a:t>
            </a:r>
            <a:endParaRPr lang="en-US" sz="1900" dirty="0"/>
          </a:p>
        </p:txBody>
      </p:sp>
      <p:sp>
        <p:nvSpPr>
          <p:cNvPr id="9" name="Text 5"/>
          <p:cNvSpPr txBox="1"/>
          <p:nvPr/>
        </p:nvSpPr>
        <p:spPr>
          <a:xfrm>
            <a:off x="822960" y="3438144"/>
            <a:ext cx="3230880" cy="1993392"/>
          </a:xfrm>
          <a:prstGeom prst="rect">
            <a:avLst/>
          </a:prstGeom>
          <a:noFill/>
          <a:ln/>
        </p:spPr>
        <p:txBody>
          <a:bodyPr wrap="square" rtlCol="0" anchor="t"/>
          <a:lstStyle/>
          <a:p>
            <a:pPr algn="ctr" indent="0" marL="0">
              <a:buNone/>
            </a:pPr>
            <a:r>
              <a:rPr lang="en-US" sz="1450" dirty="0">
                <a:solidFill>
                  <a:srgbClr val="64748B"/>
                </a:solidFill>
                <a:latin typeface="Calibri" pitchFamily="34" charset="0"/>
                <a:ea typeface="Calibri" pitchFamily="34" charset="-122"/>
                <a:cs typeface="Calibri" pitchFamily="34" charset="-120"/>
              </a:rPr>
              <a:t>An eligibility check answers yes or no.</a:t>
            </a:r>
            <a:endParaRPr lang="en-US" sz="1450" dirty="0"/>
          </a:p>
        </p:txBody>
      </p:sp>
      <p:sp>
        <p:nvSpPr>
          <p:cNvPr id="10" name="Shape 6"/>
          <p:cNvSpPr/>
          <p:nvPr/>
        </p:nvSpPr>
        <p:spPr>
          <a:xfrm>
            <a:off x="960120" y="4544568"/>
            <a:ext cx="2956560" cy="384048"/>
          </a:xfrm>
          <a:prstGeom prst="roundRect">
            <a:avLst>
              <a:gd name="adj" fmla="val 14286"/>
            </a:avLst>
          </a:prstGeom>
          <a:solidFill>
            <a:srgbClr val="DCFCE7"/>
          </a:solidFill>
          <a:ln w="25400">
            <a:solidFill>
              <a:srgbClr val="10B981"/>
            </a:solidFill>
            <a:prstDash val="solid"/>
          </a:ln>
        </p:spPr>
      </p:sp>
      <p:sp>
        <p:nvSpPr>
          <p:cNvPr id="11" name="Text 7"/>
          <p:cNvSpPr txBox="1"/>
          <p:nvPr/>
        </p:nvSpPr>
        <p:spPr>
          <a:xfrm>
            <a:off x="960120" y="4544568"/>
            <a:ext cx="2956560" cy="384048"/>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age 21: True</a:t>
            </a:r>
            <a:endParaRPr lang="en-US" sz="1250" dirty="0"/>
          </a:p>
        </p:txBody>
      </p:sp>
      <p:sp>
        <p:nvSpPr>
          <p:cNvPr id="12" name="Shape 8"/>
          <p:cNvSpPr/>
          <p:nvPr/>
        </p:nvSpPr>
        <p:spPr>
          <a:xfrm>
            <a:off x="960120" y="5001768"/>
            <a:ext cx="2956560" cy="384048"/>
          </a:xfrm>
          <a:prstGeom prst="roundRect">
            <a:avLst>
              <a:gd name="adj" fmla="val 14286"/>
            </a:avLst>
          </a:prstGeom>
          <a:solidFill>
            <a:srgbClr val="FFEDD5"/>
          </a:solidFill>
          <a:ln w="25400">
            <a:solidFill>
              <a:srgbClr val="F97316"/>
            </a:solidFill>
            <a:prstDash val="solid"/>
          </a:ln>
        </p:spPr>
      </p:sp>
      <p:sp>
        <p:nvSpPr>
          <p:cNvPr id="13" name="Text 9"/>
          <p:cNvSpPr txBox="1"/>
          <p:nvPr/>
        </p:nvSpPr>
        <p:spPr>
          <a:xfrm>
            <a:off x="960120" y="5001768"/>
            <a:ext cx="2956560" cy="384048"/>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age 15: False</a:t>
            </a:r>
            <a:endParaRPr lang="en-US" sz="1250" dirty="0"/>
          </a:p>
        </p:txBody>
      </p:sp>
      <p:sp>
        <p:nvSpPr>
          <p:cNvPr id="14" name="Shape 10"/>
          <p:cNvSpPr/>
          <p:nvPr/>
        </p:nvSpPr>
        <p:spPr>
          <a:xfrm>
            <a:off x="4373880" y="2395728"/>
            <a:ext cx="3413760" cy="3108960"/>
          </a:xfrm>
          <a:prstGeom prst="roundRect">
            <a:avLst>
              <a:gd name="adj" fmla="val 2941"/>
            </a:avLst>
          </a:prstGeom>
          <a:solidFill>
            <a:srgbClr val="F5F3FF"/>
          </a:solidFill>
          <a:ln w="19050">
            <a:solidFill>
              <a:srgbClr val="8B5CF6"/>
            </a:solidFill>
            <a:prstDash val="solid"/>
          </a:ln>
        </p:spPr>
      </p:sp>
      <p:pic>
        <p:nvPicPr>
          <p:cNvPr id="15" name="Image 2" descr="assets/icon2_idcard_purple.png">    </p:cNvPr>
          <p:cNvPicPr>
            <a:picLocks noChangeAspect="1"/>
          </p:cNvPicPr>
          <p:nvPr/>
        </p:nvPicPr>
        <p:blipFill>
          <a:blip r:embed="rId3"/>
          <a:stretch>
            <a:fillRect/>
          </a:stretch>
        </p:blipFill>
        <p:spPr>
          <a:xfrm>
            <a:off x="5829300" y="2505456"/>
            <a:ext cx="502920" cy="502920"/>
          </a:xfrm>
          <a:prstGeom prst="rect">
            <a:avLst/>
          </a:prstGeom>
        </p:spPr>
      </p:pic>
      <p:sp>
        <p:nvSpPr>
          <p:cNvPr id="16" name="Text 11"/>
          <p:cNvSpPr txBox="1"/>
          <p:nvPr/>
        </p:nvSpPr>
        <p:spPr>
          <a:xfrm>
            <a:off x="4447032" y="3072384"/>
            <a:ext cx="3267456" cy="365760"/>
          </a:xfrm>
          <a:prstGeom prst="rect">
            <a:avLst/>
          </a:prstGeom>
          <a:noFill/>
          <a:ln/>
        </p:spPr>
        <p:txBody>
          <a:bodyPr wrap="square" rtlCol="0" anchor="t"/>
          <a:lstStyle/>
          <a:p>
            <a:pPr algn="ctr" indent="0" marL="0">
              <a:buNone/>
            </a:pPr>
            <a:r>
              <a:rPr lang="en-US" sz="1900" b="1" dirty="0">
                <a:solidFill>
                  <a:srgbClr val="1E293B"/>
                </a:solidFill>
                <a:latin typeface="Calibri" pitchFamily="34" charset="0"/>
                <a:ea typeface="Calibri" pitchFamily="34" charset="-122"/>
                <a:cs typeface="Calibri" pitchFamily="34" charset="-120"/>
              </a:rPr>
              <a:t>A dictionary</a:t>
            </a:r>
            <a:endParaRPr lang="en-US" sz="1900" dirty="0"/>
          </a:p>
        </p:txBody>
      </p:sp>
      <p:sp>
        <p:nvSpPr>
          <p:cNvPr id="17" name="Text 12"/>
          <p:cNvSpPr txBox="1"/>
          <p:nvPr/>
        </p:nvSpPr>
        <p:spPr>
          <a:xfrm>
            <a:off x="4465320" y="3438144"/>
            <a:ext cx="3230880" cy="1993392"/>
          </a:xfrm>
          <a:prstGeom prst="rect">
            <a:avLst/>
          </a:prstGeom>
          <a:noFill/>
          <a:ln/>
        </p:spPr>
        <p:txBody>
          <a:bodyPr wrap="square" rtlCol="0" anchor="t"/>
          <a:lstStyle/>
          <a:p>
            <a:pPr algn="ctr" indent="0" marL="0">
              <a:buNone/>
            </a:pPr>
            <a:r>
              <a:rPr lang="en-US" sz="1450" dirty="0">
                <a:solidFill>
                  <a:srgbClr val="64748B"/>
                </a:solidFill>
                <a:latin typeface="Calibri" pitchFamily="34" charset="0"/>
                <a:ea typeface="Calibri" pitchFamily="34" charset="-122"/>
                <a:cs typeface="Calibri" pitchFamily="34" charset="-120"/>
              </a:rPr>
              <a:t>One function can return a whole employee record.</a:t>
            </a:r>
            <a:endParaRPr lang="en-US" sz="1450" dirty="0"/>
          </a:p>
        </p:txBody>
      </p:sp>
      <p:sp>
        <p:nvSpPr>
          <p:cNvPr id="18" name="Shape 13"/>
          <p:cNvSpPr/>
          <p:nvPr/>
        </p:nvSpPr>
        <p:spPr>
          <a:xfrm>
            <a:off x="4602480" y="4544568"/>
            <a:ext cx="2956560" cy="384048"/>
          </a:xfrm>
          <a:prstGeom prst="roundRect">
            <a:avLst>
              <a:gd name="adj" fmla="val 14286"/>
            </a:avLst>
          </a:prstGeom>
          <a:solidFill>
            <a:srgbClr val="F5F3FF"/>
          </a:solidFill>
          <a:ln w="19050">
            <a:solidFill>
              <a:srgbClr val="8B5CF6"/>
            </a:solidFill>
            <a:prstDash val="solid"/>
          </a:ln>
        </p:spPr>
      </p:sp>
      <p:sp>
        <p:nvSpPr>
          <p:cNvPr id="19" name="Text 14"/>
          <p:cNvSpPr txBox="1"/>
          <p:nvPr/>
        </p:nvSpPr>
        <p:spPr>
          <a:xfrm>
            <a:off x="4602480" y="4544568"/>
            <a:ext cx="2956560" cy="384048"/>
          </a:xfrm>
          <a:prstGeom prst="rect">
            <a:avLst/>
          </a:prstGeom>
          <a:noFill/>
          <a:ln/>
        </p:spPr>
        <p:txBody>
          <a:bodyPr wrap="square" rtlCol="0" anchor="ctr"/>
          <a:lstStyle/>
          <a:p>
            <a:pPr algn="ctr" indent="0" marL="0">
              <a:buNone/>
            </a:pPr>
            <a:r>
              <a:rPr lang="en-US" sz="1250" dirty="0">
                <a:solidFill>
                  <a:srgbClr val="1E293B"/>
                </a:solidFill>
                <a:latin typeface="Consolas" pitchFamily="34" charset="0"/>
                <a:ea typeface="Consolas" pitchFamily="34" charset="-122"/>
                <a:cs typeface="Consolas" pitchFamily="34" charset="-120"/>
              </a:rPr>
              <a:t>name: Arun</a:t>
            </a:r>
            <a:endParaRPr lang="en-US" sz="1250" dirty="0"/>
          </a:p>
        </p:txBody>
      </p:sp>
      <p:sp>
        <p:nvSpPr>
          <p:cNvPr id="20" name="Shape 15"/>
          <p:cNvSpPr/>
          <p:nvPr/>
        </p:nvSpPr>
        <p:spPr>
          <a:xfrm>
            <a:off x="4602480" y="5001768"/>
            <a:ext cx="2956560" cy="384048"/>
          </a:xfrm>
          <a:prstGeom prst="roundRect">
            <a:avLst>
              <a:gd name="adj" fmla="val 14286"/>
            </a:avLst>
          </a:prstGeom>
          <a:solidFill>
            <a:srgbClr val="F5F3FF"/>
          </a:solidFill>
          <a:ln w="19050">
            <a:solidFill>
              <a:srgbClr val="8B5CF6"/>
            </a:solidFill>
            <a:prstDash val="solid"/>
          </a:ln>
        </p:spPr>
      </p:sp>
      <p:sp>
        <p:nvSpPr>
          <p:cNvPr id="21" name="Text 16"/>
          <p:cNvSpPr txBox="1"/>
          <p:nvPr/>
        </p:nvSpPr>
        <p:spPr>
          <a:xfrm>
            <a:off x="4602480" y="5001768"/>
            <a:ext cx="2956560" cy="384048"/>
          </a:xfrm>
          <a:prstGeom prst="rect">
            <a:avLst/>
          </a:prstGeom>
          <a:noFill/>
          <a:ln/>
        </p:spPr>
        <p:txBody>
          <a:bodyPr wrap="square" rtlCol="0" anchor="ctr"/>
          <a:lstStyle/>
          <a:p>
            <a:pPr algn="ctr" indent="0" marL="0">
              <a:buNone/>
            </a:pPr>
            <a:r>
              <a:rPr lang="en-US" sz="1250" dirty="0">
                <a:solidFill>
                  <a:srgbClr val="1E293B"/>
                </a:solidFill>
                <a:latin typeface="Consolas" pitchFamily="34" charset="0"/>
                <a:ea typeface="Consolas" pitchFamily="34" charset="-122"/>
                <a:cs typeface="Consolas" pitchFamily="34" charset="-120"/>
              </a:rPr>
              <a:t>salary: 35000</a:t>
            </a:r>
            <a:endParaRPr lang="en-US" sz="1250" dirty="0"/>
          </a:p>
        </p:txBody>
      </p:sp>
      <p:sp>
        <p:nvSpPr>
          <p:cNvPr id="22" name="Shape 17"/>
          <p:cNvSpPr/>
          <p:nvPr/>
        </p:nvSpPr>
        <p:spPr>
          <a:xfrm>
            <a:off x="8016240" y="2395728"/>
            <a:ext cx="3413760" cy="3108960"/>
          </a:xfrm>
          <a:prstGeom prst="roundRect">
            <a:avLst>
              <a:gd name="adj" fmla="val 2941"/>
            </a:avLst>
          </a:prstGeom>
          <a:solidFill>
            <a:srgbClr val="F0FDFA"/>
          </a:solidFill>
          <a:ln w="19050">
            <a:solidFill>
              <a:srgbClr val="14B8A6"/>
            </a:solidFill>
            <a:prstDash val="solid"/>
          </a:ln>
        </p:spPr>
      </p:sp>
      <p:pic>
        <p:nvPicPr>
          <p:cNvPr id="23" name="Image 3" descr="assets/icon2_layers_teal.png">    </p:cNvPr>
          <p:cNvPicPr>
            <a:picLocks noChangeAspect="1"/>
          </p:cNvPicPr>
          <p:nvPr/>
        </p:nvPicPr>
        <p:blipFill>
          <a:blip r:embed="rId4"/>
          <a:stretch>
            <a:fillRect/>
          </a:stretch>
        </p:blipFill>
        <p:spPr>
          <a:xfrm>
            <a:off x="9471660" y="2505456"/>
            <a:ext cx="502920" cy="502920"/>
          </a:xfrm>
          <a:prstGeom prst="rect">
            <a:avLst/>
          </a:prstGeom>
        </p:spPr>
      </p:pic>
      <p:sp>
        <p:nvSpPr>
          <p:cNvPr id="24" name="Text 18"/>
          <p:cNvSpPr txBox="1"/>
          <p:nvPr/>
        </p:nvSpPr>
        <p:spPr>
          <a:xfrm>
            <a:off x="8089392" y="3072384"/>
            <a:ext cx="3267456" cy="365760"/>
          </a:xfrm>
          <a:prstGeom prst="rect">
            <a:avLst/>
          </a:prstGeom>
          <a:noFill/>
          <a:ln/>
        </p:spPr>
        <p:txBody>
          <a:bodyPr wrap="square" rtlCol="0" anchor="t"/>
          <a:lstStyle/>
          <a:p>
            <a:pPr algn="ctr" indent="0" marL="0">
              <a:buNone/>
            </a:pPr>
            <a:r>
              <a:rPr lang="en-US" sz="1900" b="1" dirty="0">
                <a:solidFill>
                  <a:srgbClr val="1E293B"/>
                </a:solidFill>
                <a:latin typeface="Calibri" pitchFamily="34" charset="0"/>
                <a:ea typeface="Calibri" pitchFamily="34" charset="-122"/>
                <a:cs typeface="Calibri" pitchFamily="34" charset="-120"/>
              </a:rPr>
              <a:t>Many values</a:t>
            </a:r>
            <a:endParaRPr lang="en-US" sz="1900" dirty="0"/>
          </a:p>
        </p:txBody>
      </p:sp>
      <p:sp>
        <p:nvSpPr>
          <p:cNvPr id="25" name="Text 19"/>
          <p:cNvSpPr txBox="1"/>
          <p:nvPr/>
        </p:nvSpPr>
        <p:spPr>
          <a:xfrm>
            <a:off x="8107680" y="3438144"/>
            <a:ext cx="3230880" cy="1993392"/>
          </a:xfrm>
          <a:prstGeom prst="rect">
            <a:avLst/>
          </a:prstGeom>
          <a:noFill/>
          <a:ln/>
        </p:spPr>
        <p:txBody>
          <a:bodyPr wrap="square" rtlCol="0" anchor="t"/>
          <a:lstStyle/>
          <a:p>
            <a:pPr algn="ctr" indent="0" marL="0">
              <a:buNone/>
            </a:pPr>
            <a:r>
              <a:rPr lang="en-US" sz="1450" dirty="0">
                <a:solidFill>
                  <a:srgbClr val="64748B"/>
                </a:solidFill>
                <a:latin typeface="Calibri" pitchFamily="34" charset="0"/>
                <a:ea typeface="Calibri" pitchFamily="34" charset="-122"/>
                <a:cs typeface="Calibri" pitchFamily="34" charset="-120"/>
              </a:rPr>
              <a:t>Several results come back together and are received by separate names.</a:t>
            </a:r>
            <a:endParaRPr lang="en-US" sz="1450" dirty="0"/>
          </a:p>
        </p:txBody>
      </p:sp>
      <p:sp>
        <p:nvSpPr>
          <p:cNvPr id="26" name="Shape 20"/>
          <p:cNvSpPr/>
          <p:nvPr/>
        </p:nvSpPr>
        <p:spPr>
          <a:xfrm>
            <a:off x="8244840" y="5001768"/>
            <a:ext cx="2956560" cy="384048"/>
          </a:xfrm>
          <a:prstGeom prst="roundRect">
            <a:avLst>
              <a:gd name="adj" fmla="val 14286"/>
            </a:avLst>
          </a:prstGeom>
          <a:solidFill>
            <a:srgbClr val="CCFBF1"/>
          </a:solidFill>
          <a:ln w="25400">
            <a:solidFill>
              <a:srgbClr val="14B8A6"/>
            </a:solidFill>
            <a:prstDash val="solid"/>
          </a:ln>
        </p:spPr>
      </p:sp>
      <p:sp>
        <p:nvSpPr>
          <p:cNvPr id="27" name="Text 21"/>
          <p:cNvSpPr txBox="1"/>
          <p:nvPr/>
        </p:nvSpPr>
        <p:spPr>
          <a:xfrm>
            <a:off x="8244840" y="5001768"/>
            <a:ext cx="2956560" cy="384048"/>
          </a:xfrm>
          <a:prstGeom prst="rect">
            <a:avLst/>
          </a:prstGeom>
          <a:noFill/>
          <a:ln/>
        </p:spPr>
        <p:txBody>
          <a:bodyPr wrap="square" rtlCol="0" anchor="ctr"/>
          <a:lstStyle/>
          <a:p>
            <a:pPr algn="ctr" indent="0" marL="0">
              <a:buNone/>
            </a:pPr>
            <a:r>
              <a:rPr lang="en-US" sz="1250" b="1" dirty="0">
                <a:solidFill>
                  <a:srgbClr val="1E293B"/>
                </a:solidFill>
                <a:latin typeface="Consolas" pitchFamily="34" charset="0"/>
                <a:ea typeface="Consolas" pitchFamily="34" charset="-122"/>
                <a:cs typeface="Consolas" pitchFamily="34" charset="-120"/>
              </a:rPr>
              <a:t>20 and 5 give 25 and 15</a:t>
            </a:r>
            <a:endParaRPr lang="en-US" sz="1250" dirty="0"/>
          </a:p>
        </p:txBody>
      </p:sp>
      <p:sp>
        <p:nvSpPr>
          <p:cNvPr id="28" name="Shape 22"/>
          <p:cNvSpPr/>
          <p:nvPr/>
        </p:nvSpPr>
        <p:spPr>
          <a:xfrm>
            <a:off x="731520" y="5559552"/>
            <a:ext cx="10698480" cy="0"/>
          </a:xfrm>
          <a:prstGeom prst="line">
            <a:avLst/>
          </a:prstGeom>
          <a:noFill/>
          <a:ln w="12700">
            <a:solidFill>
              <a:srgbClr val="E2E8F0"/>
            </a:solidFill>
            <a:prstDash val="solid"/>
          </a:ln>
        </p:spPr>
      </p:sp>
      <p:sp>
        <p:nvSpPr>
          <p:cNvPr id="29" name="Shape 23"/>
          <p:cNvSpPr/>
          <p:nvPr/>
        </p:nvSpPr>
        <p:spPr>
          <a:xfrm>
            <a:off x="777240" y="5650992"/>
            <a:ext cx="475488" cy="475488"/>
          </a:xfrm>
          <a:prstGeom prst="ellipse">
            <a:avLst/>
          </a:prstGeom>
          <a:solidFill>
            <a:srgbClr val="FCE7F3"/>
          </a:solidFill>
          <a:ln w="19050">
            <a:solidFill>
              <a:srgbClr val="EC4899"/>
            </a:solidFill>
            <a:prstDash val="solid"/>
          </a:ln>
        </p:spPr>
      </p:sp>
      <p:pic>
        <p:nvPicPr>
          <p:cNvPr id="30" name="Image 4" descr="assets/icon2_user_pink.png">    </p:cNvPr>
          <p:cNvPicPr>
            <a:picLocks noChangeAspect="1"/>
          </p:cNvPicPr>
          <p:nvPr/>
        </p:nvPicPr>
        <p:blipFill>
          <a:blip r:embed="rId5"/>
          <a:stretch>
            <a:fillRect/>
          </a:stretch>
        </p:blipFill>
        <p:spPr>
          <a:xfrm>
            <a:off x="872338" y="5746090"/>
            <a:ext cx="285293" cy="285293"/>
          </a:xfrm>
          <a:prstGeom prst="rect">
            <a:avLst/>
          </a:prstGeom>
        </p:spPr>
      </p:pic>
      <p:sp>
        <p:nvSpPr>
          <p:cNvPr id="31" name="Shape 24"/>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2" name="Shape 25"/>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3" name="Text 26"/>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Returning many values at once saves calling the function again and again.</a:t>
            </a:r>
            <a:endParaRPr lang="en-US" sz="1400" dirty="0"/>
          </a:p>
        </p:txBody>
      </p:sp>
      <p:sp>
        <p:nvSpPr>
          <p:cNvPr id="34" name="Text 27"/>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35" name="Text 28"/>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6</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Default Parameters</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delivery charge is 50 unless the customer chooses faster delivery. Most orders use the usual charge, so nobody has to mention it.</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A default parameter has a value ready in the definition. If the caller gives no value, the default is used. If the caller gives one, it replaces the default.</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Standard delivery charges, default tax rates, page sizes and any setting that usually stays the same.</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DEFAULTS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Use the Default Unless Told Otherwise</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423160"/>
            <a:ext cx="3108960" cy="1371600"/>
          </a:xfrm>
          <a:prstGeom prst="flowChartDecision">
            <a:avLst/>
          </a:prstGeom>
          <a:solidFill>
            <a:srgbClr val="FFF7ED"/>
          </a:solidFill>
          <a:ln w="22225">
            <a:solidFill>
              <a:srgbClr val="F97316"/>
            </a:solidFill>
            <a:prstDash val="solid"/>
          </a:ln>
        </p:spPr>
      </p:sp>
      <p:sp>
        <p:nvSpPr>
          <p:cNvPr id="7" name="Text 4"/>
          <p:cNvSpPr txBox="1"/>
          <p:nvPr/>
        </p:nvSpPr>
        <p:spPr>
          <a:xfrm>
            <a:off x="1353312" y="2423160"/>
            <a:ext cx="1865376" cy="137160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Delivery value given?</a:t>
            </a:r>
            <a:endParaRPr lang="en-US" sz="1400" dirty="0"/>
          </a:p>
        </p:txBody>
      </p:sp>
      <p:sp>
        <p:nvSpPr>
          <p:cNvPr id="8" name="Shape 5"/>
          <p:cNvSpPr/>
          <p:nvPr/>
        </p:nvSpPr>
        <p:spPr>
          <a:xfrm>
            <a:off x="3867912" y="3108960"/>
            <a:ext cx="676656" cy="0"/>
          </a:xfrm>
          <a:prstGeom prst="line">
            <a:avLst/>
          </a:prstGeom>
          <a:noFill/>
          <a:ln w="31750">
            <a:solidFill>
              <a:srgbClr val="10B981"/>
            </a:solidFill>
            <a:prstDash val="solid"/>
            <a:tailEnd type="triangle"/>
          </a:ln>
        </p:spPr>
      </p:sp>
      <p:sp>
        <p:nvSpPr>
          <p:cNvPr id="9" name="Text 6"/>
          <p:cNvSpPr txBox="1"/>
          <p:nvPr/>
        </p:nvSpPr>
        <p:spPr>
          <a:xfrm>
            <a:off x="3840480" y="2743200"/>
            <a:ext cx="731520" cy="274320"/>
          </a:xfrm>
          <a:prstGeom prst="rect">
            <a:avLst/>
          </a:prstGeom>
          <a:noFill/>
          <a:ln/>
        </p:spPr>
        <p:txBody>
          <a:bodyPr wrap="square" rtlCol="0" anchor="ctr"/>
          <a:lstStyle/>
          <a:p>
            <a:pPr algn="ctr" indent="0" marL="0">
              <a:buNone/>
            </a:pPr>
            <a:r>
              <a:rPr lang="en-US" sz="1200" b="1" dirty="0">
                <a:solidFill>
                  <a:srgbClr val="10B981"/>
                </a:solidFill>
                <a:latin typeface="Calibri" pitchFamily="34" charset="0"/>
                <a:ea typeface="Calibri" pitchFamily="34" charset="-122"/>
                <a:cs typeface="Calibri" pitchFamily="34" charset="-120"/>
              </a:rPr>
              <a:t>Yes</a:t>
            </a:r>
            <a:endParaRPr lang="en-US" sz="1200" dirty="0"/>
          </a:p>
        </p:txBody>
      </p:sp>
      <p:sp>
        <p:nvSpPr>
          <p:cNvPr id="10" name="Shape 7"/>
          <p:cNvSpPr/>
          <p:nvPr/>
        </p:nvSpPr>
        <p:spPr>
          <a:xfrm>
            <a:off x="4572000" y="2743200"/>
            <a:ext cx="2560320" cy="731520"/>
          </a:xfrm>
          <a:prstGeom prst="flowChartProcess">
            <a:avLst/>
          </a:prstGeom>
          <a:solidFill>
            <a:srgbClr val="F0FDF4"/>
          </a:solidFill>
          <a:ln w="22225">
            <a:solidFill>
              <a:srgbClr val="10B981"/>
            </a:solidFill>
            <a:prstDash val="solid"/>
          </a:ln>
        </p:spPr>
      </p:sp>
      <p:sp>
        <p:nvSpPr>
          <p:cNvPr id="11" name="Text 8"/>
          <p:cNvSpPr txBox="1"/>
          <p:nvPr/>
        </p:nvSpPr>
        <p:spPr>
          <a:xfrm>
            <a:off x="4645152" y="2743200"/>
            <a:ext cx="2414016" cy="73152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Use the value passed in</a:t>
            </a:r>
            <a:endParaRPr lang="en-US" sz="1400" dirty="0"/>
          </a:p>
        </p:txBody>
      </p:sp>
      <p:sp>
        <p:nvSpPr>
          <p:cNvPr id="12" name="Shape 9"/>
          <p:cNvSpPr/>
          <p:nvPr/>
        </p:nvSpPr>
        <p:spPr>
          <a:xfrm>
            <a:off x="2286000" y="3822192"/>
            <a:ext cx="0" cy="493776"/>
          </a:xfrm>
          <a:prstGeom prst="line">
            <a:avLst/>
          </a:prstGeom>
          <a:noFill/>
          <a:ln w="31750">
            <a:solidFill>
              <a:srgbClr val="F97316"/>
            </a:solidFill>
            <a:prstDash val="solid"/>
            <a:tailEnd type="triangle"/>
          </a:ln>
        </p:spPr>
      </p:sp>
      <p:sp>
        <p:nvSpPr>
          <p:cNvPr id="13" name="Text 10"/>
          <p:cNvSpPr txBox="1"/>
          <p:nvPr/>
        </p:nvSpPr>
        <p:spPr>
          <a:xfrm>
            <a:off x="2377440" y="3840480"/>
            <a:ext cx="548640" cy="274320"/>
          </a:xfrm>
          <a:prstGeom prst="rect">
            <a:avLst/>
          </a:prstGeom>
          <a:noFill/>
          <a:ln/>
        </p:spPr>
        <p:txBody>
          <a:bodyPr wrap="square" rtlCol="0" anchor="ctr"/>
          <a:lstStyle/>
          <a:p>
            <a:pPr algn="ctr" indent="0" marL="0">
              <a:buNone/>
            </a:pPr>
            <a:r>
              <a:rPr lang="en-US" sz="1200" b="1" dirty="0">
                <a:solidFill>
                  <a:srgbClr val="F97316"/>
                </a:solidFill>
                <a:latin typeface="Calibri" pitchFamily="34" charset="0"/>
                <a:ea typeface="Calibri" pitchFamily="34" charset="-122"/>
                <a:cs typeface="Calibri" pitchFamily="34" charset="-120"/>
              </a:rPr>
              <a:t>No</a:t>
            </a:r>
            <a:endParaRPr lang="en-US" sz="1200" dirty="0"/>
          </a:p>
        </p:txBody>
      </p:sp>
      <p:sp>
        <p:nvSpPr>
          <p:cNvPr id="14" name="Shape 11"/>
          <p:cNvSpPr/>
          <p:nvPr/>
        </p:nvSpPr>
        <p:spPr>
          <a:xfrm>
            <a:off x="1097280" y="4343400"/>
            <a:ext cx="2377440" cy="731520"/>
          </a:xfrm>
          <a:prstGeom prst="flowChartProcess">
            <a:avLst/>
          </a:prstGeom>
          <a:solidFill>
            <a:srgbClr val="F0FDFA"/>
          </a:solidFill>
          <a:ln w="22225">
            <a:solidFill>
              <a:srgbClr val="14B8A6"/>
            </a:solidFill>
            <a:prstDash val="solid"/>
          </a:ln>
        </p:spPr>
      </p:sp>
      <p:sp>
        <p:nvSpPr>
          <p:cNvPr id="15" name="Text 12"/>
          <p:cNvSpPr txBox="1"/>
          <p:nvPr/>
        </p:nvSpPr>
        <p:spPr>
          <a:xfrm>
            <a:off x="1170432" y="4343400"/>
            <a:ext cx="2231136" cy="73152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Use the default, 50</a:t>
            </a:r>
            <a:endParaRPr lang="en-US" sz="1400" dirty="0"/>
          </a:p>
        </p:txBody>
      </p:sp>
      <p:sp>
        <p:nvSpPr>
          <p:cNvPr id="16" name="Shape 13"/>
          <p:cNvSpPr/>
          <p:nvPr/>
        </p:nvSpPr>
        <p:spPr>
          <a:xfrm>
            <a:off x="7680960" y="2468880"/>
            <a:ext cx="3749040" cy="1188720"/>
          </a:xfrm>
          <a:prstGeom prst="roundRect">
            <a:avLst>
              <a:gd name="adj" fmla="val 7692"/>
            </a:avLst>
          </a:prstGeom>
          <a:solidFill>
            <a:srgbClr val="F0FDFA"/>
          </a:solidFill>
          <a:ln w="19050">
            <a:solidFill>
              <a:srgbClr val="14B8A6"/>
            </a:solidFill>
            <a:prstDash val="solid"/>
          </a:ln>
        </p:spPr>
      </p:sp>
      <p:sp>
        <p:nvSpPr>
          <p:cNvPr id="17" name="Text 14"/>
          <p:cNvSpPr txBox="1"/>
          <p:nvPr/>
        </p:nvSpPr>
        <p:spPr>
          <a:xfrm>
            <a:off x="7754112" y="2578608"/>
            <a:ext cx="360273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Total 1000 only</a:t>
            </a:r>
            <a:endParaRPr lang="en-US" sz="1600" dirty="0"/>
          </a:p>
        </p:txBody>
      </p:sp>
      <p:sp>
        <p:nvSpPr>
          <p:cNvPr id="18" name="Text 15"/>
          <p:cNvSpPr txBox="1"/>
          <p:nvPr/>
        </p:nvSpPr>
        <p:spPr>
          <a:xfrm>
            <a:off x="7772400" y="2926080"/>
            <a:ext cx="3566160" cy="658368"/>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the default 50 is added: 1050</a:t>
            </a:r>
            <a:endParaRPr lang="en-US" sz="1350" dirty="0"/>
          </a:p>
        </p:txBody>
      </p:sp>
      <p:sp>
        <p:nvSpPr>
          <p:cNvPr id="19" name="Shape 16"/>
          <p:cNvSpPr/>
          <p:nvPr/>
        </p:nvSpPr>
        <p:spPr>
          <a:xfrm>
            <a:off x="7680960" y="3840480"/>
            <a:ext cx="3749040" cy="1188720"/>
          </a:xfrm>
          <a:prstGeom prst="roundRect">
            <a:avLst>
              <a:gd name="adj" fmla="val 7692"/>
            </a:avLst>
          </a:prstGeom>
          <a:solidFill>
            <a:srgbClr val="F0FDF4"/>
          </a:solidFill>
          <a:ln w="19050">
            <a:solidFill>
              <a:srgbClr val="10B981"/>
            </a:solidFill>
            <a:prstDash val="solid"/>
          </a:ln>
        </p:spPr>
      </p:sp>
      <p:sp>
        <p:nvSpPr>
          <p:cNvPr id="20" name="Text 17"/>
          <p:cNvSpPr txBox="1"/>
          <p:nvPr/>
        </p:nvSpPr>
        <p:spPr>
          <a:xfrm>
            <a:off x="7754112" y="3950208"/>
            <a:ext cx="360273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Total 1000 and delivery 100</a:t>
            </a:r>
            <a:endParaRPr lang="en-US" sz="1600" dirty="0"/>
          </a:p>
        </p:txBody>
      </p:sp>
      <p:sp>
        <p:nvSpPr>
          <p:cNvPr id="21" name="Text 18"/>
          <p:cNvSpPr txBox="1"/>
          <p:nvPr/>
        </p:nvSpPr>
        <p:spPr>
          <a:xfrm>
            <a:off x="7772400" y="4297680"/>
            <a:ext cx="3566160" cy="658368"/>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100 replaces the default: 1100</a:t>
            </a:r>
            <a:endParaRPr lang="en-US" sz="1350" dirty="0"/>
          </a:p>
        </p:txBody>
      </p:sp>
      <p:sp>
        <p:nvSpPr>
          <p:cNvPr id="22" name="Shape 19"/>
          <p:cNvSpPr/>
          <p:nvPr/>
        </p:nvSpPr>
        <p:spPr>
          <a:xfrm>
            <a:off x="731520" y="5559552"/>
            <a:ext cx="10698480" cy="0"/>
          </a:xfrm>
          <a:prstGeom prst="line">
            <a:avLst/>
          </a:prstGeom>
          <a:noFill/>
          <a:ln w="12700">
            <a:solidFill>
              <a:srgbClr val="E2E8F0"/>
            </a:solidFill>
            <a:prstDash val="solid"/>
          </a:ln>
        </p:spPr>
      </p:sp>
      <p:sp>
        <p:nvSpPr>
          <p:cNvPr id="23" name="Shape 20"/>
          <p:cNvSpPr/>
          <p:nvPr/>
        </p:nvSpPr>
        <p:spPr>
          <a:xfrm>
            <a:off x="777240" y="5650992"/>
            <a:ext cx="475488" cy="475488"/>
          </a:xfrm>
          <a:prstGeom prst="ellipse">
            <a:avLst/>
          </a:prstGeom>
          <a:solidFill>
            <a:srgbClr val="FCE7F3"/>
          </a:solidFill>
          <a:ln w="19050">
            <a:solidFill>
              <a:srgbClr val="EC4899"/>
            </a:solidFill>
            <a:prstDash val="solid"/>
          </a:ln>
        </p:spPr>
      </p:sp>
      <p:pic>
        <p:nvPicPr>
          <p:cNvPr id="24"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25" name="Shape 21"/>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26" name="Shape 22"/>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27" name="Text 23"/>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Put parameters that have defaults after the ones that do not.</a:t>
            </a:r>
            <a:endParaRPr lang="en-US" sz="1400" dirty="0"/>
          </a:p>
        </p:txBody>
      </p:sp>
      <p:sp>
        <p:nvSpPr>
          <p:cNvPr id="28" name="Text 24"/>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29" name="Text 25"/>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7</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Local and Global Variables</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A notebook inside your bag belongs only to you. The notice board in the office can be read by everyone. A variable made inside a function behaves like the notebook.</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lnSpc>
                <a:spcPct val="110000"/>
              </a:lnSpc>
              <a:buNone/>
            </a:pPr>
            <a:r>
              <a:rPr lang="en-US" sz="1800" b="1" dirty="0">
                <a:solidFill>
                  <a:srgbClr val="FFFFFF"/>
                </a:solidFill>
                <a:latin typeface="Calibri" pitchFamily="34" charset="0"/>
                <a:ea typeface="Calibri" pitchFamily="34" charset="-122"/>
                <a:cs typeface="Calibri" pitchFamily="34" charset="-120"/>
              </a:rPr>
              <a:t>A local variable lives only inside the function that creates it. A global variable is created outside and can be read inside functions.</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lnSpc>
                <a:spcPct val="110000"/>
              </a:lnSpc>
              <a:buNone/>
            </a:pPr>
            <a:r>
              <a:rPr lang="en-US" sz="1600" dirty="0">
                <a:solidFill>
                  <a:srgbClr val="CBD5E1"/>
                </a:solidFill>
                <a:latin typeface="Calibri" pitchFamily="34" charset="0"/>
                <a:ea typeface="Calibri" pitchFamily="34" charset="-122"/>
                <a:cs typeface="Calibri" pitchFamily="34" charset="-120"/>
              </a:rPr>
              <a:t>Keeping the work of a function private and safe, and sharing fixed values such as a company name across the program.</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SCOPE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Who Can See What</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95728"/>
            <a:ext cx="10698480" cy="3017520"/>
          </a:xfrm>
          <a:prstGeom prst="roundRect">
            <a:avLst>
              <a:gd name="adj" fmla="val 3030"/>
            </a:avLst>
          </a:prstGeom>
          <a:solidFill>
            <a:srgbClr val="F5F3FF"/>
          </a:solidFill>
          <a:ln w="19050">
            <a:solidFill>
              <a:srgbClr val="8B5CF6"/>
            </a:solidFill>
            <a:prstDash val="solid"/>
          </a:ln>
        </p:spPr>
      </p:sp>
      <p:sp>
        <p:nvSpPr>
          <p:cNvPr id="7" name="Text 4"/>
          <p:cNvSpPr txBox="1"/>
          <p:nvPr/>
        </p:nvSpPr>
        <p:spPr>
          <a:xfrm>
            <a:off x="914400" y="2468880"/>
            <a:ext cx="4572000" cy="274320"/>
          </a:xfrm>
          <a:prstGeom prst="rect">
            <a:avLst/>
          </a:prstGeom>
          <a:noFill/>
          <a:ln/>
        </p:spPr>
        <p:txBody>
          <a:bodyPr wrap="square" rtlCol="0" anchor="ctr"/>
          <a:lstStyle/>
          <a:p>
            <a:pPr indent="0" marL="0">
              <a:buNone/>
            </a:pPr>
            <a:r>
              <a:rPr lang="en-US" sz="1100" b="1" spc="100" kern="0" dirty="0">
                <a:solidFill>
                  <a:srgbClr val="8B5CF6"/>
                </a:solidFill>
                <a:latin typeface="Calibri" pitchFamily="34" charset="0"/>
                <a:ea typeface="Calibri" pitchFamily="34" charset="-122"/>
                <a:cs typeface="Calibri" pitchFamily="34" charset="-120"/>
              </a:rPr>
              <a:t>OUTSIDE THE FUNCTION: GLOBAL</a:t>
            </a:r>
            <a:endParaRPr lang="en-US" sz="1100" dirty="0"/>
          </a:p>
        </p:txBody>
      </p:sp>
      <p:sp>
        <p:nvSpPr>
          <p:cNvPr id="8" name="Shape 5"/>
          <p:cNvSpPr/>
          <p:nvPr/>
        </p:nvSpPr>
        <p:spPr>
          <a:xfrm>
            <a:off x="914400" y="2834640"/>
            <a:ext cx="3291840" cy="548640"/>
          </a:xfrm>
          <a:prstGeom prst="roundRect">
            <a:avLst>
              <a:gd name="adj" fmla="val 10000"/>
            </a:avLst>
          </a:prstGeom>
          <a:solidFill>
            <a:srgbClr val="F5F3FF"/>
          </a:solidFill>
          <a:ln w="19050">
            <a:solidFill>
              <a:srgbClr val="8B5CF6"/>
            </a:solidFill>
            <a:prstDash val="solid"/>
          </a:ln>
        </p:spPr>
      </p:sp>
      <p:sp>
        <p:nvSpPr>
          <p:cNvPr id="9" name="Text 6"/>
          <p:cNvSpPr txBox="1"/>
          <p:nvPr/>
        </p:nvSpPr>
        <p:spPr>
          <a:xfrm>
            <a:off x="914400" y="2834640"/>
            <a:ext cx="3291840" cy="548640"/>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company name: ABC tech</a:t>
            </a:r>
            <a:endParaRPr lang="en-US" sz="1400" dirty="0"/>
          </a:p>
        </p:txBody>
      </p:sp>
      <p:sp>
        <p:nvSpPr>
          <p:cNvPr id="10" name="Shape 7"/>
          <p:cNvSpPr/>
          <p:nvPr/>
        </p:nvSpPr>
        <p:spPr>
          <a:xfrm>
            <a:off x="5852160" y="2743200"/>
            <a:ext cx="5394960" cy="2468880"/>
          </a:xfrm>
          <a:prstGeom prst="roundRect">
            <a:avLst>
              <a:gd name="adj" fmla="val 3704"/>
            </a:avLst>
          </a:prstGeom>
          <a:solidFill>
            <a:srgbClr val="FFFFFF"/>
          </a:solidFill>
          <a:ln w="22225">
            <a:solidFill>
              <a:srgbClr val="14B8A6"/>
            </a:solidFill>
            <a:prstDash val="solid"/>
          </a:ln>
        </p:spPr>
      </p:sp>
      <p:sp>
        <p:nvSpPr>
          <p:cNvPr id="11" name="Text 8"/>
          <p:cNvSpPr txBox="1"/>
          <p:nvPr/>
        </p:nvSpPr>
        <p:spPr>
          <a:xfrm>
            <a:off x="6035040" y="2816352"/>
            <a:ext cx="4572000" cy="274320"/>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INSIDE THE FUNCTION: LOCAL</a:t>
            </a:r>
            <a:endParaRPr lang="en-US" sz="1100" dirty="0"/>
          </a:p>
        </p:txBody>
      </p:sp>
      <p:sp>
        <p:nvSpPr>
          <p:cNvPr id="12" name="Shape 9"/>
          <p:cNvSpPr/>
          <p:nvPr/>
        </p:nvSpPr>
        <p:spPr>
          <a:xfrm>
            <a:off x="6035040" y="3200400"/>
            <a:ext cx="3108960" cy="548640"/>
          </a:xfrm>
          <a:prstGeom prst="roundRect">
            <a:avLst>
              <a:gd name="adj" fmla="val 10000"/>
            </a:avLst>
          </a:prstGeom>
          <a:solidFill>
            <a:srgbClr val="CCFBF1"/>
          </a:solidFill>
          <a:ln w="25400">
            <a:solidFill>
              <a:srgbClr val="14B8A6"/>
            </a:solidFill>
            <a:prstDash val="solid"/>
          </a:ln>
        </p:spPr>
      </p:sp>
      <p:sp>
        <p:nvSpPr>
          <p:cNvPr id="13" name="Text 10"/>
          <p:cNvSpPr txBox="1"/>
          <p:nvPr/>
        </p:nvSpPr>
        <p:spPr>
          <a:xfrm>
            <a:off x="6035040" y="3200400"/>
            <a:ext cx="3108960" cy="548640"/>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salary: 35000</a:t>
            </a:r>
            <a:endParaRPr lang="en-US" sz="1400" dirty="0"/>
          </a:p>
        </p:txBody>
      </p:sp>
      <p:sp>
        <p:nvSpPr>
          <p:cNvPr id="14" name="Shape 11"/>
          <p:cNvSpPr/>
          <p:nvPr/>
        </p:nvSpPr>
        <p:spPr>
          <a:xfrm>
            <a:off x="4251960" y="3108960"/>
            <a:ext cx="1554480" cy="0"/>
          </a:xfrm>
          <a:prstGeom prst="line">
            <a:avLst/>
          </a:prstGeom>
          <a:noFill/>
          <a:ln w="31750">
            <a:solidFill>
              <a:srgbClr val="10B981"/>
            </a:solidFill>
            <a:prstDash val="solid"/>
            <a:tailEnd type="triangle"/>
          </a:ln>
        </p:spPr>
      </p:sp>
      <p:sp>
        <p:nvSpPr>
          <p:cNvPr id="15" name="Text 12"/>
          <p:cNvSpPr txBox="1"/>
          <p:nvPr/>
        </p:nvSpPr>
        <p:spPr>
          <a:xfrm>
            <a:off x="4297680" y="2788920"/>
            <a:ext cx="1463040" cy="274320"/>
          </a:xfrm>
          <a:prstGeom prst="rect">
            <a:avLst/>
          </a:prstGeom>
          <a:noFill/>
          <a:ln/>
        </p:spPr>
        <p:txBody>
          <a:bodyPr wrap="square" rtlCol="0" anchor="ctr"/>
          <a:lstStyle/>
          <a:p>
            <a:pPr algn="ctr" indent="0" marL="0">
              <a:buNone/>
            </a:pPr>
            <a:r>
              <a:rPr lang="en-US" sz="1200" b="1" dirty="0">
                <a:solidFill>
                  <a:srgbClr val="10B981"/>
                </a:solidFill>
                <a:latin typeface="Calibri" pitchFamily="34" charset="0"/>
                <a:ea typeface="Calibri" pitchFamily="34" charset="-122"/>
                <a:cs typeface="Calibri" pitchFamily="34" charset="-120"/>
              </a:rPr>
              <a:t>can be read</a:t>
            </a:r>
            <a:endParaRPr lang="en-US" sz="1200" dirty="0"/>
          </a:p>
        </p:txBody>
      </p:sp>
      <p:sp>
        <p:nvSpPr>
          <p:cNvPr id="16" name="Shape 13"/>
          <p:cNvSpPr/>
          <p:nvPr/>
        </p:nvSpPr>
        <p:spPr>
          <a:xfrm>
            <a:off x="914400" y="3931920"/>
            <a:ext cx="4572000" cy="566928"/>
          </a:xfrm>
          <a:prstGeom prst="roundRect">
            <a:avLst>
              <a:gd name="adj" fmla="val 16129"/>
            </a:avLst>
          </a:prstGeom>
          <a:solidFill>
            <a:srgbClr val="F0FDF4"/>
          </a:solidFill>
          <a:ln w="19050">
            <a:solidFill>
              <a:srgbClr val="10B981"/>
            </a:solidFill>
            <a:prstDash val="solid"/>
          </a:ln>
        </p:spPr>
      </p:sp>
      <p:sp>
        <p:nvSpPr>
          <p:cNvPr id="17" name="Text 14"/>
          <p:cNvSpPr txBox="1"/>
          <p:nvPr/>
        </p:nvSpPr>
        <p:spPr>
          <a:xfrm>
            <a:off x="987552" y="4041648"/>
            <a:ext cx="4425696" cy="365760"/>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Function reads the company name: works</a:t>
            </a:r>
            <a:endParaRPr lang="en-US" sz="1350" dirty="0"/>
          </a:p>
        </p:txBody>
      </p:sp>
      <p:sp>
        <p:nvSpPr>
          <p:cNvPr id="18" name="Shape 15"/>
          <p:cNvSpPr/>
          <p:nvPr/>
        </p:nvSpPr>
        <p:spPr>
          <a:xfrm>
            <a:off x="914400" y="4617720"/>
            <a:ext cx="4572000" cy="566928"/>
          </a:xfrm>
          <a:prstGeom prst="roundRect">
            <a:avLst>
              <a:gd name="adj" fmla="val 16129"/>
            </a:avLst>
          </a:prstGeom>
          <a:solidFill>
            <a:srgbClr val="FFF7ED"/>
          </a:solidFill>
          <a:ln w="19050">
            <a:solidFill>
              <a:srgbClr val="F97316"/>
            </a:solidFill>
            <a:prstDash val="solid"/>
          </a:ln>
        </p:spPr>
      </p:sp>
      <p:sp>
        <p:nvSpPr>
          <p:cNvPr id="19" name="Text 16"/>
          <p:cNvSpPr txBox="1"/>
          <p:nvPr/>
        </p:nvSpPr>
        <p:spPr>
          <a:xfrm>
            <a:off x="987552" y="4727448"/>
            <a:ext cx="4425696" cy="365760"/>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Outside reads salary: NameError</a:t>
            </a:r>
            <a:endParaRPr lang="en-US" sz="1350" dirty="0"/>
          </a:p>
        </p:txBody>
      </p:sp>
      <p:sp>
        <p:nvSpPr>
          <p:cNvPr id="20" name="Text 17"/>
          <p:cNvSpPr txBox="1"/>
          <p:nvPr/>
        </p:nvSpPr>
        <p:spPr>
          <a:xfrm>
            <a:off x="6035040" y="4069080"/>
            <a:ext cx="5029200" cy="457200"/>
          </a:xfrm>
          <a:prstGeom prst="rect">
            <a:avLst/>
          </a:prstGeom>
          <a:noFill/>
          <a:ln/>
        </p:spPr>
        <p:txBody>
          <a:bodyPr wrap="square"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The salary disappears when the function ends.</a:t>
            </a:r>
            <a:endParaRPr lang="en-US" sz="1400" dirty="0"/>
          </a:p>
        </p:txBody>
      </p:sp>
      <p:sp>
        <p:nvSpPr>
          <p:cNvPr id="21" name="Shape 18"/>
          <p:cNvSpPr/>
          <p:nvPr/>
        </p:nvSpPr>
        <p:spPr>
          <a:xfrm>
            <a:off x="731520" y="5559552"/>
            <a:ext cx="10698480" cy="0"/>
          </a:xfrm>
          <a:prstGeom prst="line">
            <a:avLst/>
          </a:prstGeom>
          <a:noFill/>
          <a:ln w="12700">
            <a:solidFill>
              <a:srgbClr val="E2E8F0"/>
            </a:solidFill>
            <a:prstDash val="solid"/>
          </a:ln>
        </p:spPr>
      </p:sp>
      <p:sp>
        <p:nvSpPr>
          <p:cNvPr id="22" name="Shape 19"/>
          <p:cNvSpPr/>
          <p:nvPr/>
        </p:nvSpPr>
        <p:spPr>
          <a:xfrm>
            <a:off x="777240" y="5650992"/>
            <a:ext cx="475488" cy="475488"/>
          </a:xfrm>
          <a:prstGeom prst="ellipse">
            <a:avLst/>
          </a:prstGeom>
          <a:solidFill>
            <a:srgbClr val="FCE7F3"/>
          </a:solidFill>
          <a:ln w="19050">
            <a:solidFill>
              <a:srgbClr val="EC4899"/>
            </a:solidFill>
            <a:prstDash val="solid"/>
          </a:ln>
        </p:spPr>
      </p:sp>
      <p:pic>
        <p:nvPicPr>
          <p:cNvPr id="23"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24" name="Shape 20"/>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25" name="Shape 21"/>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26" name="Text 22"/>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A name made inside a function is not known outside it. Python says it is not defined.</a:t>
            </a:r>
            <a:endParaRPr lang="en-US" sz="1400" dirty="0"/>
          </a:p>
        </p:txBody>
      </p:sp>
      <p:sp>
        <p:nvSpPr>
          <p:cNvPr id="27" name="Text 23"/>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28" name="Text 24"/>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MINI PROJECT</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Calculator Built From Functions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95728"/>
            <a:ext cx="2743200" cy="548640"/>
          </a:xfrm>
          <a:prstGeom prst="flowChartInputOutput">
            <a:avLst/>
          </a:prstGeom>
          <a:solidFill>
            <a:srgbClr val="F0FDFA"/>
          </a:solidFill>
          <a:ln w="22225">
            <a:solidFill>
              <a:srgbClr val="14B8A6"/>
            </a:solidFill>
            <a:prstDash val="solid"/>
          </a:ln>
        </p:spPr>
      </p:sp>
      <p:sp>
        <p:nvSpPr>
          <p:cNvPr id="7" name="Text 4"/>
          <p:cNvSpPr txBox="1"/>
          <p:nvPr/>
        </p:nvSpPr>
        <p:spPr>
          <a:xfrm>
            <a:off x="1060704" y="2395728"/>
            <a:ext cx="2084832" cy="548640"/>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Show the menu</a:t>
            </a:r>
            <a:endParaRPr lang="en-US" sz="1350" dirty="0"/>
          </a:p>
        </p:txBody>
      </p:sp>
      <p:sp>
        <p:nvSpPr>
          <p:cNvPr id="8" name="Shape 5"/>
          <p:cNvSpPr/>
          <p:nvPr/>
        </p:nvSpPr>
        <p:spPr>
          <a:xfrm>
            <a:off x="731520" y="3127248"/>
            <a:ext cx="2743200" cy="548640"/>
          </a:xfrm>
          <a:prstGeom prst="flowChartInputOutput">
            <a:avLst/>
          </a:prstGeom>
          <a:solidFill>
            <a:srgbClr val="F0FDFA"/>
          </a:solidFill>
          <a:ln w="22225">
            <a:solidFill>
              <a:srgbClr val="14B8A6"/>
            </a:solidFill>
            <a:prstDash val="solid"/>
          </a:ln>
        </p:spPr>
      </p:sp>
      <p:sp>
        <p:nvSpPr>
          <p:cNvPr id="9" name="Text 6"/>
          <p:cNvSpPr txBox="1"/>
          <p:nvPr/>
        </p:nvSpPr>
        <p:spPr>
          <a:xfrm>
            <a:off x="1060704" y="3127248"/>
            <a:ext cx="2084832" cy="548640"/>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Ask for the choice</a:t>
            </a:r>
            <a:endParaRPr lang="en-US" sz="1350" dirty="0"/>
          </a:p>
        </p:txBody>
      </p:sp>
      <p:sp>
        <p:nvSpPr>
          <p:cNvPr id="10" name="Shape 7"/>
          <p:cNvSpPr/>
          <p:nvPr/>
        </p:nvSpPr>
        <p:spPr>
          <a:xfrm>
            <a:off x="731520" y="3858768"/>
            <a:ext cx="2743200" cy="548640"/>
          </a:xfrm>
          <a:prstGeom prst="flowChartInputOutput">
            <a:avLst/>
          </a:prstGeom>
          <a:solidFill>
            <a:srgbClr val="F0FDFA"/>
          </a:solidFill>
          <a:ln w="22225">
            <a:solidFill>
              <a:srgbClr val="14B8A6"/>
            </a:solidFill>
            <a:prstDash val="solid"/>
          </a:ln>
        </p:spPr>
      </p:sp>
      <p:sp>
        <p:nvSpPr>
          <p:cNvPr id="11" name="Text 8"/>
          <p:cNvSpPr txBox="1"/>
          <p:nvPr/>
        </p:nvSpPr>
        <p:spPr>
          <a:xfrm>
            <a:off x="1060704" y="3858768"/>
            <a:ext cx="2084832" cy="548640"/>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Ask for two numbers</a:t>
            </a:r>
            <a:endParaRPr lang="en-US" sz="1350" dirty="0"/>
          </a:p>
        </p:txBody>
      </p:sp>
      <p:sp>
        <p:nvSpPr>
          <p:cNvPr id="12" name="Shape 9"/>
          <p:cNvSpPr/>
          <p:nvPr/>
        </p:nvSpPr>
        <p:spPr>
          <a:xfrm>
            <a:off x="2103120" y="2962656"/>
            <a:ext cx="0" cy="146304"/>
          </a:xfrm>
          <a:prstGeom prst="line">
            <a:avLst/>
          </a:prstGeom>
          <a:noFill/>
          <a:ln w="31750">
            <a:solidFill>
              <a:srgbClr val="8B5CF6"/>
            </a:solidFill>
            <a:prstDash val="solid"/>
            <a:tailEnd type="triangle"/>
          </a:ln>
        </p:spPr>
      </p:sp>
      <p:sp>
        <p:nvSpPr>
          <p:cNvPr id="13" name="Shape 10"/>
          <p:cNvSpPr/>
          <p:nvPr/>
        </p:nvSpPr>
        <p:spPr>
          <a:xfrm>
            <a:off x="2103120" y="3694176"/>
            <a:ext cx="0" cy="146304"/>
          </a:xfrm>
          <a:prstGeom prst="line">
            <a:avLst/>
          </a:prstGeom>
          <a:noFill/>
          <a:ln w="31750">
            <a:solidFill>
              <a:srgbClr val="8B5CF6"/>
            </a:solidFill>
            <a:prstDash val="solid"/>
            <a:tailEnd type="triangle"/>
          </a:ln>
        </p:spPr>
      </p:sp>
      <p:sp>
        <p:nvSpPr>
          <p:cNvPr id="14" name="Shape 11"/>
          <p:cNvSpPr/>
          <p:nvPr/>
        </p:nvSpPr>
        <p:spPr>
          <a:xfrm>
            <a:off x="4023360" y="3520440"/>
            <a:ext cx="2377440" cy="1280160"/>
          </a:xfrm>
          <a:prstGeom prst="flowChartDecision">
            <a:avLst/>
          </a:prstGeom>
          <a:solidFill>
            <a:srgbClr val="FFF7ED"/>
          </a:solidFill>
          <a:ln w="22225">
            <a:solidFill>
              <a:srgbClr val="F97316"/>
            </a:solidFill>
            <a:prstDash val="solid"/>
          </a:ln>
        </p:spPr>
      </p:sp>
      <p:sp>
        <p:nvSpPr>
          <p:cNvPr id="15" name="Text 12"/>
          <p:cNvSpPr txBox="1"/>
          <p:nvPr/>
        </p:nvSpPr>
        <p:spPr>
          <a:xfrm>
            <a:off x="4498848" y="3520440"/>
            <a:ext cx="1426464" cy="128016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Which choice?</a:t>
            </a:r>
            <a:endParaRPr lang="en-US" sz="1400" dirty="0"/>
          </a:p>
        </p:txBody>
      </p:sp>
      <p:sp>
        <p:nvSpPr>
          <p:cNvPr id="16" name="Shape 13"/>
          <p:cNvSpPr/>
          <p:nvPr/>
        </p:nvSpPr>
        <p:spPr>
          <a:xfrm>
            <a:off x="3502152" y="4133088"/>
            <a:ext cx="493776" cy="27432"/>
          </a:xfrm>
          <a:prstGeom prst="line">
            <a:avLst/>
          </a:prstGeom>
          <a:noFill/>
          <a:ln w="31750">
            <a:solidFill>
              <a:srgbClr val="8B5CF6"/>
            </a:solidFill>
            <a:prstDash val="solid"/>
            <a:tailEnd type="triangle"/>
          </a:ln>
        </p:spPr>
      </p:sp>
      <p:sp>
        <p:nvSpPr>
          <p:cNvPr id="17" name="Shape 14"/>
          <p:cNvSpPr/>
          <p:nvPr/>
        </p:nvSpPr>
        <p:spPr>
          <a:xfrm>
            <a:off x="7498080" y="2395728"/>
            <a:ext cx="3931920" cy="530352"/>
          </a:xfrm>
          <a:prstGeom prst="flowChartProcess">
            <a:avLst/>
          </a:prstGeom>
          <a:solidFill>
            <a:srgbClr val="F5F3FF"/>
          </a:solidFill>
          <a:ln w="22225">
            <a:solidFill>
              <a:srgbClr val="8B5CF6"/>
            </a:solidFill>
            <a:prstDash val="solid"/>
          </a:ln>
        </p:spPr>
      </p:sp>
      <p:sp>
        <p:nvSpPr>
          <p:cNvPr id="18" name="Text 15"/>
          <p:cNvSpPr txBox="1"/>
          <p:nvPr/>
        </p:nvSpPr>
        <p:spPr>
          <a:xfrm>
            <a:off x="7571232" y="2395728"/>
            <a:ext cx="3785616" cy="530352"/>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1   add()</a:t>
            </a:r>
            <a:endParaRPr lang="en-US" sz="1350" dirty="0"/>
          </a:p>
        </p:txBody>
      </p:sp>
      <p:sp>
        <p:nvSpPr>
          <p:cNvPr id="19" name="Shape 16"/>
          <p:cNvSpPr/>
          <p:nvPr/>
        </p:nvSpPr>
        <p:spPr>
          <a:xfrm flipV="1">
            <a:off x="6428232" y="2660904"/>
            <a:ext cx="1042416" cy="1499616"/>
          </a:xfrm>
          <a:prstGeom prst="line">
            <a:avLst/>
          </a:prstGeom>
          <a:noFill/>
          <a:ln w="31750">
            <a:solidFill>
              <a:srgbClr val="8B5CF6"/>
            </a:solidFill>
            <a:prstDash val="solid"/>
            <a:tailEnd type="triangle"/>
          </a:ln>
        </p:spPr>
      </p:sp>
      <p:sp>
        <p:nvSpPr>
          <p:cNvPr id="20" name="Shape 17"/>
          <p:cNvSpPr/>
          <p:nvPr/>
        </p:nvSpPr>
        <p:spPr>
          <a:xfrm>
            <a:off x="7498080" y="3035808"/>
            <a:ext cx="3931920" cy="530352"/>
          </a:xfrm>
          <a:prstGeom prst="flowChartProcess">
            <a:avLst/>
          </a:prstGeom>
          <a:solidFill>
            <a:srgbClr val="F5F3FF"/>
          </a:solidFill>
          <a:ln w="22225">
            <a:solidFill>
              <a:srgbClr val="8B5CF6"/>
            </a:solidFill>
            <a:prstDash val="solid"/>
          </a:ln>
        </p:spPr>
      </p:sp>
      <p:sp>
        <p:nvSpPr>
          <p:cNvPr id="21" name="Text 18"/>
          <p:cNvSpPr txBox="1"/>
          <p:nvPr/>
        </p:nvSpPr>
        <p:spPr>
          <a:xfrm>
            <a:off x="7571232" y="3035808"/>
            <a:ext cx="3785616" cy="530352"/>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2   subtract()</a:t>
            </a:r>
            <a:endParaRPr lang="en-US" sz="1350" dirty="0"/>
          </a:p>
        </p:txBody>
      </p:sp>
      <p:sp>
        <p:nvSpPr>
          <p:cNvPr id="22" name="Shape 19"/>
          <p:cNvSpPr/>
          <p:nvPr/>
        </p:nvSpPr>
        <p:spPr>
          <a:xfrm flipV="1">
            <a:off x="6428232" y="3300984"/>
            <a:ext cx="1042416" cy="859536"/>
          </a:xfrm>
          <a:prstGeom prst="line">
            <a:avLst/>
          </a:prstGeom>
          <a:noFill/>
          <a:ln w="31750">
            <a:solidFill>
              <a:srgbClr val="8B5CF6"/>
            </a:solidFill>
            <a:prstDash val="solid"/>
            <a:tailEnd type="triangle"/>
          </a:ln>
        </p:spPr>
      </p:sp>
      <p:sp>
        <p:nvSpPr>
          <p:cNvPr id="23" name="Shape 20"/>
          <p:cNvSpPr/>
          <p:nvPr/>
        </p:nvSpPr>
        <p:spPr>
          <a:xfrm>
            <a:off x="7498080" y="3675888"/>
            <a:ext cx="3931920" cy="530352"/>
          </a:xfrm>
          <a:prstGeom prst="flowChartProcess">
            <a:avLst/>
          </a:prstGeom>
          <a:solidFill>
            <a:srgbClr val="F5F3FF"/>
          </a:solidFill>
          <a:ln w="22225">
            <a:solidFill>
              <a:srgbClr val="8B5CF6"/>
            </a:solidFill>
            <a:prstDash val="solid"/>
          </a:ln>
        </p:spPr>
      </p:sp>
      <p:sp>
        <p:nvSpPr>
          <p:cNvPr id="24" name="Text 21"/>
          <p:cNvSpPr txBox="1"/>
          <p:nvPr/>
        </p:nvSpPr>
        <p:spPr>
          <a:xfrm>
            <a:off x="7571232" y="3675888"/>
            <a:ext cx="3785616" cy="530352"/>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3   multiply()</a:t>
            </a:r>
            <a:endParaRPr lang="en-US" sz="1350" dirty="0"/>
          </a:p>
        </p:txBody>
      </p:sp>
      <p:sp>
        <p:nvSpPr>
          <p:cNvPr id="25" name="Shape 22"/>
          <p:cNvSpPr/>
          <p:nvPr/>
        </p:nvSpPr>
        <p:spPr>
          <a:xfrm flipV="1">
            <a:off x="6428232" y="3941064"/>
            <a:ext cx="1042416" cy="219456"/>
          </a:xfrm>
          <a:prstGeom prst="line">
            <a:avLst/>
          </a:prstGeom>
          <a:noFill/>
          <a:ln w="31750">
            <a:solidFill>
              <a:srgbClr val="8B5CF6"/>
            </a:solidFill>
            <a:prstDash val="solid"/>
            <a:tailEnd type="triangle"/>
          </a:ln>
        </p:spPr>
      </p:sp>
      <p:sp>
        <p:nvSpPr>
          <p:cNvPr id="26" name="Shape 23"/>
          <p:cNvSpPr/>
          <p:nvPr/>
        </p:nvSpPr>
        <p:spPr>
          <a:xfrm>
            <a:off x="7498080" y="4315968"/>
            <a:ext cx="3931920" cy="530352"/>
          </a:xfrm>
          <a:prstGeom prst="flowChartProcess">
            <a:avLst/>
          </a:prstGeom>
          <a:solidFill>
            <a:srgbClr val="FFF7ED"/>
          </a:solidFill>
          <a:ln w="22225">
            <a:solidFill>
              <a:srgbClr val="F97316"/>
            </a:solidFill>
            <a:prstDash val="solid"/>
          </a:ln>
        </p:spPr>
      </p:sp>
      <p:sp>
        <p:nvSpPr>
          <p:cNvPr id="27" name="Text 24"/>
          <p:cNvSpPr txBox="1"/>
          <p:nvPr/>
        </p:nvSpPr>
        <p:spPr>
          <a:xfrm>
            <a:off x="7571232" y="4315968"/>
            <a:ext cx="3785616" cy="530352"/>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4   divide() checks for zero first</a:t>
            </a:r>
            <a:endParaRPr lang="en-US" sz="1350" dirty="0"/>
          </a:p>
        </p:txBody>
      </p:sp>
      <p:sp>
        <p:nvSpPr>
          <p:cNvPr id="28" name="Shape 25"/>
          <p:cNvSpPr/>
          <p:nvPr/>
        </p:nvSpPr>
        <p:spPr>
          <a:xfrm>
            <a:off x="6428232" y="4160520"/>
            <a:ext cx="1042416" cy="420624"/>
          </a:xfrm>
          <a:prstGeom prst="line">
            <a:avLst/>
          </a:prstGeom>
          <a:noFill/>
          <a:ln w="31750">
            <a:solidFill>
              <a:srgbClr val="8B5CF6"/>
            </a:solidFill>
            <a:prstDash val="solid"/>
            <a:tailEnd type="triangle"/>
          </a:ln>
        </p:spPr>
      </p:sp>
      <p:sp>
        <p:nvSpPr>
          <p:cNvPr id="29" name="Shape 26"/>
          <p:cNvSpPr/>
          <p:nvPr/>
        </p:nvSpPr>
        <p:spPr>
          <a:xfrm>
            <a:off x="731520" y="4937760"/>
            <a:ext cx="10698480" cy="502920"/>
          </a:xfrm>
          <a:prstGeom prst="roundRect">
            <a:avLst>
              <a:gd name="adj" fmla="val 18182"/>
            </a:avLst>
          </a:prstGeom>
          <a:solidFill>
            <a:srgbClr val="F0FDF4"/>
          </a:solidFill>
          <a:ln w="19050">
            <a:solidFill>
              <a:srgbClr val="10B981"/>
            </a:solidFill>
            <a:prstDash val="solid"/>
          </a:ln>
        </p:spPr>
      </p:sp>
      <p:sp>
        <p:nvSpPr>
          <p:cNvPr id="30" name="Text 27"/>
          <p:cNvSpPr txBox="1"/>
          <p:nvPr/>
        </p:nvSpPr>
        <p:spPr>
          <a:xfrm>
            <a:off x="804672" y="5047488"/>
            <a:ext cx="10552176" cy="301752"/>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Every branch returns a result, and the program shows it. Any other choice shows Invalid choice.</a:t>
            </a:r>
            <a:endParaRPr lang="en-US" sz="1350" dirty="0"/>
          </a:p>
        </p:txBody>
      </p:sp>
      <p:sp>
        <p:nvSpPr>
          <p:cNvPr id="31" name="Shape 28"/>
          <p:cNvSpPr/>
          <p:nvPr/>
        </p:nvSpPr>
        <p:spPr>
          <a:xfrm>
            <a:off x="731520" y="5559552"/>
            <a:ext cx="10698480" cy="0"/>
          </a:xfrm>
          <a:prstGeom prst="line">
            <a:avLst/>
          </a:prstGeom>
          <a:noFill/>
          <a:ln w="12700">
            <a:solidFill>
              <a:srgbClr val="E2E8F0"/>
            </a:solidFill>
            <a:prstDash val="solid"/>
          </a:ln>
        </p:spPr>
      </p:sp>
      <p:sp>
        <p:nvSpPr>
          <p:cNvPr id="32" name="Shape 29"/>
          <p:cNvSpPr/>
          <p:nvPr/>
        </p:nvSpPr>
        <p:spPr>
          <a:xfrm>
            <a:off x="777240" y="5650992"/>
            <a:ext cx="475488" cy="475488"/>
          </a:xfrm>
          <a:prstGeom prst="ellipse">
            <a:avLst/>
          </a:prstGeom>
          <a:solidFill>
            <a:srgbClr val="FCE7F3"/>
          </a:solidFill>
          <a:ln w="19050">
            <a:solidFill>
              <a:srgbClr val="EC4899"/>
            </a:solidFill>
            <a:prstDash val="solid"/>
          </a:ln>
        </p:spPr>
      </p:sp>
      <p:pic>
        <p:nvPicPr>
          <p:cNvPr id="33"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34" name="Shape 30"/>
          <p:cNvSpPr/>
          <p:nvPr/>
        </p:nvSpPr>
        <p:spPr>
          <a:xfrm rot="2700000">
            <a:off x="1508760" y="5801868"/>
            <a:ext cx="182880" cy="182880"/>
          </a:xfrm>
          <a:prstGeom prst="rect">
            <a:avLst/>
          </a:prstGeom>
          <a:solidFill>
            <a:srgbClr val="FDF2F8"/>
          </a:solidFill>
          <a:ln w="15875">
            <a:solidFill>
              <a:srgbClr val="EC4899"/>
            </a:solidFill>
            <a:prstDash val="solid"/>
          </a:ln>
        </p:spPr>
      </p:sp>
      <p:sp>
        <p:nvSpPr>
          <p:cNvPr id="35" name="Shape 31"/>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6" name="Text 32"/>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Each operation is its own small function. The menu only decides which one to call.</a:t>
            </a:r>
            <a:endParaRPr lang="en-US" sz="1400" dirty="0"/>
          </a:p>
        </p:txBody>
      </p:sp>
      <p:sp>
        <p:nvSpPr>
          <p:cNvPr id="37" name="Text 33"/>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38" name="Text 34"/>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WHERE IT IS USED</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Functions Are the Building Blocks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731520" y="2359152"/>
            <a:ext cx="5120640" cy="320040"/>
          </a:xfrm>
          <a:prstGeom prst="rect">
            <a:avLst/>
          </a:prstGeom>
          <a:noFill/>
          <a:ln/>
        </p:spPr>
        <p:txBody>
          <a:bodyPr wrap="square" rtlCol="0" anchor="ctr"/>
          <a:lstStyle/>
          <a:p>
            <a:pPr indent="0" marL="0">
              <a:buNone/>
            </a:pPr>
            <a:r>
              <a:rPr lang="en-US" sz="1400" b="1" spc="100" kern="0" dirty="0">
                <a:solidFill>
                  <a:srgbClr val="14B8A6"/>
                </a:solidFill>
                <a:latin typeface="Calibri" pitchFamily="34" charset="0"/>
                <a:ea typeface="Calibri" pitchFamily="34" charset="-122"/>
                <a:cs typeface="Calibri" pitchFamily="34" charset="-120"/>
              </a:rPr>
              <a:t>Industries</a:t>
            </a:r>
            <a:endParaRPr lang="en-US" sz="1400" dirty="0"/>
          </a:p>
        </p:txBody>
      </p:sp>
      <p:sp>
        <p:nvSpPr>
          <p:cNvPr id="7" name="Shape 4"/>
          <p:cNvSpPr/>
          <p:nvPr/>
        </p:nvSpPr>
        <p:spPr>
          <a:xfrm>
            <a:off x="731520" y="2743200"/>
            <a:ext cx="5212080" cy="749808"/>
          </a:xfrm>
          <a:prstGeom prst="roundRect">
            <a:avLst>
              <a:gd name="adj" fmla="val 9756"/>
            </a:avLst>
          </a:prstGeom>
          <a:solidFill>
            <a:srgbClr val="FFFFFF"/>
          </a:solidFill>
          <a:ln w="15875">
            <a:solidFill>
              <a:srgbClr val="14B8A6"/>
            </a:solidFill>
            <a:prstDash val="solid"/>
          </a:ln>
        </p:spPr>
      </p:sp>
      <p:pic>
        <p:nvPicPr>
          <p:cNvPr id="8" name="Image 1" descr="assets/icon2_bank_navy.png">    </p:cNvPr>
          <p:cNvPicPr>
            <a:picLocks noChangeAspect="1"/>
          </p:cNvPicPr>
          <p:nvPr/>
        </p:nvPicPr>
        <p:blipFill>
          <a:blip r:embed="rId2"/>
          <a:stretch>
            <a:fillRect/>
          </a:stretch>
        </p:blipFill>
        <p:spPr>
          <a:xfrm>
            <a:off x="896112" y="2916936"/>
            <a:ext cx="402336" cy="402336"/>
          </a:xfrm>
          <a:prstGeom prst="rect">
            <a:avLst/>
          </a:prstGeom>
        </p:spPr>
      </p:pic>
      <p:sp>
        <p:nvSpPr>
          <p:cNvPr id="9" name="Text 5"/>
          <p:cNvSpPr txBox="1"/>
          <p:nvPr/>
        </p:nvSpPr>
        <p:spPr>
          <a:xfrm>
            <a:off x="1463040" y="274320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Banking</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interest and EMI calculations reused everywhere</a:t>
            </a:r>
            <a:endParaRPr lang="en-US" sz="1500" dirty="0"/>
          </a:p>
        </p:txBody>
      </p:sp>
      <p:sp>
        <p:nvSpPr>
          <p:cNvPr id="10" name="Shape 6"/>
          <p:cNvSpPr/>
          <p:nvPr/>
        </p:nvSpPr>
        <p:spPr>
          <a:xfrm>
            <a:off x="731520" y="3611880"/>
            <a:ext cx="5212080" cy="749808"/>
          </a:xfrm>
          <a:prstGeom prst="roundRect">
            <a:avLst>
              <a:gd name="adj" fmla="val 9756"/>
            </a:avLst>
          </a:prstGeom>
          <a:solidFill>
            <a:srgbClr val="FFFFFF"/>
          </a:solidFill>
          <a:ln w="15875">
            <a:solidFill>
              <a:srgbClr val="14B8A6"/>
            </a:solidFill>
            <a:prstDash val="solid"/>
          </a:ln>
        </p:spPr>
      </p:sp>
      <p:pic>
        <p:nvPicPr>
          <p:cNvPr id="11" name="Image 2" descr="assets/icon2_cart_orange.png">    </p:cNvPr>
          <p:cNvPicPr>
            <a:picLocks noChangeAspect="1"/>
          </p:cNvPicPr>
          <p:nvPr/>
        </p:nvPicPr>
        <p:blipFill>
          <a:blip r:embed="rId3"/>
          <a:stretch>
            <a:fillRect/>
          </a:stretch>
        </p:blipFill>
        <p:spPr>
          <a:xfrm>
            <a:off x="896112" y="3785616"/>
            <a:ext cx="402336" cy="402336"/>
          </a:xfrm>
          <a:prstGeom prst="rect">
            <a:avLst/>
          </a:prstGeom>
        </p:spPr>
      </p:pic>
      <p:sp>
        <p:nvSpPr>
          <p:cNvPr id="12" name="Text 7"/>
          <p:cNvSpPr txBox="1"/>
          <p:nvPr/>
        </p:nvSpPr>
        <p:spPr>
          <a:xfrm>
            <a:off x="1463040" y="361188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Online Shopping</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total, discount and delivery charge rules</a:t>
            </a:r>
            <a:endParaRPr lang="en-US" sz="1500" dirty="0"/>
          </a:p>
        </p:txBody>
      </p:sp>
      <p:sp>
        <p:nvSpPr>
          <p:cNvPr id="13" name="Shape 8"/>
          <p:cNvSpPr/>
          <p:nvPr/>
        </p:nvSpPr>
        <p:spPr>
          <a:xfrm>
            <a:off x="731520" y="4480560"/>
            <a:ext cx="5212080" cy="749808"/>
          </a:xfrm>
          <a:prstGeom prst="roundRect">
            <a:avLst>
              <a:gd name="adj" fmla="val 9756"/>
            </a:avLst>
          </a:prstGeom>
          <a:solidFill>
            <a:srgbClr val="FFFFFF"/>
          </a:solidFill>
          <a:ln w="15875">
            <a:solidFill>
              <a:srgbClr val="14B8A6"/>
            </a:solidFill>
            <a:prstDash val="solid"/>
          </a:ln>
        </p:spPr>
      </p:sp>
      <p:pic>
        <p:nvPicPr>
          <p:cNvPr id="14" name="Image 3" descr="assets/icon2_users_pink.png">    </p:cNvPr>
          <p:cNvPicPr>
            <a:picLocks noChangeAspect="1"/>
          </p:cNvPicPr>
          <p:nvPr/>
        </p:nvPicPr>
        <p:blipFill>
          <a:blip r:embed="rId4"/>
          <a:stretch>
            <a:fillRect/>
          </a:stretch>
        </p:blipFill>
        <p:spPr>
          <a:xfrm>
            <a:off x="896112" y="4654296"/>
            <a:ext cx="402336" cy="402336"/>
          </a:xfrm>
          <a:prstGeom prst="rect">
            <a:avLst/>
          </a:prstGeom>
        </p:spPr>
      </p:pic>
      <p:sp>
        <p:nvSpPr>
          <p:cNvPr id="15" name="Text 9"/>
          <p:cNvSpPr txBox="1"/>
          <p:nvPr/>
        </p:nvSpPr>
        <p:spPr>
          <a:xfrm>
            <a:off x="1463040" y="448056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Human Resources</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salary, tax and leave calculations</a:t>
            </a:r>
            <a:endParaRPr lang="en-US" sz="1500" dirty="0"/>
          </a:p>
        </p:txBody>
      </p:sp>
      <p:sp>
        <p:nvSpPr>
          <p:cNvPr id="16" name="Shape 10"/>
          <p:cNvSpPr/>
          <p:nvPr/>
        </p:nvSpPr>
        <p:spPr>
          <a:xfrm>
            <a:off x="731520" y="5349240"/>
            <a:ext cx="5212080" cy="749808"/>
          </a:xfrm>
          <a:prstGeom prst="roundRect">
            <a:avLst>
              <a:gd name="adj" fmla="val 9756"/>
            </a:avLst>
          </a:prstGeom>
          <a:solidFill>
            <a:srgbClr val="FFFFFF"/>
          </a:solidFill>
          <a:ln w="15875">
            <a:solidFill>
              <a:srgbClr val="14B8A6"/>
            </a:solidFill>
            <a:prstDash val="solid"/>
          </a:ln>
        </p:spPr>
      </p:sp>
      <p:pic>
        <p:nvPicPr>
          <p:cNvPr id="17" name="Image 4" descr="assets/icon2_hospital_pink.png">    </p:cNvPr>
          <p:cNvPicPr>
            <a:picLocks noChangeAspect="1"/>
          </p:cNvPicPr>
          <p:nvPr/>
        </p:nvPicPr>
        <p:blipFill>
          <a:blip r:embed="rId5"/>
          <a:stretch>
            <a:fillRect/>
          </a:stretch>
        </p:blipFill>
        <p:spPr>
          <a:xfrm>
            <a:off x="896112" y="5522976"/>
            <a:ext cx="402336" cy="402336"/>
          </a:xfrm>
          <a:prstGeom prst="rect">
            <a:avLst/>
          </a:prstGeom>
        </p:spPr>
      </p:pic>
      <p:sp>
        <p:nvSpPr>
          <p:cNvPr id="18" name="Text 11"/>
          <p:cNvSpPr txBox="1"/>
          <p:nvPr/>
        </p:nvSpPr>
        <p:spPr>
          <a:xfrm>
            <a:off x="1463040" y="534924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Healthcare</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billing and report calculations</a:t>
            </a:r>
            <a:endParaRPr lang="en-US" sz="1500" dirty="0"/>
          </a:p>
        </p:txBody>
      </p:sp>
      <p:sp>
        <p:nvSpPr>
          <p:cNvPr id="19" name="Text 12"/>
          <p:cNvSpPr txBox="1"/>
          <p:nvPr/>
        </p:nvSpPr>
        <p:spPr>
          <a:xfrm>
            <a:off x="6217920" y="2359152"/>
            <a:ext cx="5120640" cy="320040"/>
          </a:xfrm>
          <a:prstGeom prst="rect">
            <a:avLst/>
          </a:prstGeom>
          <a:noFill/>
          <a:ln/>
        </p:spPr>
        <p:txBody>
          <a:bodyPr wrap="square" rtlCol="0" anchor="ctr"/>
          <a:lstStyle/>
          <a:p>
            <a:pPr indent="0" marL="0">
              <a:buNone/>
            </a:pPr>
            <a:r>
              <a:rPr lang="en-US" sz="1400" b="1" spc="100" kern="0" dirty="0">
                <a:solidFill>
                  <a:srgbClr val="8B5CF6"/>
                </a:solidFill>
                <a:latin typeface="Calibri" pitchFamily="34" charset="0"/>
                <a:ea typeface="Calibri" pitchFamily="34" charset="-122"/>
                <a:cs typeface="Calibri" pitchFamily="34" charset="-120"/>
              </a:rPr>
              <a:t>Real time projects</a:t>
            </a:r>
            <a:endParaRPr lang="en-US" sz="1400" dirty="0"/>
          </a:p>
        </p:txBody>
      </p:sp>
      <p:sp>
        <p:nvSpPr>
          <p:cNvPr id="20" name="Shape 13"/>
          <p:cNvSpPr/>
          <p:nvPr/>
        </p:nvSpPr>
        <p:spPr>
          <a:xfrm>
            <a:off x="6217920" y="2743200"/>
            <a:ext cx="5212080" cy="749808"/>
          </a:xfrm>
          <a:prstGeom prst="roundRect">
            <a:avLst>
              <a:gd name="adj" fmla="val 9756"/>
            </a:avLst>
          </a:prstGeom>
          <a:solidFill>
            <a:srgbClr val="FFFFFF"/>
          </a:solidFill>
          <a:ln w="15875">
            <a:solidFill>
              <a:srgbClr val="8B5CF6"/>
            </a:solidFill>
            <a:prstDash val="solid"/>
          </a:ln>
        </p:spPr>
      </p:sp>
      <p:pic>
        <p:nvPicPr>
          <p:cNvPr id="21" name="Image 5" descr="assets/icon2_banknote_green.png">    </p:cNvPr>
          <p:cNvPicPr>
            <a:picLocks noChangeAspect="1"/>
          </p:cNvPicPr>
          <p:nvPr/>
        </p:nvPicPr>
        <p:blipFill>
          <a:blip r:embed="rId6"/>
          <a:stretch>
            <a:fillRect/>
          </a:stretch>
        </p:blipFill>
        <p:spPr>
          <a:xfrm>
            <a:off x="6382512" y="2916936"/>
            <a:ext cx="402336" cy="402336"/>
          </a:xfrm>
          <a:prstGeom prst="rect">
            <a:avLst/>
          </a:prstGeom>
        </p:spPr>
      </p:pic>
      <p:sp>
        <p:nvSpPr>
          <p:cNvPr id="22" name="Text 14"/>
          <p:cNvSpPr txBox="1"/>
          <p:nvPr/>
        </p:nvSpPr>
        <p:spPr>
          <a:xfrm>
            <a:off x="6949440" y="274320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Billing System</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total, discount and final bill as functions</a:t>
            </a:r>
            <a:endParaRPr lang="en-US" sz="1500" dirty="0"/>
          </a:p>
        </p:txBody>
      </p:sp>
      <p:sp>
        <p:nvSpPr>
          <p:cNvPr id="23" name="Shape 15"/>
          <p:cNvSpPr/>
          <p:nvPr/>
        </p:nvSpPr>
        <p:spPr>
          <a:xfrm>
            <a:off x="6217920" y="3611880"/>
            <a:ext cx="5212080" cy="749808"/>
          </a:xfrm>
          <a:prstGeom prst="roundRect">
            <a:avLst>
              <a:gd name="adj" fmla="val 9756"/>
            </a:avLst>
          </a:prstGeom>
          <a:solidFill>
            <a:srgbClr val="FFFFFF"/>
          </a:solidFill>
          <a:ln w="15875">
            <a:solidFill>
              <a:srgbClr val="8B5CF6"/>
            </a:solidFill>
            <a:prstDash val="solid"/>
          </a:ln>
        </p:spPr>
      </p:sp>
      <p:pic>
        <p:nvPicPr>
          <p:cNvPr id="24" name="Image 6" descr="assets/icon2_calc_navy.png">    </p:cNvPr>
          <p:cNvPicPr>
            <a:picLocks noChangeAspect="1"/>
          </p:cNvPicPr>
          <p:nvPr/>
        </p:nvPicPr>
        <p:blipFill>
          <a:blip r:embed="rId7"/>
          <a:stretch>
            <a:fillRect/>
          </a:stretch>
        </p:blipFill>
        <p:spPr>
          <a:xfrm>
            <a:off x="6382512" y="3785616"/>
            <a:ext cx="402336" cy="402336"/>
          </a:xfrm>
          <a:prstGeom prst="rect">
            <a:avLst/>
          </a:prstGeom>
        </p:spPr>
      </p:pic>
      <p:sp>
        <p:nvSpPr>
          <p:cNvPr id="25" name="Text 16"/>
          <p:cNvSpPr txBox="1"/>
          <p:nvPr/>
        </p:nvSpPr>
        <p:spPr>
          <a:xfrm>
            <a:off x="6949440" y="361188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Calculator App</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one function for each operation</a:t>
            </a:r>
            <a:endParaRPr lang="en-US" sz="1500" dirty="0"/>
          </a:p>
        </p:txBody>
      </p:sp>
      <p:sp>
        <p:nvSpPr>
          <p:cNvPr id="26" name="Shape 17"/>
          <p:cNvSpPr/>
          <p:nvPr/>
        </p:nvSpPr>
        <p:spPr>
          <a:xfrm>
            <a:off x="6217920" y="4480560"/>
            <a:ext cx="5212080" cy="749808"/>
          </a:xfrm>
          <a:prstGeom prst="roundRect">
            <a:avLst>
              <a:gd name="adj" fmla="val 9756"/>
            </a:avLst>
          </a:prstGeom>
          <a:solidFill>
            <a:srgbClr val="FFFFFF"/>
          </a:solidFill>
          <a:ln w="15875">
            <a:solidFill>
              <a:srgbClr val="8B5CF6"/>
            </a:solidFill>
            <a:prstDash val="solid"/>
          </a:ln>
        </p:spPr>
      </p:sp>
      <p:pic>
        <p:nvPicPr>
          <p:cNvPr id="27" name="Image 7" descr="assets/icon2_tag_purple.png">    </p:cNvPr>
          <p:cNvPicPr>
            <a:picLocks noChangeAspect="1"/>
          </p:cNvPicPr>
          <p:nvPr/>
        </p:nvPicPr>
        <p:blipFill>
          <a:blip r:embed="rId8"/>
          <a:stretch>
            <a:fillRect/>
          </a:stretch>
        </p:blipFill>
        <p:spPr>
          <a:xfrm>
            <a:off x="6382512" y="4654296"/>
            <a:ext cx="402336" cy="402336"/>
          </a:xfrm>
          <a:prstGeom prst="rect">
            <a:avLst/>
          </a:prstGeom>
        </p:spPr>
      </p:pic>
      <p:sp>
        <p:nvSpPr>
          <p:cNvPr id="28" name="Text 18"/>
          <p:cNvSpPr txBox="1"/>
          <p:nvPr/>
        </p:nvSpPr>
        <p:spPr>
          <a:xfrm>
            <a:off x="6949440" y="448056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Discount and Tax Engine</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rules written once, used by every order</a:t>
            </a:r>
            <a:endParaRPr lang="en-US" sz="1500" dirty="0"/>
          </a:p>
        </p:txBody>
      </p:sp>
      <p:sp>
        <p:nvSpPr>
          <p:cNvPr id="29" name="Shape 19"/>
          <p:cNvSpPr/>
          <p:nvPr/>
        </p:nvSpPr>
        <p:spPr>
          <a:xfrm>
            <a:off x="6217920" y="5349240"/>
            <a:ext cx="5212080" cy="749808"/>
          </a:xfrm>
          <a:prstGeom prst="roundRect">
            <a:avLst>
              <a:gd name="adj" fmla="val 9756"/>
            </a:avLst>
          </a:prstGeom>
          <a:solidFill>
            <a:srgbClr val="FFFFFF"/>
          </a:solidFill>
          <a:ln w="15875">
            <a:solidFill>
              <a:srgbClr val="8B5CF6"/>
            </a:solidFill>
            <a:prstDash val="solid"/>
          </a:ln>
        </p:spPr>
      </p:sp>
      <p:pic>
        <p:nvPicPr>
          <p:cNvPr id="30" name="Image 8" descr="assets/icon2_idcard_purple.png">    </p:cNvPr>
          <p:cNvPicPr>
            <a:picLocks noChangeAspect="1"/>
          </p:cNvPicPr>
          <p:nvPr/>
        </p:nvPicPr>
        <p:blipFill>
          <a:blip r:embed="rId9"/>
          <a:stretch>
            <a:fillRect/>
          </a:stretch>
        </p:blipFill>
        <p:spPr>
          <a:xfrm>
            <a:off x="6382512" y="5522976"/>
            <a:ext cx="402336" cy="402336"/>
          </a:xfrm>
          <a:prstGeom prst="rect">
            <a:avLst/>
          </a:prstGeom>
        </p:spPr>
      </p:pic>
      <p:sp>
        <p:nvSpPr>
          <p:cNvPr id="31" name="Text 20"/>
          <p:cNvSpPr txBox="1"/>
          <p:nvPr/>
        </p:nvSpPr>
        <p:spPr>
          <a:xfrm>
            <a:off x="6949440" y="534924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Employee Payroll Tool</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salary functions called for every employee</a:t>
            </a:r>
            <a:endParaRPr lang="en-US" sz="1500" dirty="0"/>
          </a:p>
        </p:txBody>
      </p:sp>
      <p:sp>
        <p:nvSpPr>
          <p:cNvPr id="32" name="Text 21"/>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33" name="Text 22"/>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PRACTICE TIME</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Ravi's Practice Challenges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685800" y="2395728"/>
            <a:ext cx="2560320" cy="3749040"/>
          </a:xfrm>
          <a:prstGeom prst="roundRect">
            <a:avLst>
              <a:gd name="adj" fmla="val 3571"/>
            </a:avLst>
          </a:prstGeom>
          <a:solidFill>
            <a:srgbClr val="FFFFFF"/>
          </a:solidFill>
          <a:ln w="19050">
            <a:solidFill>
              <a:srgbClr val="8B5CF6"/>
            </a:solidFill>
            <a:prstDash val="solid"/>
          </a:ln>
        </p:spPr>
      </p:sp>
      <p:sp>
        <p:nvSpPr>
          <p:cNvPr id="7" name="Shape 4"/>
          <p:cNvSpPr/>
          <p:nvPr/>
        </p:nvSpPr>
        <p:spPr>
          <a:xfrm>
            <a:off x="868680" y="2560320"/>
            <a:ext cx="457200" cy="457200"/>
          </a:xfrm>
          <a:prstGeom prst="ellipse">
            <a:avLst/>
          </a:prstGeom>
          <a:solidFill>
            <a:srgbClr val="8B5CF6"/>
          </a:solidFill>
          <a:ln w="12700">
            <a:solidFill>
              <a:srgbClr val="FFFFFF"/>
            </a:solidFill>
            <a:prstDash val="solid"/>
          </a:ln>
        </p:spPr>
      </p:sp>
      <p:sp>
        <p:nvSpPr>
          <p:cNvPr id="8" name="Text 5"/>
          <p:cNvSpPr txBox="1"/>
          <p:nvPr/>
        </p:nvSpPr>
        <p:spPr>
          <a:xfrm>
            <a:off x="8686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4630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Rectangle Area</a:t>
            </a:r>
            <a:endParaRPr lang="en-US" sz="1600" dirty="0"/>
          </a:p>
        </p:txBody>
      </p:sp>
      <p:sp>
        <p:nvSpPr>
          <p:cNvPr id="10" name="Text 7"/>
          <p:cNvSpPr txBox="1"/>
          <p:nvPr/>
        </p:nvSpPr>
        <p:spPr>
          <a:xfrm>
            <a:off x="9144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Write a function that takes length and width and returns the area.</a:t>
            </a:r>
            <a:endParaRPr lang="en-US" sz="1350" dirty="0"/>
          </a:p>
        </p:txBody>
      </p:sp>
      <p:sp>
        <p:nvSpPr>
          <p:cNvPr id="11" name="Text 8"/>
          <p:cNvSpPr txBox="1"/>
          <p:nvPr/>
        </p:nvSpPr>
        <p:spPr>
          <a:xfrm>
            <a:off x="9144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12" name="Shape 9"/>
          <p:cNvSpPr/>
          <p:nvPr/>
        </p:nvSpPr>
        <p:spPr>
          <a:xfrm>
            <a:off x="914400" y="4453128"/>
            <a:ext cx="2103120" cy="411480"/>
          </a:xfrm>
          <a:prstGeom prst="roundRect">
            <a:avLst>
              <a:gd name="adj" fmla="val 13333"/>
            </a:avLst>
          </a:prstGeom>
          <a:solidFill>
            <a:srgbClr val="F1F5F9"/>
          </a:solidFill>
          <a:ln w="12700">
            <a:solidFill>
              <a:srgbClr val="CBD5E1"/>
            </a:solidFill>
            <a:prstDash val="solid"/>
          </a:ln>
        </p:spPr>
      </p:sp>
      <p:sp>
        <p:nvSpPr>
          <p:cNvPr id="13" name="Text 10"/>
          <p:cNvSpPr txBox="1"/>
          <p:nvPr/>
        </p:nvSpPr>
        <p:spPr>
          <a:xfrm>
            <a:off x="9144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5 and 3</a:t>
            </a:r>
            <a:endParaRPr lang="en-US" sz="1300" dirty="0"/>
          </a:p>
        </p:txBody>
      </p:sp>
      <p:sp>
        <p:nvSpPr>
          <p:cNvPr id="14" name="Text 11"/>
          <p:cNvSpPr txBox="1"/>
          <p:nvPr/>
        </p:nvSpPr>
        <p:spPr>
          <a:xfrm>
            <a:off x="9144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15" name="Shape 12"/>
          <p:cNvSpPr/>
          <p:nvPr/>
        </p:nvSpPr>
        <p:spPr>
          <a:xfrm>
            <a:off x="914400" y="5230368"/>
            <a:ext cx="2103120" cy="640080"/>
          </a:xfrm>
          <a:prstGeom prst="roundRect">
            <a:avLst>
              <a:gd name="adj" fmla="val 8571"/>
            </a:avLst>
          </a:prstGeom>
          <a:solidFill>
            <a:srgbClr val="FFEDD5"/>
          </a:solidFill>
          <a:ln w="25400">
            <a:solidFill>
              <a:srgbClr val="F97316"/>
            </a:solidFill>
            <a:prstDash val="solid"/>
          </a:ln>
        </p:spPr>
      </p:sp>
      <p:sp>
        <p:nvSpPr>
          <p:cNvPr id="16" name="Text 13"/>
          <p:cNvSpPr txBox="1"/>
          <p:nvPr/>
        </p:nvSpPr>
        <p:spPr>
          <a:xfrm>
            <a:off x="914400" y="5230368"/>
            <a:ext cx="2103120" cy="64008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15</a:t>
            </a:r>
            <a:endParaRPr lang="en-US" sz="1300" dirty="0"/>
          </a:p>
        </p:txBody>
      </p:sp>
      <p:sp>
        <p:nvSpPr>
          <p:cNvPr id="17" name="Shape 14"/>
          <p:cNvSpPr/>
          <p:nvPr/>
        </p:nvSpPr>
        <p:spPr>
          <a:xfrm>
            <a:off x="3429000" y="2395728"/>
            <a:ext cx="2560320" cy="3749040"/>
          </a:xfrm>
          <a:prstGeom prst="roundRect">
            <a:avLst>
              <a:gd name="adj" fmla="val 3571"/>
            </a:avLst>
          </a:prstGeom>
          <a:solidFill>
            <a:srgbClr val="FFFFFF"/>
          </a:solidFill>
          <a:ln w="19050">
            <a:solidFill>
              <a:srgbClr val="14B8A6"/>
            </a:solidFill>
            <a:prstDash val="solid"/>
          </a:ln>
        </p:spPr>
      </p:sp>
      <p:sp>
        <p:nvSpPr>
          <p:cNvPr id="18" name="Shape 15"/>
          <p:cNvSpPr/>
          <p:nvPr/>
        </p:nvSpPr>
        <p:spPr>
          <a:xfrm>
            <a:off x="3611880" y="2560320"/>
            <a:ext cx="457200" cy="457200"/>
          </a:xfrm>
          <a:prstGeom prst="ellipse">
            <a:avLst/>
          </a:prstGeom>
          <a:solidFill>
            <a:srgbClr val="14B8A6"/>
          </a:solidFill>
          <a:ln w="12700">
            <a:solidFill>
              <a:srgbClr val="FFFFFF"/>
            </a:solidFill>
            <a:prstDash val="solid"/>
          </a:ln>
        </p:spPr>
      </p:sp>
      <p:sp>
        <p:nvSpPr>
          <p:cNvPr id="19" name="Text 16"/>
          <p:cNvSpPr txBox="1"/>
          <p:nvPr/>
        </p:nvSpPr>
        <p:spPr>
          <a:xfrm>
            <a:off x="36118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0" name="Text 17"/>
          <p:cNvSpPr txBox="1"/>
          <p:nvPr/>
        </p:nvSpPr>
        <p:spPr>
          <a:xfrm>
            <a:off x="42062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Eligibility Checker</a:t>
            </a:r>
            <a:endParaRPr lang="en-US" sz="1600" dirty="0"/>
          </a:p>
        </p:txBody>
      </p:sp>
      <p:sp>
        <p:nvSpPr>
          <p:cNvPr id="21" name="Text 18"/>
          <p:cNvSpPr txBox="1"/>
          <p:nvPr/>
        </p:nvSpPr>
        <p:spPr>
          <a:xfrm>
            <a:off x="36576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Write a function that returns True when the age is 18 or more.</a:t>
            </a:r>
            <a:endParaRPr lang="en-US" sz="1350" dirty="0"/>
          </a:p>
        </p:txBody>
      </p:sp>
      <p:sp>
        <p:nvSpPr>
          <p:cNvPr id="22" name="Text 19"/>
          <p:cNvSpPr txBox="1"/>
          <p:nvPr/>
        </p:nvSpPr>
        <p:spPr>
          <a:xfrm>
            <a:off x="36576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23" name="Shape 20"/>
          <p:cNvSpPr/>
          <p:nvPr/>
        </p:nvSpPr>
        <p:spPr>
          <a:xfrm>
            <a:off x="3657600" y="4453128"/>
            <a:ext cx="2103120" cy="411480"/>
          </a:xfrm>
          <a:prstGeom prst="roundRect">
            <a:avLst>
              <a:gd name="adj" fmla="val 13333"/>
            </a:avLst>
          </a:prstGeom>
          <a:solidFill>
            <a:srgbClr val="F1F5F9"/>
          </a:solidFill>
          <a:ln w="12700">
            <a:solidFill>
              <a:srgbClr val="CBD5E1"/>
            </a:solidFill>
            <a:prstDash val="solid"/>
          </a:ln>
        </p:spPr>
      </p:sp>
      <p:sp>
        <p:nvSpPr>
          <p:cNvPr id="24" name="Text 21"/>
          <p:cNvSpPr txBox="1"/>
          <p:nvPr/>
        </p:nvSpPr>
        <p:spPr>
          <a:xfrm>
            <a:off x="36576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21</a:t>
            </a:r>
            <a:endParaRPr lang="en-US" sz="1300" dirty="0"/>
          </a:p>
        </p:txBody>
      </p:sp>
      <p:sp>
        <p:nvSpPr>
          <p:cNvPr id="25" name="Text 22"/>
          <p:cNvSpPr txBox="1"/>
          <p:nvPr/>
        </p:nvSpPr>
        <p:spPr>
          <a:xfrm>
            <a:off x="36576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26" name="Shape 23"/>
          <p:cNvSpPr/>
          <p:nvPr/>
        </p:nvSpPr>
        <p:spPr>
          <a:xfrm>
            <a:off x="3657600" y="5230368"/>
            <a:ext cx="2103120" cy="640080"/>
          </a:xfrm>
          <a:prstGeom prst="roundRect">
            <a:avLst>
              <a:gd name="adj" fmla="val 8571"/>
            </a:avLst>
          </a:prstGeom>
          <a:solidFill>
            <a:srgbClr val="FFEDD5"/>
          </a:solidFill>
          <a:ln w="25400">
            <a:solidFill>
              <a:srgbClr val="F97316"/>
            </a:solidFill>
            <a:prstDash val="solid"/>
          </a:ln>
        </p:spPr>
      </p:sp>
      <p:sp>
        <p:nvSpPr>
          <p:cNvPr id="27" name="Text 24"/>
          <p:cNvSpPr txBox="1"/>
          <p:nvPr/>
        </p:nvSpPr>
        <p:spPr>
          <a:xfrm>
            <a:off x="3657600" y="5230368"/>
            <a:ext cx="2103120" cy="64008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True</a:t>
            </a:r>
            <a:endParaRPr lang="en-US" sz="1300" dirty="0"/>
          </a:p>
        </p:txBody>
      </p:sp>
      <p:sp>
        <p:nvSpPr>
          <p:cNvPr id="28" name="Shape 25"/>
          <p:cNvSpPr/>
          <p:nvPr/>
        </p:nvSpPr>
        <p:spPr>
          <a:xfrm>
            <a:off x="6172200" y="2395728"/>
            <a:ext cx="2560320" cy="3749040"/>
          </a:xfrm>
          <a:prstGeom prst="roundRect">
            <a:avLst>
              <a:gd name="adj" fmla="val 3571"/>
            </a:avLst>
          </a:prstGeom>
          <a:solidFill>
            <a:srgbClr val="FFFFFF"/>
          </a:solidFill>
          <a:ln w="19050">
            <a:solidFill>
              <a:srgbClr val="8B5CF6"/>
            </a:solidFill>
            <a:prstDash val="solid"/>
          </a:ln>
        </p:spPr>
      </p:sp>
      <p:sp>
        <p:nvSpPr>
          <p:cNvPr id="29" name="Shape 26"/>
          <p:cNvSpPr/>
          <p:nvPr/>
        </p:nvSpPr>
        <p:spPr>
          <a:xfrm>
            <a:off x="6355080" y="2560320"/>
            <a:ext cx="457200" cy="457200"/>
          </a:xfrm>
          <a:prstGeom prst="ellipse">
            <a:avLst/>
          </a:prstGeom>
          <a:solidFill>
            <a:srgbClr val="8B5CF6"/>
          </a:solidFill>
          <a:ln w="12700">
            <a:solidFill>
              <a:srgbClr val="FFFFFF"/>
            </a:solidFill>
            <a:prstDash val="solid"/>
          </a:ln>
        </p:spPr>
      </p:sp>
      <p:sp>
        <p:nvSpPr>
          <p:cNvPr id="30" name="Text 27"/>
          <p:cNvSpPr txBox="1"/>
          <p:nvPr/>
        </p:nvSpPr>
        <p:spPr>
          <a:xfrm>
            <a:off x="63550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1" name="Text 28"/>
          <p:cNvSpPr txBox="1"/>
          <p:nvPr/>
        </p:nvSpPr>
        <p:spPr>
          <a:xfrm>
            <a:off x="69494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Welcome With Default</a:t>
            </a:r>
            <a:endParaRPr lang="en-US" sz="1600" dirty="0"/>
          </a:p>
        </p:txBody>
      </p:sp>
      <p:sp>
        <p:nvSpPr>
          <p:cNvPr id="32" name="Text 29"/>
          <p:cNvSpPr txBox="1"/>
          <p:nvPr/>
        </p:nvSpPr>
        <p:spPr>
          <a:xfrm>
            <a:off x="64008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Greet a name. When no name is given, greet Student.</a:t>
            </a:r>
            <a:endParaRPr lang="en-US" sz="1350" dirty="0"/>
          </a:p>
        </p:txBody>
      </p:sp>
      <p:sp>
        <p:nvSpPr>
          <p:cNvPr id="33" name="Text 30"/>
          <p:cNvSpPr txBox="1"/>
          <p:nvPr/>
        </p:nvSpPr>
        <p:spPr>
          <a:xfrm>
            <a:off x="64008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34" name="Shape 31"/>
          <p:cNvSpPr/>
          <p:nvPr/>
        </p:nvSpPr>
        <p:spPr>
          <a:xfrm>
            <a:off x="6400800" y="4453128"/>
            <a:ext cx="2103120" cy="411480"/>
          </a:xfrm>
          <a:prstGeom prst="roundRect">
            <a:avLst>
              <a:gd name="adj" fmla="val 13333"/>
            </a:avLst>
          </a:prstGeom>
          <a:solidFill>
            <a:srgbClr val="F1F5F9"/>
          </a:solidFill>
          <a:ln w="12700">
            <a:solidFill>
              <a:srgbClr val="CBD5E1"/>
            </a:solidFill>
            <a:prstDash val="solid"/>
          </a:ln>
        </p:spPr>
      </p:sp>
      <p:sp>
        <p:nvSpPr>
          <p:cNvPr id="35" name="Text 32"/>
          <p:cNvSpPr txBox="1"/>
          <p:nvPr/>
        </p:nvSpPr>
        <p:spPr>
          <a:xfrm>
            <a:off x="64008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no name given</a:t>
            </a:r>
            <a:endParaRPr lang="en-US" sz="1300" dirty="0"/>
          </a:p>
        </p:txBody>
      </p:sp>
      <p:sp>
        <p:nvSpPr>
          <p:cNvPr id="36" name="Text 33"/>
          <p:cNvSpPr txBox="1"/>
          <p:nvPr/>
        </p:nvSpPr>
        <p:spPr>
          <a:xfrm>
            <a:off x="64008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37" name="Shape 34"/>
          <p:cNvSpPr/>
          <p:nvPr/>
        </p:nvSpPr>
        <p:spPr>
          <a:xfrm>
            <a:off x="6400800" y="5230368"/>
            <a:ext cx="2103120" cy="640080"/>
          </a:xfrm>
          <a:prstGeom prst="roundRect">
            <a:avLst>
              <a:gd name="adj" fmla="val 8571"/>
            </a:avLst>
          </a:prstGeom>
          <a:solidFill>
            <a:srgbClr val="FFEDD5"/>
          </a:solidFill>
          <a:ln w="25400">
            <a:solidFill>
              <a:srgbClr val="F97316"/>
            </a:solidFill>
            <a:prstDash val="solid"/>
          </a:ln>
        </p:spPr>
      </p:sp>
      <p:sp>
        <p:nvSpPr>
          <p:cNvPr id="38" name="Text 35"/>
          <p:cNvSpPr txBox="1"/>
          <p:nvPr/>
        </p:nvSpPr>
        <p:spPr>
          <a:xfrm>
            <a:off x="6400800" y="5230368"/>
            <a:ext cx="2103120" cy="64008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Welcome Student</a:t>
            </a:r>
            <a:endParaRPr lang="en-US" sz="1300" dirty="0"/>
          </a:p>
        </p:txBody>
      </p:sp>
      <p:sp>
        <p:nvSpPr>
          <p:cNvPr id="39" name="Shape 36"/>
          <p:cNvSpPr/>
          <p:nvPr/>
        </p:nvSpPr>
        <p:spPr>
          <a:xfrm>
            <a:off x="8915400" y="2395728"/>
            <a:ext cx="2560320" cy="3749040"/>
          </a:xfrm>
          <a:prstGeom prst="roundRect">
            <a:avLst>
              <a:gd name="adj" fmla="val 3571"/>
            </a:avLst>
          </a:prstGeom>
          <a:solidFill>
            <a:srgbClr val="FFFFFF"/>
          </a:solidFill>
          <a:ln w="19050">
            <a:solidFill>
              <a:srgbClr val="14B8A6"/>
            </a:solidFill>
            <a:prstDash val="solid"/>
          </a:ln>
        </p:spPr>
      </p:sp>
      <p:sp>
        <p:nvSpPr>
          <p:cNvPr id="40" name="Shape 37"/>
          <p:cNvSpPr/>
          <p:nvPr/>
        </p:nvSpPr>
        <p:spPr>
          <a:xfrm>
            <a:off x="9098280" y="2560320"/>
            <a:ext cx="457200" cy="457200"/>
          </a:xfrm>
          <a:prstGeom prst="ellipse">
            <a:avLst/>
          </a:prstGeom>
          <a:solidFill>
            <a:srgbClr val="14B8A6"/>
          </a:solidFill>
          <a:ln w="12700">
            <a:solidFill>
              <a:srgbClr val="FFFFFF"/>
            </a:solidFill>
            <a:prstDash val="solid"/>
          </a:ln>
        </p:spPr>
      </p:sp>
      <p:sp>
        <p:nvSpPr>
          <p:cNvPr id="41" name="Text 38"/>
          <p:cNvSpPr txBox="1"/>
          <p:nvPr/>
        </p:nvSpPr>
        <p:spPr>
          <a:xfrm>
            <a:off x="90982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2" name="Text 39"/>
          <p:cNvSpPr txBox="1"/>
          <p:nvPr/>
        </p:nvSpPr>
        <p:spPr>
          <a:xfrm>
            <a:off x="96926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Final Bill</a:t>
            </a:r>
            <a:endParaRPr lang="en-US" sz="1600" dirty="0"/>
          </a:p>
        </p:txBody>
      </p:sp>
      <p:sp>
        <p:nvSpPr>
          <p:cNvPr id="43" name="Text 40"/>
          <p:cNvSpPr txBox="1"/>
          <p:nvPr/>
        </p:nvSpPr>
        <p:spPr>
          <a:xfrm>
            <a:off x="91440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Use one function for the total and one for a 10 percent discount.</a:t>
            </a:r>
            <a:endParaRPr lang="en-US" sz="1350" dirty="0"/>
          </a:p>
        </p:txBody>
      </p:sp>
      <p:sp>
        <p:nvSpPr>
          <p:cNvPr id="44" name="Text 41"/>
          <p:cNvSpPr txBox="1"/>
          <p:nvPr/>
        </p:nvSpPr>
        <p:spPr>
          <a:xfrm>
            <a:off x="91440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45" name="Shape 42"/>
          <p:cNvSpPr/>
          <p:nvPr/>
        </p:nvSpPr>
        <p:spPr>
          <a:xfrm>
            <a:off x="9144000" y="4453128"/>
            <a:ext cx="2103120" cy="411480"/>
          </a:xfrm>
          <a:prstGeom prst="roundRect">
            <a:avLst>
              <a:gd name="adj" fmla="val 13333"/>
            </a:avLst>
          </a:prstGeom>
          <a:solidFill>
            <a:srgbClr val="F1F5F9"/>
          </a:solidFill>
          <a:ln w="12700">
            <a:solidFill>
              <a:srgbClr val="CBD5E1"/>
            </a:solidFill>
            <a:prstDash val="solid"/>
          </a:ln>
        </p:spPr>
      </p:sp>
      <p:sp>
        <p:nvSpPr>
          <p:cNvPr id="46" name="Text 43"/>
          <p:cNvSpPr txBox="1"/>
          <p:nvPr/>
        </p:nvSpPr>
        <p:spPr>
          <a:xfrm>
            <a:off x="91440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1000 and 2</a:t>
            </a:r>
            <a:endParaRPr lang="en-US" sz="1300" dirty="0"/>
          </a:p>
        </p:txBody>
      </p:sp>
      <p:sp>
        <p:nvSpPr>
          <p:cNvPr id="47" name="Text 44"/>
          <p:cNvSpPr txBox="1"/>
          <p:nvPr/>
        </p:nvSpPr>
        <p:spPr>
          <a:xfrm>
            <a:off x="91440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48" name="Shape 45"/>
          <p:cNvSpPr/>
          <p:nvPr/>
        </p:nvSpPr>
        <p:spPr>
          <a:xfrm>
            <a:off x="9144000" y="5230368"/>
            <a:ext cx="2103120" cy="640080"/>
          </a:xfrm>
          <a:prstGeom prst="roundRect">
            <a:avLst>
              <a:gd name="adj" fmla="val 8571"/>
            </a:avLst>
          </a:prstGeom>
          <a:solidFill>
            <a:srgbClr val="FFEDD5"/>
          </a:solidFill>
          <a:ln w="25400">
            <a:solidFill>
              <a:srgbClr val="F97316"/>
            </a:solidFill>
            <a:prstDash val="solid"/>
          </a:ln>
        </p:spPr>
      </p:sp>
      <p:sp>
        <p:nvSpPr>
          <p:cNvPr id="49" name="Text 46"/>
          <p:cNvSpPr txBox="1"/>
          <p:nvPr/>
        </p:nvSpPr>
        <p:spPr>
          <a:xfrm>
            <a:off x="9144000" y="5230368"/>
            <a:ext cx="2103120" cy="64008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1800.0</a:t>
            </a:r>
            <a:endParaRPr lang="en-US" sz="1300" dirty="0"/>
          </a:p>
        </p:txBody>
      </p:sp>
      <p:sp>
        <p:nvSpPr>
          <p:cNvPr id="50" name="Text 47"/>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51" name="Text 48"/>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11887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QUICK RECAP</a:t>
            </a:r>
            <a:endParaRPr lang="en-US" sz="1400" dirty="0"/>
          </a:p>
        </p:txBody>
      </p:sp>
      <p:sp>
        <p:nvSpPr>
          <p:cNvPr id="4" name="Text 1"/>
          <p:cNvSpPr txBox="1"/>
          <p:nvPr/>
        </p:nvSpPr>
        <p:spPr>
          <a:xfrm>
            <a:off x="457200" y="1554480"/>
            <a:ext cx="11155680" cy="822960"/>
          </a:xfrm>
          <a:prstGeom prst="rect">
            <a:avLst/>
          </a:prstGeom>
          <a:noFill/>
          <a:ln/>
        </p:spPr>
        <p:txBody>
          <a:bodyPr wrap="square" rtlCol="0" anchor="ctr"/>
          <a:lstStyle/>
          <a:p>
            <a:pPr indent="0" marL="0">
              <a:buNone/>
            </a:pPr>
            <a:r>
              <a:rPr lang="en-US" sz="3200" b="1" dirty="0">
                <a:solidFill>
                  <a:srgbClr val="1E293B"/>
                </a:solidFill>
                <a:latin typeface="Calibri" pitchFamily="34" charset="0"/>
                <a:ea typeface="Calibri" pitchFamily="34" charset="-122"/>
                <a:cs typeface="Calibri" pitchFamily="34" charset="-120"/>
              </a:rPr>
              <a:t>What Ravi Learned Today</a:t>
            </a:r>
            <a:endParaRPr lang="en-US" sz="3200" dirty="0"/>
          </a:p>
        </p:txBody>
      </p:sp>
      <p:sp>
        <p:nvSpPr>
          <p:cNvPr id="5" name="Text 2"/>
          <p:cNvSpPr txBox="1"/>
          <p:nvPr/>
        </p:nvSpPr>
        <p:spPr>
          <a:xfrm>
            <a:off x="457200" y="2286000"/>
            <a:ext cx="10515600" cy="36576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Click to reveal each one.</a:t>
            </a:r>
            <a:endParaRPr lang="en-US" sz="1400" dirty="0"/>
          </a:p>
        </p:txBody>
      </p:sp>
      <p:sp>
        <p:nvSpPr>
          <p:cNvPr id="6" name="rc_8"/>
          <p:cNvSpPr/>
          <p:nvPr/>
        </p:nvSpPr>
        <p:spPr>
          <a:xfrm>
            <a:off x="457200" y="2834640"/>
            <a:ext cx="3566160" cy="2468880"/>
          </a:xfrm>
          <a:prstGeom prst="roundRect">
            <a:avLst>
              <a:gd name="adj" fmla="val 3704"/>
            </a:avLst>
          </a:prstGeom>
          <a:solidFill>
            <a:srgbClr val="F5F3FF"/>
          </a:solidFill>
          <a:ln w="12700">
            <a:solidFill>
              <a:srgbClr val="E2E8F0"/>
            </a:solidFill>
            <a:prstDash val="solid"/>
          </a:ln>
          <a:effectLst>
            <a:outerShdw sx="100000" sy="100000" kx="0" ky="0" algn="bl" rotWithShape="0" blurRad="76200" dist="25400" dir="5400000">
              <a:srgbClr val="000000">
                <a:alpha val="8000"/>
              </a:srgbClr>
            </a:outerShdw>
          </a:effectLst>
        </p:spPr>
      </p:sp>
      <p:pic>
        <p:nvPicPr>
          <p:cNvPr id="7" name="Image 1" descr="assets/icon2_code_purple.png">    </p:cNvPr>
          <p:cNvPicPr>
            <a:picLocks noChangeAspect="1"/>
          </p:cNvPicPr>
          <p:nvPr/>
        </p:nvPicPr>
        <p:blipFill>
          <a:blip r:embed="rId2"/>
          <a:stretch>
            <a:fillRect/>
          </a:stretch>
        </p:blipFill>
        <p:spPr>
          <a:xfrm>
            <a:off x="777240" y="3154680"/>
            <a:ext cx="548640" cy="548640"/>
          </a:xfrm>
          <a:prstGeom prst="rect">
            <a:avLst/>
          </a:prstGeom>
        </p:spPr>
      </p:pic>
      <p:sp>
        <p:nvSpPr>
          <p:cNvPr id="8" name="Text 4"/>
          <p:cNvSpPr txBox="1"/>
          <p:nvPr/>
        </p:nvSpPr>
        <p:spPr>
          <a:xfrm>
            <a:off x="731520" y="3931920"/>
            <a:ext cx="3017520" cy="1097280"/>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A function is written once with def and called many times with arguments</a:t>
            </a:r>
            <a:endParaRPr lang="en-US" sz="1600" dirty="0"/>
          </a:p>
        </p:txBody>
      </p:sp>
      <p:sp>
        <p:nvSpPr>
          <p:cNvPr id="9" name="rc_9"/>
          <p:cNvSpPr/>
          <p:nvPr/>
        </p:nvSpPr>
        <p:spPr>
          <a:xfrm>
            <a:off x="4297680" y="2834640"/>
            <a:ext cx="3566160" cy="2468880"/>
          </a:xfrm>
          <a:prstGeom prst="roundRect">
            <a:avLst>
              <a:gd name="adj" fmla="val 3704"/>
            </a:avLst>
          </a:prstGeom>
          <a:solidFill>
            <a:srgbClr val="F0FDFA"/>
          </a:solidFill>
          <a:ln w="12700">
            <a:solidFill>
              <a:srgbClr val="E2E8F0"/>
            </a:solidFill>
            <a:prstDash val="solid"/>
          </a:ln>
          <a:effectLst>
            <a:outerShdw sx="100000" sy="100000" kx="0" ky="0" algn="bl" rotWithShape="0" blurRad="76200" dist="25400" dir="5400000">
              <a:srgbClr val="000000">
                <a:alpha val="8000"/>
              </a:srgbClr>
            </a:outerShdw>
          </a:effectLst>
        </p:spPr>
      </p:sp>
      <p:pic>
        <p:nvPicPr>
          <p:cNvPr id="10" name="Image 2" descr="assets/icon2_undo_orange.png">    </p:cNvPr>
          <p:cNvPicPr>
            <a:picLocks noChangeAspect="1"/>
          </p:cNvPicPr>
          <p:nvPr/>
        </p:nvPicPr>
        <p:blipFill>
          <a:blip r:embed="rId3"/>
          <a:stretch>
            <a:fillRect/>
          </a:stretch>
        </p:blipFill>
        <p:spPr>
          <a:xfrm>
            <a:off x="4617720" y="3154680"/>
            <a:ext cx="548640" cy="548640"/>
          </a:xfrm>
          <a:prstGeom prst="rect">
            <a:avLst/>
          </a:prstGeom>
        </p:spPr>
      </p:pic>
      <p:sp>
        <p:nvSpPr>
          <p:cNvPr id="11" name="Text 6"/>
          <p:cNvSpPr txBox="1"/>
          <p:nvPr/>
        </p:nvSpPr>
        <p:spPr>
          <a:xfrm>
            <a:off x="4572000" y="3931920"/>
            <a:ext cx="3017520" cy="1097280"/>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return sends a result back. Defaults fill in missing values</a:t>
            </a:r>
            <a:endParaRPr lang="en-US" sz="1600" dirty="0"/>
          </a:p>
        </p:txBody>
      </p:sp>
      <p:sp>
        <p:nvSpPr>
          <p:cNvPr id="12" name="rc_10"/>
          <p:cNvSpPr/>
          <p:nvPr/>
        </p:nvSpPr>
        <p:spPr>
          <a:xfrm>
            <a:off x="8138160" y="2834640"/>
            <a:ext cx="3566160" cy="2468880"/>
          </a:xfrm>
          <a:prstGeom prst="roundRect">
            <a:avLst>
              <a:gd name="adj" fmla="val 3704"/>
            </a:avLst>
          </a:prstGeom>
          <a:solidFill>
            <a:srgbClr val="FFF7ED"/>
          </a:solidFill>
          <a:ln w="12700">
            <a:solidFill>
              <a:srgbClr val="E2E8F0"/>
            </a:solidFill>
            <a:prstDash val="solid"/>
          </a:ln>
          <a:effectLst>
            <a:outerShdw sx="100000" sy="100000" kx="0" ky="0" algn="bl" rotWithShape="0" blurRad="76200" dist="25400" dir="5400000">
              <a:srgbClr val="000000">
                <a:alpha val="8000"/>
              </a:srgbClr>
            </a:outerShdw>
          </a:effectLst>
        </p:spPr>
      </p:sp>
      <p:pic>
        <p:nvPicPr>
          <p:cNvPr id="13" name="Image 3" descr="assets/icon2_lock_navy.png">    </p:cNvPr>
          <p:cNvPicPr>
            <a:picLocks noChangeAspect="1"/>
          </p:cNvPicPr>
          <p:nvPr/>
        </p:nvPicPr>
        <p:blipFill>
          <a:blip r:embed="rId4"/>
          <a:stretch>
            <a:fillRect/>
          </a:stretch>
        </p:blipFill>
        <p:spPr>
          <a:xfrm>
            <a:off x="8458200" y="3154680"/>
            <a:ext cx="548640" cy="548640"/>
          </a:xfrm>
          <a:prstGeom prst="rect">
            <a:avLst/>
          </a:prstGeom>
        </p:spPr>
      </p:pic>
      <p:sp>
        <p:nvSpPr>
          <p:cNvPr id="14" name="Text 8"/>
          <p:cNvSpPr txBox="1"/>
          <p:nvPr/>
        </p:nvSpPr>
        <p:spPr>
          <a:xfrm>
            <a:off x="8412480" y="3931920"/>
            <a:ext cx="3017520" cy="1097280"/>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Local variables stay inside. Global variables can be read inside</a:t>
            </a:r>
            <a:endParaRPr lang="en-US" sz="1600" dirty="0"/>
          </a:p>
        </p:txBody>
      </p:sp>
      <p:sp>
        <p:nvSpPr>
          <p:cNvPr id="15" name="Text 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16" name="Text 1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24</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00" presetID="1" presetClass="entr" presetSubtype="0" fill="hold" nodeType="clickEffect">
                      <p:stCondLst>
                        <p:cond delay="0"/>
                      </p:stCondLst>
                      <p:childTnLst>
                        <p:set>
                          <p:cBhvr>
                            <p:cTn id="101" dur="1" fill="hold">
                              <p:stCondLst>
                                <p:cond delay="0"/>
                              </p:stCondLst>
                            </p:cTn>
                            <p:tgtEl>
                              <p:spTgt spid="6"/>
                            </p:tgtEl>
                            <p:attrNameLst>
                              <p:attrName>style.visibility</p:attrName>
                            </p:attrNameLst>
                          </p:cBhvr>
                          <p:to>
                            <p:strVal val="visible"/>
                          </p:to>
                        </p:set>
                        <p:anim calcmode="lin" valueType="num">
                          <p:cBhvr>
                            <p:cTn id="102" dur="500" fill="hold"/>
                            <p:tgtEl>
                              <p:spTgt spid="6"/>
                            </p:tgtEl>
                            <p:attrNameLst>
                              <p:attrName>ppt_opacity</p:attrName>
                            </p:attrNameLst>
                          </p:cBhvr>
                          <p:tavLst>
                            <p:tav tm="0">
                              <p:val>
                                <p:fltVal val="0"/>
                              </p:val>
                            </p:tav>
                            <p:tav tm="100000">
                              <p:val>
                                <p:fltVal val="1"/>
                              </p:val>
                            </p:tav>
                          </p:tavLst>
                        </p:anim>
                      </p:childTnLst>
                    </p:cTn>
                  </p:par>
                  <p:par>
                    <p:cTn id="110" presetID="1" presetClass="entr" presetSubtype="0" fill="hold" nodeType="clickEffect">
                      <p:stCondLst>
                        <p:cond delay="0"/>
                      </p:stCondLst>
                      <p:childTnLst>
                        <p:set>
                          <p:cBhvr>
                            <p:cTn id="111" dur="1" fill="hold">
                              <p:stCondLst>
                                <p:cond delay="0"/>
                              </p:stCondLst>
                            </p:cTn>
                            <p:tgtEl>
                              <p:spTgt spid="9"/>
                            </p:tgtEl>
                            <p:attrNameLst>
                              <p:attrName>style.visibility</p:attrName>
                            </p:attrNameLst>
                          </p:cBhvr>
                          <p:to>
                            <p:strVal val="visible"/>
                          </p:to>
                        </p:set>
                        <p:anim calcmode="lin" valueType="num">
                          <p:cBhvr>
                            <p:cTn id="112" dur="500" fill="hold"/>
                            <p:tgtEl>
                              <p:spTgt spid="9"/>
                            </p:tgtEl>
                            <p:attrNameLst>
                              <p:attrName>ppt_opacity</p:attrName>
                            </p:attrNameLst>
                          </p:cBhvr>
                          <p:tavLst>
                            <p:tav tm="0">
                              <p:val>
                                <p:fltVal val="0"/>
                              </p:val>
                            </p:tav>
                            <p:tav tm="100000">
                              <p:val>
                                <p:fltVal val="1"/>
                              </p:val>
                            </p:tav>
                          </p:tavLst>
                        </p:anim>
                      </p:childTnLst>
                    </p:cTn>
                  </p:par>
                  <p:par>
                    <p:cTn id="120" presetID="1" presetClass="entr" presetSubtype="0" fill="hold" nodeType="clickEffect">
                      <p:stCondLst>
                        <p:cond delay="0"/>
                      </p:stCondLst>
                      <p:childTnLst>
                        <p:set>
                          <p:cBhvr>
                            <p:cTn id="121" dur="1" fill="hold">
                              <p:stCondLst>
                                <p:cond delay="0"/>
                              </p:stCondLst>
                            </p:cTn>
                            <p:tgtEl>
                              <p:spTgt spid="12"/>
                            </p:tgtEl>
                            <p:attrNameLst>
                              <p:attrName>style.visibility</p:attrName>
                            </p:attrNameLst>
                          </p:cBhvr>
                          <p:to>
                            <p:strVal val="visible"/>
                          </p:to>
                        </p:set>
                        <p:anim calcmode="lin" valueType="num">
                          <p:cBhvr>
                            <p:cTn id="122" dur="500" fill="hold"/>
                            <p:tgtEl>
                              <p:spTgt spid="12"/>
                            </p:tgtEl>
                            <p:attrNameLst>
                              <p:attrName>ppt_opacity</p:attrName>
                            </p:attrNameLst>
                          </p:cBhvr>
                          <p:tavLst>
                            <p:tav tm="0">
                              <p:val>
                                <p:fltVal val="0"/>
                              </p:val>
                            </p:tav>
                            <p:tav tm="100000">
                              <p:val>
                                <p:fltVal val="1"/>
                              </p:val>
                            </p:tav>
                          </p:tavLst>
                        </p:anim>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371600"/>
            <a:ext cx="100584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WEEK 2  ·  DAY 7 COMPLETE</a:t>
            </a:r>
            <a:endParaRPr lang="en-US" sz="1400" dirty="0"/>
          </a:p>
        </p:txBody>
      </p:sp>
      <p:sp>
        <p:nvSpPr>
          <p:cNvPr id="6" name="Text 2"/>
          <p:cNvSpPr txBox="1"/>
          <p:nvPr/>
        </p:nvSpPr>
        <p:spPr>
          <a:xfrm>
            <a:off x="457200" y="1737360"/>
            <a:ext cx="10515600" cy="82296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Great Work Today</a:t>
            </a:r>
            <a:endParaRPr lang="en-US" sz="3600" dirty="0"/>
          </a:p>
        </p:txBody>
      </p:sp>
      <p:sp>
        <p:nvSpPr>
          <p:cNvPr id="7" name="Text 3"/>
          <p:cNvSpPr txBox="1"/>
          <p:nvPr/>
        </p:nvSpPr>
        <p:spPr>
          <a:xfrm>
            <a:off x="457200" y="2651760"/>
            <a:ext cx="10515600" cy="731520"/>
          </a:xfrm>
          <a:prstGeom prst="rect">
            <a:avLst/>
          </a:prstGeom>
          <a:noFill/>
          <a:ln/>
        </p:spPr>
        <p:txBody>
          <a:bodyPr wrap="square" rtlCol="0" anchor="ctr"/>
          <a:lstStyle/>
          <a:p>
            <a:pPr indent="0" marL="0">
              <a:buNone/>
            </a:pPr>
            <a:r>
              <a:rPr lang="en-US" sz="1700" dirty="0">
                <a:solidFill>
                  <a:srgbClr val="CBD5E1"/>
                </a:solidFill>
                <a:latin typeface="Calibri" pitchFamily="34" charset="0"/>
                <a:ea typeface="Calibri" pitchFamily="34" charset="-122"/>
                <a:cs typeface="Calibri" pitchFamily="34" charset="-120"/>
              </a:rPr>
              <a:t>Ravi can now write reusable functions, pass values in, get results back and build a calculator from them.</a:t>
            </a:r>
            <a:endParaRPr lang="en-US" sz="1700" dirty="0"/>
          </a:p>
        </p:txBody>
      </p:sp>
      <p:sp>
        <p:nvSpPr>
          <p:cNvPr id="8" name="rc_next"/>
          <p:cNvSpPr/>
          <p:nvPr/>
        </p:nvSpPr>
        <p:spPr>
          <a:xfrm>
            <a:off x="457200" y="3657600"/>
            <a:ext cx="11247120" cy="2377440"/>
          </a:xfrm>
          <a:prstGeom prst="roundRect">
            <a:avLst>
              <a:gd name="adj" fmla="val 3846"/>
            </a:avLst>
          </a:prstGeom>
          <a:solidFill>
            <a:srgbClr val="1E1B4B"/>
          </a:solidFill>
          <a:ln w="12700">
            <a:solidFill>
              <a:srgbClr val="6D28D9"/>
            </a:solidFill>
            <a:prstDash val="solid"/>
          </a:ln>
          <a:effectLst>
            <a:outerShdw sx="100000" sy="100000" kx="0" ky="0" algn="bl" rotWithShape="0" blurRad="76200" dist="25400" dir="5400000">
              <a:srgbClr val="000000">
                <a:alpha val="8000"/>
              </a:srgbClr>
            </a:outerShdw>
          </a:effectLst>
        </p:spPr>
      </p:sp>
      <p:sp>
        <p:nvSpPr>
          <p:cNvPr id="9" name="Text 5"/>
          <p:cNvSpPr txBox="1"/>
          <p:nvPr/>
        </p:nvSpPr>
        <p:spPr>
          <a:xfrm>
            <a:off x="914400" y="3931920"/>
            <a:ext cx="9601200" cy="365760"/>
          </a:xfrm>
          <a:prstGeom prst="rect">
            <a:avLst/>
          </a:prstGeom>
          <a:noFill/>
          <a:ln/>
        </p:spPr>
        <p:txBody>
          <a:bodyPr wrap="square" rtlCol="0" anchor="ctr"/>
          <a:lstStyle/>
          <a:p>
            <a:pPr indent="0" marL="0">
              <a:buNone/>
            </a:pPr>
            <a:r>
              <a:rPr lang="en-US" sz="1300" b="1" spc="200" kern="0" dirty="0">
                <a:solidFill>
                  <a:srgbClr val="8B5CF6"/>
                </a:solidFill>
                <a:latin typeface="Calibri" pitchFamily="34" charset="0"/>
                <a:ea typeface="Calibri" pitchFamily="34" charset="-122"/>
                <a:cs typeface="Calibri" pitchFamily="34" charset="-120"/>
              </a:rPr>
              <a:t>COMING UP NEXT, DAY 8</a:t>
            </a:r>
            <a:endParaRPr lang="en-US" sz="1300" dirty="0"/>
          </a:p>
        </p:txBody>
      </p:sp>
      <p:sp>
        <p:nvSpPr>
          <p:cNvPr id="10" name="Text 6"/>
          <p:cNvSpPr txBox="1"/>
          <p:nvPr/>
        </p:nvSpPr>
        <p:spPr>
          <a:xfrm>
            <a:off x="914400" y="4297680"/>
            <a:ext cx="10332720" cy="7315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Advanced Functions</a:t>
            </a:r>
            <a:endParaRPr lang="en-US" sz="2800" dirty="0"/>
          </a:p>
        </p:txBody>
      </p:sp>
      <p:sp>
        <p:nvSpPr>
          <p:cNvPr id="11" name="Text 7"/>
          <p:cNvSpPr txBox="1"/>
          <p:nvPr/>
        </p:nvSpPr>
        <p:spPr>
          <a:xfrm>
            <a:off x="914400" y="5074920"/>
            <a:ext cx="9875520" cy="731520"/>
          </a:xfrm>
          <a:prstGeom prst="rect">
            <a:avLst/>
          </a:prstGeom>
          <a:noFill/>
          <a:ln/>
        </p:spPr>
        <p:txBody>
          <a:bodyPr wrap="square" rtlCol="0" anchor="ctr"/>
          <a:lstStyle/>
          <a:p>
            <a:pPr indent="0" marL="0">
              <a:buNone/>
            </a:pPr>
            <a:r>
              <a:rPr lang="en-US" sz="1600" dirty="0">
                <a:solidFill>
                  <a:srgbClr val="CBD5E1"/>
                </a:solidFill>
                <a:latin typeface="Calibri" pitchFamily="34" charset="0"/>
                <a:ea typeface="Calibri" pitchFamily="34" charset="-122"/>
                <a:cs typeface="Calibri" pitchFamily="34" charset="-120"/>
              </a:rPr>
              <a:t>Tomorrow, Ravi learns to accept any number of values, write one line functions and let a function call itself.</a:t>
            </a:r>
            <a:endParaRPr lang="en-US" sz="1600" dirty="0"/>
          </a:p>
        </p:txBody>
      </p:sp>
      <p:sp>
        <p:nvSpPr>
          <p:cNvPr id="12" name="Text 8"/>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Functions Fundamentals  ·  Week 2  ·  Day 7</a:t>
            </a:r>
            <a:endParaRPr lang="en-US" sz="1000" dirty="0"/>
          </a:p>
        </p:txBody>
      </p:sp>
      <p:sp>
        <p:nvSpPr>
          <p:cNvPr id="13" name="Text 9"/>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2026-10-20T08:14:49Z</dcterms:created>
  <dcterms:modified xsi:type="dcterms:W3CDTF">2026-10-20T08:14:49Z</dcterms:modified>
</cp:coreProperties>
</file>