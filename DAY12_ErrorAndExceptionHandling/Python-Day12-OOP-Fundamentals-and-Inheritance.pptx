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1.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2.png"/><Relationship Id="rId6" Type="http://schemas.openxmlformats.org/officeDocument/2006/relationships/slideLayout" Target="../slideLayouts/slideLayout1.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1.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image" Target="../media/image-24-8.png"/><Relationship Id="rId9" Type="http://schemas.openxmlformats.org/officeDocument/2006/relationships/image" Target="../media/image-24-9.png"/><Relationship Id="rId10" Type="http://schemas.openxmlformats.org/officeDocument/2006/relationships/slideLayout" Target="../slideLayouts/slideLayout1.xml"/><Relationship Id="rId11"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slideLayout" Target="../slideLayouts/slideLayout1.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pic>
        <p:nvPicPr>
          <p:cNvPr id="2" name="Image 0" descr="assets/bloom_purple.png">    </p:cNvPr>
          <p:cNvPicPr>
            <a:picLocks noChangeAspect="1"/>
          </p:cNvPicPr>
          <p:nvPr/>
        </p:nvPicPr>
        <p:blipFill>
          <a:blip r:embed="rId1"/>
          <a:stretch>
            <a:fillRect/>
          </a:stretch>
        </p:blipFill>
        <p:spPr>
          <a:xfrm>
            <a:off x="-1828800" y="-1828800"/>
            <a:ext cx="6858000" cy="6858000"/>
          </a:xfrm>
          <a:prstGeom prst="rect">
            <a:avLst/>
          </a:prstGeom>
        </p:spPr>
      </p:pic>
      <p:pic>
        <p:nvPicPr>
          <p:cNvPr id="3" name="Image 1" descr="assets/bloom_pink.png">    </p:cNvPr>
          <p:cNvPicPr>
            <a:picLocks noChangeAspect="1"/>
          </p:cNvPicPr>
          <p:nvPr/>
        </p:nvPicPr>
        <p:blipFill>
          <a:blip r:embed="rId2"/>
          <a:stretch>
            <a:fillRect/>
          </a:stretch>
        </p:blipFill>
        <p:spPr>
          <a:xfrm>
            <a:off x="7772400" y="2286000"/>
            <a:ext cx="6400800" cy="6400800"/>
          </a:xfrm>
          <a:prstGeom prst="rect">
            <a:avLst/>
          </a:prstGeom>
        </p:spPr>
      </p:pic>
      <p:sp>
        <p:nvSpPr>
          <p:cNvPr id="4" name="Text 0"/>
          <p:cNvSpPr txBox="1"/>
          <p:nvPr/>
        </p:nvSpPr>
        <p:spPr>
          <a:xfrm>
            <a:off x="457200" y="320040"/>
            <a:ext cx="2286000" cy="45720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intellea</a:t>
            </a:r>
            <a:endParaRPr lang="en-US" sz="2200" dirty="0"/>
          </a:p>
        </p:txBody>
      </p:sp>
      <p:sp>
        <p:nvSpPr>
          <p:cNvPr id="5" name="Text 1"/>
          <p:cNvSpPr txBox="1"/>
          <p:nvPr/>
        </p:nvSpPr>
        <p:spPr>
          <a:xfrm>
            <a:off x="457200" y="2011680"/>
            <a:ext cx="9144000" cy="457200"/>
          </a:xfrm>
          <a:prstGeom prst="rect">
            <a:avLst/>
          </a:prstGeom>
          <a:noFill/>
          <a:ln/>
        </p:spPr>
        <p:txBody>
          <a:bodyPr wrap="square" rtlCol="0" anchor="ctr"/>
          <a:lstStyle/>
          <a:p>
            <a:pPr indent="0" marL="0">
              <a:buNone/>
            </a:pPr>
            <a:r>
              <a:rPr lang="en-US" sz="1600" b="1" spc="200" kern="0" dirty="0">
                <a:solidFill>
                  <a:srgbClr val="8B5CF6"/>
                </a:solidFill>
                <a:latin typeface="Calibri" pitchFamily="34" charset="0"/>
                <a:ea typeface="Calibri" pitchFamily="34" charset="-122"/>
                <a:cs typeface="Calibri" pitchFamily="34" charset="-120"/>
              </a:rPr>
              <a:t>WEEK 3  ·  DAY 12</a:t>
            </a:r>
            <a:endParaRPr lang="en-US" sz="1600" dirty="0"/>
          </a:p>
        </p:txBody>
      </p:sp>
      <p:sp>
        <p:nvSpPr>
          <p:cNvPr id="6" name="Text 2"/>
          <p:cNvSpPr txBox="1"/>
          <p:nvPr/>
        </p:nvSpPr>
        <p:spPr>
          <a:xfrm>
            <a:off x="457200" y="2514600"/>
            <a:ext cx="10972800" cy="1188720"/>
          </a:xfrm>
          <a:prstGeom prst="rect">
            <a:avLst/>
          </a:prstGeom>
          <a:noFill/>
          <a:ln/>
        </p:spPr>
        <p:txBody>
          <a:bodyPr wrap="square"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OOP: Fundamentals and Inheritance</a:t>
            </a:r>
            <a:endParaRPr lang="en-US" sz="4400" dirty="0"/>
          </a:p>
        </p:txBody>
      </p:sp>
      <p:sp>
        <p:nvSpPr>
          <p:cNvPr id="7" name="Text 3"/>
          <p:cNvSpPr txBox="1"/>
          <p:nvPr/>
        </p:nvSpPr>
        <p:spPr>
          <a:xfrm>
            <a:off x="457200" y="3840480"/>
            <a:ext cx="10515600" cy="731520"/>
          </a:xfrm>
          <a:prstGeom prst="rect">
            <a:avLst/>
          </a:prstGeom>
          <a:noFill/>
          <a:ln/>
        </p:spPr>
        <p:txBody>
          <a:bodyPr wrap="square" rtlCol="0" anchor="ctr"/>
          <a:lstStyle/>
          <a:p>
            <a:pPr indent="0" marL="0">
              <a:buNone/>
            </a:pPr>
            <a:r>
              <a:rPr lang="en-US" sz="2000" dirty="0">
                <a:solidFill>
                  <a:srgbClr val="CBD5E1"/>
                </a:solidFill>
                <a:latin typeface="Calibri" pitchFamily="34" charset="0"/>
                <a:ea typeface="Calibri" pitchFamily="34" charset="-122"/>
                <a:cs typeface="Calibri" pitchFamily="34" charset="-120"/>
              </a:rPr>
              <a:t>Build programs from objects that carry data and actions</a:t>
            </a:r>
            <a:endParaRPr lang="en-US" sz="2000" dirty="0"/>
          </a:p>
        </p:txBody>
      </p:sp>
      <p:sp>
        <p:nvSpPr>
          <p:cNvPr id="8" name="Text 4"/>
          <p:cNvSpPr txBox="1"/>
          <p:nvPr/>
        </p:nvSpPr>
        <p:spPr>
          <a:xfrm>
            <a:off x="457200" y="4846320"/>
            <a:ext cx="10058400" cy="365760"/>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Python Live Class  ·  Theory and concept support</a:t>
            </a:r>
            <a:endParaRPr lang="en-US" sz="1400" dirty="0"/>
          </a:p>
        </p:txBody>
      </p:sp>
      <p:sp>
        <p:nvSpPr>
          <p:cNvPr id="9" name="Text 5"/>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OOP Fundamentals and Inheritance  ·  Week 3  ·  Day 12</a:t>
            </a:r>
            <a:endParaRPr lang="en-US" sz="1000" dirty="0"/>
          </a:p>
        </p:txBody>
      </p:sp>
      <p:sp>
        <p:nvSpPr>
          <p:cNvPr id="10" name="Text 6"/>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A"/>
        </a:solidFill>
      </p:bgPr>
    </p:bg>
    <p:spTree>
      <p:nvGrpSpPr>
        <p:cNvPr id="1" name=""/>
        <p:cNvGrpSpPr/>
        <p:nvPr/>
      </p:nvGrpSpPr>
      <p:grpSpPr>
        <a:xfrm>
          <a:off x="0" y="0"/>
          <a:ext cx="0" cy="0"/>
          <a:chOff x="0" y="0"/>
          <a:chExt cx="0" cy="0"/>
        </a:xfrm>
      </p:grpSpPr>
      <p:pic>
        <p:nvPicPr>
          <p:cNvPr id="2" name="Image 0" descr="assets/intellea_logo_cropped.png">    </p:cNvPr>
          <p:cNvPicPr>
            <a:picLocks noChangeAspect="1"/>
          </p:cNvPicPr>
          <p:nvPr/>
        </p:nvPicPr>
        <p:blipFill>
          <a:blip r:embed="rId1"/>
          <a:stretch>
            <a:fillRect/>
          </a:stretch>
        </p:blipFill>
        <p:spPr>
          <a:xfrm>
            <a:off x="457200" y="320040"/>
            <a:ext cx="1371600" cy="454323"/>
          </a:xfrm>
          <a:prstGeom prst="rect">
            <a:avLst/>
          </a:prstGeom>
        </p:spPr>
      </p:pic>
      <p:sp>
        <p:nvSpPr>
          <p:cNvPr id="3" name="Text 0"/>
          <p:cNvSpPr txBox="1"/>
          <p:nvPr/>
        </p:nvSpPr>
        <p:spPr>
          <a:xfrm>
            <a:off x="457200" y="118872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MEET RAVI</a:t>
            </a:r>
            <a:endParaRPr lang="en-US" sz="1400" dirty="0"/>
          </a:p>
        </p:txBody>
      </p:sp>
      <p:sp>
        <p:nvSpPr>
          <p:cNvPr id="4" name="Text 1"/>
          <p:cNvSpPr txBox="1"/>
          <p:nvPr/>
        </p:nvSpPr>
        <p:spPr>
          <a:xfrm>
            <a:off x="457200" y="1554480"/>
            <a:ext cx="11155680" cy="822960"/>
          </a:xfrm>
          <a:prstGeom prst="rect">
            <a:avLst/>
          </a:prstGeom>
          <a:noFill/>
          <a:ln/>
        </p:spPr>
        <p:txBody>
          <a:bodyPr wrap="square" rtlCol="0" anchor="ctr"/>
          <a:lstStyle/>
          <a:p>
            <a:pPr indent="0" marL="0">
              <a:buNone/>
            </a:pPr>
            <a:r>
              <a:rPr lang="en-US" sz="3200" b="1" dirty="0">
                <a:solidFill>
                  <a:srgbClr val="1E293B"/>
                </a:solidFill>
                <a:latin typeface="Calibri" pitchFamily="34" charset="0"/>
                <a:ea typeface="Calibri" pitchFamily="34" charset="-122"/>
                <a:cs typeface="Calibri" pitchFamily="34" charset="-120"/>
              </a:rPr>
              <a:t>Today's Journey</a:t>
            </a:r>
            <a:endParaRPr lang="en-US" sz="3200" dirty="0"/>
          </a:p>
        </p:txBody>
      </p:sp>
      <p:sp>
        <p:nvSpPr>
          <p:cNvPr id="5" name="rc_road"/>
          <p:cNvSpPr/>
          <p:nvPr/>
        </p:nvSpPr>
        <p:spPr>
          <a:xfrm>
            <a:off x="457200" y="2240280"/>
            <a:ext cx="11247120" cy="4023360"/>
          </a:xfrm>
          <a:prstGeom prst="roundRect">
            <a:avLst>
              <a:gd name="adj" fmla="val 2273"/>
            </a:avLst>
          </a:prstGeom>
          <a:solidFill>
            <a:srgbClr val="F8FAFC"/>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Shape 3"/>
          <p:cNvSpPr/>
          <p:nvPr/>
        </p:nvSpPr>
        <p:spPr>
          <a:xfrm>
            <a:off x="822960" y="2606040"/>
            <a:ext cx="868680" cy="868680"/>
          </a:xfrm>
          <a:prstGeom prst="ellipse">
            <a:avLst/>
          </a:prstGeom>
          <a:solidFill>
            <a:srgbClr val="FCE7F3"/>
          </a:solidFill>
          <a:ln w="19050">
            <a:solidFill>
              <a:srgbClr val="EC4899"/>
            </a:solidFill>
            <a:prstDash val="solid"/>
          </a:ln>
        </p:spPr>
      </p:sp>
      <p:pic>
        <p:nvPicPr>
          <p:cNvPr id="7" name="Image 1" descr="assets/icon2_user_pink.png">    </p:cNvPr>
          <p:cNvPicPr>
            <a:picLocks noChangeAspect="1"/>
          </p:cNvPicPr>
          <p:nvPr/>
        </p:nvPicPr>
        <p:blipFill>
          <a:blip r:embed="rId2"/>
          <a:stretch>
            <a:fillRect/>
          </a:stretch>
        </p:blipFill>
        <p:spPr>
          <a:xfrm>
            <a:off x="996696" y="2779776"/>
            <a:ext cx="521208" cy="521208"/>
          </a:xfrm>
          <a:prstGeom prst="rect">
            <a:avLst/>
          </a:prstGeom>
        </p:spPr>
      </p:pic>
      <p:sp>
        <p:nvSpPr>
          <p:cNvPr id="8" name="Shape 4"/>
          <p:cNvSpPr/>
          <p:nvPr/>
        </p:nvSpPr>
        <p:spPr>
          <a:xfrm rot="2700000">
            <a:off x="1920240" y="3131820"/>
            <a:ext cx="182880" cy="182880"/>
          </a:xfrm>
          <a:prstGeom prst="rect">
            <a:avLst/>
          </a:prstGeom>
          <a:solidFill>
            <a:srgbClr val="FDF2F8"/>
          </a:solidFill>
          <a:ln w="15875">
            <a:solidFill>
              <a:srgbClr val="EC4899"/>
            </a:solidFill>
            <a:prstDash val="solid"/>
          </a:ln>
        </p:spPr>
      </p:sp>
      <p:sp>
        <p:nvSpPr>
          <p:cNvPr id="9" name="Shape 5"/>
          <p:cNvSpPr/>
          <p:nvPr/>
        </p:nvSpPr>
        <p:spPr>
          <a:xfrm>
            <a:off x="2011680" y="2560320"/>
            <a:ext cx="9418320" cy="1325880"/>
          </a:xfrm>
          <a:prstGeom prst="roundRect">
            <a:avLst>
              <a:gd name="adj" fmla="val 8276"/>
            </a:avLst>
          </a:prstGeom>
          <a:solidFill>
            <a:srgbClr val="FDF2F8"/>
          </a:solidFill>
          <a:ln w="15875">
            <a:solidFill>
              <a:srgbClr val="EC4899"/>
            </a:solidFill>
            <a:prstDash val="solid"/>
          </a:ln>
        </p:spPr>
      </p:sp>
      <p:sp>
        <p:nvSpPr>
          <p:cNvPr id="10" name="Text 6"/>
          <p:cNvSpPr txBox="1"/>
          <p:nvPr/>
        </p:nvSpPr>
        <p:spPr>
          <a:xfrm>
            <a:off x="2194560" y="2560320"/>
            <a:ext cx="9052560" cy="1325880"/>
          </a:xfrm>
          <a:prstGeom prst="rect">
            <a:avLst/>
          </a:prstGeom>
          <a:noFill/>
          <a:ln/>
        </p:spPr>
        <p:txBody>
          <a:bodyPr wrap="square" rtlCol="0" anchor="ctr"/>
          <a:lstStyle/>
          <a:p>
            <a:pPr indent="0" marL="0">
              <a:buNone/>
            </a:pPr>
            <a:r>
              <a:rPr lang="en-US" sz="1900" b="1" dirty="0">
                <a:solidFill>
                  <a:srgbClr val="1E293B"/>
                </a:solidFill>
                <a:latin typeface="Calibri" pitchFamily="34" charset="0"/>
                <a:ea typeface="Calibri" pitchFamily="34" charset="-122"/>
                <a:cs typeface="Calibri" pitchFamily="34" charset="-120"/>
              </a:rPr>
              <a:t>Ravi's student app keeps names, marks and the code to show them in different places.</a:t>
            </a:r>
            <a:endParaRPr lang="en-US" sz="1500" dirty="0"/>
          </a:p>
          <a:p>
            <a:pPr indent="0" marL="0">
              <a:buNone/>
            </a:pPr>
            <a:r>
              <a:rPr lang="en-US" sz="1500" dirty="0">
                <a:solidFill>
                  <a:srgbClr val="64748B"/>
                </a:solidFill>
                <a:latin typeface="Calibri" pitchFamily="34" charset="0"/>
                <a:ea typeface="Calibri" pitchFamily="34" charset="-122"/>
                <a:cs typeface="Calibri" pitchFamily="34" charset="-120"/>
              </a:rPr>
              <a:t>Today he learns to bundle the data and the actions together, and to reuse one class inside another.</a:t>
            </a:r>
            <a:endParaRPr lang="en-US" sz="1500" dirty="0"/>
          </a:p>
        </p:txBody>
      </p:sp>
      <p:sp>
        <p:nvSpPr>
          <p:cNvPr id="11" name="Shape 7"/>
          <p:cNvSpPr/>
          <p:nvPr/>
        </p:nvSpPr>
        <p:spPr>
          <a:xfrm>
            <a:off x="1188720" y="4846320"/>
            <a:ext cx="9784080" cy="0"/>
          </a:xfrm>
          <a:prstGeom prst="line">
            <a:avLst/>
          </a:prstGeom>
          <a:noFill/>
          <a:ln w="38100">
            <a:solidFill>
              <a:srgbClr val="8B5CF6"/>
            </a:solidFill>
            <a:prstDash val="dash"/>
          </a:ln>
        </p:spPr>
      </p:sp>
      <p:sp>
        <p:nvSpPr>
          <p:cNvPr id="12" name="Shape 8"/>
          <p:cNvSpPr/>
          <p:nvPr/>
        </p:nvSpPr>
        <p:spPr>
          <a:xfrm>
            <a:off x="822960" y="4480560"/>
            <a:ext cx="731520" cy="731520"/>
          </a:xfrm>
          <a:prstGeom prst="ellipse">
            <a:avLst/>
          </a:prstGeom>
          <a:solidFill>
            <a:srgbClr val="FFFFFF"/>
          </a:solidFill>
          <a:ln w="31750">
            <a:solidFill>
              <a:srgbClr val="8B5CF6"/>
            </a:solidFill>
            <a:prstDash val="solid"/>
          </a:ln>
        </p:spPr>
      </p:sp>
      <p:pic>
        <p:nvPicPr>
          <p:cNvPr id="13" name="Image 2" descr="assets/icon2_layers_teal.png">    </p:cNvPr>
          <p:cNvPicPr>
            <a:picLocks noChangeAspect="1"/>
          </p:cNvPicPr>
          <p:nvPr/>
        </p:nvPicPr>
        <p:blipFill>
          <a:blip r:embed="rId3"/>
          <a:stretch>
            <a:fillRect/>
          </a:stretch>
        </p:blipFill>
        <p:spPr>
          <a:xfrm>
            <a:off x="987552" y="4645152"/>
            <a:ext cx="402336" cy="402336"/>
          </a:xfrm>
          <a:prstGeom prst="rect">
            <a:avLst/>
          </a:prstGeom>
        </p:spPr>
      </p:pic>
      <p:sp>
        <p:nvSpPr>
          <p:cNvPr id="14" name="Text 9"/>
          <p:cNvSpPr txBox="1"/>
          <p:nvPr/>
        </p:nvSpPr>
        <p:spPr>
          <a:xfrm>
            <a:off x="1005840" y="4133088"/>
            <a:ext cx="365760" cy="274320"/>
          </a:xfrm>
          <a:prstGeom prst="rect">
            <a:avLst/>
          </a:prstGeom>
          <a:noFill/>
          <a:ln/>
        </p:spPr>
        <p:txBody>
          <a:bodyPr wrap="square" rtlCol="0" anchor="ctr"/>
          <a:lstStyle/>
          <a:p>
            <a:pPr algn="ctr" indent="0" marL="0">
              <a:buNone/>
            </a:pPr>
            <a:r>
              <a:rPr lang="en-US" sz="1200" b="1" dirty="0">
                <a:solidFill>
                  <a:srgbClr val="64748B"/>
                </a:solidFill>
                <a:latin typeface="Calibri" pitchFamily="34" charset="0"/>
                <a:ea typeface="Calibri" pitchFamily="34" charset="-122"/>
                <a:cs typeface="Calibri" pitchFamily="34" charset="-120"/>
              </a:rPr>
              <a:t>1</a:t>
            </a:r>
            <a:endParaRPr lang="en-US" sz="1200" dirty="0"/>
          </a:p>
        </p:txBody>
      </p:sp>
      <p:sp>
        <p:nvSpPr>
          <p:cNvPr id="15" name="Text 10"/>
          <p:cNvSpPr txBox="1"/>
          <p:nvPr/>
        </p:nvSpPr>
        <p:spPr>
          <a:xfrm>
            <a:off x="419100" y="5303520"/>
            <a:ext cx="1539240" cy="822960"/>
          </a:xfrm>
          <a:prstGeom prst="rect">
            <a:avLst/>
          </a:prstGeom>
          <a:noFill/>
          <a:ln/>
        </p:spPr>
        <p:txBody>
          <a:bodyPr wrap="square" rtlCol="0" anchor="t"/>
          <a:lstStyle/>
          <a:p>
            <a:pPr algn="ctr" indent="0" marL="0">
              <a:buNone/>
            </a:pPr>
            <a:r>
              <a:rPr lang="en-US" sz="1300" b="1" dirty="0">
                <a:solidFill>
                  <a:srgbClr val="1E293B"/>
                </a:solidFill>
                <a:latin typeface="Calibri" pitchFamily="34" charset="0"/>
                <a:ea typeface="Calibri" pitchFamily="34" charset="-122"/>
                <a:cs typeface="Calibri" pitchFamily="34" charset="-120"/>
              </a:rPr>
              <a:t>Why OOP</a:t>
            </a:r>
            <a:endParaRPr lang="en-US" sz="1300" dirty="0"/>
          </a:p>
        </p:txBody>
      </p:sp>
      <p:sp>
        <p:nvSpPr>
          <p:cNvPr id="16" name="Shape 11"/>
          <p:cNvSpPr/>
          <p:nvPr/>
        </p:nvSpPr>
        <p:spPr>
          <a:xfrm>
            <a:off x="2453640" y="4480560"/>
            <a:ext cx="731520" cy="731520"/>
          </a:xfrm>
          <a:prstGeom prst="ellipse">
            <a:avLst/>
          </a:prstGeom>
          <a:solidFill>
            <a:srgbClr val="FFFFFF"/>
          </a:solidFill>
          <a:ln w="31750">
            <a:solidFill>
              <a:srgbClr val="14B8A6"/>
            </a:solidFill>
            <a:prstDash val="solid"/>
          </a:ln>
        </p:spPr>
      </p:sp>
      <p:pic>
        <p:nvPicPr>
          <p:cNvPr id="17" name="Image 3" descr="assets/icon2_ruler_purple.png">    </p:cNvPr>
          <p:cNvPicPr>
            <a:picLocks noChangeAspect="1"/>
          </p:cNvPicPr>
          <p:nvPr/>
        </p:nvPicPr>
        <p:blipFill>
          <a:blip r:embed="rId4"/>
          <a:stretch>
            <a:fillRect/>
          </a:stretch>
        </p:blipFill>
        <p:spPr>
          <a:xfrm>
            <a:off x="2618232" y="4645152"/>
            <a:ext cx="402336" cy="402336"/>
          </a:xfrm>
          <a:prstGeom prst="rect">
            <a:avLst/>
          </a:prstGeom>
        </p:spPr>
      </p:pic>
      <p:sp>
        <p:nvSpPr>
          <p:cNvPr id="18" name="Text 12"/>
          <p:cNvSpPr txBox="1"/>
          <p:nvPr/>
        </p:nvSpPr>
        <p:spPr>
          <a:xfrm>
            <a:off x="2636520" y="4133088"/>
            <a:ext cx="365760" cy="274320"/>
          </a:xfrm>
          <a:prstGeom prst="rect">
            <a:avLst/>
          </a:prstGeom>
          <a:noFill/>
          <a:ln/>
        </p:spPr>
        <p:txBody>
          <a:bodyPr wrap="square" rtlCol="0" anchor="ctr"/>
          <a:lstStyle/>
          <a:p>
            <a:pPr algn="ctr" indent="0" marL="0">
              <a:buNone/>
            </a:pPr>
            <a:r>
              <a:rPr lang="en-US" sz="1200" b="1" dirty="0">
                <a:solidFill>
                  <a:srgbClr val="64748B"/>
                </a:solidFill>
                <a:latin typeface="Calibri" pitchFamily="34" charset="0"/>
                <a:ea typeface="Calibri" pitchFamily="34" charset="-122"/>
                <a:cs typeface="Calibri" pitchFamily="34" charset="-120"/>
              </a:rPr>
              <a:t>2</a:t>
            </a:r>
            <a:endParaRPr lang="en-US" sz="1200" dirty="0"/>
          </a:p>
        </p:txBody>
      </p:sp>
      <p:sp>
        <p:nvSpPr>
          <p:cNvPr id="19" name="Text 13"/>
          <p:cNvSpPr txBox="1"/>
          <p:nvPr/>
        </p:nvSpPr>
        <p:spPr>
          <a:xfrm>
            <a:off x="2049780" y="5303520"/>
            <a:ext cx="1539240" cy="822960"/>
          </a:xfrm>
          <a:prstGeom prst="rect">
            <a:avLst/>
          </a:prstGeom>
          <a:noFill/>
          <a:ln/>
        </p:spPr>
        <p:txBody>
          <a:bodyPr wrap="square" rtlCol="0" anchor="t"/>
          <a:lstStyle/>
          <a:p>
            <a:pPr algn="ctr" indent="0" marL="0">
              <a:buNone/>
            </a:pPr>
            <a:r>
              <a:rPr lang="en-US" sz="1300" b="1" dirty="0">
                <a:solidFill>
                  <a:srgbClr val="1E293B"/>
                </a:solidFill>
                <a:latin typeface="Calibri" pitchFamily="34" charset="0"/>
                <a:ea typeface="Calibri" pitchFamily="34" charset="-122"/>
                <a:cs typeface="Calibri" pitchFamily="34" charset="-120"/>
              </a:rPr>
              <a:t>Class and object</a:t>
            </a:r>
            <a:endParaRPr lang="en-US" sz="1300" dirty="0"/>
          </a:p>
        </p:txBody>
      </p:sp>
      <p:sp>
        <p:nvSpPr>
          <p:cNvPr id="20" name="Shape 14"/>
          <p:cNvSpPr/>
          <p:nvPr/>
        </p:nvSpPr>
        <p:spPr>
          <a:xfrm>
            <a:off x="4084320" y="4480560"/>
            <a:ext cx="731520" cy="731520"/>
          </a:xfrm>
          <a:prstGeom prst="ellipse">
            <a:avLst/>
          </a:prstGeom>
          <a:solidFill>
            <a:srgbClr val="FFFFFF"/>
          </a:solidFill>
          <a:ln w="31750">
            <a:solidFill>
              <a:srgbClr val="8B5CF6"/>
            </a:solidFill>
            <a:prstDash val="solid"/>
          </a:ln>
        </p:spPr>
      </p:sp>
      <p:pic>
        <p:nvPicPr>
          <p:cNvPr id="21" name="Image 4" descr="assets/icon2_settings_navy.png">    </p:cNvPr>
          <p:cNvPicPr>
            <a:picLocks noChangeAspect="1"/>
          </p:cNvPicPr>
          <p:nvPr/>
        </p:nvPicPr>
        <p:blipFill>
          <a:blip r:embed="rId5"/>
          <a:stretch>
            <a:fillRect/>
          </a:stretch>
        </p:blipFill>
        <p:spPr>
          <a:xfrm>
            <a:off x="4248912" y="4645152"/>
            <a:ext cx="402336" cy="402336"/>
          </a:xfrm>
          <a:prstGeom prst="rect">
            <a:avLst/>
          </a:prstGeom>
        </p:spPr>
      </p:pic>
      <p:sp>
        <p:nvSpPr>
          <p:cNvPr id="22" name="Text 15"/>
          <p:cNvSpPr txBox="1"/>
          <p:nvPr/>
        </p:nvSpPr>
        <p:spPr>
          <a:xfrm>
            <a:off x="4267200" y="4133088"/>
            <a:ext cx="365760" cy="274320"/>
          </a:xfrm>
          <a:prstGeom prst="rect">
            <a:avLst/>
          </a:prstGeom>
          <a:noFill/>
          <a:ln/>
        </p:spPr>
        <p:txBody>
          <a:bodyPr wrap="square" rtlCol="0" anchor="ctr"/>
          <a:lstStyle/>
          <a:p>
            <a:pPr algn="ctr" indent="0" marL="0">
              <a:buNone/>
            </a:pPr>
            <a:r>
              <a:rPr lang="en-US" sz="1200" b="1" dirty="0">
                <a:solidFill>
                  <a:srgbClr val="64748B"/>
                </a:solidFill>
                <a:latin typeface="Calibri" pitchFamily="34" charset="0"/>
                <a:ea typeface="Calibri" pitchFamily="34" charset="-122"/>
                <a:cs typeface="Calibri" pitchFamily="34" charset="-120"/>
              </a:rPr>
              <a:t>3</a:t>
            </a:r>
            <a:endParaRPr lang="en-US" sz="1200" dirty="0"/>
          </a:p>
        </p:txBody>
      </p:sp>
      <p:sp>
        <p:nvSpPr>
          <p:cNvPr id="23" name="Text 16"/>
          <p:cNvSpPr txBox="1"/>
          <p:nvPr/>
        </p:nvSpPr>
        <p:spPr>
          <a:xfrm>
            <a:off x="3680460" y="5303520"/>
            <a:ext cx="1539240" cy="822960"/>
          </a:xfrm>
          <a:prstGeom prst="rect">
            <a:avLst/>
          </a:prstGeom>
          <a:noFill/>
          <a:ln/>
        </p:spPr>
        <p:txBody>
          <a:bodyPr wrap="square" rtlCol="0" anchor="t"/>
          <a:lstStyle/>
          <a:p>
            <a:pPr algn="ctr" indent="0" marL="0">
              <a:buNone/>
            </a:pPr>
            <a:r>
              <a:rPr lang="en-US" sz="1300" b="1" dirty="0">
                <a:solidFill>
                  <a:srgbClr val="1E293B"/>
                </a:solidFill>
                <a:latin typeface="Calibri" pitchFamily="34" charset="0"/>
                <a:ea typeface="Calibri" pitchFamily="34" charset="-122"/>
                <a:cs typeface="Calibri" pitchFamily="34" charset="-120"/>
              </a:rPr>
              <a:t>init and self</a:t>
            </a:r>
            <a:endParaRPr lang="en-US" sz="1300" dirty="0"/>
          </a:p>
        </p:txBody>
      </p:sp>
      <p:sp>
        <p:nvSpPr>
          <p:cNvPr id="24" name="Shape 17"/>
          <p:cNvSpPr/>
          <p:nvPr/>
        </p:nvSpPr>
        <p:spPr>
          <a:xfrm>
            <a:off x="5715000" y="4480560"/>
            <a:ext cx="731520" cy="731520"/>
          </a:xfrm>
          <a:prstGeom prst="ellipse">
            <a:avLst/>
          </a:prstGeom>
          <a:solidFill>
            <a:srgbClr val="FFFFFF"/>
          </a:solidFill>
          <a:ln w="31750">
            <a:solidFill>
              <a:srgbClr val="14B8A6"/>
            </a:solidFill>
            <a:prstDash val="solid"/>
          </a:ln>
        </p:spPr>
      </p:sp>
      <p:pic>
        <p:nvPicPr>
          <p:cNvPr id="25" name="Image 5" descr="assets/icon2_idcard_purple.png">    </p:cNvPr>
          <p:cNvPicPr>
            <a:picLocks noChangeAspect="1"/>
          </p:cNvPicPr>
          <p:nvPr/>
        </p:nvPicPr>
        <p:blipFill>
          <a:blip r:embed="rId6"/>
          <a:stretch>
            <a:fillRect/>
          </a:stretch>
        </p:blipFill>
        <p:spPr>
          <a:xfrm>
            <a:off x="5879592" y="4645152"/>
            <a:ext cx="402336" cy="402336"/>
          </a:xfrm>
          <a:prstGeom prst="rect">
            <a:avLst/>
          </a:prstGeom>
        </p:spPr>
      </p:pic>
      <p:sp>
        <p:nvSpPr>
          <p:cNvPr id="26" name="Text 18"/>
          <p:cNvSpPr txBox="1"/>
          <p:nvPr/>
        </p:nvSpPr>
        <p:spPr>
          <a:xfrm>
            <a:off x="5897880" y="4133088"/>
            <a:ext cx="365760" cy="274320"/>
          </a:xfrm>
          <a:prstGeom prst="rect">
            <a:avLst/>
          </a:prstGeom>
          <a:noFill/>
          <a:ln/>
        </p:spPr>
        <p:txBody>
          <a:bodyPr wrap="square" rtlCol="0" anchor="ctr"/>
          <a:lstStyle/>
          <a:p>
            <a:pPr algn="ctr" indent="0" marL="0">
              <a:buNone/>
            </a:pPr>
            <a:r>
              <a:rPr lang="en-US" sz="1200" b="1" dirty="0">
                <a:solidFill>
                  <a:srgbClr val="64748B"/>
                </a:solidFill>
                <a:latin typeface="Calibri" pitchFamily="34" charset="0"/>
                <a:ea typeface="Calibri" pitchFamily="34" charset="-122"/>
                <a:cs typeface="Calibri" pitchFamily="34" charset="-120"/>
              </a:rPr>
              <a:t>4</a:t>
            </a:r>
            <a:endParaRPr lang="en-US" sz="1200" dirty="0"/>
          </a:p>
        </p:txBody>
      </p:sp>
      <p:sp>
        <p:nvSpPr>
          <p:cNvPr id="27" name="Text 19"/>
          <p:cNvSpPr txBox="1"/>
          <p:nvPr/>
        </p:nvSpPr>
        <p:spPr>
          <a:xfrm>
            <a:off x="5311140" y="5303520"/>
            <a:ext cx="1539240" cy="822960"/>
          </a:xfrm>
          <a:prstGeom prst="rect">
            <a:avLst/>
          </a:prstGeom>
          <a:noFill/>
          <a:ln/>
        </p:spPr>
        <p:txBody>
          <a:bodyPr wrap="square" rtlCol="0" anchor="t"/>
          <a:lstStyle/>
          <a:p>
            <a:pPr algn="ctr" indent="0" marL="0">
              <a:buNone/>
            </a:pPr>
            <a:r>
              <a:rPr lang="en-US" sz="1300" b="1" dirty="0">
                <a:solidFill>
                  <a:srgbClr val="1E293B"/>
                </a:solidFill>
                <a:latin typeface="Calibri" pitchFamily="34" charset="0"/>
                <a:ea typeface="Calibri" pitchFamily="34" charset="-122"/>
                <a:cs typeface="Calibri" pitchFamily="34" charset="-120"/>
              </a:rPr>
              <a:t>Attributes, methods</a:t>
            </a:r>
            <a:endParaRPr lang="en-US" sz="1300" dirty="0"/>
          </a:p>
        </p:txBody>
      </p:sp>
      <p:sp>
        <p:nvSpPr>
          <p:cNvPr id="28" name="Shape 20"/>
          <p:cNvSpPr/>
          <p:nvPr/>
        </p:nvSpPr>
        <p:spPr>
          <a:xfrm>
            <a:off x="7345680" y="4480560"/>
            <a:ext cx="731520" cy="731520"/>
          </a:xfrm>
          <a:prstGeom prst="ellipse">
            <a:avLst/>
          </a:prstGeom>
          <a:solidFill>
            <a:srgbClr val="FFFFFF"/>
          </a:solidFill>
          <a:ln w="31750">
            <a:solidFill>
              <a:srgbClr val="8B5CF6"/>
            </a:solidFill>
            <a:prstDash val="solid"/>
          </a:ln>
        </p:spPr>
      </p:sp>
      <p:pic>
        <p:nvPicPr>
          <p:cNvPr id="29" name="Image 6" descr="assets/icon2_building_navy.png">    </p:cNvPr>
          <p:cNvPicPr>
            <a:picLocks noChangeAspect="1"/>
          </p:cNvPicPr>
          <p:nvPr/>
        </p:nvPicPr>
        <p:blipFill>
          <a:blip r:embed="rId7"/>
          <a:stretch>
            <a:fillRect/>
          </a:stretch>
        </p:blipFill>
        <p:spPr>
          <a:xfrm>
            <a:off x="7510272" y="4645152"/>
            <a:ext cx="402336" cy="402336"/>
          </a:xfrm>
          <a:prstGeom prst="rect">
            <a:avLst/>
          </a:prstGeom>
        </p:spPr>
      </p:pic>
      <p:sp>
        <p:nvSpPr>
          <p:cNvPr id="30" name="Text 21"/>
          <p:cNvSpPr txBox="1"/>
          <p:nvPr/>
        </p:nvSpPr>
        <p:spPr>
          <a:xfrm>
            <a:off x="7528560" y="4133088"/>
            <a:ext cx="365760" cy="274320"/>
          </a:xfrm>
          <a:prstGeom prst="rect">
            <a:avLst/>
          </a:prstGeom>
          <a:noFill/>
          <a:ln/>
        </p:spPr>
        <p:txBody>
          <a:bodyPr wrap="square" rtlCol="0" anchor="ctr"/>
          <a:lstStyle/>
          <a:p>
            <a:pPr algn="ctr" indent="0" marL="0">
              <a:buNone/>
            </a:pPr>
            <a:r>
              <a:rPr lang="en-US" sz="1200" b="1" dirty="0">
                <a:solidFill>
                  <a:srgbClr val="64748B"/>
                </a:solidFill>
                <a:latin typeface="Calibri" pitchFamily="34" charset="0"/>
                <a:ea typeface="Calibri" pitchFamily="34" charset="-122"/>
                <a:cs typeface="Calibri" pitchFamily="34" charset="-120"/>
              </a:rPr>
              <a:t>5</a:t>
            </a:r>
            <a:endParaRPr lang="en-US" sz="1200" dirty="0"/>
          </a:p>
        </p:txBody>
      </p:sp>
      <p:sp>
        <p:nvSpPr>
          <p:cNvPr id="31" name="Text 22"/>
          <p:cNvSpPr txBox="1"/>
          <p:nvPr/>
        </p:nvSpPr>
        <p:spPr>
          <a:xfrm>
            <a:off x="6941820" y="5303520"/>
            <a:ext cx="1539240" cy="822960"/>
          </a:xfrm>
          <a:prstGeom prst="rect">
            <a:avLst/>
          </a:prstGeom>
          <a:noFill/>
          <a:ln/>
        </p:spPr>
        <p:txBody>
          <a:bodyPr wrap="square" rtlCol="0" anchor="t"/>
          <a:lstStyle/>
          <a:p>
            <a:pPr algn="ctr" indent="0" marL="0">
              <a:buNone/>
            </a:pPr>
            <a:r>
              <a:rPr lang="en-US" sz="1300" b="1" dirty="0">
                <a:solidFill>
                  <a:srgbClr val="1E293B"/>
                </a:solidFill>
                <a:latin typeface="Calibri" pitchFamily="34" charset="0"/>
                <a:ea typeface="Calibri" pitchFamily="34" charset="-122"/>
                <a:cs typeface="Calibri" pitchFamily="34" charset="-120"/>
              </a:rPr>
              <a:t>Class attribute</a:t>
            </a:r>
            <a:endParaRPr lang="en-US" sz="1300" dirty="0"/>
          </a:p>
        </p:txBody>
      </p:sp>
      <p:sp>
        <p:nvSpPr>
          <p:cNvPr id="32" name="Shape 23"/>
          <p:cNvSpPr/>
          <p:nvPr/>
        </p:nvSpPr>
        <p:spPr>
          <a:xfrm>
            <a:off x="8976360" y="4480560"/>
            <a:ext cx="731520" cy="731520"/>
          </a:xfrm>
          <a:prstGeom prst="ellipse">
            <a:avLst/>
          </a:prstGeom>
          <a:solidFill>
            <a:srgbClr val="FFFFFF"/>
          </a:solidFill>
          <a:ln w="31750">
            <a:solidFill>
              <a:srgbClr val="14B8A6"/>
            </a:solidFill>
            <a:prstDash val="solid"/>
          </a:ln>
        </p:spPr>
      </p:sp>
      <p:pic>
        <p:nvPicPr>
          <p:cNvPr id="33" name="Image 7" descr="assets/icon2_network_teal.png">    </p:cNvPr>
          <p:cNvPicPr>
            <a:picLocks noChangeAspect="1"/>
          </p:cNvPicPr>
          <p:nvPr/>
        </p:nvPicPr>
        <p:blipFill>
          <a:blip r:embed="rId8"/>
          <a:stretch>
            <a:fillRect/>
          </a:stretch>
        </p:blipFill>
        <p:spPr>
          <a:xfrm>
            <a:off x="9140952" y="4645152"/>
            <a:ext cx="402336" cy="402336"/>
          </a:xfrm>
          <a:prstGeom prst="rect">
            <a:avLst/>
          </a:prstGeom>
        </p:spPr>
      </p:pic>
      <p:sp>
        <p:nvSpPr>
          <p:cNvPr id="34" name="Text 24"/>
          <p:cNvSpPr txBox="1"/>
          <p:nvPr/>
        </p:nvSpPr>
        <p:spPr>
          <a:xfrm>
            <a:off x="9159240" y="4133088"/>
            <a:ext cx="365760" cy="274320"/>
          </a:xfrm>
          <a:prstGeom prst="rect">
            <a:avLst/>
          </a:prstGeom>
          <a:noFill/>
          <a:ln/>
        </p:spPr>
        <p:txBody>
          <a:bodyPr wrap="square" rtlCol="0" anchor="ctr"/>
          <a:lstStyle/>
          <a:p>
            <a:pPr algn="ctr" indent="0" marL="0">
              <a:buNone/>
            </a:pPr>
            <a:r>
              <a:rPr lang="en-US" sz="1200" b="1" dirty="0">
                <a:solidFill>
                  <a:srgbClr val="64748B"/>
                </a:solidFill>
                <a:latin typeface="Calibri" pitchFamily="34" charset="0"/>
                <a:ea typeface="Calibri" pitchFamily="34" charset="-122"/>
                <a:cs typeface="Calibri" pitchFamily="34" charset="-120"/>
              </a:rPr>
              <a:t>6</a:t>
            </a:r>
            <a:endParaRPr lang="en-US" sz="1200" dirty="0"/>
          </a:p>
        </p:txBody>
      </p:sp>
      <p:sp>
        <p:nvSpPr>
          <p:cNvPr id="35" name="Text 25"/>
          <p:cNvSpPr txBox="1"/>
          <p:nvPr/>
        </p:nvSpPr>
        <p:spPr>
          <a:xfrm>
            <a:off x="8572500" y="5303520"/>
            <a:ext cx="1539240" cy="822960"/>
          </a:xfrm>
          <a:prstGeom prst="rect">
            <a:avLst/>
          </a:prstGeom>
          <a:noFill/>
          <a:ln/>
        </p:spPr>
        <p:txBody>
          <a:bodyPr wrap="square" rtlCol="0" anchor="t"/>
          <a:lstStyle/>
          <a:p>
            <a:pPr algn="ctr" indent="0" marL="0">
              <a:buNone/>
            </a:pPr>
            <a:r>
              <a:rPr lang="en-US" sz="1300" b="1" dirty="0">
                <a:solidFill>
                  <a:srgbClr val="1E293B"/>
                </a:solidFill>
                <a:latin typeface="Calibri" pitchFamily="34" charset="0"/>
                <a:ea typeface="Calibri" pitchFamily="34" charset="-122"/>
                <a:cs typeface="Calibri" pitchFamily="34" charset="-120"/>
              </a:rPr>
              <a:t>Inheritance</a:t>
            </a:r>
            <a:endParaRPr lang="en-US" sz="1300" dirty="0"/>
          </a:p>
        </p:txBody>
      </p:sp>
      <p:sp>
        <p:nvSpPr>
          <p:cNvPr id="36" name="Shape 26"/>
          <p:cNvSpPr/>
          <p:nvPr/>
        </p:nvSpPr>
        <p:spPr>
          <a:xfrm>
            <a:off x="10607040" y="4480560"/>
            <a:ext cx="731520" cy="731520"/>
          </a:xfrm>
          <a:prstGeom prst="ellipse">
            <a:avLst/>
          </a:prstGeom>
          <a:solidFill>
            <a:srgbClr val="FFFFFF"/>
          </a:solidFill>
          <a:ln w="31750">
            <a:solidFill>
              <a:srgbClr val="8B5CF6"/>
            </a:solidFill>
            <a:prstDash val="solid"/>
          </a:ln>
        </p:spPr>
      </p:sp>
      <p:pic>
        <p:nvPicPr>
          <p:cNvPr id="37" name="Image 8" descr="assets/icon2_gitbranch_purple.png">    </p:cNvPr>
          <p:cNvPicPr>
            <a:picLocks noChangeAspect="1"/>
          </p:cNvPicPr>
          <p:nvPr/>
        </p:nvPicPr>
        <p:blipFill>
          <a:blip r:embed="rId9"/>
          <a:stretch>
            <a:fillRect/>
          </a:stretch>
        </p:blipFill>
        <p:spPr>
          <a:xfrm>
            <a:off x="10771632" y="4645152"/>
            <a:ext cx="402336" cy="402336"/>
          </a:xfrm>
          <a:prstGeom prst="rect">
            <a:avLst/>
          </a:prstGeom>
        </p:spPr>
      </p:pic>
      <p:sp>
        <p:nvSpPr>
          <p:cNvPr id="38" name="Text 27"/>
          <p:cNvSpPr txBox="1"/>
          <p:nvPr/>
        </p:nvSpPr>
        <p:spPr>
          <a:xfrm>
            <a:off x="10789920" y="4133088"/>
            <a:ext cx="365760" cy="274320"/>
          </a:xfrm>
          <a:prstGeom prst="rect">
            <a:avLst/>
          </a:prstGeom>
          <a:noFill/>
          <a:ln/>
        </p:spPr>
        <p:txBody>
          <a:bodyPr wrap="square" rtlCol="0" anchor="ctr"/>
          <a:lstStyle/>
          <a:p>
            <a:pPr algn="ctr" indent="0" marL="0">
              <a:buNone/>
            </a:pPr>
            <a:r>
              <a:rPr lang="en-US" sz="1200" b="1" dirty="0">
                <a:solidFill>
                  <a:srgbClr val="64748B"/>
                </a:solidFill>
                <a:latin typeface="Calibri" pitchFamily="34" charset="0"/>
                <a:ea typeface="Calibri" pitchFamily="34" charset="-122"/>
                <a:cs typeface="Calibri" pitchFamily="34" charset="-120"/>
              </a:rPr>
              <a:t>7</a:t>
            </a:r>
            <a:endParaRPr lang="en-US" sz="1200" dirty="0"/>
          </a:p>
        </p:txBody>
      </p:sp>
      <p:sp>
        <p:nvSpPr>
          <p:cNvPr id="39" name="Text 28"/>
          <p:cNvSpPr txBox="1"/>
          <p:nvPr/>
        </p:nvSpPr>
        <p:spPr>
          <a:xfrm>
            <a:off x="10203180" y="5303520"/>
            <a:ext cx="1539240" cy="822960"/>
          </a:xfrm>
          <a:prstGeom prst="rect">
            <a:avLst/>
          </a:prstGeom>
          <a:noFill/>
          <a:ln/>
        </p:spPr>
        <p:txBody>
          <a:bodyPr wrap="square" rtlCol="0" anchor="t"/>
          <a:lstStyle/>
          <a:p>
            <a:pPr algn="ctr" indent="0" marL="0">
              <a:buNone/>
            </a:pPr>
            <a:r>
              <a:rPr lang="en-US" sz="1300" b="1" dirty="0">
                <a:solidFill>
                  <a:srgbClr val="1E293B"/>
                </a:solidFill>
                <a:latin typeface="Calibri" pitchFamily="34" charset="0"/>
                <a:ea typeface="Calibri" pitchFamily="34" charset="-122"/>
                <a:cs typeface="Calibri" pitchFamily="34" charset="-120"/>
              </a:rPr>
              <a:t>Types and super</a:t>
            </a:r>
            <a:endParaRPr lang="en-US" sz="1300" dirty="0"/>
          </a:p>
        </p:txBody>
      </p:sp>
      <p:sp>
        <p:nvSpPr>
          <p:cNvPr id="40" name="Text 29"/>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OOP Fundamentals and Inheritance  ·  Week 3  ·  Day 12</a:t>
            </a:r>
            <a:endParaRPr lang="en-US" sz="1000" dirty="0"/>
          </a:p>
        </p:txBody>
      </p:sp>
      <p:sp>
        <p:nvSpPr>
          <p:cNvPr id="41" name="Text 30"/>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pic>
        <p:nvPicPr>
          <p:cNvPr id="2" name="Image 0" descr="assets/bloom_purple.png">    </p:cNvPr>
          <p:cNvPicPr>
            <a:picLocks noChangeAspect="1"/>
          </p:cNvPicPr>
          <p:nvPr/>
        </p:nvPicPr>
        <p:blipFill>
          <a:blip r:embed="rId1"/>
          <a:stretch>
            <a:fillRect/>
          </a:stretch>
        </p:blipFill>
        <p:spPr>
          <a:xfrm>
            <a:off x="-1828800" y="-1828800"/>
            <a:ext cx="6858000" cy="6858000"/>
          </a:xfrm>
          <a:prstGeom prst="rect">
            <a:avLst/>
          </a:prstGeom>
        </p:spPr>
      </p:pic>
      <p:pic>
        <p:nvPicPr>
          <p:cNvPr id="3" name="Image 1" descr="assets/bloom_pink.png">    </p:cNvPr>
          <p:cNvPicPr>
            <a:picLocks noChangeAspect="1"/>
          </p:cNvPicPr>
          <p:nvPr/>
        </p:nvPicPr>
        <p:blipFill>
          <a:blip r:embed="rId2"/>
          <a:stretch>
            <a:fillRect/>
          </a:stretch>
        </p:blipFill>
        <p:spPr>
          <a:xfrm>
            <a:off x="7772400" y="2286000"/>
            <a:ext cx="6400800" cy="6400800"/>
          </a:xfrm>
          <a:prstGeom prst="rect">
            <a:avLst/>
          </a:prstGeom>
        </p:spPr>
      </p:pic>
      <p:sp>
        <p:nvSpPr>
          <p:cNvPr id="4" name="Text 0"/>
          <p:cNvSpPr txBox="1"/>
          <p:nvPr/>
        </p:nvSpPr>
        <p:spPr>
          <a:xfrm>
            <a:off x="457200" y="320040"/>
            <a:ext cx="2286000" cy="45720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intellea</a:t>
            </a:r>
            <a:endParaRPr lang="en-US" sz="2200" dirty="0"/>
          </a:p>
        </p:txBody>
      </p:sp>
      <p:sp>
        <p:nvSpPr>
          <p:cNvPr id="5" name="Text 1"/>
          <p:cNvSpPr txBox="1"/>
          <p:nvPr/>
        </p:nvSpPr>
        <p:spPr>
          <a:xfrm>
            <a:off x="457200" y="109728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TOPIC 1</a:t>
            </a:r>
            <a:endParaRPr lang="en-US" sz="1400" dirty="0"/>
          </a:p>
        </p:txBody>
      </p:sp>
      <p:sp>
        <p:nvSpPr>
          <p:cNvPr id="6" name="Text 2"/>
          <p:cNvSpPr txBox="1"/>
          <p:nvPr/>
        </p:nvSpPr>
        <p:spPr>
          <a:xfrm>
            <a:off x="457200" y="1417320"/>
            <a:ext cx="10972800" cy="7315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What Is OOP?</a:t>
            </a:r>
            <a:endParaRPr lang="en-US" sz="3000" dirty="0"/>
          </a:p>
        </p:txBody>
      </p:sp>
      <p:sp>
        <p:nvSpPr>
          <p:cNvPr id="7" name="rc_topic"/>
          <p:cNvSpPr/>
          <p:nvPr/>
        </p:nvSpPr>
        <p:spPr>
          <a:xfrm>
            <a:off x="457200" y="2286000"/>
            <a:ext cx="11247120" cy="3977640"/>
          </a:xfrm>
          <a:prstGeom prst="roundRect">
            <a:avLst>
              <a:gd name="adj" fmla="val 2299"/>
            </a:avLst>
          </a:prstGeom>
          <a:solidFill>
            <a:srgbClr val="0F172A"/>
          </a:solidFill>
          <a:ln w="12700">
            <a:solidFill>
              <a:srgbClr val="334155"/>
            </a:solidFill>
            <a:prstDash val="solid"/>
          </a:ln>
          <a:effectLst>
            <a:outerShdw sx="100000" sy="100000" kx="0" ky="0" algn="bl" rotWithShape="0" blurRad="76200" dist="25400" dir="5400000">
              <a:srgbClr val="000000">
                <a:alpha val="8000"/>
              </a:srgbClr>
            </a:outerShdw>
          </a:effectLst>
        </p:spPr>
      </p:sp>
      <p:sp>
        <p:nvSpPr>
          <p:cNvPr id="8" name="Text 4"/>
          <p:cNvSpPr txBox="1"/>
          <p:nvPr/>
        </p:nvSpPr>
        <p:spPr>
          <a:xfrm>
            <a:off x="914400" y="2450592"/>
            <a:ext cx="9601200" cy="292608"/>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Real time example</a:t>
            </a:r>
            <a:endParaRPr lang="en-US" sz="1400" dirty="0"/>
          </a:p>
        </p:txBody>
      </p:sp>
      <p:sp>
        <p:nvSpPr>
          <p:cNvPr id="9" name="Text 5"/>
          <p:cNvSpPr txBox="1"/>
          <p:nvPr/>
        </p:nvSpPr>
        <p:spPr>
          <a:xfrm>
            <a:off x="914400" y="2761488"/>
            <a:ext cx="10332720" cy="868680"/>
          </a:xfrm>
          <a:prstGeom prst="rect">
            <a:avLst/>
          </a:prstGeom>
          <a:noFill/>
          <a:ln/>
        </p:spPr>
        <p:txBody>
          <a:bodyPr wrap="square" rtlCol="0" anchor="t"/>
          <a:lstStyle/>
          <a:p>
            <a:pPr indent="0" marL="0">
              <a:lnSpc>
                <a:spcPct val="110000"/>
              </a:lnSpc>
              <a:buNone/>
            </a:pPr>
            <a:r>
              <a:rPr lang="en-US" sz="1600" dirty="0">
                <a:solidFill>
                  <a:srgbClr val="CBD5E1"/>
                </a:solidFill>
                <a:latin typeface="Calibri" pitchFamily="34" charset="0"/>
                <a:ea typeface="Calibri" pitchFamily="34" charset="-122"/>
                <a:cs typeface="Calibri" pitchFamily="34" charset="-120"/>
              </a:rPr>
              <a:t>A school office keeps one card for every student. The card holds the details such as name, roll number and marks. The office also has fixed actions for it, such as show the details, update them and add up the total.</a:t>
            </a:r>
            <a:endParaRPr lang="en-US" sz="1600" dirty="0"/>
          </a:p>
        </p:txBody>
      </p:sp>
      <p:sp>
        <p:nvSpPr>
          <p:cNvPr id="10" name="Text 6"/>
          <p:cNvSpPr txBox="1"/>
          <p:nvPr/>
        </p:nvSpPr>
        <p:spPr>
          <a:xfrm>
            <a:off x="914400" y="3712464"/>
            <a:ext cx="9601200" cy="292608"/>
          </a:xfrm>
          <a:prstGeom prst="rect">
            <a:avLst/>
          </a:prstGeom>
          <a:noFill/>
          <a:ln/>
        </p:spPr>
        <p:txBody>
          <a:bodyPr wrap="square" rtlCol="0" anchor="ctr"/>
          <a:lstStyle/>
          <a:p>
            <a:pPr indent="0" marL="0">
              <a:buNone/>
            </a:pPr>
            <a:r>
              <a:rPr lang="en-US" sz="1400" b="1" dirty="0">
                <a:solidFill>
                  <a:srgbClr val="F97316"/>
                </a:solidFill>
                <a:latin typeface="Calibri" pitchFamily="34" charset="0"/>
                <a:ea typeface="Calibri" pitchFamily="34" charset="-122"/>
                <a:cs typeface="Calibri" pitchFamily="34" charset="-120"/>
              </a:rPr>
              <a:t>Definition</a:t>
            </a:r>
            <a:endParaRPr lang="en-US" sz="1400" dirty="0"/>
          </a:p>
        </p:txBody>
      </p:sp>
      <p:sp>
        <p:nvSpPr>
          <p:cNvPr id="11" name="Text 7"/>
          <p:cNvSpPr txBox="1"/>
          <p:nvPr/>
        </p:nvSpPr>
        <p:spPr>
          <a:xfrm>
            <a:off x="914400" y="4023360"/>
            <a:ext cx="10332720" cy="868680"/>
          </a:xfrm>
          <a:prstGeom prst="rect">
            <a:avLst/>
          </a:prstGeom>
          <a:noFill/>
          <a:ln/>
        </p:spPr>
        <p:txBody>
          <a:bodyPr wrap="square" rtlCol="0" anchor="t"/>
          <a:lstStyle/>
          <a:p>
            <a:pPr indent="0" marL="0">
              <a:lnSpc>
                <a:spcPct val="110000"/>
              </a:lnSpc>
              <a:buNone/>
            </a:pPr>
            <a:r>
              <a:rPr lang="en-US" sz="1800" b="1" dirty="0">
                <a:solidFill>
                  <a:srgbClr val="FFFFFF"/>
                </a:solidFill>
                <a:latin typeface="Calibri" pitchFamily="34" charset="0"/>
                <a:ea typeface="Calibri" pitchFamily="34" charset="-122"/>
                <a:cs typeface="Calibri" pitchFamily="34" charset="-120"/>
              </a:rPr>
              <a:t>Object oriented programming organises a program around objects. Each object bundles its own data, called attributes, with its own actions, called methods.</a:t>
            </a:r>
            <a:endParaRPr lang="en-US" sz="1800" dirty="0"/>
          </a:p>
        </p:txBody>
      </p:sp>
      <p:sp>
        <p:nvSpPr>
          <p:cNvPr id="12" name="Text 8"/>
          <p:cNvSpPr txBox="1"/>
          <p:nvPr/>
        </p:nvSpPr>
        <p:spPr>
          <a:xfrm>
            <a:off x="914400" y="4974336"/>
            <a:ext cx="9601200" cy="292608"/>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Where it is used</a:t>
            </a:r>
            <a:endParaRPr lang="en-US" sz="1400" dirty="0"/>
          </a:p>
        </p:txBody>
      </p:sp>
      <p:sp>
        <p:nvSpPr>
          <p:cNvPr id="13" name="Text 9"/>
          <p:cNvSpPr txBox="1"/>
          <p:nvPr/>
        </p:nvSpPr>
        <p:spPr>
          <a:xfrm>
            <a:off x="914400" y="5285232"/>
            <a:ext cx="10332720" cy="868680"/>
          </a:xfrm>
          <a:prstGeom prst="rect">
            <a:avLst/>
          </a:prstGeom>
          <a:noFill/>
          <a:ln/>
        </p:spPr>
        <p:txBody>
          <a:bodyPr wrap="square" rtlCol="0" anchor="t"/>
          <a:lstStyle/>
          <a:p>
            <a:pPr indent="0" marL="0">
              <a:lnSpc>
                <a:spcPct val="110000"/>
              </a:lnSpc>
              <a:buNone/>
            </a:pPr>
            <a:r>
              <a:rPr lang="en-US" sz="1600" dirty="0">
                <a:solidFill>
                  <a:srgbClr val="CBD5E1"/>
                </a:solidFill>
                <a:latin typeface="Calibri" pitchFamily="34" charset="0"/>
                <a:ea typeface="Calibri" pitchFamily="34" charset="-122"/>
                <a:cs typeface="Calibri" pitchFamily="34" charset="-120"/>
              </a:rPr>
              <a:t>Almost every large application. Banking, shopping and school systems are all built from objects such as accounts, orders and students.</a:t>
            </a:r>
            <a:endParaRPr lang="en-US" sz="1600" dirty="0"/>
          </a:p>
        </p:txBody>
      </p:sp>
      <p:sp>
        <p:nvSpPr>
          <p:cNvPr id="14" name="Text 10"/>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OOP Fundamentals and Inheritance  ·  Week 3  ·  Day 12</a:t>
            </a:r>
            <a:endParaRPr lang="en-US" sz="1000" dirty="0"/>
          </a:p>
        </p:txBody>
      </p:sp>
      <p:sp>
        <p:nvSpPr>
          <p:cNvPr id="15" name="Text 11"/>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A"/>
        </a:solidFill>
      </p:bgPr>
    </p:bg>
    <p:spTree>
      <p:nvGrpSpPr>
        <p:cNvPr id="1" name=""/>
        <p:cNvGrpSpPr/>
        <p:nvPr/>
      </p:nvGrpSpPr>
      <p:grpSpPr>
        <a:xfrm>
          <a:off x="0" y="0"/>
          <a:ext cx="0" cy="0"/>
          <a:chOff x="0" y="0"/>
          <a:chExt cx="0" cy="0"/>
        </a:xfrm>
      </p:grpSpPr>
      <p:pic>
        <p:nvPicPr>
          <p:cNvPr id="2" name="Image 0" descr="assets/intellea_logo_cropped.png">    </p:cNvPr>
          <p:cNvPicPr>
            <a:picLocks noChangeAspect="1"/>
          </p:cNvPicPr>
          <p:nvPr/>
        </p:nvPicPr>
        <p:blipFill>
          <a:blip r:embed="rId1"/>
          <a:stretch>
            <a:fillRect/>
          </a:stretch>
        </p:blipFill>
        <p:spPr>
          <a:xfrm>
            <a:off x="457200" y="320040"/>
            <a:ext cx="1371600" cy="454323"/>
          </a:xfrm>
          <a:prstGeom prst="rect">
            <a:avLst/>
          </a:prstGeom>
        </p:spPr>
      </p:pic>
      <p:sp>
        <p:nvSpPr>
          <p:cNvPr id="3" name="Text 0"/>
          <p:cNvSpPr txBox="1"/>
          <p:nvPr/>
        </p:nvSpPr>
        <p:spPr>
          <a:xfrm>
            <a:off x="457200" y="96012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OOP IN PICTURES</a:t>
            </a:r>
            <a:endParaRPr lang="en-US" sz="1400" dirty="0"/>
          </a:p>
        </p:txBody>
      </p:sp>
      <p:sp>
        <p:nvSpPr>
          <p:cNvPr id="4" name="Text 1"/>
          <p:cNvSpPr txBox="1"/>
          <p:nvPr/>
        </p:nvSpPr>
        <p:spPr>
          <a:xfrm>
            <a:off x="457200" y="1280160"/>
            <a:ext cx="11155680" cy="822960"/>
          </a:xfrm>
          <a:prstGeom prst="rect">
            <a:avLst/>
          </a:prstGeom>
          <a:noFill/>
          <a:ln/>
        </p:spPr>
        <p:txBody>
          <a:bodyPr wrap="square"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Data and Actions Live Together</a:t>
            </a:r>
            <a:endParaRPr lang="en-US" sz="3000" dirty="0"/>
          </a:p>
        </p:txBody>
      </p:sp>
      <p:sp>
        <p:nvSpPr>
          <p:cNvPr id="5" name="rc_vis"/>
          <p:cNvSpPr/>
          <p:nvPr/>
        </p:nvSpPr>
        <p:spPr>
          <a:xfrm>
            <a:off x="457200" y="2240280"/>
            <a:ext cx="11247120" cy="4023360"/>
          </a:xfrm>
          <a:prstGeom prst="roundRect">
            <a:avLst>
              <a:gd name="adj" fmla="val 2273"/>
            </a:avLst>
          </a:prstGeom>
          <a:solidFill>
            <a:srgbClr val="F8FAFC"/>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Shape 3"/>
          <p:cNvSpPr/>
          <p:nvPr/>
        </p:nvSpPr>
        <p:spPr>
          <a:xfrm>
            <a:off x="731520" y="2395728"/>
            <a:ext cx="4937760" cy="2148840"/>
          </a:xfrm>
          <a:prstGeom prst="roundRect">
            <a:avLst>
              <a:gd name="adj" fmla="val 4255"/>
            </a:avLst>
          </a:prstGeom>
          <a:solidFill>
            <a:srgbClr val="F5F3FF"/>
          </a:solidFill>
          <a:ln w="19050">
            <a:solidFill>
              <a:srgbClr val="8B5CF6"/>
            </a:solidFill>
            <a:prstDash val="solid"/>
          </a:ln>
        </p:spPr>
      </p:sp>
      <p:sp>
        <p:nvSpPr>
          <p:cNvPr id="7" name="Text 4"/>
          <p:cNvSpPr txBox="1"/>
          <p:nvPr/>
        </p:nvSpPr>
        <p:spPr>
          <a:xfrm>
            <a:off x="914400" y="2468880"/>
            <a:ext cx="4572000" cy="274320"/>
          </a:xfrm>
          <a:prstGeom prst="rect">
            <a:avLst/>
          </a:prstGeom>
          <a:noFill/>
          <a:ln/>
        </p:spPr>
        <p:txBody>
          <a:bodyPr wrap="square" rtlCol="0" anchor="ctr"/>
          <a:lstStyle/>
          <a:p>
            <a:pPr indent="0" marL="0">
              <a:buNone/>
            </a:pPr>
            <a:r>
              <a:rPr lang="en-US" sz="1100" b="1" spc="100" kern="0" dirty="0">
                <a:solidFill>
                  <a:srgbClr val="8B5CF6"/>
                </a:solidFill>
                <a:latin typeface="Calibri" pitchFamily="34" charset="0"/>
                <a:ea typeface="Calibri" pitchFamily="34" charset="-122"/>
                <a:cs typeface="Calibri" pitchFamily="34" charset="-120"/>
              </a:rPr>
              <a:t>ATTRIBUTES: THE DATA</a:t>
            </a:r>
            <a:endParaRPr lang="en-US" sz="1100" dirty="0"/>
          </a:p>
        </p:txBody>
      </p:sp>
      <p:sp>
        <p:nvSpPr>
          <p:cNvPr id="8" name="Shape 5"/>
          <p:cNvSpPr/>
          <p:nvPr/>
        </p:nvSpPr>
        <p:spPr>
          <a:xfrm>
            <a:off x="914400" y="2834640"/>
            <a:ext cx="3657600" cy="475488"/>
          </a:xfrm>
          <a:prstGeom prst="roundRect">
            <a:avLst>
              <a:gd name="adj" fmla="val 11538"/>
            </a:avLst>
          </a:prstGeom>
          <a:solidFill>
            <a:srgbClr val="F5F3FF"/>
          </a:solidFill>
          <a:ln w="19050">
            <a:solidFill>
              <a:srgbClr val="8B5CF6"/>
            </a:solidFill>
            <a:prstDash val="solid"/>
          </a:ln>
        </p:spPr>
      </p:sp>
      <p:sp>
        <p:nvSpPr>
          <p:cNvPr id="9" name="Text 6"/>
          <p:cNvSpPr txBox="1"/>
          <p:nvPr/>
        </p:nvSpPr>
        <p:spPr>
          <a:xfrm>
            <a:off x="914400" y="2834640"/>
            <a:ext cx="3657600" cy="475488"/>
          </a:xfrm>
          <a:prstGeom prst="rect">
            <a:avLst/>
          </a:prstGeom>
          <a:noFill/>
          <a:ln/>
        </p:spPr>
        <p:txBody>
          <a:bodyPr wrap="square" rtlCol="0" anchor="ctr"/>
          <a:lstStyle/>
          <a:p>
            <a:pPr algn="ctr" indent="0" marL="0">
              <a:buNone/>
            </a:pPr>
            <a:r>
              <a:rPr lang="en-US" sz="1400" b="1" dirty="0">
                <a:solidFill>
                  <a:srgbClr val="1E293B"/>
                </a:solidFill>
                <a:latin typeface="Consolas" pitchFamily="34" charset="0"/>
                <a:ea typeface="Consolas" pitchFamily="34" charset="-122"/>
                <a:cs typeface="Consolas" pitchFamily="34" charset="-120"/>
              </a:rPr>
              <a:t>name</a:t>
            </a:r>
            <a:endParaRPr lang="en-US" sz="1400" dirty="0"/>
          </a:p>
        </p:txBody>
      </p:sp>
      <p:sp>
        <p:nvSpPr>
          <p:cNvPr id="10" name="Shape 7"/>
          <p:cNvSpPr/>
          <p:nvPr/>
        </p:nvSpPr>
        <p:spPr>
          <a:xfrm>
            <a:off x="914400" y="3401568"/>
            <a:ext cx="3657600" cy="475488"/>
          </a:xfrm>
          <a:prstGeom prst="roundRect">
            <a:avLst>
              <a:gd name="adj" fmla="val 11538"/>
            </a:avLst>
          </a:prstGeom>
          <a:solidFill>
            <a:srgbClr val="F5F3FF"/>
          </a:solidFill>
          <a:ln w="19050">
            <a:solidFill>
              <a:srgbClr val="8B5CF6"/>
            </a:solidFill>
            <a:prstDash val="solid"/>
          </a:ln>
        </p:spPr>
      </p:sp>
      <p:sp>
        <p:nvSpPr>
          <p:cNvPr id="11" name="Text 8"/>
          <p:cNvSpPr txBox="1"/>
          <p:nvPr/>
        </p:nvSpPr>
        <p:spPr>
          <a:xfrm>
            <a:off x="914400" y="3401568"/>
            <a:ext cx="3657600" cy="475488"/>
          </a:xfrm>
          <a:prstGeom prst="rect">
            <a:avLst/>
          </a:prstGeom>
          <a:noFill/>
          <a:ln/>
        </p:spPr>
        <p:txBody>
          <a:bodyPr wrap="square" rtlCol="0" anchor="ctr"/>
          <a:lstStyle/>
          <a:p>
            <a:pPr algn="ctr" indent="0" marL="0">
              <a:buNone/>
            </a:pPr>
            <a:r>
              <a:rPr lang="en-US" sz="1400" b="1" dirty="0">
                <a:solidFill>
                  <a:srgbClr val="1E293B"/>
                </a:solidFill>
                <a:latin typeface="Consolas" pitchFamily="34" charset="0"/>
                <a:ea typeface="Consolas" pitchFamily="34" charset="-122"/>
                <a:cs typeface="Consolas" pitchFamily="34" charset="-120"/>
              </a:rPr>
              <a:t>roll number</a:t>
            </a:r>
            <a:endParaRPr lang="en-US" sz="1400" dirty="0"/>
          </a:p>
        </p:txBody>
      </p:sp>
      <p:sp>
        <p:nvSpPr>
          <p:cNvPr id="12" name="Shape 9"/>
          <p:cNvSpPr/>
          <p:nvPr/>
        </p:nvSpPr>
        <p:spPr>
          <a:xfrm>
            <a:off x="914400" y="3968496"/>
            <a:ext cx="3657600" cy="475488"/>
          </a:xfrm>
          <a:prstGeom prst="roundRect">
            <a:avLst>
              <a:gd name="adj" fmla="val 11538"/>
            </a:avLst>
          </a:prstGeom>
          <a:solidFill>
            <a:srgbClr val="F5F3FF"/>
          </a:solidFill>
          <a:ln w="19050">
            <a:solidFill>
              <a:srgbClr val="8B5CF6"/>
            </a:solidFill>
            <a:prstDash val="solid"/>
          </a:ln>
        </p:spPr>
      </p:sp>
      <p:sp>
        <p:nvSpPr>
          <p:cNvPr id="13" name="Text 10"/>
          <p:cNvSpPr txBox="1"/>
          <p:nvPr/>
        </p:nvSpPr>
        <p:spPr>
          <a:xfrm>
            <a:off x="914400" y="3968496"/>
            <a:ext cx="3657600" cy="475488"/>
          </a:xfrm>
          <a:prstGeom prst="rect">
            <a:avLst/>
          </a:prstGeom>
          <a:noFill/>
          <a:ln/>
        </p:spPr>
        <p:txBody>
          <a:bodyPr wrap="square" rtlCol="0" anchor="ctr"/>
          <a:lstStyle/>
          <a:p>
            <a:pPr algn="ctr" indent="0" marL="0">
              <a:buNone/>
            </a:pPr>
            <a:r>
              <a:rPr lang="en-US" sz="1400" b="1" dirty="0">
                <a:solidFill>
                  <a:srgbClr val="1E293B"/>
                </a:solidFill>
                <a:latin typeface="Consolas" pitchFamily="34" charset="0"/>
                <a:ea typeface="Consolas" pitchFamily="34" charset="-122"/>
                <a:cs typeface="Consolas" pitchFamily="34" charset="-120"/>
              </a:rPr>
              <a:t>marks</a:t>
            </a:r>
            <a:endParaRPr lang="en-US" sz="1400" dirty="0"/>
          </a:p>
        </p:txBody>
      </p:sp>
      <p:sp>
        <p:nvSpPr>
          <p:cNvPr id="14" name="Shape 11"/>
          <p:cNvSpPr/>
          <p:nvPr/>
        </p:nvSpPr>
        <p:spPr>
          <a:xfrm>
            <a:off x="6492240" y="2395728"/>
            <a:ext cx="4937760" cy="2148840"/>
          </a:xfrm>
          <a:prstGeom prst="roundRect">
            <a:avLst>
              <a:gd name="adj" fmla="val 4255"/>
            </a:avLst>
          </a:prstGeom>
          <a:solidFill>
            <a:srgbClr val="F0FDFA"/>
          </a:solidFill>
          <a:ln w="19050">
            <a:solidFill>
              <a:srgbClr val="14B8A6"/>
            </a:solidFill>
            <a:prstDash val="solid"/>
          </a:ln>
        </p:spPr>
      </p:sp>
      <p:sp>
        <p:nvSpPr>
          <p:cNvPr id="15" name="Text 12"/>
          <p:cNvSpPr txBox="1"/>
          <p:nvPr/>
        </p:nvSpPr>
        <p:spPr>
          <a:xfrm>
            <a:off x="6675120" y="2468880"/>
            <a:ext cx="4572000" cy="274320"/>
          </a:xfrm>
          <a:prstGeom prst="rect">
            <a:avLst/>
          </a:prstGeom>
          <a:noFill/>
          <a:ln/>
        </p:spPr>
        <p:txBody>
          <a:bodyPr wrap="square" rtlCol="0" anchor="ctr"/>
          <a:lstStyle/>
          <a:p>
            <a:pPr indent="0" marL="0">
              <a:buNone/>
            </a:pPr>
            <a:r>
              <a:rPr lang="en-US" sz="1100" b="1" spc="100" kern="0" dirty="0">
                <a:solidFill>
                  <a:srgbClr val="14B8A6"/>
                </a:solidFill>
                <a:latin typeface="Calibri" pitchFamily="34" charset="0"/>
                <a:ea typeface="Calibri" pitchFamily="34" charset="-122"/>
                <a:cs typeface="Calibri" pitchFamily="34" charset="-120"/>
              </a:rPr>
              <a:t>METHODS: THE ACTIONS</a:t>
            </a:r>
            <a:endParaRPr lang="en-US" sz="1100" dirty="0"/>
          </a:p>
        </p:txBody>
      </p:sp>
      <p:sp>
        <p:nvSpPr>
          <p:cNvPr id="16" name="Shape 13"/>
          <p:cNvSpPr/>
          <p:nvPr/>
        </p:nvSpPr>
        <p:spPr>
          <a:xfrm>
            <a:off x="6675120" y="2834640"/>
            <a:ext cx="3657600" cy="475488"/>
          </a:xfrm>
          <a:prstGeom prst="roundRect">
            <a:avLst>
              <a:gd name="adj" fmla="val 11538"/>
            </a:avLst>
          </a:prstGeom>
          <a:solidFill>
            <a:srgbClr val="CCFBF1"/>
          </a:solidFill>
          <a:ln w="25400">
            <a:solidFill>
              <a:srgbClr val="14B8A6"/>
            </a:solidFill>
            <a:prstDash val="solid"/>
          </a:ln>
        </p:spPr>
      </p:sp>
      <p:sp>
        <p:nvSpPr>
          <p:cNvPr id="17" name="Text 14"/>
          <p:cNvSpPr txBox="1"/>
          <p:nvPr/>
        </p:nvSpPr>
        <p:spPr>
          <a:xfrm>
            <a:off x="6675120" y="2834640"/>
            <a:ext cx="3657600" cy="475488"/>
          </a:xfrm>
          <a:prstGeom prst="rect">
            <a:avLst/>
          </a:prstGeom>
          <a:noFill/>
          <a:ln/>
        </p:spPr>
        <p:txBody>
          <a:bodyPr wrap="square" rtlCol="0" anchor="ctr"/>
          <a:lstStyle/>
          <a:p>
            <a:pPr algn="ctr" indent="0" marL="0">
              <a:buNone/>
            </a:pPr>
            <a:r>
              <a:rPr lang="en-US" sz="1400" b="1" dirty="0">
                <a:solidFill>
                  <a:srgbClr val="1E293B"/>
                </a:solidFill>
                <a:latin typeface="Consolas" pitchFamily="34" charset="0"/>
                <a:ea typeface="Consolas" pitchFamily="34" charset="-122"/>
                <a:cs typeface="Consolas" pitchFamily="34" charset="-120"/>
              </a:rPr>
              <a:t>display details</a:t>
            </a:r>
            <a:endParaRPr lang="en-US" sz="1400" dirty="0"/>
          </a:p>
        </p:txBody>
      </p:sp>
      <p:sp>
        <p:nvSpPr>
          <p:cNvPr id="18" name="Shape 15"/>
          <p:cNvSpPr/>
          <p:nvPr/>
        </p:nvSpPr>
        <p:spPr>
          <a:xfrm>
            <a:off x="6675120" y="3401568"/>
            <a:ext cx="3657600" cy="475488"/>
          </a:xfrm>
          <a:prstGeom prst="roundRect">
            <a:avLst>
              <a:gd name="adj" fmla="val 11538"/>
            </a:avLst>
          </a:prstGeom>
          <a:solidFill>
            <a:srgbClr val="CCFBF1"/>
          </a:solidFill>
          <a:ln w="25400">
            <a:solidFill>
              <a:srgbClr val="14B8A6"/>
            </a:solidFill>
            <a:prstDash val="solid"/>
          </a:ln>
        </p:spPr>
      </p:sp>
      <p:sp>
        <p:nvSpPr>
          <p:cNvPr id="19" name="Text 16"/>
          <p:cNvSpPr txBox="1"/>
          <p:nvPr/>
        </p:nvSpPr>
        <p:spPr>
          <a:xfrm>
            <a:off x="6675120" y="3401568"/>
            <a:ext cx="3657600" cy="475488"/>
          </a:xfrm>
          <a:prstGeom prst="rect">
            <a:avLst/>
          </a:prstGeom>
          <a:noFill/>
          <a:ln/>
        </p:spPr>
        <p:txBody>
          <a:bodyPr wrap="square" rtlCol="0" anchor="ctr"/>
          <a:lstStyle/>
          <a:p>
            <a:pPr algn="ctr" indent="0" marL="0">
              <a:buNone/>
            </a:pPr>
            <a:r>
              <a:rPr lang="en-US" sz="1400" b="1" dirty="0">
                <a:solidFill>
                  <a:srgbClr val="1E293B"/>
                </a:solidFill>
                <a:latin typeface="Consolas" pitchFamily="34" charset="0"/>
                <a:ea typeface="Consolas" pitchFamily="34" charset="-122"/>
                <a:cs typeface="Consolas" pitchFamily="34" charset="-120"/>
              </a:rPr>
              <a:t>update info</a:t>
            </a:r>
            <a:endParaRPr lang="en-US" sz="1400" dirty="0"/>
          </a:p>
        </p:txBody>
      </p:sp>
      <p:sp>
        <p:nvSpPr>
          <p:cNvPr id="20" name="Shape 17"/>
          <p:cNvSpPr/>
          <p:nvPr/>
        </p:nvSpPr>
        <p:spPr>
          <a:xfrm>
            <a:off x="6675120" y="3968496"/>
            <a:ext cx="3657600" cy="475488"/>
          </a:xfrm>
          <a:prstGeom prst="roundRect">
            <a:avLst>
              <a:gd name="adj" fmla="val 11538"/>
            </a:avLst>
          </a:prstGeom>
          <a:solidFill>
            <a:srgbClr val="CCFBF1"/>
          </a:solidFill>
          <a:ln w="25400">
            <a:solidFill>
              <a:srgbClr val="14B8A6"/>
            </a:solidFill>
            <a:prstDash val="solid"/>
          </a:ln>
        </p:spPr>
      </p:sp>
      <p:sp>
        <p:nvSpPr>
          <p:cNvPr id="21" name="Text 18"/>
          <p:cNvSpPr txBox="1"/>
          <p:nvPr/>
        </p:nvSpPr>
        <p:spPr>
          <a:xfrm>
            <a:off x="6675120" y="3968496"/>
            <a:ext cx="3657600" cy="475488"/>
          </a:xfrm>
          <a:prstGeom prst="rect">
            <a:avLst/>
          </a:prstGeom>
          <a:noFill/>
          <a:ln/>
        </p:spPr>
        <p:txBody>
          <a:bodyPr wrap="square" rtlCol="0" anchor="ctr"/>
          <a:lstStyle/>
          <a:p>
            <a:pPr algn="ctr" indent="0" marL="0">
              <a:buNone/>
            </a:pPr>
            <a:r>
              <a:rPr lang="en-US" sz="1400" b="1" dirty="0">
                <a:solidFill>
                  <a:srgbClr val="1E293B"/>
                </a:solidFill>
                <a:latin typeface="Consolas" pitchFamily="34" charset="0"/>
                <a:ea typeface="Consolas" pitchFamily="34" charset="-122"/>
                <a:cs typeface="Consolas" pitchFamily="34" charset="-120"/>
              </a:rPr>
              <a:t>calculate total</a:t>
            </a:r>
            <a:endParaRPr lang="en-US" sz="1400" dirty="0"/>
          </a:p>
        </p:txBody>
      </p:sp>
      <p:sp>
        <p:nvSpPr>
          <p:cNvPr id="22" name="Text 19"/>
          <p:cNvSpPr txBox="1"/>
          <p:nvPr/>
        </p:nvSpPr>
        <p:spPr>
          <a:xfrm>
            <a:off x="5669280" y="3154680"/>
            <a:ext cx="822960" cy="731520"/>
          </a:xfrm>
          <a:prstGeom prst="rect">
            <a:avLst/>
          </a:prstGeom>
          <a:noFill/>
          <a:ln/>
        </p:spPr>
        <p:txBody>
          <a:bodyPr wrap="square" rtlCol="0" anchor="ctr"/>
          <a:lstStyle/>
          <a:p>
            <a:pPr algn="ctr" indent="0" marL="0">
              <a:buNone/>
            </a:pPr>
            <a:r>
              <a:rPr lang="en-US" sz="3600" b="1" dirty="0">
                <a:solidFill>
                  <a:srgbClr val="64748B"/>
                </a:solidFill>
                <a:latin typeface="Calibri" pitchFamily="34" charset="0"/>
                <a:ea typeface="Calibri" pitchFamily="34" charset="-122"/>
                <a:cs typeface="Calibri" pitchFamily="34" charset="-120"/>
              </a:rPr>
              <a:t>+</a:t>
            </a:r>
            <a:endParaRPr lang="en-US" sz="3600" dirty="0"/>
          </a:p>
        </p:txBody>
      </p:sp>
      <p:sp>
        <p:nvSpPr>
          <p:cNvPr id="23" name="Shape 20"/>
          <p:cNvSpPr/>
          <p:nvPr/>
        </p:nvSpPr>
        <p:spPr>
          <a:xfrm>
            <a:off x="731520" y="4709160"/>
            <a:ext cx="10698480" cy="685800"/>
          </a:xfrm>
          <a:prstGeom prst="roundRect">
            <a:avLst>
              <a:gd name="adj" fmla="val 13333"/>
            </a:avLst>
          </a:prstGeom>
          <a:solidFill>
            <a:srgbClr val="F0FDF4"/>
          </a:solidFill>
          <a:ln w="19050">
            <a:solidFill>
              <a:srgbClr val="10B981"/>
            </a:solidFill>
            <a:prstDash val="solid"/>
          </a:ln>
        </p:spPr>
      </p:sp>
      <p:sp>
        <p:nvSpPr>
          <p:cNvPr id="24" name="Text 21"/>
          <p:cNvSpPr txBox="1"/>
          <p:nvPr/>
        </p:nvSpPr>
        <p:spPr>
          <a:xfrm>
            <a:off x="804672" y="4818888"/>
            <a:ext cx="10552176" cy="484632"/>
          </a:xfrm>
          <a:prstGeom prst="rect">
            <a:avLst/>
          </a:prstGeom>
          <a:noFill/>
          <a:ln/>
        </p:spPr>
        <p:txBody>
          <a:bodyPr wrap="square" rtlCol="0" anchor="ctr"/>
          <a:lstStyle/>
          <a:p>
            <a:pPr algn="ctr" indent="0" marL="0">
              <a:buNone/>
            </a:pPr>
            <a:r>
              <a:rPr lang="en-US" sz="1600" b="1" dirty="0">
                <a:solidFill>
                  <a:srgbClr val="1E293B"/>
                </a:solidFill>
                <a:latin typeface="Calibri" pitchFamily="34" charset="0"/>
                <a:ea typeface="Calibri" pitchFamily="34" charset="-122"/>
                <a:cs typeface="Calibri" pitchFamily="34" charset="-120"/>
              </a:rPr>
              <a:t>Together they make one object: a Student</a:t>
            </a:r>
            <a:endParaRPr lang="en-US" sz="1600" dirty="0"/>
          </a:p>
        </p:txBody>
      </p:sp>
      <p:sp>
        <p:nvSpPr>
          <p:cNvPr id="25" name="Shape 22"/>
          <p:cNvSpPr/>
          <p:nvPr/>
        </p:nvSpPr>
        <p:spPr>
          <a:xfrm>
            <a:off x="731520" y="5559552"/>
            <a:ext cx="10698480" cy="0"/>
          </a:xfrm>
          <a:prstGeom prst="line">
            <a:avLst/>
          </a:prstGeom>
          <a:noFill/>
          <a:ln w="12700">
            <a:solidFill>
              <a:srgbClr val="E2E8F0"/>
            </a:solidFill>
            <a:prstDash val="solid"/>
          </a:ln>
        </p:spPr>
      </p:sp>
      <p:sp>
        <p:nvSpPr>
          <p:cNvPr id="26" name="Shape 23"/>
          <p:cNvSpPr/>
          <p:nvPr/>
        </p:nvSpPr>
        <p:spPr>
          <a:xfrm>
            <a:off x="777240" y="5650992"/>
            <a:ext cx="475488" cy="475488"/>
          </a:xfrm>
          <a:prstGeom prst="ellipse">
            <a:avLst/>
          </a:prstGeom>
          <a:solidFill>
            <a:srgbClr val="FCE7F3"/>
          </a:solidFill>
          <a:ln w="19050">
            <a:solidFill>
              <a:srgbClr val="EC4899"/>
            </a:solidFill>
            <a:prstDash val="solid"/>
          </a:ln>
        </p:spPr>
      </p:sp>
      <p:pic>
        <p:nvPicPr>
          <p:cNvPr id="27" name="Image 1" descr="assets/icon2_user_pink.png">    </p:cNvPr>
          <p:cNvPicPr>
            <a:picLocks noChangeAspect="1"/>
          </p:cNvPicPr>
          <p:nvPr/>
        </p:nvPicPr>
        <p:blipFill>
          <a:blip r:embed="rId2"/>
          <a:stretch>
            <a:fillRect/>
          </a:stretch>
        </p:blipFill>
        <p:spPr>
          <a:xfrm>
            <a:off x="872338" y="5746090"/>
            <a:ext cx="285293" cy="285293"/>
          </a:xfrm>
          <a:prstGeom prst="rect">
            <a:avLst/>
          </a:prstGeom>
        </p:spPr>
      </p:pic>
      <p:sp>
        <p:nvSpPr>
          <p:cNvPr id="28" name="Shape 24"/>
          <p:cNvSpPr/>
          <p:nvPr/>
        </p:nvSpPr>
        <p:spPr>
          <a:xfrm rot="2700000">
            <a:off x="1508760" y="5801868"/>
            <a:ext cx="182880" cy="182880"/>
          </a:xfrm>
          <a:prstGeom prst="rect">
            <a:avLst/>
          </a:prstGeom>
          <a:solidFill>
            <a:srgbClr val="FDF2F8"/>
          </a:solidFill>
          <a:ln w="15875">
            <a:solidFill>
              <a:srgbClr val="EC4899"/>
            </a:solidFill>
            <a:prstDash val="solid"/>
          </a:ln>
        </p:spPr>
      </p:sp>
      <p:sp>
        <p:nvSpPr>
          <p:cNvPr id="29" name="Shape 25"/>
          <p:cNvSpPr/>
          <p:nvPr/>
        </p:nvSpPr>
        <p:spPr>
          <a:xfrm>
            <a:off x="1600200" y="5641848"/>
            <a:ext cx="9829800" cy="502920"/>
          </a:xfrm>
          <a:prstGeom prst="roundRect">
            <a:avLst>
              <a:gd name="adj" fmla="val 21818"/>
            </a:avLst>
          </a:prstGeom>
          <a:solidFill>
            <a:srgbClr val="FDF2F8"/>
          </a:solidFill>
          <a:ln w="15875">
            <a:solidFill>
              <a:srgbClr val="EC4899"/>
            </a:solidFill>
            <a:prstDash val="solid"/>
          </a:ln>
        </p:spPr>
      </p:sp>
      <p:sp>
        <p:nvSpPr>
          <p:cNvPr id="30" name="Text 26"/>
          <p:cNvSpPr txBox="1"/>
          <p:nvPr/>
        </p:nvSpPr>
        <p:spPr>
          <a:xfrm>
            <a:off x="1783080" y="5641848"/>
            <a:ext cx="9464040" cy="502920"/>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Ravi says  </a:t>
            </a:r>
            <a:pPr indent="0" marL="0">
              <a:buNone/>
            </a:pPr>
            <a:r>
              <a:rPr lang="en-US" sz="1400" dirty="0">
                <a:solidFill>
                  <a:srgbClr val="1E293B"/>
                </a:solidFill>
                <a:latin typeface="Calibri" pitchFamily="34" charset="0"/>
                <a:ea typeface="Calibri" pitchFamily="34" charset="-122"/>
                <a:cs typeface="Calibri" pitchFamily="34" charset="-120"/>
              </a:rPr>
              <a:t>Ask two questions about anything: what does it know, and what can it do?</a:t>
            </a:r>
            <a:endParaRPr lang="en-US" sz="1400" dirty="0"/>
          </a:p>
        </p:txBody>
      </p:sp>
      <p:sp>
        <p:nvSpPr>
          <p:cNvPr id="31" name="Text 27"/>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OOP Fundamentals and Inheritance  ·  Week 3  ·  Day 12</a:t>
            </a:r>
            <a:endParaRPr lang="en-US" sz="1000" dirty="0"/>
          </a:p>
        </p:txBody>
      </p:sp>
      <p:sp>
        <p:nvSpPr>
          <p:cNvPr id="32" name="Text 28"/>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p:bgPr>
    </p:bg>
    <p:spTree>
      <p:nvGrpSpPr>
        <p:cNvPr id="1" name=""/>
        <p:cNvGrpSpPr/>
        <p:nvPr/>
      </p:nvGrpSpPr>
      <p:grpSpPr>
        <a:xfrm>
          <a:off x="0" y="0"/>
          <a:ext cx="0" cy="0"/>
          <a:chOff x="0" y="0"/>
          <a:chExt cx="0" cy="0"/>
        </a:xfrm>
      </p:grpSpPr>
      <p:pic>
        <p:nvPicPr>
          <p:cNvPr id="2" name="Image 0" descr="assets/bloom_purple.png">    </p:cNvPr>
          <p:cNvPicPr>
            <a:picLocks noChangeAspect="1"/>
          </p:cNvPicPr>
          <p:nvPr/>
        </p:nvPicPr>
        <p:blipFill>
          <a:blip r:embed="rId1"/>
          <a:stretch>
            <a:fillRect/>
          </a:stretch>
        </p:blipFill>
        <p:spPr>
          <a:xfrm>
            <a:off x="-1828800" y="-1828800"/>
            <a:ext cx="6858000" cy="6858000"/>
          </a:xfrm>
          <a:prstGeom prst="rect">
            <a:avLst/>
          </a:prstGeom>
        </p:spPr>
      </p:pic>
      <p:pic>
        <p:nvPicPr>
          <p:cNvPr id="3" name="Image 1" descr="assets/bloom_pink.png">    </p:cNvPr>
          <p:cNvPicPr>
            <a:picLocks noChangeAspect="1"/>
          </p:cNvPicPr>
          <p:nvPr/>
        </p:nvPicPr>
        <p:blipFill>
          <a:blip r:embed="rId2"/>
          <a:stretch>
            <a:fillRect/>
          </a:stretch>
        </p:blipFill>
        <p:spPr>
          <a:xfrm>
            <a:off x="7772400" y="2286000"/>
            <a:ext cx="6400800" cy="6400800"/>
          </a:xfrm>
          <a:prstGeom prst="rect">
            <a:avLst/>
          </a:prstGeom>
        </p:spPr>
      </p:pic>
      <p:sp>
        <p:nvSpPr>
          <p:cNvPr id="4" name="Text 0"/>
          <p:cNvSpPr txBox="1"/>
          <p:nvPr/>
        </p:nvSpPr>
        <p:spPr>
          <a:xfrm>
            <a:off x="457200" y="320040"/>
            <a:ext cx="2286000" cy="45720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intellea</a:t>
            </a:r>
            <a:endParaRPr lang="en-US" sz="2200" dirty="0"/>
          </a:p>
        </p:txBody>
      </p:sp>
      <p:sp>
        <p:nvSpPr>
          <p:cNvPr id="5" name="Text 1"/>
          <p:cNvSpPr txBox="1"/>
          <p:nvPr/>
        </p:nvSpPr>
        <p:spPr>
          <a:xfrm>
            <a:off x="457200" y="109728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TOPIC 2</a:t>
            </a:r>
            <a:endParaRPr lang="en-US" sz="1400" dirty="0"/>
          </a:p>
        </p:txBody>
      </p:sp>
      <p:sp>
        <p:nvSpPr>
          <p:cNvPr id="6" name="Text 2"/>
          <p:cNvSpPr txBox="1"/>
          <p:nvPr/>
        </p:nvSpPr>
        <p:spPr>
          <a:xfrm>
            <a:off x="457200" y="1417320"/>
            <a:ext cx="10972800" cy="7315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Class and Object</a:t>
            </a:r>
            <a:endParaRPr lang="en-US" sz="3000" dirty="0"/>
          </a:p>
        </p:txBody>
      </p:sp>
      <p:sp>
        <p:nvSpPr>
          <p:cNvPr id="7" name="rc_topic"/>
          <p:cNvSpPr/>
          <p:nvPr/>
        </p:nvSpPr>
        <p:spPr>
          <a:xfrm>
            <a:off x="457200" y="2286000"/>
            <a:ext cx="11247120" cy="3977640"/>
          </a:xfrm>
          <a:prstGeom prst="roundRect">
            <a:avLst>
              <a:gd name="adj" fmla="val 2299"/>
            </a:avLst>
          </a:prstGeom>
          <a:solidFill>
            <a:srgbClr val="0F172A"/>
          </a:solidFill>
          <a:ln w="12700">
            <a:solidFill>
              <a:srgbClr val="334155"/>
            </a:solidFill>
            <a:prstDash val="solid"/>
          </a:ln>
          <a:effectLst>
            <a:outerShdw sx="100000" sy="100000" kx="0" ky="0" algn="bl" rotWithShape="0" blurRad="76200" dist="25400" dir="5400000">
              <a:srgbClr val="000000">
                <a:alpha val="8000"/>
              </a:srgbClr>
            </a:outerShdw>
          </a:effectLst>
        </p:spPr>
      </p:sp>
      <p:sp>
        <p:nvSpPr>
          <p:cNvPr id="8" name="Text 4"/>
          <p:cNvSpPr txBox="1"/>
          <p:nvPr/>
        </p:nvSpPr>
        <p:spPr>
          <a:xfrm>
            <a:off x="914400" y="2450592"/>
            <a:ext cx="9601200" cy="292608"/>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Real time example</a:t>
            </a:r>
            <a:endParaRPr lang="en-US" sz="1400" dirty="0"/>
          </a:p>
        </p:txBody>
      </p:sp>
      <p:sp>
        <p:nvSpPr>
          <p:cNvPr id="9" name="Text 5"/>
          <p:cNvSpPr txBox="1"/>
          <p:nvPr/>
        </p:nvSpPr>
        <p:spPr>
          <a:xfrm>
            <a:off x="914400" y="2761488"/>
            <a:ext cx="10332720" cy="868680"/>
          </a:xfrm>
          <a:prstGeom prst="rect">
            <a:avLst/>
          </a:prstGeom>
          <a:noFill/>
          <a:ln/>
        </p:spPr>
        <p:txBody>
          <a:bodyPr wrap="square" rtlCol="0" anchor="t"/>
          <a:lstStyle/>
          <a:p>
            <a:pPr indent="0" marL="0">
              <a:lnSpc>
                <a:spcPct val="110000"/>
              </a:lnSpc>
              <a:buNone/>
            </a:pPr>
            <a:r>
              <a:rPr lang="en-US" sz="1600" dirty="0">
                <a:solidFill>
                  <a:srgbClr val="CBD5E1"/>
                </a:solidFill>
                <a:latin typeface="Calibri" pitchFamily="34" charset="0"/>
                <a:ea typeface="Calibri" pitchFamily="34" charset="-122"/>
                <a:cs typeface="Calibri" pitchFamily="34" charset="-120"/>
              </a:rPr>
              <a:t>An architect draws one house plan. From that plan a builder can make many houses. The plan is not a house, and every house built from it has its own family inside.</a:t>
            </a:r>
            <a:endParaRPr lang="en-US" sz="1600" dirty="0"/>
          </a:p>
        </p:txBody>
      </p:sp>
      <p:sp>
        <p:nvSpPr>
          <p:cNvPr id="10" name="Text 6"/>
          <p:cNvSpPr txBox="1"/>
          <p:nvPr/>
        </p:nvSpPr>
        <p:spPr>
          <a:xfrm>
            <a:off x="914400" y="3712464"/>
            <a:ext cx="9601200" cy="292608"/>
          </a:xfrm>
          <a:prstGeom prst="rect">
            <a:avLst/>
          </a:prstGeom>
          <a:noFill/>
          <a:ln/>
        </p:spPr>
        <p:txBody>
          <a:bodyPr wrap="square" rtlCol="0" anchor="ctr"/>
          <a:lstStyle/>
          <a:p>
            <a:pPr indent="0" marL="0">
              <a:buNone/>
            </a:pPr>
            <a:r>
              <a:rPr lang="en-US" sz="1400" b="1" dirty="0">
                <a:solidFill>
                  <a:srgbClr val="F97316"/>
                </a:solidFill>
                <a:latin typeface="Calibri" pitchFamily="34" charset="0"/>
                <a:ea typeface="Calibri" pitchFamily="34" charset="-122"/>
                <a:cs typeface="Calibri" pitchFamily="34" charset="-120"/>
              </a:rPr>
              <a:t>Definition</a:t>
            </a:r>
            <a:endParaRPr lang="en-US" sz="1400" dirty="0"/>
          </a:p>
        </p:txBody>
      </p:sp>
      <p:sp>
        <p:nvSpPr>
          <p:cNvPr id="11" name="Text 7"/>
          <p:cNvSpPr txBox="1"/>
          <p:nvPr/>
        </p:nvSpPr>
        <p:spPr>
          <a:xfrm>
            <a:off x="914400" y="4023360"/>
            <a:ext cx="10332720" cy="868680"/>
          </a:xfrm>
          <a:prstGeom prst="rect">
            <a:avLst/>
          </a:prstGeom>
          <a:noFill/>
          <a:ln/>
        </p:spPr>
        <p:txBody>
          <a:bodyPr wrap="square" rtlCol="0" anchor="t"/>
          <a:lstStyle/>
          <a:p>
            <a:pPr indent="0" marL="0">
              <a:lnSpc>
                <a:spcPct val="110000"/>
              </a:lnSpc>
              <a:buNone/>
            </a:pPr>
            <a:r>
              <a:rPr lang="en-US" sz="1800" b="1" dirty="0">
                <a:solidFill>
                  <a:srgbClr val="FFFFFF"/>
                </a:solidFill>
                <a:latin typeface="Calibri" pitchFamily="34" charset="0"/>
                <a:ea typeface="Calibri" pitchFamily="34" charset="-122"/>
                <a:cs typeface="Calibri" pitchFamily="34" charset="-120"/>
              </a:rPr>
              <a:t>A class is a blueprint or template that describes what data and actions its objects will have. An object is an actual instance made from the class.</a:t>
            </a:r>
            <a:endParaRPr lang="en-US" sz="1800" dirty="0"/>
          </a:p>
        </p:txBody>
      </p:sp>
      <p:sp>
        <p:nvSpPr>
          <p:cNvPr id="12" name="Text 8"/>
          <p:cNvSpPr txBox="1"/>
          <p:nvPr/>
        </p:nvSpPr>
        <p:spPr>
          <a:xfrm>
            <a:off x="914400" y="4974336"/>
            <a:ext cx="9601200" cy="292608"/>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Where it is used</a:t>
            </a:r>
            <a:endParaRPr lang="en-US" sz="1400" dirty="0"/>
          </a:p>
        </p:txBody>
      </p:sp>
      <p:sp>
        <p:nvSpPr>
          <p:cNvPr id="13" name="Text 9"/>
          <p:cNvSpPr txBox="1"/>
          <p:nvPr/>
        </p:nvSpPr>
        <p:spPr>
          <a:xfrm>
            <a:off x="914400" y="5285232"/>
            <a:ext cx="10332720" cy="868680"/>
          </a:xfrm>
          <a:prstGeom prst="rect">
            <a:avLst/>
          </a:prstGeom>
          <a:noFill/>
          <a:ln/>
        </p:spPr>
        <p:txBody>
          <a:bodyPr wrap="square" rtlCol="0" anchor="t"/>
          <a:lstStyle/>
          <a:p>
            <a:pPr indent="0" marL="0">
              <a:lnSpc>
                <a:spcPct val="110000"/>
              </a:lnSpc>
              <a:buNone/>
            </a:pPr>
            <a:r>
              <a:rPr lang="en-US" sz="1600" dirty="0">
                <a:solidFill>
                  <a:srgbClr val="CBD5E1"/>
                </a:solidFill>
                <a:latin typeface="Calibri" pitchFamily="34" charset="0"/>
                <a:ea typeface="Calibri" pitchFamily="34" charset="-122"/>
                <a:cs typeface="Calibri" pitchFamily="34" charset="-120"/>
              </a:rPr>
              <a:t>A Student class makes thousands of student objects in a school app. An Order class makes an object for every order placed.</a:t>
            </a:r>
            <a:endParaRPr lang="en-US" sz="1600" dirty="0"/>
          </a:p>
        </p:txBody>
      </p:sp>
      <p:sp>
        <p:nvSpPr>
          <p:cNvPr id="14" name="Text 10"/>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OOP Fundamentals and Inheritance  ·  Week 3  ·  Day 12</a:t>
            </a:r>
            <a:endParaRPr lang="en-US" sz="1000" dirty="0"/>
          </a:p>
        </p:txBody>
      </p:sp>
      <p:sp>
        <p:nvSpPr>
          <p:cNvPr id="15" name="Text 11"/>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A"/>
        </a:solidFill>
      </p:bgPr>
    </p:bg>
    <p:spTree>
      <p:nvGrpSpPr>
        <p:cNvPr id="1" name=""/>
        <p:cNvGrpSpPr/>
        <p:nvPr/>
      </p:nvGrpSpPr>
      <p:grpSpPr>
        <a:xfrm>
          <a:off x="0" y="0"/>
          <a:ext cx="0" cy="0"/>
          <a:chOff x="0" y="0"/>
          <a:chExt cx="0" cy="0"/>
        </a:xfrm>
      </p:grpSpPr>
      <p:pic>
        <p:nvPicPr>
          <p:cNvPr id="2" name="Image 0" descr="assets/intellea_logo_cropped.png">    </p:cNvPr>
          <p:cNvPicPr>
            <a:picLocks noChangeAspect="1"/>
          </p:cNvPicPr>
          <p:nvPr/>
        </p:nvPicPr>
        <p:blipFill>
          <a:blip r:embed="rId1"/>
          <a:stretch>
            <a:fillRect/>
          </a:stretch>
        </p:blipFill>
        <p:spPr>
          <a:xfrm>
            <a:off x="457200" y="320040"/>
            <a:ext cx="1371600" cy="454323"/>
          </a:xfrm>
          <a:prstGeom prst="rect">
            <a:avLst/>
          </a:prstGeom>
        </p:spPr>
      </p:pic>
      <p:sp>
        <p:nvSpPr>
          <p:cNvPr id="3" name="Text 0"/>
          <p:cNvSpPr txBox="1"/>
          <p:nvPr/>
        </p:nvSpPr>
        <p:spPr>
          <a:xfrm>
            <a:off x="457200" y="96012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CLASS TO OBJECTS</a:t>
            </a:r>
            <a:endParaRPr lang="en-US" sz="1400" dirty="0"/>
          </a:p>
        </p:txBody>
      </p:sp>
      <p:sp>
        <p:nvSpPr>
          <p:cNvPr id="4" name="Text 1"/>
          <p:cNvSpPr txBox="1"/>
          <p:nvPr/>
        </p:nvSpPr>
        <p:spPr>
          <a:xfrm>
            <a:off x="457200" y="1280160"/>
            <a:ext cx="11155680" cy="822960"/>
          </a:xfrm>
          <a:prstGeom prst="rect">
            <a:avLst/>
          </a:prstGeom>
          <a:noFill/>
          <a:ln/>
        </p:spPr>
        <p:txBody>
          <a:bodyPr wrap="square"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One Blueprint, Many Objects</a:t>
            </a:r>
            <a:endParaRPr lang="en-US" sz="3000" dirty="0"/>
          </a:p>
        </p:txBody>
      </p:sp>
      <p:sp>
        <p:nvSpPr>
          <p:cNvPr id="5" name="rc_vis"/>
          <p:cNvSpPr/>
          <p:nvPr/>
        </p:nvSpPr>
        <p:spPr>
          <a:xfrm>
            <a:off x="457200" y="2240280"/>
            <a:ext cx="11247120" cy="4023360"/>
          </a:xfrm>
          <a:prstGeom prst="roundRect">
            <a:avLst>
              <a:gd name="adj" fmla="val 2273"/>
            </a:avLst>
          </a:prstGeom>
          <a:solidFill>
            <a:srgbClr val="F8FAFC"/>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Shape 3"/>
          <p:cNvSpPr/>
          <p:nvPr/>
        </p:nvSpPr>
        <p:spPr>
          <a:xfrm>
            <a:off x="731520" y="2788920"/>
            <a:ext cx="3108960" cy="1645920"/>
          </a:xfrm>
          <a:prstGeom prst="roundRect">
            <a:avLst>
              <a:gd name="adj" fmla="val 5556"/>
            </a:avLst>
          </a:prstGeom>
          <a:solidFill>
            <a:srgbClr val="F5F3FF"/>
          </a:solidFill>
          <a:ln w="19050">
            <a:solidFill>
              <a:srgbClr val="8B5CF6"/>
            </a:solidFill>
            <a:prstDash val="solid"/>
          </a:ln>
        </p:spPr>
      </p:sp>
      <p:pic>
        <p:nvPicPr>
          <p:cNvPr id="7" name="Image 1" descr="assets/icon2_ruler_purple.png">    </p:cNvPr>
          <p:cNvPicPr>
            <a:picLocks noChangeAspect="1"/>
          </p:cNvPicPr>
          <p:nvPr/>
        </p:nvPicPr>
        <p:blipFill>
          <a:blip r:embed="rId2"/>
          <a:stretch>
            <a:fillRect/>
          </a:stretch>
        </p:blipFill>
        <p:spPr>
          <a:xfrm>
            <a:off x="2034540" y="2898648"/>
            <a:ext cx="502920" cy="502920"/>
          </a:xfrm>
          <a:prstGeom prst="rect">
            <a:avLst/>
          </a:prstGeom>
        </p:spPr>
      </p:pic>
      <p:sp>
        <p:nvSpPr>
          <p:cNvPr id="8" name="Text 4"/>
          <p:cNvSpPr txBox="1"/>
          <p:nvPr/>
        </p:nvSpPr>
        <p:spPr>
          <a:xfrm>
            <a:off x="804672" y="3465576"/>
            <a:ext cx="2962656" cy="365760"/>
          </a:xfrm>
          <a:prstGeom prst="rect">
            <a:avLst/>
          </a:prstGeom>
          <a:noFill/>
          <a:ln/>
        </p:spPr>
        <p:txBody>
          <a:bodyPr wrap="square" rtlCol="0" anchor="t"/>
          <a:lstStyle/>
          <a:p>
            <a:pPr algn="ctr" indent="0" marL="0">
              <a:buNone/>
            </a:pPr>
            <a:r>
              <a:rPr lang="en-US" sz="1700" b="1" dirty="0">
                <a:solidFill>
                  <a:srgbClr val="1E293B"/>
                </a:solidFill>
                <a:latin typeface="Calibri" pitchFamily="34" charset="0"/>
                <a:ea typeface="Calibri" pitchFamily="34" charset="-122"/>
                <a:cs typeface="Calibri" pitchFamily="34" charset="-120"/>
              </a:rPr>
              <a:t>Class Student</a:t>
            </a:r>
            <a:endParaRPr lang="en-US" sz="1700" dirty="0"/>
          </a:p>
        </p:txBody>
      </p:sp>
      <p:sp>
        <p:nvSpPr>
          <p:cNvPr id="9" name="Text 5"/>
          <p:cNvSpPr txBox="1"/>
          <p:nvPr/>
        </p:nvSpPr>
        <p:spPr>
          <a:xfrm>
            <a:off x="822960" y="3831336"/>
            <a:ext cx="2926080" cy="530352"/>
          </a:xfrm>
          <a:prstGeom prst="rect">
            <a:avLst/>
          </a:prstGeom>
          <a:noFill/>
          <a:ln/>
        </p:spPr>
        <p:txBody>
          <a:bodyPr wrap="square" rtlCol="0" anchor="t"/>
          <a:lstStyle/>
          <a:p>
            <a:pPr algn="ctr" indent="0" marL="0">
              <a:buNone/>
            </a:pPr>
            <a:r>
              <a:rPr lang="en-US" sz="1350" dirty="0">
                <a:solidFill>
                  <a:srgbClr val="64748B"/>
                </a:solidFill>
                <a:latin typeface="Calibri" pitchFamily="34" charset="0"/>
                <a:ea typeface="Calibri" pitchFamily="34" charset="-122"/>
                <a:cs typeface="Calibri" pitchFamily="34" charset="-120"/>
              </a:rPr>
              <a:t>the blueprint: a name and a register number</a:t>
            </a:r>
            <a:endParaRPr lang="en-US" sz="1350" dirty="0"/>
          </a:p>
        </p:txBody>
      </p:sp>
      <p:sp>
        <p:nvSpPr>
          <p:cNvPr id="10" name="Shape 6"/>
          <p:cNvSpPr/>
          <p:nvPr/>
        </p:nvSpPr>
        <p:spPr>
          <a:xfrm flipV="1">
            <a:off x="3886200" y="2926080"/>
            <a:ext cx="868680" cy="365760"/>
          </a:xfrm>
          <a:prstGeom prst="line">
            <a:avLst/>
          </a:prstGeom>
          <a:noFill/>
          <a:ln w="31750">
            <a:solidFill>
              <a:srgbClr val="8B5CF6"/>
            </a:solidFill>
            <a:prstDash val="solid"/>
            <a:tailEnd type="triangle"/>
          </a:ln>
        </p:spPr>
      </p:sp>
      <p:sp>
        <p:nvSpPr>
          <p:cNvPr id="11" name="Shape 7"/>
          <p:cNvSpPr/>
          <p:nvPr/>
        </p:nvSpPr>
        <p:spPr>
          <a:xfrm>
            <a:off x="3886200" y="3931920"/>
            <a:ext cx="868680" cy="365760"/>
          </a:xfrm>
          <a:prstGeom prst="line">
            <a:avLst/>
          </a:prstGeom>
          <a:noFill/>
          <a:ln w="31750">
            <a:solidFill>
              <a:srgbClr val="8B5CF6"/>
            </a:solidFill>
            <a:prstDash val="solid"/>
            <a:tailEnd type="triangle"/>
          </a:ln>
        </p:spPr>
      </p:sp>
      <p:sp>
        <p:nvSpPr>
          <p:cNvPr id="12" name="Text 8"/>
          <p:cNvSpPr txBox="1"/>
          <p:nvPr/>
        </p:nvSpPr>
        <p:spPr>
          <a:xfrm>
            <a:off x="3840480" y="3429000"/>
            <a:ext cx="914400" cy="274320"/>
          </a:xfrm>
          <a:prstGeom prst="rect">
            <a:avLst/>
          </a:prstGeom>
          <a:noFill/>
          <a:ln/>
        </p:spPr>
        <p:txBody>
          <a:bodyPr wrap="square" rtlCol="0" anchor="ctr"/>
          <a:lstStyle/>
          <a:p>
            <a:pPr algn="ctr" indent="0" marL="0">
              <a:buNone/>
            </a:pPr>
            <a:r>
              <a:rPr lang="en-US" sz="1200" b="1" dirty="0">
                <a:solidFill>
                  <a:srgbClr val="64748B"/>
                </a:solidFill>
                <a:latin typeface="Calibri" pitchFamily="34" charset="0"/>
                <a:ea typeface="Calibri" pitchFamily="34" charset="-122"/>
                <a:cs typeface="Calibri" pitchFamily="34" charset="-120"/>
              </a:rPr>
              <a:t>create</a:t>
            </a:r>
            <a:endParaRPr lang="en-US" sz="1200" dirty="0"/>
          </a:p>
        </p:txBody>
      </p:sp>
      <p:sp>
        <p:nvSpPr>
          <p:cNvPr id="13" name="Shape 9"/>
          <p:cNvSpPr/>
          <p:nvPr/>
        </p:nvSpPr>
        <p:spPr>
          <a:xfrm>
            <a:off x="4800600" y="2395728"/>
            <a:ext cx="3108960" cy="1097280"/>
          </a:xfrm>
          <a:prstGeom prst="roundRect">
            <a:avLst>
              <a:gd name="adj" fmla="val 8333"/>
            </a:avLst>
          </a:prstGeom>
          <a:solidFill>
            <a:srgbClr val="F0FDFA"/>
          </a:solidFill>
          <a:ln w="19050">
            <a:solidFill>
              <a:srgbClr val="14B8A6"/>
            </a:solidFill>
            <a:prstDash val="solid"/>
          </a:ln>
        </p:spPr>
      </p:sp>
      <p:sp>
        <p:nvSpPr>
          <p:cNvPr id="14" name="Text 10"/>
          <p:cNvSpPr txBox="1"/>
          <p:nvPr/>
        </p:nvSpPr>
        <p:spPr>
          <a:xfrm>
            <a:off x="4873752" y="2505456"/>
            <a:ext cx="2962656" cy="347472"/>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Object s1</a:t>
            </a:r>
            <a:endParaRPr lang="en-US" sz="1600" dirty="0"/>
          </a:p>
        </p:txBody>
      </p:sp>
      <p:sp>
        <p:nvSpPr>
          <p:cNvPr id="15" name="Text 11"/>
          <p:cNvSpPr txBox="1"/>
          <p:nvPr/>
        </p:nvSpPr>
        <p:spPr>
          <a:xfrm>
            <a:off x="4892040" y="2852928"/>
            <a:ext cx="2926080" cy="566928"/>
          </a:xfrm>
          <a:prstGeom prst="rect">
            <a:avLst/>
          </a:prstGeom>
          <a:noFill/>
          <a:ln/>
        </p:spPr>
        <p:txBody>
          <a:bodyPr wrap="square" rtlCol="0" anchor="t"/>
          <a:lstStyle/>
          <a:p>
            <a:pPr algn="ctr" indent="0" marL="0">
              <a:buNone/>
            </a:pPr>
            <a:r>
              <a:rPr lang="en-US" sz="1400" dirty="0">
                <a:solidFill>
                  <a:srgbClr val="64748B"/>
                </a:solidFill>
                <a:latin typeface="Calibri" pitchFamily="34" charset="0"/>
                <a:ea typeface="Calibri" pitchFamily="34" charset="-122"/>
                <a:cs typeface="Calibri" pitchFamily="34" charset="-120"/>
              </a:rPr>
              <a:t>Ravi, 101</a:t>
            </a:r>
            <a:endParaRPr lang="en-US" sz="1400" dirty="0"/>
          </a:p>
        </p:txBody>
      </p:sp>
      <p:sp>
        <p:nvSpPr>
          <p:cNvPr id="16" name="Shape 12"/>
          <p:cNvSpPr/>
          <p:nvPr/>
        </p:nvSpPr>
        <p:spPr>
          <a:xfrm>
            <a:off x="4800600" y="3703320"/>
            <a:ext cx="3108960" cy="1097280"/>
          </a:xfrm>
          <a:prstGeom prst="roundRect">
            <a:avLst>
              <a:gd name="adj" fmla="val 8333"/>
            </a:avLst>
          </a:prstGeom>
          <a:solidFill>
            <a:srgbClr val="F0FDFA"/>
          </a:solidFill>
          <a:ln w="19050">
            <a:solidFill>
              <a:srgbClr val="14B8A6"/>
            </a:solidFill>
            <a:prstDash val="solid"/>
          </a:ln>
        </p:spPr>
      </p:sp>
      <p:sp>
        <p:nvSpPr>
          <p:cNvPr id="17" name="Text 13"/>
          <p:cNvSpPr txBox="1"/>
          <p:nvPr/>
        </p:nvSpPr>
        <p:spPr>
          <a:xfrm>
            <a:off x="4873752" y="3813048"/>
            <a:ext cx="2962656" cy="347472"/>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Object s2</a:t>
            </a:r>
            <a:endParaRPr lang="en-US" sz="1600" dirty="0"/>
          </a:p>
        </p:txBody>
      </p:sp>
      <p:sp>
        <p:nvSpPr>
          <p:cNvPr id="18" name="Text 14"/>
          <p:cNvSpPr txBox="1"/>
          <p:nvPr/>
        </p:nvSpPr>
        <p:spPr>
          <a:xfrm>
            <a:off x="4892040" y="4160520"/>
            <a:ext cx="2926080" cy="566928"/>
          </a:xfrm>
          <a:prstGeom prst="rect">
            <a:avLst/>
          </a:prstGeom>
          <a:noFill/>
          <a:ln/>
        </p:spPr>
        <p:txBody>
          <a:bodyPr wrap="square" rtlCol="0" anchor="t"/>
          <a:lstStyle/>
          <a:p>
            <a:pPr algn="ctr" indent="0" marL="0">
              <a:buNone/>
            </a:pPr>
            <a:r>
              <a:rPr lang="en-US" sz="1400" dirty="0">
                <a:solidFill>
                  <a:srgbClr val="64748B"/>
                </a:solidFill>
                <a:latin typeface="Calibri" pitchFamily="34" charset="0"/>
                <a:ea typeface="Calibri" pitchFamily="34" charset="-122"/>
                <a:cs typeface="Calibri" pitchFamily="34" charset="-120"/>
              </a:rPr>
              <a:t>Priya, 102</a:t>
            </a:r>
            <a:endParaRPr lang="en-US" sz="1400" dirty="0"/>
          </a:p>
        </p:txBody>
      </p:sp>
      <p:sp>
        <p:nvSpPr>
          <p:cNvPr id="19" name="Shape 15"/>
          <p:cNvSpPr/>
          <p:nvPr/>
        </p:nvSpPr>
        <p:spPr>
          <a:xfrm>
            <a:off x="8321040" y="2880360"/>
            <a:ext cx="3108960" cy="1463040"/>
          </a:xfrm>
          <a:prstGeom prst="roundRect">
            <a:avLst>
              <a:gd name="adj" fmla="val 6250"/>
            </a:avLst>
          </a:prstGeom>
          <a:solidFill>
            <a:srgbClr val="F0FDF4"/>
          </a:solidFill>
          <a:ln w="19050">
            <a:solidFill>
              <a:srgbClr val="10B981"/>
            </a:solidFill>
            <a:prstDash val="solid"/>
          </a:ln>
        </p:spPr>
      </p:sp>
      <p:sp>
        <p:nvSpPr>
          <p:cNvPr id="20" name="Text 16"/>
          <p:cNvSpPr txBox="1"/>
          <p:nvPr/>
        </p:nvSpPr>
        <p:spPr>
          <a:xfrm>
            <a:off x="8394192" y="2990088"/>
            <a:ext cx="2962656" cy="347472"/>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Two separate objects</a:t>
            </a:r>
            <a:endParaRPr lang="en-US" sz="1600" dirty="0"/>
          </a:p>
        </p:txBody>
      </p:sp>
      <p:sp>
        <p:nvSpPr>
          <p:cNvPr id="21" name="Text 17"/>
          <p:cNvSpPr txBox="1"/>
          <p:nvPr/>
        </p:nvSpPr>
        <p:spPr>
          <a:xfrm>
            <a:off x="8412480" y="3337560"/>
            <a:ext cx="2926080" cy="932688"/>
          </a:xfrm>
          <a:prstGeom prst="rect">
            <a:avLst/>
          </a:prstGeom>
          <a:noFill/>
          <a:ln/>
        </p:spPr>
        <p:txBody>
          <a:bodyPr wrap="square" rtlCol="0" anchor="t"/>
          <a:lstStyle/>
          <a:p>
            <a:pPr algn="ctr" indent="0" marL="0">
              <a:buNone/>
            </a:pPr>
            <a:r>
              <a:rPr lang="en-US" sz="1350" dirty="0">
                <a:solidFill>
                  <a:srgbClr val="64748B"/>
                </a:solidFill>
                <a:latin typeface="Calibri" pitchFamily="34" charset="0"/>
                <a:ea typeface="Calibri" pitchFamily="34" charset="-122"/>
                <a:cs typeface="Calibri" pitchFamily="34" charset="-120"/>
              </a:rPr>
              <a:t>built from one class, each kept in its own place</a:t>
            </a:r>
            <a:endParaRPr lang="en-US" sz="1350" dirty="0"/>
          </a:p>
        </p:txBody>
      </p:sp>
      <p:sp>
        <p:nvSpPr>
          <p:cNvPr id="22" name="Shape 18"/>
          <p:cNvSpPr/>
          <p:nvPr/>
        </p:nvSpPr>
        <p:spPr>
          <a:xfrm>
            <a:off x="731520" y="5559552"/>
            <a:ext cx="10698480" cy="0"/>
          </a:xfrm>
          <a:prstGeom prst="line">
            <a:avLst/>
          </a:prstGeom>
          <a:noFill/>
          <a:ln w="12700">
            <a:solidFill>
              <a:srgbClr val="E2E8F0"/>
            </a:solidFill>
            <a:prstDash val="solid"/>
          </a:ln>
        </p:spPr>
      </p:sp>
      <p:sp>
        <p:nvSpPr>
          <p:cNvPr id="23" name="Shape 19"/>
          <p:cNvSpPr/>
          <p:nvPr/>
        </p:nvSpPr>
        <p:spPr>
          <a:xfrm>
            <a:off x="777240" y="5650992"/>
            <a:ext cx="475488" cy="475488"/>
          </a:xfrm>
          <a:prstGeom prst="ellipse">
            <a:avLst/>
          </a:prstGeom>
          <a:solidFill>
            <a:srgbClr val="FCE7F3"/>
          </a:solidFill>
          <a:ln w="19050">
            <a:solidFill>
              <a:srgbClr val="EC4899"/>
            </a:solidFill>
            <a:prstDash val="solid"/>
          </a:ln>
        </p:spPr>
      </p:sp>
      <p:pic>
        <p:nvPicPr>
          <p:cNvPr id="24" name="Image 2" descr="assets/icon2_user_pink.png">    </p:cNvPr>
          <p:cNvPicPr>
            <a:picLocks noChangeAspect="1"/>
          </p:cNvPicPr>
          <p:nvPr/>
        </p:nvPicPr>
        <p:blipFill>
          <a:blip r:embed="rId3"/>
          <a:stretch>
            <a:fillRect/>
          </a:stretch>
        </p:blipFill>
        <p:spPr>
          <a:xfrm>
            <a:off x="872338" y="5746090"/>
            <a:ext cx="285293" cy="285293"/>
          </a:xfrm>
          <a:prstGeom prst="rect">
            <a:avLst/>
          </a:prstGeom>
        </p:spPr>
      </p:pic>
      <p:sp>
        <p:nvSpPr>
          <p:cNvPr id="25" name="Shape 20"/>
          <p:cNvSpPr/>
          <p:nvPr/>
        </p:nvSpPr>
        <p:spPr>
          <a:xfrm rot="2700000">
            <a:off x="1508760" y="5801868"/>
            <a:ext cx="182880" cy="182880"/>
          </a:xfrm>
          <a:prstGeom prst="rect">
            <a:avLst/>
          </a:prstGeom>
          <a:solidFill>
            <a:srgbClr val="FDF2F8"/>
          </a:solidFill>
          <a:ln w="15875">
            <a:solidFill>
              <a:srgbClr val="EC4899"/>
            </a:solidFill>
            <a:prstDash val="solid"/>
          </a:ln>
        </p:spPr>
      </p:sp>
      <p:sp>
        <p:nvSpPr>
          <p:cNvPr id="26" name="Shape 21"/>
          <p:cNvSpPr/>
          <p:nvPr/>
        </p:nvSpPr>
        <p:spPr>
          <a:xfrm>
            <a:off x="1600200" y="5641848"/>
            <a:ext cx="9829800" cy="502920"/>
          </a:xfrm>
          <a:prstGeom prst="roundRect">
            <a:avLst>
              <a:gd name="adj" fmla="val 21818"/>
            </a:avLst>
          </a:prstGeom>
          <a:solidFill>
            <a:srgbClr val="FDF2F8"/>
          </a:solidFill>
          <a:ln w="15875">
            <a:solidFill>
              <a:srgbClr val="EC4899"/>
            </a:solidFill>
            <a:prstDash val="solid"/>
          </a:ln>
        </p:spPr>
      </p:sp>
      <p:sp>
        <p:nvSpPr>
          <p:cNvPr id="27" name="Text 22"/>
          <p:cNvSpPr txBox="1"/>
          <p:nvPr/>
        </p:nvSpPr>
        <p:spPr>
          <a:xfrm>
            <a:off x="1783080" y="5641848"/>
            <a:ext cx="9464040" cy="502920"/>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Ravi says  </a:t>
            </a:r>
            <a:pPr indent="0" marL="0">
              <a:buNone/>
            </a:pPr>
            <a:r>
              <a:rPr lang="en-US" sz="1400" dirty="0">
                <a:solidFill>
                  <a:srgbClr val="1E293B"/>
                </a:solidFill>
                <a:latin typeface="Calibri" pitchFamily="34" charset="0"/>
                <a:ea typeface="Calibri" pitchFamily="34" charset="-122"/>
                <a:cs typeface="Calibri" pitchFamily="34" charset="-120"/>
              </a:rPr>
              <a:t>The class is only the plan. Nothing exists until you create an object from it.</a:t>
            </a:r>
            <a:endParaRPr lang="en-US" sz="1400" dirty="0"/>
          </a:p>
        </p:txBody>
      </p:sp>
      <p:sp>
        <p:nvSpPr>
          <p:cNvPr id="28" name="Text 23"/>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OOP Fundamentals and Inheritance  ·  Week 3  ·  Day 12</a:t>
            </a:r>
            <a:endParaRPr lang="en-US" sz="1000" dirty="0"/>
          </a:p>
        </p:txBody>
      </p:sp>
      <p:sp>
        <p:nvSpPr>
          <p:cNvPr id="29" name="Text 24"/>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p:bgPr>
    </p:bg>
    <p:spTree>
      <p:nvGrpSpPr>
        <p:cNvPr id="1" name=""/>
        <p:cNvGrpSpPr/>
        <p:nvPr/>
      </p:nvGrpSpPr>
      <p:grpSpPr>
        <a:xfrm>
          <a:off x="0" y="0"/>
          <a:ext cx="0" cy="0"/>
          <a:chOff x="0" y="0"/>
          <a:chExt cx="0" cy="0"/>
        </a:xfrm>
      </p:grpSpPr>
      <p:pic>
        <p:nvPicPr>
          <p:cNvPr id="2" name="Image 0" descr="assets/bloom_purple.png">    </p:cNvPr>
          <p:cNvPicPr>
            <a:picLocks noChangeAspect="1"/>
          </p:cNvPicPr>
          <p:nvPr/>
        </p:nvPicPr>
        <p:blipFill>
          <a:blip r:embed="rId1"/>
          <a:stretch>
            <a:fillRect/>
          </a:stretch>
        </p:blipFill>
        <p:spPr>
          <a:xfrm>
            <a:off x="-1828800" y="-1828800"/>
            <a:ext cx="6858000" cy="6858000"/>
          </a:xfrm>
          <a:prstGeom prst="rect">
            <a:avLst/>
          </a:prstGeom>
        </p:spPr>
      </p:pic>
      <p:pic>
        <p:nvPicPr>
          <p:cNvPr id="3" name="Image 1" descr="assets/bloom_pink.png">    </p:cNvPr>
          <p:cNvPicPr>
            <a:picLocks noChangeAspect="1"/>
          </p:cNvPicPr>
          <p:nvPr/>
        </p:nvPicPr>
        <p:blipFill>
          <a:blip r:embed="rId2"/>
          <a:stretch>
            <a:fillRect/>
          </a:stretch>
        </p:blipFill>
        <p:spPr>
          <a:xfrm>
            <a:off x="7772400" y="2286000"/>
            <a:ext cx="6400800" cy="6400800"/>
          </a:xfrm>
          <a:prstGeom prst="rect">
            <a:avLst/>
          </a:prstGeom>
        </p:spPr>
      </p:pic>
      <p:sp>
        <p:nvSpPr>
          <p:cNvPr id="4" name="Text 0"/>
          <p:cNvSpPr txBox="1"/>
          <p:nvPr/>
        </p:nvSpPr>
        <p:spPr>
          <a:xfrm>
            <a:off x="457200" y="320040"/>
            <a:ext cx="2286000" cy="45720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intellea</a:t>
            </a:r>
            <a:endParaRPr lang="en-US" sz="2200" dirty="0"/>
          </a:p>
        </p:txBody>
      </p:sp>
      <p:sp>
        <p:nvSpPr>
          <p:cNvPr id="5" name="Text 1"/>
          <p:cNvSpPr txBox="1"/>
          <p:nvPr/>
        </p:nvSpPr>
        <p:spPr>
          <a:xfrm>
            <a:off x="457200" y="109728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TOPIC 3</a:t>
            </a:r>
            <a:endParaRPr lang="en-US" sz="1400" dirty="0"/>
          </a:p>
        </p:txBody>
      </p:sp>
      <p:sp>
        <p:nvSpPr>
          <p:cNvPr id="6" name="Text 2"/>
          <p:cNvSpPr txBox="1"/>
          <p:nvPr/>
        </p:nvSpPr>
        <p:spPr>
          <a:xfrm>
            <a:off x="457200" y="1417320"/>
            <a:ext cx="10972800" cy="7315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__init__ and self</a:t>
            </a:r>
            <a:endParaRPr lang="en-US" sz="3000" dirty="0"/>
          </a:p>
        </p:txBody>
      </p:sp>
      <p:sp>
        <p:nvSpPr>
          <p:cNvPr id="7" name="rc_topic"/>
          <p:cNvSpPr/>
          <p:nvPr/>
        </p:nvSpPr>
        <p:spPr>
          <a:xfrm>
            <a:off x="457200" y="2286000"/>
            <a:ext cx="11247120" cy="3977640"/>
          </a:xfrm>
          <a:prstGeom prst="roundRect">
            <a:avLst>
              <a:gd name="adj" fmla="val 2299"/>
            </a:avLst>
          </a:prstGeom>
          <a:solidFill>
            <a:srgbClr val="0F172A"/>
          </a:solidFill>
          <a:ln w="12700">
            <a:solidFill>
              <a:srgbClr val="334155"/>
            </a:solidFill>
            <a:prstDash val="solid"/>
          </a:ln>
          <a:effectLst>
            <a:outerShdw sx="100000" sy="100000" kx="0" ky="0" algn="bl" rotWithShape="0" blurRad="76200" dist="25400" dir="5400000">
              <a:srgbClr val="000000">
                <a:alpha val="8000"/>
              </a:srgbClr>
            </a:outerShdw>
          </a:effectLst>
        </p:spPr>
      </p:sp>
      <p:sp>
        <p:nvSpPr>
          <p:cNvPr id="8" name="Text 4"/>
          <p:cNvSpPr txBox="1"/>
          <p:nvPr/>
        </p:nvSpPr>
        <p:spPr>
          <a:xfrm>
            <a:off x="914400" y="2450592"/>
            <a:ext cx="9601200" cy="292608"/>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Real time example</a:t>
            </a:r>
            <a:endParaRPr lang="en-US" sz="1400" dirty="0"/>
          </a:p>
        </p:txBody>
      </p:sp>
      <p:sp>
        <p:nvSpPr>
          <p:cNvPr id="9" name="Text 5"/>
          <p:cNvSpPr txBox="1"/>
          <p:nvPr/>
        </p:nvSpPr>
        <p:spPr>
          <a:xfrm>
            <a:off x="914400" y="2761488"/>
            <a:ext cx="10332720" cy="868680"/>
          </a:xfrm>
          <a:prstGeom prst="rect">
            <a:avLst/>
          </a:prstGeom>
          <a:noFill/>
          <a:ln/>
        </p:spPr>
        <p:txBody>
          <a:bodyPr wrap="square" rtlCol="0" anchor="t"/>
          <a:lstStyle/>
          <a:p>
            <a:pPr indent="0" marL="0">
              <a:lnSpc>
                <a:spcPct val="110000"/>
              </a:lnSpc>
              <a:buNone/>
            </a:pPr>
            <a:r>
              <a:rPr lang="en-US" sz="1600" dirty="0">
                <a:solidFill>
                  <a:srgbClr val="CBD5E1"/>
                </a:solidFill>
                <a:latin typeface="Calibri" pitchFamily="34" charset="0"/>
                <a:ea typeface="Calibri" pitchFamily="34" charset="-122"/>
                <a:cs typeface="Calibri" pitchFamily="34" charset="-120"/>
              </a:rPr>
              <a:t>When a new student joins, an admission form is filled the moment the student is registered. The form carries that student's own details. The clerk always knows which student's form is in front of them.</a:t>
            </a:r>
            <a:endParaRPr lang="en-US" sz="1600" dirty="0"/>
          </a:p>
        </p:txBody>
      </p:sp>
      <p:sp>
        <p:nvSpPr>
          <p:cNvPr id="10" name="Text 6"/>
          <p:cNvSpPr txBox="1"/>
          <p:nvPr/>
        </p:nvSpPr>
        <p:spPr>
          <a:xfrm>
            <a:off x="914400" y="3712464"/>
            <a:ext cx="9601200" cy="292608"/>
          </a:xfrm>
          <a:prstGeom prst="rect">
            <a:avLst/>
          </a:prstGeom>
          <a:noFill/>
          <a:ln/>
        </p:spPr>
        <p:txBody>
          <a:bodyPr wrap="square" rtlCol="0" anchor="ctr"/>
          <a:lstStyle/>
          <a:p>
            <a:pPr indent="0" marL="0">
              <a:buNone/>
            </a:pPr>
            <a:r>
              <a:rPr lang="en-US" sz="1400" b="1" dirty="0">
                <a:solidFill>
                  <a:srgbClr val="F97316"/>
                </a:solidFill>
                <a:latin typeface="Calibri" pitchFamily="34" charset="0"/>
                <a:ea typeface="Calibri" pitchFamily="34" charset="-122"/>
                <a:cs typeface="Calibri" pitchFamily="34" charset="-120"/>
              </a:rPr>
              <a:t>Definition</a:t>
            </a:r>
            <a:endParaRPr lang="en-US" sz="1400" dirty="0"/>
          </a:p>
        </p:txBody>
      </p:sp>
      <p:sp>
        <p:nvSpPr>
          <p:cNvPr id="11" name="Text 7"/>
          <p:cNvSpPr txBox="1"/>
          <p:nvPr/>
        </p:nvSpPr>
        <p:spPr>
          <a:xfrm>
            <a:off x="914400" y="4023360"/>
            <a:ext cx="10332720" cy="868680"/>
          </a:xfrm>
          <a:prstGeom prst="rect">
            <a:avLst/>
          </a:prstGeom>
          <a:noFill/>
          <a:ln/>
        </p:spPr>
        <p:txBody>
          <a:bodyPr wrap="square" rtlCol="0" anchor="t"/>
          <a:lstStyle/>
          <a:p>
            <a:pPr indent="0" marL="0">
              <a:lnSpc>
                <a:spcPct val="110000"/>
              </a:lnSpc>
              <a:buNone/>
            </a:pPr>
            <a:r>
              <a:rPr lang="en-US" sz="1800" b="1" dirty="0">
                <a:solidFill>
                  <a:srgbClr val="FFFFFF"/>
                </a:solidFill>
                <a:latin typeface="Calibri" pitchFamily="34" charset="0"/>
                <a:ea typeface="Calibri" pitchFamily="34" charset="-122"/>
                <a:cs typeface="Calibri" pitchFamily="34" charset="-120"/>
              </a:rPr>
              <a:t>__init__ is a special method that runs by itself when an object is created, and it sets up the object's data. self means the current object, the one being worked on.</a:t>
            </a:r>
            <a:endParaRPr lang="en-US" sz="1800" dirty="0"/>
          </a:p>
        </p:txBody>
      </p:sp>
      <p:sp>
        <p:nvSpPr>
          <p:cNvPr id="12" name="Text 8"/>
          <p:cNvSpPr txBox="1"/>
          <p:nvPr/>
        </p:nvSpPr>
        <p:spPr>
          <a:xfrm>
            <a:off x="914400" y="4974336"/>
            <a:ext cx="9601200" cy="292608"/>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Where it is used</a:t>
            </a:r>
            <a:endParaRPr lang="en-US" sz="1400" dirty="0"/>
          </a:p>
        </p:txBody>
      </p:sp>
      <p:sp>
        <p:nvSpPr>
          <p:cNvPr id="13" name="Text 9"/>
          <p:cNvSpPr txBox="1"/>
          <p:nvPr/>
        </p:nvSpPr>
        <p:spPr>
          <a:xfrm>
            <a:off x="914400" y="5285232"/>
            <a:ext cx="10332720" cy="868680"/>
          </a:xfrm>
          <a:prstGeom prst="rect">
            <a:avLst/>
          </a:prstGeom>
          <a:noFill/>
          <a:ln/>
        </p:spPr>
        <p:txBody>
          <a:bodyPr wrap="square" rtlCol="0" anchor="t"/>
          <a:lstStyle/>
          <a:p>
            <a:pPr indent="0" marL="0">
              <a:lnSpc>
                <a:spcPct val="110000"/>
              </a:lnSpc>
              <a:buNone/>
            </a:pPr>
            <a:r>
              <a:rPr lang="en-US" sz="1600" dirty="0">
                <a:solidFill>
                  <a:srgbClr val="CBD5E1"/>
                </a:solidFill>
                <a:latin typeface="Calibri" pitchFamily="34" charset="0"/>
                <a:ea typeface="Calibri" pitchFamily="34" charset="-122"/>
                <a:cs typeface="Calibri" pitchFamily="34" charset="-120"/>
              </a:rPr>
              <a:t>Setting up a new account, a new order or a new user with the right starting values every time.</a:t>
            </a:r>
            <a:endParaRPr lang="en-US" sz="1600" dirty="0"/>
          </a:p>
        </p:txBody>
      </p:sp>
      <p:sp>
        <p:nvSpPr>
          <p:cNvPr id="14" name="Text 10"/>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OOP Fundamentals and Inheritance  ·  Week 3  ·  Day 12</a:t>
            </a:r>
            <a:endParaRPr lang="en-US" sz="1000" dirty="0"/>
          </a:p>
        </p:txBody>
      </p:sp>
      <p:sp>
        <p:nvSpPr>
          <p:cNvPr id="15" name="Text 11"/>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A"/>
        </a:solidFill>
      </p:bgPr>
    </p:bg>
    <p:spTree>
      <p:nvGrpSpPr>
        <p:cNvPr id="1" name=""/>
        <p:cNvGrpSpPr/>
        <p:nvPr/>
      </p:nvGrpSpPr>
      <p:grpSpPr>
        <a:xfrm>
          <a:off x="0" y="0"/>
          <a:ext cx="0" cy="0"/>
          <a:chOff x="0" y="0"/>
          <a:chExt cx="0" cy="0"/>
        </a:xfrm>
      </p:grpSpPr>
      <p:pic>
        <p:nvPicPr>
          <p:cNvPr id="2" name="Image 0" descr="assets/intellea_logo_cropped.png">    </p:cNvPr>
          <p:cNvPicPr>
            <a:picLocks noChangeAspect="1"/>
          </p:cNvPicPr>
          <p:nvPr/>
        </p:nvPicPr>
        <p:blipFill>
          <a:blip r:embed="rId1"/>
          <a:stretch>
            <a:fillRect/>
          </a:stretch>
        </p:blipFill>
        <p:spPr>
          <a:xfrm>
            <a:off x="457200" y="320040"/>
            <a:ext cx="1371600" cy="454323"/>
          </a:xfrm>
          <a:prstGeom prst="rect">
            <a:avLst/>
          </a:prstGeom>
        </p:spPr>
      </p:pic>
      <p:sp>
        <p:nvSpPr>
          <p:cNvPr id="3" name="Text 0"/>
          <p:cNvSpPr txBox="1"/>
          <p:nvPr/>
        </p:nvSpPr>
        <p:spPr>
          <a:xfrm>
            <a:off x="457200" y="96012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INIT IN PICTURES</a:t>
            </a:r>
            <a:endParaRPr lang="en-US" sz="1400" dirty="0"/>
          </a:p>
        </p:txBody>
      </p:sp>
      <p:sp>
        <p:nvSpPr>
          <p:cNvPr id="4" name="Text 1"/>
          <p:cNvSpPr txBox="1"/>
          <p:nvPr/>
        </p:nvSpPr>
        <p:spPr>
          <a:xfrm>
            <a:off x="457200" y="1280160"/>
            <a:ext cx="11155680" cy="822960"/>
          </a:xfrm>
          <a:prstGeom prst="rect">
            <a:avLst/>
          </a:prstGeom>
          <a:noFill/>
          <a:ln/>
        </p:spPr>
        <p:txBody>
          <a:bodyPr wrap="square"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What Happens When an Object Is Created</a:t>
            </a:r>
            <a:endParaRPr lang="en-US" sz="3000" dirty="0"/>
          </a:p>
        </p:txBody>
      </p:sp>
      <p:sp>
        <p:nvSpPr>
          <p:cNvPr id="5" name="rc_vis"/>
          <p:cNvSpPr/>
          <p:nvPr/>
        </p:nvSpPr>
        <p:spPr>
          <a:xfrm>
            <a:off x="457200" y="2240280"/>
            <a:ext cx="11247120" cy="4023360"/>
          </a:xfrm>
          <a:prstGeom prst="roundRect">
            <a:avLst>
              <a:gd name="adj" fmla="val 2273"/>
            </a:avLst>
          </a:prstGeom>
          <a:solidFill>
            <a:srgbClr val="F8FAFC"/>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Shape 3"/>
          <p:cNvSpPr/>
          <p:nvPr/>
        </p:nvSpPr>
        <p:spPr>
          <a:xfrm>
            <a:off x="731520" y="2468880"/>
            <a:ext cx="2331720" cy="1783080"/>
          </a:xfrm>
          <a:prstGeom prst="roundRect">
            <a:avLst>
              <a:gd name="adj" fmla="val 5128"/>
            </a:avLst>
          </a:prstGeom>
          <a:solidFill>
            <a:srgbClr val="F0FDFA"/>
          </a:solidFill>
          <a:ln w="19050">
            <a:solidFill>
              <a:srgbClr val="14B8A6"/>
            </a:solidFill>
            <a:prstDash val="solid"/>
          </a:ln>
        </p:spPr>
      </p:sp>
      <p:pic>
        <p:nvPicPr>
          <p:cNvPr id="7" name="Image 1" descr="assets/icon2_send_teal.png">    </p:cNvPr>
          <p:cNvPicPr>
            <a:picLocks noChangeAspect="1"/>
          </p:cNvPicPr>
          <p:nvPr/>
        </p:nvPicPr>
        <p:blipFill>
          <a:blip r:embed="rId2"/>
          <a:stretch>
            <a:fillRect/>
          </a:stretch>
        </p:blipFill>
        <p:spPr>
          <a:xfrm>
            <a:off x="1645920" y="2578608"/>
            <a:ext cx="502920" cy="502920"/>
          </a:xfrm>
          <a:prstGeom prst="rect">
            <a:avLst/>
          </a:prstGeom>
        </p:spPr>
      </p:pic>
      <p:sp>
        <p:nvSpPr>
          <p:cNvPr id="8" name="Text 4"/>
          <p:cNvSpPr txBox="1"/>
          <p:nvPr/>
        </p:nvSpPr>
        <p:spPr>
          <a:xfrm>
            <a:off x="804672" y="3145536"/>
            <a:ext cx="2185416" cy="365760"/>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Create</a:t>
            </a:r>
            <a:endParaRPr lang="en-US" sz="1600" dirty="0"/>
          </a:p>
        </p:txBody>
      </p:sp>
      <p:sp>
        <p:nvSpPr>
          <p:cNvPr id="9" name="Text 5"/>
          <p:cNvSpPr txBox="1"/>
          <p:nvPr/>
        </p:nvSpPr>
        <p:spPr>
          <a:xfrm>
            <a:off x="822960" y="3511296"/>
            <a:ext cx="2148840" cy="667512"/>
          </a:xfrm>
          <a:prstGeom prst="rect">
            <a:avLst/>
          </a:prstGeom>
          <a:noFill/>
          <a:ln/>
        </p:spPr>
        <p:txBody>
          <a:bodyPr wrap="square" rtlCol="0" anchor="t"/>
          <a:lstStyle/>
          <a:p>
            <a:pPr algn="ctr" indent="0" marL="0">
              <a:buNone/>
            </a:pPr>
            <a:r>
              <a:rPr lang="en-US" sz="1300" dirty="0">
                <a:solidFill>
                  <a:srgbClr val="64748B"/>
                </a:solidFill>
                <a:latin typeface="Calibri" pitchFamily="34" charset="0"/>
                <a:ea typeface="Calibri" pitchFamily="34" charset="-122"/>
                <a:cs typeface="Calibri" pitchFamily="34" charset="-120"/>
              </a:rPr>
              <a:t>Student with Ravi and 101</a:t>
            </a:r>
            <a:endParaRPr lang="en-US" sz="1300" dirty="0"/>
          </a:p>
        </p:txBody>
      </p:sp>
      <p:sp>
        <p:nvSpPr>
          <p:cNvPr id="10" name="Shape 6"/>
          <p:cNvSpPr/>
          <p:nvPr/>
        </p:nvSpPr>
        <p:spPr>
          <a:xfrm>
            <a:off x="3118104" y="3360420"/>
            <a:ext cx="347472" cy="0"/>
          </a:xfrm>
          <a:prstGeom prst="line">
            <a:avLst/>
          </a:prstGeom>
          <a:noFill/>
          <a:ln w="31750">
            <a:solidFill>
              <a:srgbClr val="8B5CF6"/>
            </a:solidFill>
            <a:prstDash val="solid"/>
            <a:tailEnd type="triangle"/>
          </a:ln>
        </p:spPr>
      </p:sp>
      <p:sp>
        <p:nvSpPr>
          <p:cNvPr id="11" name="Shape 7"/>
          <p:cNvSpPr/>
          <p:nvPr/>
        </p:nvSpPr>
        <p:spPr>
          <a:xfrm>
            <a:off x="3520440" y="2468880"/>
            <a:ext cx="2331720" cy="1783080"/>
          </a:xfrm>
          <a:prstGeom prst="roundRect">
            <a:avLst>
              <a:gd name="adj" fmla="val 5128"/>
            </a:avLst>
          </a:prstGeom>
          <a:solidFill>
            <a:srgbClr val="F5F3FF"/>
          </a:solidFill>
          <a:ln w="19050">
            <a:solidFill>
              <a:srgbClr val="8B5CF6"/>
            </a:solidFill>
            <a:prstDash val="solid"/>
          </a:ln>
        </p:spPr>
      </p:sp>
      <p:pic>
        <p:nvPicPr>
          <p:cNvPr id="12" name="Image 2" descr="assets/icon2_package_purple.png">    </p:cNvPr>
          <p:cNvPicPr>
            <a:picLocks noChangeAspect="1"/>
          </p:cNvPicPr>
          <p:nvPr/>
        </p:nvPicPr>
        <p:blipFill>
          <a:blip r:embed="rId3"/>
          <a:stretch>
            <a:fillRect/>
          </a:stretch>
        </p:blipFill>
        <p:spPr>
          <a:xfrm>
            <a:off x="4434840" y="2578608"/>
            <a:ext cx="502920" cy="502920"/>
          </a:xfrm>
          <a:prstGeom prst="rect">
            <a:avLst/>
          </a:prstGeom>
        </p:spPr>
      </p:pic>
      <p:sp>
        <p:nvSpPr>
          <p:cNvPr id="13" name="Text 8"/>
          <p:cNvSpPr txBox="1"/>
          <p:nvPr/>
        </p:nvSpPr>
        <p:spPr>
          <a:xfrm>
            <a:off x="3593592" y="3145536"/>
            <a:ext cx="2185416" cy="365760"/>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Blank object</a:t>
            </a:r>
            <a:endParaRPr lang="en-US" sz="1600" dirty="0"/>
          </a:p>
        </p:txBody>
      </p:sp>
      <p:sp>
        <p:nvSpPr>
          <p:cNvPr id="14" name="Text 9"/>
          <p:cNvSpPr txBox="1"/>
          <p:nvPr/>
        </p:nvSpPr>
        <p:spPr>
          <a:xfrm>
            <a:off x="3611880" y="3511296"/>
            <a:ext cx="2148840" cy="667512"/>
          </a:xfrm>
          <a:prstGeom prst="rect">
            <a:avLst/>
          </a:prstGeom>
          <a:noFill/>
          <a:ln/>
        </p:spPr>
        <p:txBody>
          <a:bodyPr wrap="square" rtlCol="0" anchor="t"/>
          <a:lstStyle/>
          <a:p>
            <a:pPr algn="ctr" indent="0" marL="0">
              <a:buNone/>
            </a:pPr>
            <a:r>
              <a:rPr lang="en-US" sz="1300" dirty="0">
                <a:solidFill>
                  <a:srgbClr val="64748B"/>
                </a:solidFill>
                <a:latin typeface="Calibri" pitchFamily="34" charset="0"/>
                <a:ea typeface="Calibri" pitchFamily="34" charset="-122"/>
                <a:cs typeface="Calibri" pitchFamily="34" charset="-120"/>
              </a:rPr>
              <a:t>Python makes a new empty object</a:t>
            </a:r>
            <a:endParaRPr lang="en-US" sz="1300" dirty="0"/>
          </a:p>
        </p:txBody>
      </p:sp>
      <p:sp>
        <p:nvSpPr>
          <p:cNvPr id="15" name="Shape 10"/>
          <p:cNvSpPr/>
          <p:nvPr/>
        </p:nvSpPr>
        <p:spPr>
          <a:xfrm>
            <a:off x="5907024" y="3360420"/>
            <a:ext cx="347472" cy="0"/>
          </a:xfrm>
          <a:prstGeom prst="line">
            <a:avLst/>
          </a:prstGeom>
          <a:noFill/>
          <a:ln w="31750">
            <a:solidFill>
              <a:srgbClr val="8B5CF6"/>
            </a:solidFill>
            <a:prstDash val="solid"/>
            <a:tailEnd type="triangle"/>
          </a:ln>
        </p:spPr>
      </p:sp>
      <p:sp>
        <p:nvSpPr>
          <p:cNvPr id="16" name="Shape 11"/>
          <p:cNvSpPr/>
          <p:nvPr/>
        </p:nvSpPr>
        <p:spPr>
          <a:xfrm>
            <a:off x="6309360" y="2468880"/>
            <a:ext cx="2331720" cy="1783080"/>
          </a:xfrm>
          <a:prstGeom prst="roundRect">
            <a:avLst>
              <a:gd name="adj" fmla="val 5128"/>
            </a:avLst>
          </a:prstGeom>
          <a:solidFill>
            <a:srgbClr val="FFF7ED"/>
          </a:solidFill>
          <a:ln w="19050">
            <a:solidFill>
              <a:srgbClr val="F97316"/>
            </a:solidFill>
            <a:prstDash val="solid"/>
          </a:ln>
        </p:spPr>
      </p:sp>
      <p:pic>
        <p:nvPicPr>
          <p:cNvPr id="17" name="Image 3" descr="assets/icon2_settings_navy.png">    </p:cNvPr>
          <p:cNvPicPr>
            <a:picLocks noChangeAspect="1"/>
          </p:cNvPicPr>
          <p:nvPr/>
        </p:nvPicPr>
        <p:blipFill>
          <a:blip r:embed="rId4"/>
          <a:stretch>
            <a:fillRect/>
          </a:stretch>
        </p:blipFill>
        <p:spPr>
          <a:xfrm>
            <a:off x="7223760" y="2578608"/>
            <a:ext cx="502920" cy="502920"/>
          </a:xfrm>
          <a:prstGeom prst="rect">
            <a:avLst/>
          </a:prstGeom>
        </p:spPr>
      </p:pic>
      <p:sp>
        <p:nvSpPr>
          <p:cNvPr id="18" name="Text 12"/>
          <p:cNvSpPr txBox="1"/>
          <p:nvPr/>
        </p:nvSpPr>
        <p:spPr>
          <a:xfrm>
            <a:off x="6382512" y="3145536"/>
            <a:ext cx="2185416" cy="365760"/>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__init__ runs</a:t>
            </a:r>
            <a:endParaRPr lang="en-US" sz="1600" dirty="0"/>
          </a:p>
        </p:txBody>
      </p:sp>
      <p:sp>
        <p:nvSpPr>
          <p:cNvPr id="19" name="Text 13"/>
          <p:cNvSpPr txBox="1"/>
          <p:nvPr/>
        </p:nvSpPr>
        <p:spPr>
          <a:xfrm>
            <a:off x="6400800" y="3511296"/>
            <a:ext cx="2148840" cy="667512"/>
          </a:xfrm>
          <a:prstGeom prst="rect">
            <a:avLst/>
          </a:prstGeom>
          <a:noFill/>
          <a:ln/>
        </p:spPr>
        <p:txBody>
          <a:bodyPr wrap="square" rtlCol="0" anchor="t"/>
          <a:lstStyle/>
          <a:p>
            <a:pPr algn="ctr" indent="0" marL="0">
              <a:buNone/>
            </a:pPr>
            <a:r>
              <a:rPr lang="en-US" sz="1300" dirty="0">
                <a:solidFill>
                  <a:srgbClr val="64748B"/>
                </a:solidFill>
                <a:latin typeface="Calibri" pitchFamily="34" charset="0"/>
                <a:ea typeface="Calibri" pitchFamily="34" charset="-122"/>
                <a:cs typeface="Calibri" pitchFamily="34" charset="-120"/>
              </a:rPr>
              <a:t>self points to the new object</a:t>
            </a:r>
            <a:endParaRPr lang="en-US" sz="1300" dirty="0"/>
          </a:p>
        </p:txBody>
      </p:sp>
      <p:sp>
        <p:nvSpPr>
          <p:cNvPr id="20" name="Shape 14"/>
          <p:cNvSpPr/>
          <p:nvPr/>
        </p:nvSpPr>
        <p:spPr>
          <a:xfrm>
            <a:off x="8695944" y="3360420"/>
            <a:ext cx="347472" cy="0"/>
          </a:xfrm>
          <a:prstGeom prst="line">
            <a:avLst/>
          </a:prstGeom>
          <a:noFill/>
          <a:ln w="31750">
            <a:solidFill>
              <a:srgbClr val="8B5CF6"/>
            </a:solidFill>
            <a:prstDash val="solid"/>
            <a:tailEnd type="triangle"/>
          </a:ln>
        </p:spPr>
      </p:sp>
      <p:sp>
        <p:nvSpPr>
          <p:cNvPr id="21" name="Shape 15"/>
          <p:cNvSpPr/>
          <p:nvPr/>
        </p:nvSpPr>
        <p:spPr>
          <a:xfrm>
            <a:off x="9098280" y="2468880"/>
            <a:ext cx="2331720" cy="1783080"/>
          </a:xfrm>
          <a:prstGeom prst="roundRect">
            <a:avLst>
              <a:gd name="adj" fmla="val 5128"/>
            </a:avLst>
          </a:prstGeom>
          <a:solidFill>
            <a:srgbClr val="F0FDF4"/>
          </a:solidFill>
          <a:ln w="19050">
            <a:solidFill>
              <a:srgbClr val="10B981"/>
            </a:solidFill>
            <a:prstDash val="solid"/>
          </a:ln>
        </p:spPr>
      </p:sp>
      <p:pic>
        <p:nvPicPr>
          <p:cNvPr id="22" name="Image 4" descr="assets/icon2_check_green.png">    </p:cNvPr>
          <p:cNvPicPr>
            <a:picLocks noChangeAspect="1"/>
          </p:cNvPicPr>
          <p:nvPr/>
        </p:nvPicPr>
        <p:blipFill>
          <a:blip r:embed="rId5"/>
          <a:stretch>
            <a:fillRect/>
          </a:stretch>
        </p:blipFill>
        <p:spPr>
          <a:xfrm>
            <a:off x="10012680" y="2578608"/>
            <a:ext cx="502920" cy="502920"/>
          </a:xfrm>
          <a:prstGeom prst="rect">
            <a:avLst/>
          </a:prstGeom>
        </p:spPr>
      </p:pic>
      <p:sp>
        <p:nvSpPr>
          <p:cNvPr id="23" name="Text 16"/>
          <p:cNvSpPr txBox="1"/>
          <p:nvPr/>
        </p:nvSpPr>
        <p:spPr>
          <a:xfrm>
            <a:off x="9171432" y="3145536"/>
            <a:ext cx="2185416" cy="365760"/>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Data stored</a:t>
            </a:r>
            <a:endParaRPr lang="en-US" sz="1600" dirty="0"/>
          </a:p>
        </p:txBody>
      </p:sp>
      <p:sp>
        <p:nvSpPr>
          <p:cNvPr id="24" name="Text 17"/>
          <p:cNvSpPr txBox="1"/>
          <p:nvPr/>
        </p:nvSpPr>
        <p:spPr>
          <a:xfrm>
            <a:off x="9189720" y="3511296"/>
            <a:ext cx="2148840" cy="667512"/>
          </a:xfrm>
          <a:prstGeom prst="rect">
            <a:avLst/>
          </a:prstGeom>
          <a:noFill/>
          <a:ln/>
        </p:spPr>
        <p:txBody>
          <a:bodyPr wrap="square" rtlCol="0" anchor="t"/>
          <a:lstStyle/>
          <a:p>
            <a:pPr algn="ctr" indent="0" marL="0">
              <a:buNone/>
            </a:pPr>
            <a:r>
              <a:rPr lang="en-US" sz="1300" dirty="0">
                <a:solidFill>
                  <a:srgbClr val="64748B"/>
                </a:solidFill>
                <a:latin typeface="Calibri" pitchFamily="34" charset="0"/>
                <a:ea typeface="Calibri" pitchFamily="34" charset="-122"/>
                <a:cs typeface="Calibri" pitchFamily="34" charset="-120"/>
              </a:rPr>
              <a:t>name Ravi and reg 101 are saved in it</a:t>
            </a:r>
            <a:endParaRPr lang="en-US" sz="1300" dirty="0"/>
          </a:p>
        </p:txBody>
      </p:sp>
      <p:sp>
        <p:nvSpPr>
          <p:cNvPr id="25" name="Shape 18"/>
          <p:cNvSpPr/>
          <p:nvPr/>
        </p:nvSpPr>
        <p:spPr>
          <a:xfrm>
            <a:off x="731520" y="4480560"/>
            <a:ext cx="5212080" cy="868680"/>
          </a:xfrm>
          <a:prstGeom prst="roundRect">
            <a:avLst>
              <a:gd name="adj" fmla="val 10526"/>
            </a:avLst>
          </a:prstGeom>
          <a:solidFill>
            <a:srgbClr val="F8FAFC"/>
          </a:solidFill>
          <a:ln w="19050">
            <a:solidFill>
              <a:srgbClr val="CBD5E1"/>
            </a:solidFill>
            <a:prstDash val="solid"/>
          </a:ln>
        </p:spPr>
      </p:sp>
      <p:sp>
        <p:nvSpPr>
          <p:cNvPr id="26" name="Text 19"/>
          <p:cNvSpPr txBox="1"/>
          <p:nvPr/>
        </p:nvSpPr>
        <p:spPr>
          <a:xfrm>
            <a:off x="804672" y="4590288"/>
            <a:ext cx="5065776" cy="329184"/>
          </a:xfrm>
          <a:prstGeom prst="rect">
            <a:avLst/>
          </a:prstGeom>
          <a:noFill/>
          <a:ln/>
        </p:spPr>
        <p:txBody>
          <a:bodyPr wrap="square" rtlCol="0" anchor="t"/>
          <a:lstStyle/>
          <a:p>
            <a:pPr algn="ctr" indent="0" marL="0">
              <a:buNone/>
            </a:pPr>
            <a:r>
              <a:rPr lang="en-US" sz="1550" b="1" dirty="0">
                <a:solidFill>
                  <a:srgbClr val="1E293B"/>
                </a:solidFill>
                <a:latin typeface="Calibri" pitchFamily="34" charset="0"/>
                <a:ea typeface="Calibri" pitchFamily="34" charset="-122"/>
                <a:cs typeface="Calibri" pitchFamily="34" charset="-120"/>
              </a:rPr>
              <a:t>self</a:t>
            </a:r>
            <a:endParaRPr lang="en-US" sz="1550" dirty="0"/>
          </a:p>
        </p:txBody>
      </p:sp>
      <p:sp>
        <p:nvSpPr>
          <p:cNvPr id="27" name="Text 20"/>
          <p:cNvSpPr txBox="1"/>
          <p:nvPr/>
        </p:nvSpPr>
        <p:spPr>
          <a:xfrm>
            <a:off x="822960" y="4919472"/>
            <a:ext cx="5029200" cy="356616"/>
          </a:xfrm>
          <a:prstGeom prst="rect">
            <a:avLst/>
          </a:prstGeom>
          <a:noFill/>
          <a:ln/>
        </p:spPr>
        <p:txBody>
          <a:bodyPr wrap="square" rtlCol="0" anchor="t"/>
          <a:lstStyle/>
          <a:p>
            <a:pPr algn="ctr" indent="0" marL="0">
              <a:buNone/>
            </a:pPr>
            <a:r>
              <a:rPr lang="en-US" sz="1350" dirty="0">
                <a:solidFill>
                  <a:srgbClr val="64748B"/>
                </a:solidFill>
                <a:latin typeface="Calibri" pitchFamily="34" charset="0"/>
                <a:ea typeface="Calibri" pitchFamily="34" charset="-122"/>
                <a:cs typeface="Calibri" pitchFamily="34" charset="-120"/>
              </a:rPr>
              <a:t>means this very object, like saying this student</a:t>
            </a:r>
            <a:endParaRPr lang="en-US" sz="1350" dirty="0"/>
          </a:p>
        </p:txBody>
      </p:sp>
      <p:sp>
        <p:nvSpPr>
          <p:cNvPr id="28" name="Shape 21"/>
          <p:cNvSpPr/>
          <p:nvPr/>
        </p:nvSpPr>
        <p:spPr>
          <a:xfrm>
            <a:off x="6217920" y="4480560"/>
            <a:ext cx="5212080" cy="868680"/>
          </a:xfrm>
          <a:prstGeom prst="roundRect">
            <a:avLst>
              <a:gd name="adj" fmla="val 10526"/>
            </a:avLst>
          </a:prstGeom>
          <a:solidFill>
            <a:srgbClr val="F8FAFC"/>
          </a:solidFill>
          <a:ln w="19050">
            <a:solidFill>
              <a:srgbClr val="CBD5E1"/>
            </a:solidFill>
            <a:prstDash val="solid"/>
          </a:ln>
        </p:spPr>
      </p:sp>
      <p:sp>
        <p:nvSpPr>
          <p:cNvPr id="29" name="Text 22"/>
          <p:cNvSpPr txBox="1"/>
          <p:nvPr/>
        </p:nvSpPr>
        <p:spPr>
          <a:xfrm>
            <a:off x="6291072" y="4590288"/>
            <a:ext cx="5065776" cy="329184"/>
          </a:xfrm>
          <a:prstGeom prst="rect">
            <a:avLst/>
          </a:prstGeom>
          <a:noFill/>
          <a:ln/>
        </p:spPr>
        <p:txBody>
          <a:bodyPr wrap="square" rtlCol="0" anchor="t"/>
          <a:lstStyle/>
          <a:p>
            <a:pPr algn="ctr" indent="0" marL="0">
              <a:buNone/>
            </a:pPr>
            <a:r>
              <a:rPr lang="en-US" sz="1550" b="1" dirty="0">
                <a:solidFill>
                  <a:srgbClr val="1E293B"/>
                </a:solidFill>
                <a:latin typeface="Calibri" pitchFamily="34" charset="0"/>
                <a:ea typeface="Calibri" pitchFamily="34" charset="-122"/>
                <a:cs typeface="Calibri" pitchFamily="34" charset="-120"/>
              </a:rPr>
              <a:t>__init__</a:t>
            </a:r>
            <a:endParaRPr lang="en-US" sz="1550" dirty="0"/>
          </a:p>
        </p:txBody>
      </p:sp>
      <p:sp>
        <p:nvSpPr>
          <p:cNvPr id="30" name="Text 23"/>
          <p:cNvSpPr txBox="1"/>
          <p:nvPr/>
        </p:nvSpPr>
        <p:spPr>
          <a:xfrm>
            <a:off x="6309360" y="4919472"/>
            <a:ext cx="5029200" cy="356616"/>
          </a:xfrm>
          <a:prstGeom prst="rect">
            <a:avLst/>
          </a:prstGeom>
          <a:noFill/>
          <a:ln/>
        </p:spPr>
        <p:txBody>
          <a:bodyPr wrap="square" rtlCol="0" anchor="t"/>
          <a:lstStyle/>
          <a:p>
            <a:pPr algn="ctr" indent="0" marL="0">
              <a:buNone/>
            </a:pPr>
            <a:r>
              <a:rPr lang="en-US" sz="1350" dirty="0">
                <a:solidFill>
                  <a:srgbClr val="64748B"/>
                </a:solidFill>
                <a:latin typeface="Calibri" pitchFamily="34" charset="0"/>
                <a:ea typeface="Calibri" pitchFamily="34" charset="-122"/>
                <a:cs typeface="Calibri" pitchFamily="34" charset="-120"/>
              </a:rPr>
              <a:t>runs automatically, so you never call it yourself</a:t>
            </a:r>
            <a:endParaRPr lang="en-US" sz="1350" dirty="0"/>
          </a:p>
        </p:txBody>
      </p:sp>
      <p:sp>
        <p:nvSpPr>
          <p:cNvPr id="31" name="Shape 24"/>
          <p:cNvSpPr/>
          <p:nvPr/>
        </p:nvSpPr>
        <p:spPr>
          <a:xfrm>
            <a:off x="731520" y="5559552"/>
            <a:ext cx="10698480" cy="0"/>
          </a:xfrm>
          <a:prstGeom prst="line">
            <a:avLst/>
          </a:prstGeom>
          <a:noFill/>
          <a:ln w="12700">
            <a:solidFill>
              <a:srgbClr val="E2E8F0"/>
            </a:solidFill>
            <a:prstDash val="solid"/>
          </a:ln>
        </p:spPr>
      </p:sp>
      <p:sp>
        <p:nvSpPr>
          <p:cNvPr id="32" name="Shape 25"/>
          <p:cNvSpPr/>
          <p:nvPr/>
        </p:nvSpPr>
        <p:spPr>
          <a:xfrm>
            <a:off x="777240" y="5650992"/>
            <a:ext cx="475488" cy="475488"/>
          </a:xfrm>
          <a:prstGeom prst="ellipse">
            <a:avLst/>
          </a:prstGeom>
          <a:solidFill>
            <a:srgbClr val="FCE7F3"/>
          </a:solidFill>
          <a:ln w="19050">
            <a:solidFill>
              <a:srgbClr val="EC4899"/>
            </a:solidFill>
            <a:prstDash val="solid"/>
          </a:ln>
        </p:spPr>
      </p:sp>
      <p:pic>
        <p:nvPicPr>
          <p:cNvPr id="33" name="Image 5" descr="assets/icon2_user_pink.png">    </p:cNvPr>
          <p:cNvPicPr>
            <a:picLocks noChangeAspect="1"/>
          </p:cNvPicPr>
          <p:nvPr/>
        </p:nvPicPr>
        <p:blipFill>
          <a:blip r:embed="rId6"/>
          <a:stretch>
            <a:fillRect/>
          </a:stretch>
        </p:blipFill>
        <p:spPr>
          <a:xfrm>
            <a:off x="872338" y="5746090"/>
            <a:ext cx="285293" cy="285293"/>
          </a:xfrm>
          <a:prstGeom prst="rect">
            <a:avLst/>
          </a:prstGeom>
        </p:spPr>
      </p:pic>
      <p:sp>
        <p:nvSpPr>
          <p:cNvPr id="34" name="Shape 26"/>
          <p:cNvSpPr/>
          <p:nvPr/>
        </p:nvSpPr>
        <p:spPr>
          <a:xfrm rot="2700000">
            <a:off x="1508760" y="5801868"/>
            <a:ext cx="182880" cy="182880"/>
          </a:xfrm>
          <a:prstGeom prst="rect">
            <a:avLst/>
          </a:prstGeom>
          <a:solidFill>
            <a:srgbClr val="FDF2F8"/>
          </a:solidFill>
          <a:ln w="15875">
            <a:solidFill>
              <a:srgbClr val="EC4899"/>
            </a:solidFill>
            <a:prstDash val="solid"/>
          </a:ln>
        </p:spPr>
      </p:sp>
      <p:sp>
        <p:nvSpPr>
          <p:cNvPr id="35" name="Shape 27"/>
          <p:cNvSpPr/>
          <p:nvPr/>
        </p:nvSpPr>
        <p:spPr>
          <a:xfrm>
            <a:off x="1600200" y="5641848"/>
            <a:ext cx="9829800" cy="502920"/>
          </a:xfrm>
          <a:prstGeom prst="roundRect">
            <a:avLst>
              <a:gd name="adj" fmla="val 21818"/>
            </a:avLst>
          </a:prstGeom>
          <a:solidFill>
            <a:srgbClr val="FDF2F8"/>
          </a:solidFill>
          <a:ln w="15875">
            <a:solidFill>
              <a:srgbClr val="EC4899"/>
            </a:solidFill>
            <a:prstDash val="solid"/>
          </a:ln>
        </p:spPr>
      </p:sp>
      <p:sp>
        <p:nvSpPr>
          <p:cNvPr id="36" name="Text 28"/>
          <p:cNvSpPr txBox="1"/>
          <p:nvPr/>
        </p:nvSpPr>
        <p:spPr>
          <a:xfrm>
            <a:off x="1783080" y="5641848"/>
            <a:ext cx="9464040" cy="502920"/>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Ravi says  </a:t>
            </a:r>
            <a:pPr indent="0" marL="0">
              <a:buNone/>
            </a:pPr>
            <a:r>
              <a:rPr lang="en-US" sz="1400" dirty="0">
                <a:solidFill>
                  <a:srgbClr val="1E293B"/>
                </a:solidFill>
                <a:latin typeface="Calibri" pitchFamily="34" charset="0"/>
                <a:ea typeface="Calibri" pitchFamily="34" charset="-122"/>
                <a:cs typeface="Calibri" pitchFamily="34" charset="-120"/>
              </a:rPr>
              <a:t>Whatever you give while creating the object is handed straight to __init__.</a:t>
            </a:r>
            <a:endParaRPr lang="en-US" sz="1400" dirty="0"/>
          </a:p>
        </p:txBody>
      </p:sp>
      <p:sp>
        <p:nvSpPr>
          <p:cNvPr id="37" name="Text 29"/>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OOP Fundamentals and Inheritance  ·  Week 3  ·  Day 12</a:t>
            </a:r>
            <a:endParaRPr lang="en-US" sz="1000" dirty="0"/>
          </a:p>
        </p:txBody>
      </p:sp>
      <p:sp>
        <p:nvSpPr>
          <p:cNvPr id="38" name="Text 30"/>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pic>
        <p:nvPicPr>
          <p:cNvPr id="2" name="Image 0" descr="assets/bloom_purple.png">    </p:cNvPr>
          <p:cNvPicPr>
            <a:picLocks noChangeAspect="1"/>
          </p:cNvPicPr>
          <p:nvPr/>
        </p:nvPicPr>
        <p:blipFill>
          <a:blip r:embed="rId1"/>
          <a:stretch>
            <a:fillRect/>
          </a:stretch>
        </p:blipFill>
        <p:spPr>
          <a:xfrm>
            <a:off x="-1828800" y="-1828800"/>
            <a:ext cx="6858000" cy="6858000"/>
          </a:xfrm>
          <a:prstGeom prst="rect">
            <a:avLst/>
          </a:prstGeom>
        </p:spPr>
      </p:pic>
      <p:pic>
        <p:nvPicPr>
          <p:cNvPr id="3" name="Image 1" descr="assets/bloom_pink.png">    </p:cNvPr>
          <p:cNvPicPr>
            <a:picLocks noChangeAspect="1"/>
          </p:cNvPicPr>
          <p:nvPr/>
        </p:nvPicPr>
        <p:blipFill>
          <a:blip r:embed="rId2"/>
          <a:stretch>
            <a:fillRect/>
          </a:stretch>
        </p:blipFill>
        <p:spPr>
          <a:xfrm>
            <a:off x="7772400" y="2286000"/>
            <a:ext cx="6400800" cy="6400800"/>
          </a:xfrm>
          <a:prstGeom prst="rect">
            <a:avLst/>
          </a:prstGeom>
        </p:spPr>
      </p:pic>
      <p:sp>
        <p:nvSpPr>
          <p:cNvPr id="4" name="Text 0"/>
          <p:cNvSpPr txBox="1"/>
          <p:nvPr/>
        </p:nvSpPr>
        <p:spPr>
          <a:xfrm>
            <a:off x="457200" y="320040"/>
            <a:ext cx="2286000" cy="45720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intellea</a:t>
            </a:r>
            <a:endParaRPr lang="en-US" sz="2200" dirty="0"/>
          </a:p>
        </p:txBody>
      </p:sp>
      <p:sp>
        <p:nvSpPr>
          <p:cNvPr id="5" name="Text 1"/>
          <p:cNvSpPr txBox="1"/>
          <p:nvPr/>
        </p:nvSpPr>
        <p:spPr>
          <a:xfrm>
            <a:off x="457200" y="109728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TOPIC 4</a:t>
            </a:r>
            <a:endParaRPr lang="en-US" sz="1400" dirty="0"/>
          </a:p>
        </p:txBody>
      </p:sp>
      <p:sp>
        <p:nvSpPr>
          <p:cNvPr id="6" name="Text 2"/>
          <p:cNvSpPr txBox="1"/>
          <p:nvPr/>
        </p:nvSpPr>
        <p:spPr>
          <a:xfrm>
            <a:off x="457200" y="1417320"/>
            <a:ext cx="10972800" cy="7315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Instance Attributes</a:t>
            </a:r>
            <a:endParaRPr lang="en-US" sz="3000" dirty="0"/>
          </a:p>
        </p:txBody>
      </p:sp>
      <p:sp>
        <p:nvSpPr>
          <p:cNvPr id="7" name="rc_topic"/>
          <p:cNvSpPr/>
          <p:nvPr/>
        </p:nvSpPr>
        <p:spPr>
          <a:xfrm>
            <a:off x="457200" y="2286000"/>
            <a:ext cx="11247120" cy="3977640"/>
          </a:xfrm>
          <a:prstGeom prst="roundRect">
            <a:avLst>
              <a:gd name="adj" fmla="val 2299"/>
            </a:avLst>
          </a:prstGeom>
          <a:solidFill>
            <a:srgbClr val="0F172A"/>
          </a:solidFill>
          <a:ln w="12700">
            <a:solidFill>
              <a:srgbClr val="334155"/>
            </a:solidFill>
            <a:prstDash val="solid"/>
          </a:ln>
          <a:effectLst>
            <a:outerShdw sx="100000" sy="100000" kx="0" ky="0" algn="bl" rotWithShape="0" blurRad="76200" dist="25400" dir="5400000">
              <a:srgbClr val="000000">
                <a:alpha val="8000"/>
              </a:srgbClr>
            </a:outerShdw>
          </a:effectLst>
        </p:spPr>
      </p:sp>
      <p:sp>
        <p:nvSpPr>
          <p:cNvPr id="8" name="Text 4"/>
          <p:cNvSpPr txBox="1"/>
          <p:nvPr/>
        </p:nvSpPr>
        <p:spPr>
          <a:xfrm>
            <a:off x="914400" y="2450592"/>
            <a:ext cx="9601200" cy="292608"/>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Real time example</a:t>
            </a:r>
            <a:endParaRPr lang="en-US" sz="1400" dirty="0"/>
          </a:p>
        </p:txBody>
      </p:sp>
      <p:sp>
        <p:nvSpPr>
          <p:cNvPr id="9" name="Text 5"/>
          <p:cNvSpPr txBox="1"/>
          <p:nvPr/>
        </p:nvSpPr>
        <p:spPr>
          <a:xfrm>
            <a:off x="914400" y="2761488"/>
            <a:ext cx="10332720" cy="868680"/>
          </a:xfrm>
          <a:prstGeom prst="rect">
            <a:avLst/>
          </a:prstGeom>
          <a:noFill/>
          <a:ln/>
        </p:spPr>
        <p:txBody>
          <a:bodyPr wrap="square" rtlCol="0" anchor="t"/>
          <a:lstStyle/>
          <a:p>
            <a:pPr indent="0" marL="0">
              <a:lnSpc>
                <a:spcPct val="110000"/>
              </a:lnSpc>
              <a:buNone/>
            </a:pPr>
            <a:r>
              <a:rPr lang="en-US" sz="1600" dirty="0">
                <a:solidFill>
                  <a:srgbClr val="CBD5E1"/>
                </a:solidFill>
                <a:latin typeface="Calibri" pitchFamily="34" charset="0"/>
                <a:ea typeface="Calibri" pitchFamily="34" charset="-122"/>
                <a:cs typeface="Calibri" pitchFamily="34" charset="-120"/>
              </a:rPr>
              <a:t>Every student's ID card has the same layout, but the name and number printed on each card belong to that student alone.</a:t>
            </a:r>
            <a:endParaRPr lang="en-US" sz="1600" dirty="0"/>
          </a:p>
        </p:txBody>
      </p:sp>
      <p:sp>
        <p:nvSpPr>
          <p:cNvPr id="10" name="Text 6"/>
          <p:cNvSpPr txBox="1"/>
          <p:nvPr/>
        </p:nvSpPr>
        <p:spPr>
          <a:xfrm>
            <a:off x="914400" y="3712464"/>
            <a:ext cx="9601200" cy="292608"/>
          </a:xfrm>
          <a:prstGeom prst="rect">
            <a:avLst/>
          </a:prstGeom>
          <a:noFill/>
          <a:ln/>
        </p:spPr>
        <p:txBody>
          <a:bodyPr wrap="square" rtlCol="0" anchor="ctr"/>
          <a:lstStyle/>
          <a:p>
            <a:pPr indent="0" marL="0">
              <a:buNone/>
            </a:pPr>
            <a:r>
              <a:rPr lang="en-US" sz="1400" b="1" dirty="0">
                <a:solidFill>
                  <a:srgbClr val="F97316"/>
                </a:solidFill>
                <a:latin typeface="Calibri" pitchFamily="34" charset="0"/>
                <a:ea typeface="Calibri" pitchFamily="34" charset="-122"/>
                <a:cs typeface="Calibri" pitchFamily="34" charset="-120"/>
              </a:rPr>
              <a:t>Definition</a:t>
            </a:r>
            <a:endParaRPr lang="en-US" sz="1400" dirty="0"/>
          </a:p>
        </p:txBody>
      </p:sp>
      <p:sp>
        <p:nvSpPr>
          <p:cNvPr id="11" name="Text 7"/>
          <p:cNvSpPr txBox="1"/>
          <p:nvPr/>
        </p:nvSpPr>
        <p:spPr>
          <a:xfrm>
            <a:off x="914400" y="4023360"/>
            <a:ext cx="10332720" cy="868680"/>
          </a:xfrm>
          <a:prstGeom prst="rect">
            <a:avLst/>
          </a:prstGeom>
          <a:noFill/>
          <a:ln/>
        </p:spPr>
        <p:txBody>
          <a:bodyPr wrap="square" rtlCol="0" anchor="t"/>
          <a:lstStyle/>
          <a:p>
            <a:pPr indent="0" marL="0">
              <a:lnSpc>
                <a:spcPct val="110000"/>
              </a:lnSpc>
              <a:buNone/>
            </a:pPr>
            <a:r>
              <a:rPr lang="en-US" sz="1800" b="1" dirty="0">
                <a:solidFill>
                  <a:srgbClr val="FFFFFF"/>
                </a:solidFill>
                <a:latin typeface="Calibri" pitchFamily="34" charset="0"/>
                <a:ea typeface="Calibri" pitchFamily="34" charset="-122"/>
                <a:cs typeface="Calibri" pitchFamily="34" charset="-120"/>
              </a:rPr>
              <a:t>Instance attributes are variables that belong to one object. They are created with self, and every object keeps its own separate copy of them.</a:t>
            </a:r>
            <a:endParaRPr lang="en-US" sz="1800" dirty="0"/>
          </a:p>
        </p:txBody>
      </p:sp>
      <p:sp>
        <p:nvSpPr>
          <p:cNvPr id="12" name="Text 8"/>
          <p:cNvSpPr txBox="1"/>
          <p:nvPr/>
        </p:nvSpPr>
        <p:spPr>
          <a:xfrm>
            <a:off x="914400" y="4974336"/>
            <a:ext cx="9601200" cy="292608"/>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Where it is used</a:t>
            </a:r>
            <a:endParaRPr lang="en-US" sz="1400" dirty="0"/>
          </a:p>
        </p:txBody>
      </p:sp>
      <p:sp>
        <p:nvSpPr>
          <p:cNvPr id="13" name="Text 9"/>
          <p:cNvSpPr txBox="1"/>
          <p:nvPr/>
        </p:nvSpPr>
        <p:spPr>
          <a:xfrm>
            <a:off x="914400" y="5285232"/>
            <a:ext cx="10332720" cy="868680"/>
          </a:xfrm>
          <a:prstGeom prst="rect">
            <a:avLst/>
          </a:prstGeom>
          <a:noFill/>
          <a:ln/>
        </p:spPr>
        <p:txBody>
          <a:bodyPr wrap="square" rtlCol="0" anchor="t"/>
          <a:lstStyle/>
          <a:p>
            <a:pPr indent="0" marL="0">
              <a:lnSpc>
                <a:spcPct val="110000"/>
              </a:lnSpc>
              <a:buNone/>
            </a:pPr>
            <a:r>
              <a:rPr lang="en-US" sz="1600" dirty="0">
                <a:solidFill>
                  <a:srgbClr val="CBD5E1"/>
                </a:solidFill>
                <a:latin typeface="Calibri" pitchFamily="34" charset="0"/>
                <a:ea typeface="Calibri" pitchFamily="34" charset="-122"/>
                <a:cs typeface="Calibri" pitchFamily="34" charset="-120"/>
              </a:rPr>
              <a:t>Customer details, product details and account details. Each record in an app is one object with its own attribute values.</a:t>
            </a:r>
            <a:endParaRPr lang="en-US" sz="1600" dirty="0"/>
          </a:p>
        </p:txBody>
      </p:sp>
      <p:sp>
        <p:nvSpPr>
          <p:cNvPr id="14" name="Text 10"/>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OOP Fundamentals and Inheritance  ·  Week 3  ·  Day 12</a:t>
            </a:r>
            <a:endParaRPr lang="en-US" sz="1000" dirty="0"/>
          </a:p>
        </p:txBody>
      </p:sp>
      <p:sp>
        <p:nvSpPr>
          <p:cNvPr id="15" name="Text 11"/>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A"/>
        </a:solidFill>
      </p:bgPr>
    </p:bg>
    <p:spTree>
      <p:nvGrpSpPr>
        <p:cNvPr id="1" name=""/>
        <p:cNvGrpSpPr/>
        <p:nvPr/>
      </p:nvGrpSpPr>
      <p:grpSpPr>
        <a:xfrm>
          <a:off x="0" y="0"/>
          <a:ext cx="0" cy="0"/>
          <a:chOff x="0" y="0"/>
          <a:chExt cx="0" cy="0"/>
        </a:xfrm>
      </p:grpSpPr>
      <p:pic>
        <p:nvPicPr>
          <p:cNvPr id="2" name="Image 0" descr="assets/intellea_logo_cropped.png">    </p:cNvPr>
          <p:cNvPicPr>
            <a:picLocks noChangeAspect="1"/>
          </p:cNvPicPr>
          <p:nvPr/>
        </p:nvPicPr>
        <p:blipFill>
          <a:blip r:embed="rId1"/>
          <a:stretch>
            <a:fillRect/>
          </a:stretch>
        </p:blipFill>
        <p:spPr>
          <a:xfrm>
            <a:off x="457200" y="320040"/>
            <a:ext cx="1371600" cy="454323"/>
          </a:xfrm>
          <a:prstGeom prst="rect">
            <a:avLst/>
          </a:prstGeom>
        </p:spPr>
      </p:pic>
      <p:sp>
        <p:nvSpPr>
          <p:cNvPr id="3" name="Text 0"/>
          <p:cNvSpPr txBox="1"/>
          <p:nvPr/>
        </p:nvSpPr>
        <p:spPr>
          <a:xfrm>
            <a:off x="457200" y="96012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INSTANCE ATTRIBUTES</a:t>
            </a:r>
            <a:endParaRPr lang="en-US" sz="1400" dirty="0"/>
          </a:p>
        </p:txBody>
      </p:sp>
      <p:sp>
        <p:nvSpPr>
          <p:cNvPr id="4" name="Text 1"/>
          <p:cNvSpPr txBox="1"/>
          <p:nvPr/>
        </p:nvSpPr>
        <p:spPr>
          <a:xfrm>
            <a:off x="457200" y="1280160"/>
            <a:ext cx="11155680" cy="822960"/>
          </a:xfrm>
          <a:prstGeom prst="rect">
            <a:avLst/>
          </a:prstGeom>
          <a:noFill/>
          <a:ln/>
        </p:spPr>
        <p:txBody>
          <a:bodyPr wrap="square"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Each Object Has Its Own Values</a:t>
            </a:r>
            <a:endParaRPr lang="en-US" sz="3000" dirty="0"/>
          </a:p>
        </p:txBody>
      </p:sp>
      <p:sp>
        <p:nvSpPr>
          <p:cNvPr id="5" name="rc_vis"/>
          <p:cNvSpPr/>
          <p:nvPr/>
        </p:nvSpPr>
        <p:spPr>
          <a:xfrm>
            <a:off x="457200" y="2240280"/>
            <a:ext cx="11247120" cy="4023360"/>
          </a:xfrm>
          <a:prstGeom prst="roundRect">
            <a:avLst>
              <a:gd name="adj" fmla="val 2273"/>
            </a:avLst>
          </a:prstGeom>
          <a:solidFill>
            <a:srgbClr val="F8FAFC"/>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Shape 3"/>
          <p:cNvSpPr/>
          <p:nvPr/>
        </p:nvSpPr>
        <p:spPr>
          <a:xfrm>
            <a:off x="731520" y="2395728"/>
            <a:ext cx="5029200" cy="2057400"/>
          </a:xfrm>
          <a:prstGeom prst="roundRect">
            <a:avLst>
              <a:gd name="adj" fmla="val 4444"/>
            </a:avLst>
          </a:prstGeom>
          <a:solidFill>
            <a:srgbClr val="F5F3FF"/>
          </a:solidFill>
          <a:ln w="19050">
            <a:solidFill>
              <a:srgbClr val="8B5CF6"/>
            </a:solidFill>
            <a:prstDash val="solid"/>
          </a:ln>
        </p:spPr>
      </p:sp>
      <p:sp>
        <p:nvSpPr>
          <p:cNvPr id="7" name="Text 4"/>
          <p:cNvSpPr txBox="1"/>
          <p:nvPr/>
        </p:nvSpPr>
        <p:spPr>
          <a:xfrm>
            <a:off x="914400" y="2468880"/>
            <a:ext cx="4572000" cy="274320"/>
          </a:xfrm>
          <a:prstGeom prst="rect">
            <a:avLst/>
          </a:prstGeom>
          <a:noFill/>
          <a:ln/>
        </p:spPr>
        <p:txBody>
          <a:bodyPr wrap="square" rtlCol="0" anchor="ctr"/>
          <a:lstStyle/>
          <a:p>
            <a:pPr indent="0" marL="0">
              <a:buNone/>
            </a:pPr>
            <a:r>
              <a:rPr lang="en-US" sz="1100" b="1" spc="100" kern="0" dirty="0">
                <a:solidFill>
                  <a:srgbClr val="8B5CF6"/>
                </a:solidFill>
                <a:latin typeface="Calibri" pitchFamily="34" charset="0"/>
                <a:ea typeface="Calibri" pitchFamily="34" charset="-122"/>
                <a:cs typeface="Calibri" pitchFamily="34" charset="-120"/>
              </a:rPr>
              <a:t>OBJECT S1</a:t>
            </a:r>
            <a:endParaRPr lang="en-US" sz="1100" dirty="0"/>
          </a:p>
        </p:txBody>
      </p:sp>
      <p:sp>
        <p:nvSpPr>
          <p:cNvPr id="8" name="Shape 5"/>
          <p:cNvSpPr/>
          <p:nvPr/>
        </p:nvSpPr>
        <p:spPr>
          <a:xfrm>
            <a:off x="914400" y="2880360"/>
            <a:ext cx="3657600" cy="594360"/>
          </a:xfrm>
          <a:prstGeom prst="roundRect">
            <a:avLst>
              <a:gd name="adj" fmla="val 9231"/>
            </a:avLst>
          </a:prstGeom>
          <a:solidFill>
            <a:srgbClr val="F5F3FF"/>
          </a:solidFill>
          <a:ln w="19050">
            <a:solidFill>
              <a:srgbClr val="8B5CF6"/>
            </a:solidFill>
            <a:prstDash val="solid"/>
          </a:ln>
        </p:spPr>
      </p:sp>
      <p:sp>
        <p:nvSpPr>
          <p:cNvPr id="9" name="Text 6"/>
          <p:cNvSpPr txBox="1"/>
          <p:nvPr/>
        </p:nvSpPr>
        <p:spPr>
          <a:xfrm>
            <a:off x="914400" y="2880360"/>
            <a:ext cx="3657600" cy="594360"/>
          </a:xfrm>
          <a:prstGeom prst="rect">
            <a:avLst/>
          </a:prstGeom>
          <a:noFill/>
          <a:ln/>
        </p:spPr>
        <p:txBody>
          <a:bodyPr wrap="square" rtlCol="0" anchor="ctr"/>
          <a:lstStyle/>
          <a:p>
            <a:pPr algn="ctr" indent="0" marL="0">
              <a:buNone/>
            </a:pPr>
            <a:r>
              <a:rPr lang="en-US" sz="1500" b="1" dirty="0">
                <a:solidFill>
                  <a:srgbClr val="1E293B"/>
                </a:solidFill>
                <a:latin typeface="Consolas" pitchFamily="34" charset="0"/>
                <a:ea typeface="Consolas" pitchFamily="34" charset="-122"/>
                <a:cs typeface="Consolas" pitchFamily="34" charset="-120"/>
              </a:rPr>
              <a:t>name : Ravi</a:t>
            </a:r>
            <a:endParaRPr lang="en-US" sz="1500" dirty="0"/>
          </a:p>
        </p:txBody>
      </p:sp>
      <p:sp>
        <p:nvSpPr>
          <p:cNvPr id="10" name="Shape 7"/>
          <p:cNvSpPr/>
          <p:nvPr/>
        </p:nvSpPr>
        <p:spPr>
          <a:xfrm>
            <a:off x="914400" y="3611880"/>
            <a:ext cx="3657600" cy="594360"/>
          </a:xfrm>
          <a:prstGeom prst="roundRect">
            <a:avLst>
              <a:gd name="adj" fmla="val 9231"/>
            </a:avLst>
          </a:prstGeom>
          <a:solidFill>
            <a:srgbClr val="F5F3FF"/>
          </a:solidFill>
          <a:ln w="19050">
            <a:solidFill>
              <a:srgbClr val="8B5CF6"/>
            </a:solidFill>
            <a:prstDash val="solid"/>
          </a:ln>
        </p:spPr>
      </p:sp>
      <p:sp>
        <p:nvSpPr>
          <p:cNvPr id="11" name="Text 8"/>
          <p:cNvSpPr txBox="1"/>
          <p:nvPr/>
        </p:nvSpPr>
        <p:spPr>
          <a:xfrm>
            <a:off x="914400" y="3611880"/>
            <a:ext cx="3657600" cy="594360"/>
          </a:xfrm>
          <a:prstGeom prst="rect">
            <a:avLst/>
          </a:prstGeom>
          <a:noFill/>
          <a:ln/>
        </p:spPr>
        <p:txBody>
          <a:bodyPr wrap="square" rtlCol="0" anchor="ctr"/>
          <a:lstStyle/>
          <a:p>
            <a:pPr algn="ctr" indent="0" marL="0">
              <a:buNone/>
            </a:pPr>
            <a:r>
              <a:rPr lang="en-US" sz="1500" b="1" dirty="0">
                <a:solidFill>
                  <a:srgbClr val="1E293B"/>
                </a:solidFill>
                <a:latin typeface="Consolas" pitchFamily="34" charset="0"/>
                <a:ea typeface="Consolas" pitchFamily="34" charset="-122"/>
                <a:cs typeface="Consolas" pitchFamily="34" charset="-120"/>
              </a:rPr>
              <a:t>reg : 101</a:t>
            </a:r>
            <a:endParaRPr lang="en-US" sz="1500" dirty="0"/>
          </a:p>
        </p:txBody>
      </p:sp>
      <p:sp>
        <p:nvSpPr>
          <p:cNvPr id="12" name="Shape 9"/>
          <p:cNvSpPr/>
          <p:nvPr/>
        </p:nvSpPr>
        <p:spPr>
          <a:xfrm>
            <a:off x="6400800" y="2395728"/>
            <a:ext cx="5029200" cy="2057400"/>
          </a:xfrm>
          <a:prstGeom prst="roundRect">
            <a:avLst>
              <a:gd name="adj" fmla="val 4444"/>
            </a:avLst>
          </a:prstGeom>
          <a:solidFill>
            <a:srgbClr val="F0FDFA"/>
          </a:solidFill>
          <a:ln w="19050">
            <a:solidFill>
              <a:srgbClr val="14B8A6"/>
            </a:solidFill>
            <a:prstDash val="solid"/>
          </a:ln>
        </p:spPr>
      </p:sp>
      <p:sp>
        <p:nvSpPr>
          <p:cNvPr id="13" name="Text 10"/>
          <p:cNvSpPr txBox="1"/>
          <p:nvPr/>
        </p:nvSpPr>
        <p:spPr>
          <a:xfrm>
            <a:off x="6583680" y="2468880"/>
            <a:ext cx="4572000" cy="274320"/>
          </a:xfrm>
          <a:prstGeom prst="rect">
            <a:avLst/>
          </a:prstGeom>
          <a:noFill/>
          <a:ln/>
        </p:spPr>
        <p:txBody>
          <a:bodyPr wrap="square" rtlCol="0" anchor="ctr"/>
          <a:lstStyle/>
          <a:p>
            <a:pPr indent="0" marL="0">
              <a:buNone/>
            </a:pPr>
            <a:r>
              <a:rPr lang="en-US" sz="1100" b="1" spc="100" kern="0" dirty="0">
                <a:solidFill>
                  <a:srgbClr val="14B8A6"/>
                </a:solidFill>
                <a:latin typeface="Calibri" pitchFamily="34" charset="0"/>
                <a:ea typeface="Calibri" pitchFamily="34" charset="-122"/>
                <a:cs typeface="Calibri" pitchFamily="34" charset="-120"/>
              </a:rPr>
              <a:t>OBJECT S2</a:t>
            </a:r>
            <a:endParaRPr lang="en-US" sz="1100" dirty="0"/>
          </a:p>
        </p:txBody>
      </p:sp>
      <p:sp>
        <p:nvSpPr>
          <p:cNvPr id="14" name="Shape 11"/>
          <p:cNvSpPr/>
          <p:nvPr/>
        </p:nvSpPr>
        <p:spPr>
          <a:xfrm>
            <a:off x="6583680" y="2880360"/>
            <a:ext cx="3657600" cy="594360"/>
          </a:xfrm>
          <a:prstGeom prst="roundRect">
            <a:avLst>
              <a:gd name="adj" fmla="val 9231"/>
            </a:avLst>
          </a:prstGeom>
          <a:solidFill>
            <a:srgbClr val="CCFBF1"/>
          </a:solidFill>
          <a:ln w="25400">
            <a:solidFill>
              <a:srgbClr val="14B8A6"/>
            </a:solidFill>
            <a:prstDash val="solid"/>
          </a:ln>
        </p:spPr>
      </p:sp>
      <p:sp>
        <p:nvSpPr>
          <p:cNvPr id="15" name="Text 12"/>
          <p:cNvSpPr txBox="1"/>
          <p:nvPr/>
        </p:nvSpPr>
        <p:spPr>
          <a:xfrm>
            <a:off x="6583680" y="2880360"/>
            <a:ext cx="3657600" cy="594360"/>
          </a:xfrm>
          <a:prstGeom prst="rect">
            <a:avLst/>
          </a:prstGeom>
          <a:noFill/>
          <a:ln/>
        </p:spPr>
        <p:txBody>
          <a:bodyPr wrap="square" rtlCol="0" anchor="ctr"/>
          <a:lstStyle/>
          <a:p>
            <a:pPr algn="ctr" indent="0" marL="0">
              <a:buNone/>
            </a:pPr>
            <a:r>
              <a:rPr lang="en-US" sz="1500" b="1" dirty="0">
                <a:solidFill>
                  <a:srgbClr val="1E293B"/>
                </a:solidFill>
                <a:latin typeface="Consolas" pitchFamily="34" charset="0"/>
                <a:ea typeface="Consolas" pitchFamily="34" charset="-122"/>
                <a:cs typeface="Consolas" pitchFamily="34" charset="-120"/>
              </a:rPr>
              <a:t>name : Priya</a:t>
            </a:r>
            <a:endParaRPr lang="en-US" sz="1500" dirty="0"/>
          </a:p>
        </p:txBody>
      </p:sp>
      <p:sp>
        <p:nvSpPr>
          <p:cNvPr id="16" name="Shape 13"/>
          <p:cNvSpPr/>
          <p:nvPr/>
        </p:nvSpPr>
        <p:spPr>
          <a:xfrm>
            <a:off x="6583680" y="3611880"/>
            <a:ext cx="3657600" cy="594360"/>
          </a:xfrm>
          <a:prstGeom prst="roundRect">
            <a:avLst>
              <a:gd name="adj" fmla="val 9231"/>
            </a:avLst>
          </a:prstGeom>
          <a:solidFill>
            <a:srgbClr val="CCFBF1"/>
          </a:solidFill>
          <a:ln w="25400">
            <a:solidFill>
              <a:srgbClr val="14B8A6"/>
            </a:solidFill>
            <a:prstDash val="solid"/>
          </a:ln>
        </p:spPr>
      </p:sp>
      <p:sp>
        <p:nvSpPr>
          <p:cNvPr id="17" name="Text 14"/>
          <p:cNvSpPr txBox="1"/>
          <p:nvPr/>
        </p:nvSpPr>
        <p:spPr>
          <a:xfrm>
            <a:off x="6583680" y="3611880"/>
            <a:ext cx="3657600" cy="594360"/>
          </a:xfrm>
          <a:prstGeom prst="rect">
            <a:avLst/>
          </a:prstGeom>
          <a:noFill/>
          <a:ln/>
        </p:spPr>
        <p:txBody>
          <a:bodyPr wrap="square" rtlCol="0" anchor="ctr"/>
          <a:lstStyle/>
          <a:p>
            <a:pPr algn="ctr" indent="0" marL="0">
              <a:buNone/>
            </a:pPr>
            <a:r>
              <a:rPr lang="en-US" sz="1500" b="1" dirty="0">
                <a:solidFill>
                  <a:srgbClr val="1E293B"/>
                </a:solidFill>
                <a:latin typeface="Consolas" pitchFamily="34" charset="0"/>
                <a:ea typeface="Consolas" pitchFamily="34" charset="-122"/>
                <a:cs typeface="Consolas" pitchFamily="34" charset="-120"/>
              </a:rPr>
              <a:t>reg : 102</a:t>
            </a:r>
            <a:endParaRPr lang="en-US" sz="1500" dirty="0"/>
          </a:p>
        </p:txBody>
      </p:sp>
      <p:sp>
        <p:nvSpPr>
          <p:cNvPr id="18" name="Shape 15"/>
          <p:cNvSpPr/>
          <p:nvPr/>
        </p:nvSpPr>
        <p:spPr>
          <a:xfrm>
            <a:off x="731520" y="4663440"/>
            <a:ext cx="10698480" cy="731520"/>
          </a:xfrm>
          <a:prstGeom prst="roundRect">
            <a:avLst>
              <a:gd name="adj" fmla="val 12500"/>
            </a:avLst>
          </a:prstGeom>
          <a:solidFill>
            <a:srgbClr val="F8FAFC"/>
          </a:solidFill>
          <a:ln w="19050">
            <a:solidFill>
              <a:srgbClr val="CBD5E1"/>
            </a:solidFill>
            <a:prstDash val="solid"/>
          </a:ln>
        </p:spPr>
      </p:sp>
      <p:sp>
        <p:nvSpPr>
          <p:cNvPr id="19" name="Text 16"/>
          <p:cNvSpPr txBox="1"/>
          <p:nvPr/>
        </p:nvSpPr>
        <p:spPr>
          <a:xfrm>
            <a:off x="804672" y="4773168"/>
            <a:ext cx="10552176" cy="530352"/>
          </a:xfrm>
          <a:prstGeom prst="rect">
            <a:avLst/>
          </a:prstGeom>
          <a:noFill/>
          <a:ln/>
        </p:spPr>
        <p:txBody>
          <a:bodyPr wrap="square" rtlCol="0" anchor="ctr"/>
          <a:lstStyle/>
          <a:p>
            <a:pPr algn="ctr" indent="0" marL="0">
              <a:buNone/>
            </a:pPr>
            <a:r>
              <a:rPr lang="en-US" sz="1550" b="1" dirty="0">
                <a:solidFill>
                  <a:srgbClr val="1E293B"/>
                </a:solidFill>
                <a:latin typeface="Calibri" pitchFamily="34" charset="0"/>
                <a:ea typeface="Calibri" pitchFamily="34" charset="-122"/>
                <a:cs typeface="Calibri" pitchFamily="34" charset="-120"/>
              </a:rPr>
              <a:t>Change the name of s1 to Arun and s2 is still Priya</a:t>
            </a:r>
            <a:endParaRPr lang="en-US" sz="1550" dirty="0"/>
          </a:p>
        </p:txBody>
      </p:sp>
      <p:sp>
        <p:nvSpPr>
          <p:cNvPr id="20" name="Shape 17"/>
          <p:cNvSpPr/>
          <p:nvPr/>
        </p:nvSpPr>
        <p:spPr>
          <a:xfrm>
            <a:off x="731520" y="5559552"/>
            <a:ext cx="10698480" cy="0"/>
          </a:xfrm>
          <a:prstGeom prst="line">
            <a:avLst/>
          </a:prstGeom>
          <a:noFill/>
          <a:ln w="12700">
            <a:solidFill>
              <a:srgbClr val="E2E8F0"/>
            </a:solidFill>
            <a:prstDash val="solid"/>
          </a:ln>
        </p:spPr>
      </p:sp>
      <p:sp>
        <p:nvSpPr>
          <p:cNvPr id="21" name="Shape 18"/>
          <p:cNvSpPr/>
          <p:nvPr/>
        </p:nvSpPr>
        <p:spPr>
          <a:xfrm>
            <a:off x="777240" y="5650992"/>
            <a:ext cx="475488" cy="475488"/>
          </a:xfrm>
          <a:prstGeom prst="ellipse">
            <a:avLst/>
          </a:prstGeom>
          <a:solidFill>
            <a:srgbClr val="FCE7F3"/>
          </a:solidFill>
          <a:ln w="19050">
            <a:solidFill>
              <a:srgbClr val="EC4899"/>
            </a:solidFill>
            <a:prstDash val="solid"/>
          </a:ln>
        </p:spPr>
      </p:sp>
      <p:pic>
        <p:nvPicPr>
          <p:cNvPr id="22" name="Image 1" descr="assets/icon2_user_pink.png">    </p:cNvPr>
          <p:cNvPicPr>
            <a:picLocks noChangeAspect="1"/>
          </p:cNvPicPr>
          <p:nvPr/>
        </p:nvPicPr>
        <p:blipFill>
          <a:blip r:embed="rId2"/>
          <a:stretch>
            <a:fillRect/>
          </a:stretch>
        </p:blipFill>
        <p:spPr>
          <a:xfrm>
            <a:off x="872338" y="5746090"/>
            <a:ext cx="285293" cy="285293"/>
          </a:xfrm>
          <a:prstGeom prst="rect">
            <a:avLst/>
          </a:prstGeom>
        </p:spPr>
      </p:pic>
      <p:sp>
        <p:nvSpPr>
          <p:cNvPr id="23" name="Shape 19"/>
          <p:cNvSpPr/>
          <p:nvPr/>
        </p:nvSpPr>
        <p:spPr>
          <a:xfrm rot="2700000">
            <a:off x="1508760" y="5801868"/>
            <a:ext cx="182880" cy="182880"/>
          </a:xfrm>
          <a:prstGeom prst="rect">
            <a:avLst/>
          </a:prstGeom>
          <a:solidFill>
            <a:srgbClr val="FDF2F8"/>
          </a:solidFill>
          <a:ln w="15875">
            <a:solidFill>
              <a:srgbClr val="EC4899"/>
            </a:solidFill>
            <a:prstDash val="solid"/>
          </a:ln>
        </p:spPr>
      </p:sp>
      <p:sp>
        <p:nvSpPr>
          <p:cNvPr id="24" name="Shape 20"/>
          <p:cNvSpPr/>
          <p:nvPr/>
        </p:nvSpPr>
        <p:spPr>
          <a:xfrm>
            <a:off x="1600200" y="5641848"/>
            <a:ext cx="9829800" cy="502920"/>
          </a:xfrm>
          <a:prstGeom prst="roundRect">
            <a:avLst>
              <a:gd name="adj" fmla="val 21818"/>
            </a:avLst>
          </a:prstGeom>
          <a:solidFill>
            <a:srgbClr val="FDF2F8"/>
          </a:solidFill>
          <a:ln w="15875">
            <a:solidFill>
              <a:srgbClr val="EC4899"/>
            </a:solidFill>
            <a:prstDash val="solid"/>
          </a:ln>
        </p:spPr>
      </p:sp>
      <p:sp>
        <p:nvSpPr>
          <p:cNvPr id="25" name="Text 21"/>
          <p:cNvSpPr txBox="1"/>
          <p:nvPr/>
        </p:nvSpPr>
        <p:spPr>
          <a:xfrm>
            <a:off x="1783080" y="5641848"/>
            <a:ext cx="9464040" cy="502920"/>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Ravi says  </a:t>
            </a:r>
            <a:pPr indent="0" marL="0">
              <a:buNone/>
            </a:pPr>
            <a:r>
              <a:rPr lang="en-US" sz="1400" dirty="0">
                <a:solidFill>
                  <a:srgbClr val="1E293B"/>
                </a:solidFill>
                <a:latin typeface="Calibri" pitchFamily="34" charset="0"/>
                <a:ea typeface="Calibri" pitchFamily="34" charset="-122"/>
                <a:cs typeface="Calibri" pitchFamily="34" charset="-120"/>
              </a:rPr>
              <a:t>Same class, different values. That is the whole idea of instance attributes.</a:t>
            </a:r>
            <a:endParaRPr lang="en-US" sz="1400" dirty="0"/>
          </a:p>
        </p:txBody>
      </p:sp>
      <p:sp>
        <p:nvSpPr>
          <p:cNvPr id="26" name="Text 22"/>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OOP Fundamentals and Inheritance  ·  Week 3  ·  Day 12</a:t>
            </a:r>
            <a:endParaRPr lang="en-US" sz="1000" dirty="0"/>
          </a:p>
        </p:txBody>
      </p:sp>
      <p:sp>
        <p:nvSpPr>
          <p:cNvPr id="27" name="Text 23"/>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p:bgPr>
    </p:bg>
    <p:spTree>
      <p:nvGrpSpPr>
        <p:cNvPr id="1" name=""/>
        <p:cNvGrpSpPr/>
        <p:nvPr/>
      </p:nvGrpSpPr>
      <p:grpSpPr>
        <a:xfrm>
          <a:off x="0" y="0"/>
          <a:ext cx="0" cy="0"/>
          <a:chOff x="0" y="0"/>
          <a:chExt cx="0" cy="0"/>
        </a:xfrm>
      </p:grpSpPr>
      <p:pic>
        <p:nvPicPr>
          <p:cNvPr id="2" name="Image 0" descr="assets/bloom_purple.png">    </p:cNvPr>
          <p:cNvPicPr>
            <a:picLocks noChangeAspect="1"/>
          </p:cNvPicPr>
          <p:nvPr/>
        </p:nvPicPr>
        <p:blipFill>
          <a:blip r:embed="rId1"/>
          <a:stretch>
            <a:fillRect/>
          </a:stretch>
        </p:blipFill>
        <p:spPr>
          <a:xfrm>
            <a:off x="-1828800" y="-1828800"/>
            <a:ext cx="6858000" cy="6858000"/>
          </a:xfrm>
          <a:prstGeom prst="rect">
            <a:avLst/>
          </a:prstGeom>
        </p:spPr>
      </p:pic>
      <p:pic>
        <p:nvPicPr>
          <p:cNvPr id="3" name="Image 1" descr="assets/bloom_pink.png">    </p:cNvPr>
          <p:cNvPicPr>
            <a:picLocks noChangeAspect="1"/>
          </p:cNvPicPr>
          <p:nvPr/>
        </p:nvPicPr>
        <p:blipFill>
          <a:blip r:embed="rId2"/>
          <a:stretch>
            <a:fillRect/>
          </a:stretch>
        </p:blipFill>
        <p:spPr>
          <a:xfrm>
            <a:off x="7772400" y="2286000"/>
            <a:ext cx="6400800" cy="6400800"/>
          </a:xfrm>
          <a:prstGeom prst="rect">
            <a:avLst/>
          </a:prstGeom>
        </p:spPr>
      </p:pic>
      <p:sp>
        <p:nvSpPr>
          <p:cNvPr id="4" name="Text 0"/>
          <p:cNvSpPr txBox="1"/>
          <p:nvPr/>
        </p:nvSpPr>
        <p:spPr>
          <a:xfrm>
            <a:off x="457200" y="320040"/>
            <a:ext cx="2286000" cy="45720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intellea</a:t>
            </a:r>
            <a:endParaRPr lang="en-US" sz="2200" dirty="0"/>
          </a:p>
        </p:txBody>
      </p:sp>
      <p:sp>
        <p:nvSpPr>
          <p:cNvPr id="5" name="Text 1"/>
          <p:cNvSpPr txBox="1"/>
          <p:nvPr/>
        </p:nvSpPr>
        <p:spPr>
          <a:xfrm>
            <a:off x="457200" y="109728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TOPIC 5</a:t>
            </a:r>
            <a:endParaRPr lang="en-US" sz="1400" dirty="0"/>
          </a:p>
        </p:txBody>
      </p:sp>
      <p:sp>
        <p:nvSpPr>
          <p:cNvPr id="6" name="Text 2"/>
          <p:cNvSpPr txBox="1"/>
          <p:nvPr/>
        </p:nvSpPr>
        <p:spPr>
          <a:xfrm>
            <a:off x="457200" y="1417320"/>
            <a:ext cx="10972800" cy="7315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Instance Methods</a:t>
            </a:r>
            <a:endParaRPr lang="en-US" sz="3000" dirty="0"/>
          </a:p>
        </p:txBody>
      </p:sp>
      <p:sp>
        <p:nvSpPr>
          <p:cNvPr id="7" name="rc_topic"/>
          <p:cNvSpPr/>
          <p:nvPr/>
        </p:nvSpPr>
        <p:spPr>
          <a:xfrm>
            <a:off x="457200" y="2286000"/>
            <a:ext cx="11247120" cy="3977640"/>
          </a:xfrm>
          <a:prstGeom prst="roundRect">
            <a:avLst>
              <a:gd name="adj" fmla="val 2299"/>
            </a:avLst>
          </a:prstGeom>
          <a:solidFill>
            <a:srgbClr val="0F172A"/>
          </a:solidFill>
          <a:ln w="12700">
            <a:solidFill>
              <a:srgbClr val="334155"/>
            </a:solidFill>
            <a:prstDash val="solid"/>
          </a:ln>
          <a:effectLst>
            <a:outerShdw sx="100000" sy="100000" kx="0" ky="0" algn="bl" rotWithShape="0" blurRad="76200" dist="25400" dir="5400000">
              <a:srgbClr val="000000">
                <a:alpha val="8000"/>
              </a:srgbClr>
            </a:outerShdw>
          </a:effectLst>
        </p:spPr>
      </p:sp>
      <p:sp>
        <p:nvSpPr>
          <p:cNvPr id="8" name="Text 4"/>
          <p:cNvSpPr txBox="1"/>
          <p:nvPr/>
        </p:nvSpPr>
        <p:spPr>
          <a:xfrm>
            <a:off x="914400" y="2450592"/>
            <a:ext cx="9601200" cy="292608"/>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Real time example</a:t>
            </a:r>
            <a:endParaRPr lang="en-US" sz="1400" dirty="0"/>
          </a:p>
        </p:txBody>
      </p:sp>
      <p:sp>
        <p:nvSpPr>
          <p:cNvPr id="9" name="Text 5"/>
          <p:cNvSpPr txBox="1"/>
          <p:nvPr/>
        </p:nvSpPr>
        <p:spPr>
          <a:xfrm>
            <a:off x="914400" y="2761488"/>
            <a:ext cx="10332720" cy="868680"/>
          </a:xfrm>
          <a:prstGeom prst="rect">
            <a:avLst/>
          </a:prstGeom>
          <a:noFill/>
          <a:ln/>
        </p:spPr>
        <p:txBody>
          <a:bodyPr wrap="square" rtlCol="0" anchor="t"/>
          <a:lstStyle/>
          <a:p>
            <a:pPr indent="0" marL="0">
              <a:lnSpc>
                <a:spcPct val="110000"/>
              </a:lnSpc>
              <a:buNone/>
            </a:pPr>
            <a:r>
              <a:rPr lang="en-US" sz="1600" dirty="0">
                <a:solidFill>
                  <a:srgbClr val="CBD5E1"/>
                </a:solidFill>
                <a:latin typeface="Calibri" pitchFamily="34" charset="0"/>
                <a:ea typeface="Calibri" pitchFamily="34" charset="-122"/>
                <a:cs typeface="Calibri" pitchFamily="34" charset="-120"/>
              </a:rPr>
              <a:t>Each student card can answer the question show me my details. The same request on two cards gives two different answers, because each card shows its own information.</a:t>
            </a:r>
            <a:endParaRPr lang="en-US" sz="1600" dirty="0"/>
          </a:p>
        </p:txBody>
      </p:sp>
      <p:sp>
        <p:nvSpPr>
          <p:cNvPr id="10" name="Text 6"/>
          <p:cNvSpPr txBox="1"/>
          <p:nvPr/>
        </p:nvSpPr>
        <p:spPr>
          <a:xfrm>
            <a:off x="914400" y="3712464"/>
            <a:ext cx="9601200" cy="292608"/>
          </a:xfrm>
          <a:prstGeom prst="rect">
            <a:avLst/>
          </a:prstGeom>
          <a:noFill/>
          <a:ln/>
        </p:spPr>
        <p:txBody>
          <a:bodyPr wrap="square" rtlCol="0" anchor="ctr"/>
          <a:lstStyle/>
          <a:p>
            <a:pPr indent="0" marL="0">
              <a:buNone/>
            </a:pPr>
            <a:r>
              <a:rPr lang="en-US" sz="1400" b="1" dirty="0">
                <a:solidFill>
                  <a:srgbClr val="F97316"/>
                </a:solidFill>
                <a:latin typeface="Calibri" pitchFamily="34" charset="0"/>
                <a:ea typeface="Calibri" pitchFamily="34" charset="-122"/>
                <a:cs typeface="Calibri" pitchFamily="34" charset="-120"/>
              </a:rPr>
              <a:t>Definition</a:t>
            </a:r>
            <a:endParaRPr lang="en-US" sz="1400" dirty="0"/>
          </a:p>
        </p:txBody>
      </p:sp>
      <p:sp>
        <p:nvSpPr>
          <p:cNvPr id="11" name="Text 7"/>
          <p:cNvSpPr txBox="1"/>
          <p:nvPr/>
        </p:nvSpPr>
        <p:spPr>
          <a:xfrm>
            <a:off x="914400" y="4023360"/>
            <a:ext cx="10332720" cy="868680"/>
          </a:xfrm>
          <a:prstGeom prst="rect">
            <a:avLst/>
          </a:prstGeom>
          <a:noFill/>
          <a:ln/>
        </p:spPr>
        <p:txBody>
          <a:bodyPr wrap="square" rtlCol="0" anchor="t"/>
          <a:lstStyle/>
          <a:p>
            <a:pPr indent="0" marL="0">
              <a:lnSpc>
                <a:spcPct val="110000"/>
              </a:lnSpc>
              <a:buNone/>
            </a:pPr>
            <a:r>
              <a:rPr lang="en-US" sz="1800" b="1" dirty="0">
                <a:solidFill>
                  <a:srgbClr val="FFFFFF"/>
                </a:solidFill>
                <a:latin typeface="Calibri" pitchFamily="34" charset="0"/>
                <a:ea typeface="Calibri" pitchFamily="34" charset="-122"/>
                <a:cs typeface="Calibri" pitchFamily="34" charset="-120"/>
              </a:rPr>
              <a:t>An instance method is a function written inside a class. It takes self, so it works on the data of the particular object that called it.</a:t>
            </a:r>
            <a:endParaRPr lang="en-US" sz="1800" dirty="0"/>
          </a:p>
        </p:txBody>
      </p:sp>
      <p:sp>
        <p:nvSpPr>
          <p:cNvPr id="12" name="Text 8"/>
          <p:cNvSpPr txBox="1"/>
          <p:nvPr/>
        </p:nvSpPr>
        <p:spPr>
          <a:xfrm>
            <a:off x="914400" y="4974336"/>
            <a:ext cx="9601200" cy="292608"/>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Where it is used</a:t>
            </a:r>
            <a:endParaRPr lang="en-US" sz="1400" dirty="0"/>
          </a:p>
        </p:txBody>
      </p:sp>
      <p:sp>
        <p:nvSpPr>
          <p:cNvPr id="13" name="Text 9"/>
          <p:cNvSpPr txBox="1"/>
          <p:nvPr/>
        </p:nvSpPr>
        <p:spPr>
          <a:xfrm>
            <a:off x="914400" y="5285232"/>
            <a:ext cx="10332720" cy="868680"/>
          </a:xfrm>
          <a:prstGeom prst="rect">
            <a:avLst/>
          </a:prstGeom>
          <a:noFill/>
          <a:ln/>
        </p:spPr>
        <p:txBody>
          <a:bodyPr wrap="square" rtlCol="0" anchor="t"/>
          <a:lstStyle/>
          <a:p>
            <a:pPr indent="0" marL="0">
              <a:lnSpc>
                <a:spcPct val="110000"/>
              </a:lnSpc>
              <a:buNone/>
            </a:pPr>
            <a:r>
              <a:rPr lang="en-US" sz="1600" dirty="0">
                <a:solidFill>
                  <a:srgbClr val="CBD5E1"/>
                </a:solidFill>
                <a:latin typeface="Calibri" pitchFamily="34" charset="0"/>
                <a:ea typeface="Calibri" pitchFamily="34" charset="-122"/>
                <a:cs typeface="Calibri" pitchFamily="34" charset="-120"/>
              </a:rPr>
              <a:t>Showing a profile, updating an address, adding an item to a cart and every other action an object can do.</a:t>
            </a:r>
            <a:endParaRPr lang="en-US" sz="1600" dirty="0"/>
          </a:p>
        </p:txBody>
      </p:sp>
      <p:sp>
        <p:nvSpPr>
          <p:cNvPr id="14" name="Text 10"/>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OOP Fundamentals and Inheritance  ·  Week 3  ·  Day 12</a:t>
            </a:r>
            <a:endParaRPr lang="en-US" sz="1000" dirty="0"/>
          </a:p>
        </p:txBody>
      </p:sp>
      <p:sp>
        <p:nvSpPr>
          <p:cNvPr id="15" name="Text 11"/>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A"/>
        </a:solidFill>
      </p:bgPr>
    </p:bg>
    <p:spTree>
      <p:nvGrpSpPr>
        <p:cNvPr id="1" name=""/>
        <p:cNvGrpSpPr/>
        <p:nvPr/>
      </p:nvGrpSpPr>
      <p:grpSpPr>
        <a:xfrm>
          <a:off x="0" y="0"/>
          <a:ext cx="0" cy="0"/>
          <a:chOff x="0" y="0"/>
          <a:chExt cx="0" cy="0"/>
        </a:xfrm>
      </p:grpSpPr>
      <p:pic>
        <p:nvPicPr>
          <p:cNvPr id="2" name="Image 0" descr="assets/intellea_logo_cropped.png">    </p:cNvPr>
          <p:cNvPicPr>
            <a:picLocks noChangeAspect="1"/>
          </p:cNvPicPr>
          <p:nvPr/>
        </p:nvPicPr>
        <p:blipFill>
          <a:blip r:embed="rId1"/>
          <a:stretch>
            <a:fillRect/>
          </a:stretch>
        </p:blipFill>
        <p:spPr>
          <a:xfrm>
            <a:off x="457200" y="320040"/>
            <a:ext cx="1371600" cy="454323"/>
          </a:xfrm>
          <a:prstGeom prst="rect">
            <a:avLst/>
          </a:prstGeom>
        </p:spPr>
      </p:pic>
      <p:sp>
        <p:nvSpPr>
          <p:cNvPr id="3" name="Text 0"/>
          <p:cNvSpPr txBox="1"/>
          <p:nvPr/>
        </p:nvSpPr>
        <p:spPr>
          <a:xfrm>
            <a:off x="457200" y="96012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INSTANCE METHOD FLOW</a:t>
            </a:r>
            <a:endParaRPr lang="en-US" sz="1400" dirty="0"/>
          </a:p>
        </p:txBody>
      </p:sp>
      <p:sp>
        <p:nvSpPr>
          <p:cNvPr id="4" name="Text 1"/>
          <p:cNvSpPr txBox="1"/>
          <p:nvPr/>
        </p:nvSpPr>
        <p:spPr>
          <a:xfrm>
            <a:off x="457200" y="1280160"/>
            <a:ext cx="11155680" cy="822960"/>
          </a:xfrm>
          <a:prstGeom prst="rect">
            <a:avLst/>
          </a:prstGeom>
          <a:noFill/>
          <a:ln/>
        </p:spPr>
        <p:txBody>
          <a:bodyPr wrap="square"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The Same Action, Each Object's Own Answer</a:t>
            </a:r>
            <a:endParaRPr lang="en-US" sz="3000" dirty="0"/>
          </a:p>
        </p:txBody>
      </p:sp>
      <p:sp>
        <p:nvSpPr>
          <p:cNvPr id="5" name="rc_vis"/>
          <p:cNvSpPr/>
          <p:nvPr/>
        </p:nvSpPr>
        <p:spPr>
          <a:xfrm>
            <a:off x="457200" y="2240280"/>
            <a:ext cx="11247120" cy="4023360"/>
          </a:xfrm>
          <a:prstGeom prst="roundRect">
            <a:avLst>
              <a:gd name="adj" fmla="val 2273"/>
            </a:avLst>
          </a:prstGeom>
          <a:solidFill>
            <a:srgbClr val="F8FAFC"/>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Shape 3"/>
          <p:cNvSpPr/>
          <p:nvPr/>
        </p:nvSpPr>
        <p:spPr>
          <a:xfrm>
            <a:off x="731520" y="2468880"/>
            <a:ext cx="2331720" cy="1783080"/>
          </a:xfrm>
          <a:prstGeom prst="roundRect">
            <a:avLst>
              <a:gd name="adj" fmla="val 5128"/>
            </a:avLst>
          </a:prstGeom>
          <a:solidFill>
            <a:srgbClr val="F0FDFA"/>
          </a:solidFill>
          <a:ln w="19050">
            <a:solidFill>
              <a:srgbClr val="14B8A6"/>
            </a:solidFill>
            <a:prstDash val="solid"/>
          </a:ln>
        </p:spPr>
      </p:sp>
      <p:pic>
        <p:nvPicPr>
          <p:cNvPr id="7" name="Image 1" descr="assets/icon2_send_teal.png">    </p:cNvPr>
          <p:cNvPicPr>
            <a:picLocks noChangeAspect="1"/>
          </p:cNvPicPr>
          <p:nvPr/>
        </p:nvPicPr>
        <p:blipFill>
          <a:blip r:embed="rId2"/>
          <a:stretch>
            <a:fillRect/>
          </a:stretch>
        </p:blipFill>
        <p:spPr>
          <a:xfrm>
            <a:off x="1645920" y="2578608"/>
            <a:ext cx="502920" cy="502920"/>
          </a:xfrm>
          <a:prstGeom prst="rect">
            <a:avLst/>
          </a:prstGeom>
        </p:spPr>
      </p:pic>
      <p:sp>
        <p:nvSpPr>
          <p:cNvPr id="8" name="Text 4"/>
          <p:cNvSpPr txBox="1"/>
          <p:nvPr/>
        </p:nvSpPr>
        <p:spPr>
          <a:xfrm>
            <a:off x="804672" y="3145536"/>
            <a:ext cx="2185416" cy="365760"/>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Call</a:t>
            </a:r>
            <a:endParaRPr lang="en-US" sz="1600" dirty="0"/>
          </a:p>
        </p:txBody>
      </p:sp>
      <p:sp>
        <p:nvSpPr>
          <p:cNvPr id="9" name="Text 5"/>
          <p:cNvSpPr txBox="1"/>
          <p:nvPr/>
        </p:nvSpPr>
        <p:spPr>
          <a:xfrm>
            <a:off x="822960" y="3511296"/>
            <a:ext cx="2148840" cy="667512"/>
          </a:xfrm>
          <a:prstGeom prst="rect">
            <a:avLst/>
          </a:prstGeom>
          <a:noFill/>
          <a:ln/>
        </p:spPr>
        <p:txBody>
          <a:bodyPr wrap="square" rtlCol="0" anchor="t"/>
          <a:lstStyle/>
          <a:p>
            <a:pPr algn="ctr" indent="0" marL="0">
              <a:buNone/>
            </a:pPr>
            <a:r>
              <a:rPr lang="en-US" sz="1300" dirty="0">
                <a:solidFill>
                  <a:srgbClr val="64748B"/>
                </a:solidFill>
                <a:latin typeface="Calibri" pitchFamily="34" charset="0"/>
                <a:ea typeface="Calibri" pitchFamily="34" charset="-122"/>
                <a:cs typeface="Calibri" pitchFamily="34" charset="-120"/>
              </a:rPr>
              <a:t>s1 is asked to show details</a:t>
            </a:r>
            <a:endParaRPr lang="en-US" sz="1300" dirty="0"/>
          </a:p>
        </p:txBody>
      </p:sp>
      <p:sp>
        <p:nvSpPr>
          <p:cNvPr id="10" name="Shape 6"/>
          <p:cNvSpPr/>
          <p:nvPr/>
        </p:nvSpPr>
        <p:spPr>
          <a:xfrm>
            <a:off x="3118104" y="3360420"/>
            <a:ext cx="347472" cy="0"/>
          </a:xfrm>
          <a:prstGeom prst="line">
            <a:avLst/>
          </a:prstGeom>
          <a:noFill/>
          <a:ln w="31750">
            <a:solidFill>
              <a:srgbClr val="8B5CF6"/>
            </a:solidFill>
            <a:prstDash val="solid"/>
            <a:tailEnd type="triangle"/>
          </a:ln>
        </p:spPr>
      </p:sp>
      <p:sp>
        <p:nvSpPr>
          <p:cNvPr id="11" name="Shape 7"/>
          <p:cNvSpPr/>
          <p:nvPr/>
        </p:nvSpPr>
        <p:spPr>
          <a:xfrm>
            <a:off x="3520440" y="2468880"/>
            <a:ext cx="2331720" cy="1783080"/>
          </a:xfrm>
          <a:prstGeom prst="roundRect">
            <a:avLst>
              <a:gd name="adj" fmla="val 5128"/>
            </a:avLst>
          </a:prstGeom>
          <a:solidFill>
            <a:srgbClr val="F5F3FF"/>
          </a:solidFill>
          <a:ln w="19050">
            <a:solidFill>
              <a:srgbClr val="8B5CF6"/>
            </a:solidFill>
            <a:prstDash val="solid"/>
          </a:ln>
        </p:spPr>
      </p:sp>
      <p:pic>
        <p:nvPicPr>
          <p:cNvPr id="12" name="Image 2" descr="assets/icon2_idcard_purple.png">    </p:cNvPr>
          <p:cNvPicPr>
            <a:picLocks noChangeAspect="1"/>
          </p:cNvPicPr>
          <p:nvPr/>
        </p:nvPicPr>
        <p:blipFill>
          <a:blip r:embed="rId3"/>
          <a:stretch>
            <a:fillRect/>
          </a:stretch>
        </p:blipFill>
        <p:spPr>
          <a:xfrm>
            <a:off x="4434840" y="2578608"/>
            <a:ext cx="502920" cy="502920"/>
          </a:xfrm>
          <a:prstGeom prst="rect">
            <a:avLst/>
          </a:prstGeom>
        </p:spPr>
      </p:pic>
      <p:sp>
        <p:nvSpPr>
          <p:cNvPr id="13" name="Text 8"/>
          <p:cNvSpPr txBox="1"/>
          <p:nvPr/>
        </p:nvSpPr>
        <p:spPr>
          <a:xfrm>
            <a:off x="3593592" y="3145536"/>
            <a:ext cx="2185416" cy="365760"/>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self is s1</a:t>
            </a:r>
            <a:endParaRPr lang="en-US" sz="1600" dirty="0"/>
          </a:p>
        </p:txBody>
      </p:sp>
      <p:sp>
        <p:nvSpPr>
          <p:cNvPr id="14" name="Text 9"/>
          <p:cNvSpPr txBox="1"/>
          <p:nvPr/>
        </p:nvSpPr>
        <p:spPr>
          <a:xfrm>
            <a:off x="3611880" y="3511296"/>
            <a:ext cx="2148840" cy="667512"/>
          </a:xfrm>
          <a:prstGeom prst="rect">
            <a:avLst/>
          </a:prstGeom>
          <a:noFill/>
          <a:ln/>
        </p:spPr>
        <p:txBody>
          <a:bodyPr wrap="square" rtlCol="0" anchor="t"/>
          <a:lstStyle/>
          <a:p>
            <a:pPr algn="ctr" indent="0" marL="0">
              <a:buNone/>
            </a:pPr>
            <a:r>
              <a:rPr lang="en-US" sz="1300" dirty="0">
                <a:solidFill>
                  <a:srgbClr val="64748B"/>
                </a:solidFill>
                <a:latin typeface="Calibri" pitchFamily="34" charset="0"/>
                <a:ea typeface="Calibri" pitchFamily="34" charset="-122"/>
                <a:cs typeface="Calibri" pitchFamily="34" charset="-120"/>
              </a:rPr>
              <a:t>the method knows which object called</a:t>
            </a:r>
            <a:endParaRPr lang="en-US" sz="1300" dirty="0"/>
          </a:p>
        </p:txBody>
      </p:sp>
      <p:sp>
        <p:nvSpPr>
          <p:cNvPr id="15" name="Shape 10"/>
          <p:cNvSpPr/>
          <p:nvPr/>
        </p:nvSpPr>
        <p:spPr>
          <a:xfrm>
            <a:off x="5907024" y="3360420"/>
            <a:ext cx="347472" cy="0"/>
          </a:xfrm>
          <a:prstGeom prst="line">
            <a:avLst/>
          </a:prstGeom>
          <a:noFill/>
          <a:ln w="31750">
            <a:solidFill>
              <a:srgbClr val="8B5CF6"/>
            </a:solidFill>
            <a:prstDash val="solid"/>
            <a:tailEnd type="triangle"/>
          </a:ln>
        </p:spPr>
      </p:sp>
      <p:sp>
        <p:nvSpPr>
          <p:cNvPr id="16" name="Shape 11"/>
          <p:cNvSpPr/>
          <p:nvPr/>
        </p:nvSpPr>
        <p:spPr>
          <a:xfrm>
            <a:off x="6309360" y="2468880"/>
            <a:ext cx="2331720" cy="1783080"/>
          </a:xfrm>
          <a:prstGeom prst="roundRect">
            <a:avLst>
              <a:gd name="adj" fmla="val 5128"/>
            </a:avLst>
          </a:prstGeom>
          <a:solidFill>
            <a:srgbClr val="FFF7ED"/>
          </a:solidFill>
          <a:ln w="19050">
            <a:solidFill>
              <a:srgbClr val="F97316"/>
            </a:solidFill>
            <a:prstDash val="solid"/>
          </a:ln>
        </p:spPr>
      </p:sp>
      <p:pic>
        <p:nvPicPr>
          <p:cNvPr id="17" name="Image 3" descr="assets/icon2_database_teal.png">    </p:cNvPr>
          <p:cNvPicPr>
            <a:picLocks noChangeAspect="1"/>
          </p:cNvPicPr>
          <p:nvPr/>
        </p:nvPicPr>
        <p:blipFill>
          <a:blip r:embed="rId4"/>
          <a:stretch>
            <a:fillRect/>
          </a:stretch>
        </p:blipFill>
        <p:spPr>
          <a:xfrm>
            <a:off x="7223760" y="2578608"/>
            <a:ext cx="502920" cy="502920"/>
          </a:xfrm>
          <a:prstGeom prst="rect">
            <a:avLst/>
          </a:prstGeom>
        </p:spPr>
      </p:pic>
      <p:sp>
        <p:nvSpPr>
          <p:cNvPr id="18" name="Text 12"/>
          <p:cNvSpPr txBox="1"/>
          <p:nvPr/>
        </p:nvSpPr>
        <p:spPr>
          <a:xfrm>
            <a:off x="6382512" y="3145536"/>
            <a:ext cx="2185416" cy="365760"/>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Read own data</a:t>
            </a:r>
            <a:endParaRPr lang="en-US" sz="1600" dirty="0"/>
          </a:p>
        </p:txBody>
      </p:sp>
      <p:sp>
        <p:nvSpPr>
          <p:cNvPr id="19" name="Text 13"/>
          <p:cNvSpPr txBox="1"/>
          <p:nvPr/>
        </p:nvSpPr>
        <p:spPr>
          <a:xfrm>
            <a:off x="6400800" y="3511296"/>
            <a:ext cx="2148840" cy="667512"/>
          </a:xfrm>
          <a:prstGeom prst="rect">
            <a:avLst/>
          </a:prstGeom>
          <a:noFill/>
          <a:ln/>
        </p:spPr>
        <p:txBody>
          <a:bodyPr wrap="square" rtlCol="0" anchor="t"/>
          <a:lstStyle/>
          <a:p>
            <a:pPr algn="ctr" indent="0" marL="0">
              <a:buNone/>
            </a:pPr>
            <a:r>
              <a:rPr lang="en-US" sz="1300" dirty="0">
                <a:solidFill>
                  <a:srgbClr val="64748B"/>
                </a:solidFill>
                <a:latin typeface="Calibri" pitchFamily="34" charset="0"/>
                <a:ea typeface="Calibri" pitchFamily="34" charset="-122"/>
                <a:cs typeface="Calibri" pitchFamily="34" charset="-120"/>
              </a:rPr>
              <a:t>name Ravi and marks 90</a:t>
            </a:r>
            <a:endParaRPr lang="en-US" sz="1300" dirty="0"/>
          </a:p>
        </p:txBody>
      </p:sp>
      <p:sp>
        <p:nvSpPr>
          <p:cNvPr id="20" name="Shape 14"/>
          <p:cNvSpPr/>
          <p:nvPr/>
        </p:nvSpPr>
        <p:spPr>
          <a:xfrm>
            <a:off x="8695944" y="3360420"/>
            <a:ext cx="347472" cy="0"/>
          </a:xfrm>
          <a:prstGeom prst="line">
            <a:avLst/>
          </a:prstGeom>
          <a:noFill/>
          <a:ln w="31750">
            <a:solidFill>
              <a:srgbClr val="8B5CF6"/>
            </a:solidFill>
            <a:prstDash val="solid"/>
            <a:tailEnd type="triangle"/>
          </a:ln>
        </p:spPr>
      </p:sp>
      <p:sp>
        <p:nvSpPr>
          <p:cNvPr id="21" name="Shape 15"/>
          <p:cNvSpPr/>
          <p:nvPr/>
        </p:nvSpPr>
        <p:spPr>
          <a:xfrm>
            <a:off x="9098280" y="2468880"/>
            <a:ext cx="2331720" cy="1783080"/>
          </a:xfrm>
          <a:prstGeom prst="roundRect">
            <a:avLst>
              <a:gd name="adj" fmla="val 5128"/>
            </a:avLst>
          </a:prstGeom>
          <a:solidFill>
            <a:srgbClr val="F0FDF4"/>
          </a:solidFill>
          <a:ln w="19050">
            <a:solidFill>
              <a:srgbClr val="10B981"/>
            </a:solidFill>
            <a:prstDash val="solid"/>
          </a:ln>
        </p:spPr>
      </p:sp>
      <p:pic>
        <p:nvPicPr>
          <p:cNvPr id="22" name="Image 4" descr="assets/icon2_check_green.png">    </p:cNvPr>
          <p:cNvPicPr>
            <a:picLocks noChangeAspect="1"/>
          </p:cNvPicPr>
          <p:nvPr/>
        </p:nvPicPr>
        <p:blipFill>
          <a:blip r:embed="rId5"/>
          <a:stretch>
            <a:fillRect/>
          </a:stretch>
        </p:blipFill>
        <p:spPr>
          <a:xfrm>
            <a:off x="10012680" y="2578608"/>
            <a:ext cx="502920" cy="502920"/>
          </a:xfrm>
          <a:prstGeom prst="rect">
            <a:avLst/>
          </a:prstGeom>
        </p:spPr>
      </p:pic>
      <p:sp>
        <p:nvSpPr>
          <p:cNvPr id="23" name="Text 16"/>
          <p:cNvSpPr txBox="1"/>
          <p:nvPr/>
        </p:nvSpPr>
        <p:spPr>
          <a:xfrm>
            <a:off x="9171432" y="3145536"/>
            <a:ext cx="2185416" cy="365760"/>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Show</a:t>
            </a:r>
            <a:endParaRPr lang="en-US" sz="1600" dirty="0"/>
          </a:p>
        </p:txBody>
      </p:sp>
      <p:sp>
        <p:nvSpPr>
          <p:cNvPr id="24" name="Text 17"/>
          <p:cNvSpPr txBox="1"/>
          <p:nvPr/>
        </p:nvSpPr>
        <p:spPr>
          <a:xfrm>
            <a:off x="9189720" y="3511296"/>
            <a:ext cx="2148840" cy="667512"/>
          </a:xfrm>
          <a:prstGeom prst="rect">
            <a:avLst/>
          </a:prstGeom>
          <a:noFill/>
          <a:ln/>
        </p:spPr>
        <p:txBody>
          <a:bodyPr wrap="square" rtlCol="0" anchor="t"/>
          <a:lstStyle/>
          <a:p>
            <a:pPr algn="ctr" indent="0" marL="0">
              <a:buNone/>
            </a:pPr>
            <a:r>
              <a:rPr lang="en-US" sz="1300" dirty="0">
                <a:solidFill>
                  <a:srgbClr val="64748B"/>
                </a:solidFill>
                <a:latin typeface="Calibri" pitchFamily="34" charset="0"/>
                <a:ea typeface="Calibri" pitchFamily="34" charset="-122"/>
                <a:cs typeface="Calibri" pitchFamily="34" charset="-120"/>
              </a:rPr>
              <a:t>the details of s1 appear</a:t>
            </a:r>
            <a:endParaRPr lang="en-US" sz="1300" dirty="0"/>
          </a:p>
        </p:txBody>
      </p:sp>
      <p:sp>
        <p:nvSpPr>
          <p:cNvPr id="25" name="Shape 18"/>
          <p:cNvSpPr/>
          <p:nvPr/>
        </p:nvSpPr>
        <p:spPr>
          <a:xfrm>
            <a:off x="731520" y="4480560"/>
            <a:ext cx="5212080" cy="868680"/>
          </a:xfrm>
          <a:prstGeom prst="roundRect">
            <a:avLst>
              <a:gd name="adj" fmla="val 10526"/>
            </a:avLst>
          </a:prstGeom>
          <a:solidFill>
            <a:srgbClr val="F0FDF4"/>
          </a:solidFill>
          <a:ln w="19050">
            <a:solidFill>
              <a:srgbClr val="10B981"/>
            </a:solidFill>
            <a:prstDash val="solid"/>
          </a:ln>
        </p:spPr>
      </p:sp>
      <p:sp>
        <p:nvSpPr>
          <p:cNvPr id="26" name="Text 19"/>
          <p:cNvSpPr txBox="1"/>
          <p:nvPr/>
        </p:nvSpPr>
        <p:spPr>
          <a:xfrm>
            <a:off x="804672" y="4590288"/>
            <a:ext cx="5065776" cy="329184"/>
          </a:xfrm>
          <a:prstGeom prst="rect">
            <a:avLst/>
          </a:prstGeom>
          <a:noFill/>
          <a:ln/>
        </p:spPr>
        <p:txBody>
          <a:bodyPr wrap="square" rtlCol="0" anchor="t"/>
          <a:lstStyle/>
          <a:p>
            <a:pPr algn="ctr" indent="0" marL="0">
              <a:buNone/>
            </a:pPr>
            <a:r>
              <a:rPr lang="en-US" sz="1550" b="1" dirty="0">
                <a:solidFill>
                  <a:srgbClr val="1E293B"/>
                </a:solidFill>
                <a:latin typeface="Calibri" pitchFamily="34" charset="0"/>
                <a:ea typeface="Calibri" pitchFamily="34" charset="-122"/>
                <a:cs typeface="Calibri" pitchFamily="34" charset="-120"/>
              </a:rPr>
              <a:t>s1 shows</a:t>
            </a:r>
            <a:endParaRPr lang="en-US" sz="1550" dirty="0"/>
          </a:p>
        </p:txBody>
      </p:sp>
      <p:sp>
        <p:nvSpPr>
          <p:cNvPr id="27" name="Text 20"/>
          <p:cNvSpPr txBox="1"/>
          <p:nvPr/>
        </p:nvSpPr>
        <p:spPr>
          <a:xfrm>
            <a:off x="822960" y="4919472"/>
            <a:ext cx="5029200" cy="356616"/>
          </a:xfrm>
          <a:prstGeom prst="rect">
            <a:avLst/>
          </a:prstGeom>
          <a:noFill/>
          <a:ln/>
        </p:spPr>
        <p:txBody>
          <a:bodyPr wrap="square" rtlCol="0" anchor="t"/>
          <a:lstStyle/>
          <a:p>
            <a:pPr algn="ctr" indent="0" marL="0">
              <a:buNone/>
            </a:pPr>
            <a:r>
              <a:rPr lang="en-US" sz="1400" dirty="0">
                <a:solidFill>
                  <a:srgbClr val="64748B"/>
                </a:solidFill>
                <a:latin typeface="Calibri" pitchFamily="34" charset="0"/>
                <a:ea typeface="Calibri" pitchFamily="34" charset="-122"/>
                <a:cs typeface="Calibri" pitchFamily="34" charset="-120"/>
              </a:rPr>
              <a:t>name: Ravi and marks: 90</a:t>
            </a:r>
            <a:endParaRPr lang="en-US" sz="1400" dirty="0"/>
          </a:p>
        </p:txBody>
      </p:sp>
      <p:sp>
        <p:nvSpPr>
          <p:cNvPr id="28" name="Shape 21"/>
          <p:cNvSpPr/>
          <p:nvPr/>
        </p:nvSpPr>
        <p:spPr>
          <a:xfrm>
            <a:off x="6217920" y="4480560"/>
            <a:ext cx="5212080" cy="868680"/>
          </a:xfrm>
          <a:prstGeom prst="roundRect">
            <a:avLst>
              <a:gd name="adj" fmla="val 10526"/>
            </a:avLst>
          </a:prstGeom>
          <a:solidFill>
            <a:srgbClr val="F0FDFA"/>
          </a:solidFill>
          <a:ln w="19050">
            <a:solidFill>
              <a:srgbClr val="14B8A6"/>
            </a:solidFill>
            <a:prstDash val="solid"/>
          </a:ln>
        </p:spPr>
      </p:sp>
      <p:sp>
        <p:nvSpPr>
          <p:cNvPr id="29" name="Text 22"/>
          <p:cNvSpPr txBox="1"/>
          <p:nvPr/>
        </p:nvSpPr>
        <p:spPr>
          <a:xfrm>
            <a:off x="6291072" y="4590288"/>
            <a:ext cx="5065776" cy="329184"/>
          </a:xfrm>
          <a:prstGeom prst="rect">
            <a:avLst/>
          </a:prstGeom>
          <a:noFill/>
          <a:ln/>
        </p:spPr>
        <p:txBody>
          <a:bodyPr wrap="square" rtlCol="0" anchor="t"/>
          <a:lstStyle/>
          <a:p>
            <a:pPr algn="ctr" indent="0" marL="0">
              <a:buNone/>
            </a:pPr>
            <a:r>
              <a:rPr lang="en-US" sz="1550" b="1" dirty="0">
                <a:solidFill>
                  <a:srgbClr val="1E293B"/>
                </a:solidFill>
                <a:latin typeface="Calibri" pitchFamily="34" charset="0"/>
                <a:ea typeface="Calibri" pitchFamily="34" charset="-122"/>
                <a:cs typeface="Calibri" pitchFamily="34" charset="-120"/>
              </a:rPr>
              <a:t>s2 shows</a:t>
            </a:r>
            <a:endParaRPr lang="en-US" sz="1550" dirty="0"/>
          </a:p>
        </p:txBody>
      </p:sp>
      <p:sp>
        <p:nvSpPr>
          <p:cNvPr id="30" name="Text 23"/>
          <p:cNvSpPr txBox="1"/>
          <p:nvPr/>
        </p:nvSpPr>
        <p:spPr>
          <a:xfrm>
            <a:off x="6309360" y="4919472"/>
            <a:ext cx="5029200" cy="356616"/>
          </a:xfrm>
          <a:prstGeom prst="rect">
            <a:avLst/>
          </a:prstGeom>
          <a:noFill/>
          <a:ln/>
        </p:spPr>
        <p:txBody>
          <a:bodyPr wrap="square" rtlCol="0" anchor="t"/>
          <a:lstStyle/>
          <a:p>
            <a:pPr algn="ctr" indent="0" marL="0">
              <a:buNone/>
            </a:pPr>
            <a:r>
              <a:rPr lang="en-US" sz="1400" dirty="0">
                <a:solidFill>
                  <a:srgbClr val="64748B"/>
                </a:solidFill>
                <a:latin typeface="Calibri" pitchFamily="34" charset="0"/>
                <a:ea typeface="Calibri" pitchFamily="34" charset="-122"/>
                <a:cs typeface="Calibri" pitchFamily="34" charset="-120"/>
              </a:rPr>
              <a:t>name: Priya and marks: 85</a:t>
            </a:r>
            <a:endParaRPr lang="en-US" sz="1400" dirty="0"/>
          </a:p>
        </p:txBody>
      </p:sp>
      <p:sp>
        <p:nvSpPr>
          <p:cNvPr id="31" name="Shape 24"/>
          <p:cNvSpPr/>
          <p:nvPr/>
        </p:nvSpPr>
        <p:spPr>
          <a:xfrm>
            <a:off x="731520" y="5559552"/>
            <a:ext cx="10698480" cy="0"/>
          </a:xfrm>
          <a:prstGeom prst="line">
            <a:avLst/>
          </a:prstGeom>
          <a:noFill/>
          <a:ln w="12700">
            <a:solidFill>
              <a:srgbClr val="E2E8F0"/>
            </a:solidFill>
            <a:prstDash val="solid"/>
          </a:ln>
        </p:spPr>
      </p:sp>
      <p:sp>
        <p:nvSpPr>
          <p:cNvPr id="32" name="Shape 25"/>
          <p:cNvSpPr/>
          <p:nvPr/>
        </p:nvSpPr>
        <p:spPr>
          <a:xfrm>
            <a:off x="777240" y="5650992"/>
            <a:ext cx="475488" cy="475488"/>
          </a:xfrm>
          <a:prstGeom prst="ellipse">
            <a:avLst/>
          </a:prstGeom>
          <a:solidFill>
            <a:srgbClr val="FCE7F3"/>
          </a:solidFill>
          <a:ln w="19050">
            <a:solidFill>
              <a:srgbClr val="EC4899"/>
            </a:solidFill>
            <a:prstDash val="solid"/>
          </a:ln>
        </p:spPr>
      </p:sp>
      <p:pic>
        <p:nvPicPr>
          <p:cNvPr id="33" name="Image 5" descr="assets/icon2_user_pink.png">    </p:cNvPr>
          <p:cNvPicPr>
            <a:picLocks noChangeAspect="1"/>
          </p:cNvPicPr>
          <p:nvPr/>
        </p:nvPicPr>
        <p:blipFill>
          <a:blip r:embed="rId6"/>
          <a:stretch>
            <a:fillRect/>
          </a:stretch>
        </p:blipFill>
        <p:spPr>
          <a:xfrm>
            <a:off x="872338" y="5746090"/>
            <a:ext cx="285293" cy="285293"/>
          </a:xfrm>
          <a:prstGeom prst="rect">
            <a:avLst/>
          </a:prstGeom>
        </p:spPr>
      </p:pic>
      <p:sp>
        <p:nvSpPr>
          <p:cNvPr id="34" name="Shape 26"/>
          <p:cNvSpPr/>
          <p:nvPr/>
        </p:nvSpPr>
        <p:spPr>
          <a:xfrm rot="2700000">
            <a:off x="1508760" y="5801868"/>
            <a:ext cx="182880" cy="182880"/>
          </a:xfrm>
          <a:prstGeom prst="rect">
            <a:avLst/>
          </a:prstGeom>
          <a:solidFill>
            <a:srgbClr val="FDF2F8"/>
          </a:solidFill>
          <a:ln w="15875">
            <a:solidFill>
              <a:srgbClr val="EC4899"/>
            </a:solidFill>
            <a:prstDash val="solid"/>
          </a:ln>
        </p:spPr>
      </p:sp>
      <p:sp>
        <p:nvSpPr>
          <p:cNvPr id="35" name="Shape 27"/>
          <p:cNvSpPr/>
          <p:nvPr/>
        </p:nvSpPr>
        <p:spPr>
          <a:xfrm>
            <a:off x="1600200" y="5641848"/>
            <a:ext cx="9829800" cy="502920"/>
          </a:xfrm>
          <a:prstGeom prst="roundRect">
            <a:avLst>
              <a:gd name="adj" fmla="val 21818"/>
            </a:avLst>
          </a:prstGeom>
          <a:solidFill>
            <a:srgbClr val="FDF2F8"/>
          </a:solidFill>
          <a:ln w="15875">
            <a:solidFill>
              <a:srgbClr val="EC4899"/>
            </a:solidFill>
            <a:prstDash val="solid"/>
          </a:ln>
        </p:spPr>
      </p:sp>
      <p:sp>
        <p:nvSpPr>
          <p:cNvPr id="36" name="Text 28"/>
          <p:cNvSpPr txBox="1"/>
          <p:nvPr/>
        </p:nvSpPr>
        <p:spPr>
          <a:xfrm>
            <a:off x="1783080" y="5641848"/>
            <a:ext cx="9464040" cy="502920"/>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Ravi says  </a:t>
            </a:r>
            <a:pPr indent="0" marL="0">
              <a:buNone/>
            </a:pPr>
            <a:r>
              <a:rPr lang="en-US" sz="1400" dirty="0">
                <a:solidFill>
                  <a:srgbClr val="1E293B"/>
                </a:solidFill>
                <a:latin typeface="Calibri" pitchFamily="34" charset="0"/>
                <a:ea typeface="Calibri" pitchFamily="34" charset="-122"/>
                <a:cs typeface="Calibri" pitchFamily="34" charset="-120"/>
              </a:rPr>
              <a:t>One method written once, used by every object of the class.</a:t>
            </a:r>
            <a:endParaRPr lang="en-US" sz="1400" dirty="0"/>
          </a:p>
        </p:txBody>
      </p:sp>
      <p:sp>
        <p:nvSpPr>
          <p:cNvPr id="37" name="Text 29"/>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OOP Fundamentals and Inheritance  ·  Week 3  ·  Day 12</a:t>
            </a:r>
            <a:endParaRPr lang="en-US" sz="1000" dirty="0"/>
          </a:p>
        </p:txBody>
      </p:sp>
      <p:sp>
        <p:nvSpPr>
          <p:cNvPr id="38" name="Text 30"/>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72A"/>
        </a:solidFill>
      </p:bgPr>
    </p:bg>
    <p:spTree>
      <p:nvGrpSpPr>
        <p:cNvPr id="1" name=""/>
        <p:cNvGrpSpPr/>
        <p:nvPr/>
      </p:nvGrpSpPr>
      <p:grpSpPr>
        <a:xfrm>
          <a:off x="0" y="0"/>
          <a:ext cx="0" cy="0"/>
          <a:chOff x="0" y="0"/>
          <a:chExt cx="0" cy="0"/>
        </a:xfrm>
      </p:grpSpPr>
      <p:pic>
        <p:nvPicPr>
          <p:cNvPr id="2" name="Image 0" descr="assets/bloom_purple.png">    </p:cNvPr>
          <p:cNvPicPr>
            <a:picLocks noChangeAspect="1"/>
          </p:cNvPicPr>
          <p:nvPr/>
        </p:nvPicPr>
        <p:blipFill>
          <a:blip r:embed="rId1"/>
          <a:stretch>
            <a:fillRect/>
          </a:stretch>
        </p:blipFill>
        <p:spPr>
          <a:xfrm>
            <a:off x="-1828800" y="-1828800"/>
            <a:ext cx="6858000" cy="6858000"/>
          </a:xfrm>
          <a:prstGeom prst="rect">
            <a:avLst/>
          </a:prstGeom>
        </p:spPr>
      </p:pic>
      <p:pic>
        <p:nvPicPr>
          <p:cNvPr id="3" name="Image 1" descr="assets/bloom_pink.png">    </p:cNvPr>
          <p:cNvPicPr>
            <a:picLocks noChangeAspect="1"/>
          </p:cNvPicPr>
          <p:nvPr/>
        </p:nvPicPr>
        <p:blipFill>
          <a:blip r:embed="rId2"/>
          <a:stretch>
            <a:fillRect/>
          </a:stretch>
        </p:blipFill>
        <p:spPr>
          <a:xfrm>
            <a:off x="7772400" y="2286000"/>
            <a:ext cx="6400800" cy="6400800"/>
          </a:xfrm>
          <a:prstGeom prst="rect">
            <a:avLst/>
          </a:prstGeom>
        </p:spPr>
      </p:pic>
      <p:sp>
        <p:nvSpPr>
          <p:cNvPr id="4" name="Text 0"/>
          <p:cNvSpPr txBox="1"/>
          <p:nvPr/>
        </p:nvSpPr>
        <p:spPr>
          <a:xfrm>
            <a:off x="457200" y="320040"/>
            <a:ext cx="2286000" cy="45720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intellea</a:t>
            </a:r>
            <a:endParaRPr lang="en-US" sz="2200" dirty="0"/>
          </a:p>
        </p:txBody>
      </p:sp>
      <p:sp>
        <p:nvSpPr>
          <p:cNvPr id="5" name="Text 1"/>
          <p:cNvSpPr txBox="1"/>
          <p:nvPr/>
        </p:nvSpPr>
        <p:spPr>
          <a:xfrm>
            <a:off x="457200" y="109728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TOPIC 6</a:t>
            </a:r>
            <a:endParaRPr lang="en-US" sz="1400" dirty="0"/>
          </a:p>
        </p:txBody>
      </p:sp>
      <p:sp>
        <p:nvSpPr>
          <p:cNvPr id="6" name="Text 2"/>
          <p:cNvSpPr txBox="1"/>
          <p:nvPr/>
        </p:nvSpPr>
        <p:spPr>
          <a:xfrm>
            <a:off x="457200" y="1417320"/>
            <a:ext cx="10972800" cy="7315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Class Attribute and Instance Attribute</a:t>
            </a:r>
            <a:endParaRPr lang="en-US" sz="3000" dirty="0"/>
          </a:p>
        </p:txBody>
      </p:sp>
      <p:sp>
        <p:nvSpPr>
          <p:cNvPr id="7" name="rc_topic"/>
          <p:cNvSpPr/>
          <p:nvPr/>
        </p:nvSpPr>
        <p:spPr>
          <a:xfrm>
            <a:off x="457200" y="2286000"/>
            <a:ext cx="11247120" cy="3977640"/>
          </a:xfrm>
          <a:prstGeom prst="roundRect">
            <a:avLst>
              <a:gd name="adj" fmla="val 2299"/>
            </a:avLst>
          </a:prstGeom>
          <a:solidFill>
            <a:srgbClr val="0F172A"/>
          </a:solidFill>
          <a:ln w="12700">
            <a:solidFill>
              <a:srgbClr val="334155"/>
            </a:solidFill>
            <a:prstDash val="solid"/>
          </a:ln>
          <a:effectLst>
            <a:outerShdw sx="100000" sy="100000" kx="0" ky="0" algn="bl" rotWithShape="0" blurRad="76200" dist="25400" dir="5400000">
              <a:srgbClr val="000000">
                <a:alpha val="8000"/>
              </a:srgbClr>
            </a:outerShdw>
          </a:effectLst>
        </p:spPr>
      </p:sp>
      <p:sp>
        <p:nvSpPr>
          <p:cNvPr id="8" name="Text 4"/>
          <p:cNvSpPr txBox="1"/>
          <p:nvPr/>
        </p:nvSpPr>
        <p:spPr>
          <a:xfrm>
            <a:off x="914400" y="2450592"/>
            <a:ext cx="9601200" cy="292608"/>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Real time example</a:t>
            </a:r>
            <a:endParaRPr lang="en-US" sz="1400" dirty="0"/>
          </a:p>
        </p:txBody>
      </p:sp>
      <p:sp>
        <p:nvSpPr>
          <p:cNvPr id="9" name="Text 5"/>
          <p:cNvSpPr txBox="1"/>
          <p:nvPr/>
        </p:nvSpPr>
        <p:spPr>
          <a:xfrm>
            <a:off x="914400" y="2761488"/>
            <a:ext cx="10332720" cy="868680"/>
          </a:xfrm>
          <a:prstGeom prst="rect">
            <a:avLst/>
          </a:prstGeom>
          <a:noFill/>
          <a:ln/>
        </p:spPr>
        <p:txBody>
          <a:bodyPr wrap="square" rtlCol="0" anchor="t"/>
          <a:lstStyle/>
          <a:p>
            <a:pPr indent="0" marL="0">
              <a:lnSpc>
                <a:spcPct val="110000"/>
              </a:lnSpc>
              <a:buNone/>
            </a:pPr>
            <a:r>
              <a:rPr lang="en-US" sz="1600" dirty="0">
                <a:solidFill>
                  <a:srgbClr val="CBD5E1"/>
                </a:solidFill>
                <a:latin typeface="Calibri" pitchFamily="34" charset="0"/>
                <a:ea typeface="Calibri" pitchFamily="34" charset="-122"/>
                <a:cs typeface="Calibri" pitchFamily="34" charset="-120"/>
              </a:rPr>
              <a:t>Every student in a college sees the same college name on the notice board. Their own names, however, are different. The college name is shared, and the student name is personal.</a:t>
            </a:r>
            <a:endParaRPr lang="en-US" sz="1600" dirty="0"/>
          </a:p>
        </p:txBody>
      </p:sp>
      <p:sp>
        <p:nvSpPr>
          <p:cNvPr id="10" name="Text 6"/>
          <p:cNvSpPr txBox="1"/>
          <p:nvPr/>
        </p:nvSpPr>
        <p:spPr>
          <a:xfrm>
            <a:off x="914400" y="3712464"/>
            <a:ext cx="9601200" cy="292608"/>
          </a:xfrm>
          <a:prstGeom prst="rect">
            <a:avLst/>
          </a:prstGeom>
          <a:noFill/>
          <a:ln/>
        </p:spPr>
        <p:txBody>
          <a:bodyPr wrap="square" rtlCol="0" anchor="ctr"/>
          <a:lstStyle/>
          <a:p>
            <a:pPr indent="0" marL="0">
              <a:buNone/>
            </a:pPr>
            <a:r>
              <a:rPr lang="en-US" sz="1400" b="1" dirty="0">
                <a:solidFill>
                  <a:srgbClr val="F97316"/>
                </a:solidFill>
                <a:latin typeface="Calibri" pitchFamily="34" charset="0"/>
                <a:ea typeface="Calibri" pitchFamily="34" charset="-122"/>
                <a:cs typeface="Calibri" pitchFamily="34" charset="-120"/>
              </a:rPr>
              <a:t>Definition</a:t>
            </a:r>
            <a:endParaRPr lang="en-US" sz="1400" dirty="0"/>
          </a:p>
        </p:txBody>
      </p:sp>
      <p:sp>
        <p:nvSpPr>
          <p:cNvPr id="11" name="Text 7"/>
          <p:cNvSpPr txBox="1"/>
          <p:nvPr/>
        </p:nvSpPr>
        <p:spPr>
          <a:xfrm>
            <a:off x="914400" y="4023360"/>
            <a:ext cx="10332720" cy="868680"/>
          </a:xfrm>
          <a:prstGeom prst="rect">
            <a:avLst/>
          </a:prstGeom>
          <a:noFill/>
          <a:ln/>
        </p:spPr>
        <p:txBody>
          <a:bodyPr wrap="square" rtlCol="0" anchor="t"/>
          <a:lstStyle/>
          <a:p>
            <a:pPr indent="0" marL="0">
              <a:lnSpc>
                <a:spcPct val="110000"/>
              </a:lnSpc>
              <a:buNone/>
            </a:pPr>
            <a:r>
              <a:rPr lang="en-US" sz="1800" b="1" dirty="0">
                <a:solidFill>
                  <a:srgbClr val="FFFFFF"/>
                </a:solidFill>
                <a:latin typeface="Calibri" pitchFamily="34" charset="0"/>
                <a:ea typeface="Calibri" pitchFamily="34" charset="-122"/>
                <a:cs typeface="Calibri" pitchFamily="34" charset="-120"/>
              </a:rPr>
              <a:t>A class attribute is written once in the class and is shared by all objects. An instance attribute is created with self and belongs to one object only.</a:t>
            </a:r>
            <a:endParaRPr lang="en-US" sz="1800" dirty="0"/>
          </a:p>
        </p:txBody>
      </p:sp>
      <p:sp>
        <p:nvSpPr>
          <p:cNvPr id="12" name="Text 8"/>
          <p:cNvSpPr txBox="1"/>
          <p:nvPr/>
        </p:nvSpPr>
        <p:spPr>
          <a:xfrm>
            <a:off x="914400" y="4974336"/>
            <a:ext cx="9601200" cy="292608"/>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Where it is used</a:t>
            </a:r>
            <a:endParaRPr lang="en-US" sz="1400" dirty="0"/>
          </a:p>
        </p:txBody>
      </p:sp>
      <p:sp>
        <p:nvSpPr>
          <p:cNvPr id="13" name="Text 9"/>
          <p:cNvSpPr txBox="1"/>
          <p:nvPr/>
        </p:nvSpPr>
        <p:spPr>
          <a:xfrm>
            <a:off x="914400" y="5285232"/>
            <a:ext cx="10332720" cy="868680"/>
          </a:xfrm>
          <a:prstGeom prst="rect">
            <a:avLst/>
          </a:prstGeom>
          <a:noFill/>
          <a:ln/>
        </p:spPr>
        <p:txBody>
          <a:bodyPr wrap="square" rtlCol="0" anchor="t"/>
          <a:lstStyle/>
          <a:p>
            <a:pPr indent="0" marL="0">
              <a:lnSpc>
                <a:spcPct val="110000"/>
              </a:lnSpc>
              <a:buNone/>
            </a:pPr>
            <a:r>
              <a:rPr lang="en-US" sz="1600" dirty="0">
                <a:solidFill>
                  <a:srgbClr val="CBD5E1"/>
                </a:solidFill>
                <a:latin typeface="Calibri" pitchFamily="34" charset="0"/>
                <a:ea typeface="Calibri" pitchFamily="34" charset="-122"/>
                <a:cs typeface="Calibri" pitchFamily="34" charset="-120"/>
              </a:rPr>
              <a:t>Shared settings such as a company name, a tax rate or a school name, next to personal details for each object.</a:t>
            </a:r>
            <a:endParaRPr lang="en-US" sz="1600" dirty="0"/>
          </a:p>
        </p:txBody>
      </p:sp>
      <p:sp>
        <p:nvSpPr>
          <p:cNvPr id="14" name="Text 10"/>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OOP Fundamentals and Inheritance  ·  Week 3  ·  Day 12</a:t>
            </a:r>
            <a:endParaRPr lang="en-US" sz="1000" dirty="0"/>
          </a:p>
        </p:txBody>
      </p:sp>
      <p:sp>
        <p:nvSpPr>
          <p:cNvPr id="15" name="Text 11"/>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A"/>
        </a:solidFill>
      </p:bgPr>
    </p:bg>
    <p:spTree>
      <p:nvGrpSpPr>
        <p:cNvPr id="1" name=""/>
        <p:cNvGrpSpPr/>
        <p:nvPr/>
      </p:nvGrpSpPr>
      <p:grpSpPr>
        <a:xfrm>
          <a:off x="0" y="0"/>
          <a:ext cx="0" cy="0"/>
          <a:chOff x="0" y="0"/>
          <a:chExt cx="0" cy="0"/>
        </a:xfrm>
      </p:grpSpPr>
      <p:pic>
        <p:nvPicPr>
          <p:cNvPr id="2" name="Image 0" descr="assets/intellea_logo_cropped.png">    </p:cNvPr>
          <p:cNvPicPr>
            <a:picLocks noChangeAspect="1"/>
          </p:cNvPicPr>
          <p:nvPr/>
        </p:nvPicPr>
        <p:blipFill>
          <a:blip r:embed="rId1"/>
          <a:stretch>
            <a:fillRect/>
          </a:stretch>
        </p:blipFill>
        <p:spPr>
          <a:xfrm>
            <a:off x="457200" y="320040"/>
            <a:ext cx="1371600" cy="454323"/>
          </a:xfrm>
          <a:prstGeom prst="rect">
            <a:avLst/>
          </a:prstGeom>
        </p:spPr>
      </p:pic>
      <p:sp>
        <p:nvSpPr>
          <p:cNvPr id="3" name="Text 0"/>
          <p:cNvSpPr txBox="1"/>
          <p:nvPr/>
        </p:nvSpPr>
        <p:spPr>
          <a:xfrm>
            <a:off x="457200" y="96012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SHARED AND PERSONAL</a:t>
            </a:r>
            <a:endParaRPr lang="en-US" sz="1400" dirty="0"/>
          </a:p>
        </p:txBody>
      </p:sp>
      <p:sp>
        <p:nvSpPr>
          <p:cNvPr id="4" name="Text 1"/>
          <p:cNvSpPr txBox="1"/>
          <p:nvPr/>
        </p:nvSpPr>
        <p:spPr>
          <a:xfrm>
            <a:off x="457200" y="1280160"/>
            <a:ext cx="11155680" cy="822960"/>
          </a:xfrm>
          <a:prstGeom prst="rect">
            <a:avLst/>
          </a:prstGeom>
          <a:noFill/>
          <a:ln/>
        </p:spPr>
        <p:txBody>
          <a:bodyPr wrap="square"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One Shared Value, Many Personal Values</a:t>
            </a:r>
            <a:endParaRPr lang="en-US" sz="3000" dirty="0"/>
          </a:p>
        </p:txBody>
      </p:sp>
      <p:sp>
        <p:nvSpPr>
          <p:cNvPr id="5" name="rc_vis"/>
          <p:cNvSpPr/>
          <p:nvPr/>
        </p:nvSpPr>
        <p:spPr>
          <a:xfrm>
            <a:off x="457200" y="2240280"/>
            <a:ext cx="11247120" cy="4023360"/>
          </a:xfrm>
          <a:prstGeom prst="roundRect">
            <a:avLst>
              <a:gd name="adj" fmla="val 2273"/>
            </a:avLst>
          </a:prstGeom>
          <a:solidFill>
            <a:srgbClr val="F8FAFC"/>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Shape 3"/>
          <p:cNvSpPr/>
          <p:nvPr/>
        </p:nvSpPr>
        <p:spPr>
          <a:xfrm>
            <a:off x="731520" y="2395728"/>
            <a:ext cx="4389120" cy="2926080"/>
          </a:xfrm>
          <a:prstGeom prst="roundRect">
            <a:avLst>
              <a:gd name="adj" fmla="val 3125"/>
            </a:avLst>
          </a:prstGeom>
          <a:solidFill>
            <a:srgbClr val="F5F3FF"/>
          </a:solidFill>
          <a:ln w="19050">
            <a:solidFill>
              <a:srgbClr val="8B5CF6"/>
            </a:solidFill>
            <a:prstDash val="solid"/>
          </a:ln>
        </p:spPr>
      </p:sp>
      <p:sp>
        <p:nvSpPr>
          <p:cNvPr id="7" name="Text 4"/>
          <p:cNvSpPr txBox="1"/>
          <p:nvPr/>
        </p:nvSpPr>
        <p:spPr>
          <a:xfrm>
            <a:off x="914400" y="2468880"/>
            <a:ext cx="4114800" cy="274320"/>
          </a:xfrm>
          <a:prstGeom prst="rect">
            <a:avLst/>
          </a:prstGeom>
          <a:noFill/>
          <a:ln/>
        </p:spPr>
        <p:txBody>
          <a:bodyPr wrap="square" rtlCol="0" anchor="ctr"/>
          <a:lstStyle/>
          <a:p>
            <a:pPr indent="0" marL="0">
              <a:buNone/>
            </a:pPr>
            <a:r>
              <a:rPr lang="en-US" sz="1100" b="1" spc="100" kern="0" dirty="0">
                <a:solidFill>
                  <a:srgbClr val="8B5CF6"/>
                </a:solidFill>
                <a:latin typeface="Calibri" pitchFamily="34" charset="0"/>
                <a:ea typeface="Calibri" pitchFamily="34" charset="-122"/>
                <a:cs typeface="Calibri" pitchFamily="34" charset="-120"/>
              </a:rPr>
              <a:t>CLASS STUDENT: SHARED</a:t>
            </a:r>
            <a:endParaRPr lang="en-US" sz="1100" dirty="0"/>
          </a:p>
        </p:txBody>
      </p:sp>
      <p:sp>
        <p:nvSpPr>
          <p:cNvPr id="8" name="Shape 5"/>
          <p:cNvSpPr/>
          <p:nvPr/>
        </p:nvSpPr>
        <p:spPr>
          <a:xfrm>
            <a:off x="914400" y="2926080"/>
            <a:ext cx="4023360" cy="640080"/>
          </a:xfrm>
          <a:prstGeom prst="roundRect">
            <a:avLst>
              <a:gd name="adj" fmla="val 8571"/>
            </a:avLst>
          </a:prstGeom>
          <a:solidFill>
            <a:srgbClr val="F5F3FF"/>
          </a:solidFill>
          <a:ln w="19050">
            <a:solidFill>
              <a:srgbClr val="8B5CF6"/>
            </a:solidFill>
            <a:prstDash val="solid"/>
          </a:ln>
        </p:spPr>
      </p:sp>
      <p:sp>
        <p:nvSpPr>
          <p:cNvPr id="9" name="Text 6"/>
          <p:cNvSpPr txBox="1"/>
          <p:nvPr/>
        </p:nvSpPr>
        <p:spPr>
          <a:xfrm>
            <a:off x="914400" y="2926080"/>
            <a:ext cx="4023360" cy="640080"/>
          </a:xfrm>
          <a:prstGeom prst="rect">
            <a:avLst/>
          </a:prstGeom>
          <a:noFill/>
          <a:ln/>
        </p:spPr>
        <p:txBody>
          <a:bodyPr wrap="square" rtlCol="0" anchor="ctr"/>
          <a:lstStyle/>
          <a:p>
            <a:pPr algn="ctr" indent="0" marL="0">
              <a:buNone/>
            </a:pPr>
            <a:r>
              <a:rPr lang="en-US" sz="1500" b="1" dirty="0">
                <a:solidFill>
                  <a:srgbClr val="1E293B"/>
                </a:solidFill>
                <a:latin typeface="Consolas" pitchFamily="34" charset="0"/>
                <a:ea typeface="Consolas" pitchFamily="34" charset="-122"/>
                <a:cs typeface="Consolas" pitchFamily="34" charset="-120"/>
              </a:rPr>
              <a:t>college : ABC college</a:t>
            </a:r>
            <a:endParaRPr lang="en-US" sz="1500" dirty="0"/>
          </a:p>
        </p:txBody>
      </p:sp>
      <p:sp>
        <p:nvSpPr>
          <p:cNvPr id="10" name="Text 7"/>
          <p:cNvSpPr txBox="1"/>
          <p:nvPr/>
        </p:nvSpPr>
        <p:spPr>
          <a:xfrm>
            <a:off x="914400" y="3749040"/>
            <a:ext cx="4023360" cy="1097280"/>
          </a:xfrm>
          <a:prstGeom prst="rect">
            <a:avLst/>
          </a:prstGeom>
          <a:noFill/>
          <a:ln/>
        </p:spPr>
        <p:txBody>
          <a:bodyPr wrap="square" rtlCol="0" anchor="t"/>
          <a:lstStyle/>
          <a:p>
            <a:pPr indent="0" marL="0">
              <a:buNone/>
            </a:pPr>
            <a:r>
              <a:rPr lang="en-US" sz="1400" dirty="0">
                <a:solidFill>
                  <a:srgbClr val="64748B"/>
                </a:solidFill>
                <a:latin typeface="Calibri" pitchFamily="34" charset="0"/>
                <a:ea typeface="Calibri" pitchFamily="34" charset="-122"/>
                <a:cs typeface="Calibri" pitchFamily="34" charset="-120"/>
              </a:rPr>
              <a:t>One copy only. Every object reads the same value, and so does the class itself.</a:t>
            </a:r>
            <a:endParaRPr lang="en-US" sz="1400" dirty="0"/>
          </a:p>
        </p:txBody>
      </p:sp>
      <p:sp>
        <p:nvSpPr>
          <p:cNvPr id="11" name="Shape 8"/>
          <p:cNvSpPr/>
          <p:nvPr/>
        </p:nvSpPr>
        <p:spPr>
          <a:xfrm>
            <a:off x="5852160" y="2395728"/>
            <a:ext cx="5577840" cy="1389888"/>
          </a:xfrm>
          <a:prstGeom prst="roundRect">
            <a:avLst>
              <a:gd name="adj" fmla="val 6579"/>
            </a:avLst>
          </a:prstGeom>
          <a:solidFill>
            <a:srgbClr val="F0FDFA"/>
          </a:solidFill>
          <a:ln w="19050">
            <a:solidFill>
              <a:srgbClr val="14B8A6"/>
            </a:solidFill>
            <a:prstDash val="solid"/>
          </a:ln>
        </p:spPr>
      </p:sp>
      <p:sp>
        <p:nvSpPr>
          <p:cNvPr id="12" name="Text 9"/>
          <p:cNvSpPr txBox="1"/>
          <p:nvPr/>
        </p:nvSpPr>
        <p:spPr>
          <a:xfrm>
            <a:off x="6035040" y="2468880"/>
            <a:ext cx="4572000" cy="274320"/>
          </a:xfrm>
          <a:prstGeom prst="rect">
            <a:avLst/>
          </a:prstGeom>
          <a:noFill/>
          <a:ln/>
        </p:spPr>
        <p:txBody>
          <a:bodyPr wrap="square" rtlCol="0" anchor="ctr"/>
          <a:lstStyle/>
          <a:p>
            <a:pPr indent="0" marL="0">
              <a:buNone/>
            </a:pPr>
            <a:r>
              <a:rPr lang="en-US" sz="1100" b="1" spc="100" kern="0" dirty="0">
                <a:solidFill>
                  <a:srgbClr val="14B8A6"/>
                </a:solidFill>
                <a:latin typeface="Calibri" pitchFamily="34" charset="0"/>
                <a:ea typeface="Calibri" pitchFamily="34" charset="-122"/>
                <a:cs typeface="Calibri" pitchFamily="34" charset="-120"/>
              </a:rPr>
              <a:t>OBJECT s1: PERSONAL</a:t>
            </a:r>
            <a:endParaRPr lang="en-US" sz="1100" dirty="0"/>
          </a:p>
        </p:txBody>
      </p:sp>
      <p:sp>
        <p:nvSpPr>
          <p:cNvPr id="13" name="Shape 10"/>
          <p:cNvSpPr/>
          <p:nvPr/>
        </p:nvSpPr>
        <p:spPr>
          <a:xfrm>
            <a:off x="6035040" y="2852928"/>
            <a:ext cx="2377440" cy="640080"/>
          </a:xfrm>
          <a:prstGeom prst="roundRect">
            <a:avLst>
              <a:gd name="adj" fmla="val 8571"/>
            </a:avLst>
          </a:prstGeom>
          <a:solidFill>
            <a:srgbClr val="CCFBF1"/>
          </a:solidFill>
          <a:ln w="25400">
            <a:solidFill>
              <a:srgbClr val="14B8A6"/>
            </a:solidFill>
            <a:prstDash val="solid"/>
          </a:ln>
        </p:spPr>
      </p:sp>
      <p:sp>
        <p:nvSpPr>
          <p:cNvPr id="14" name="Text 11"/>
          <p:cNvSpPr txBox="1"/>
          <p:nvPr/>
        </p:nvSpPr>
        <p:spPr>
          <a:xfrm>
            <a:off x="6035040" y="2852928"/>
            <a:ext cx="2377440" cy="640080"/>
          </a:xfrm>
          <a:prstGeom prst="rect">
            <a:avLst/>
          </a:prstGeom>
          <a:noFill/>
          <a:ln/>
        </p:spPr>
        <p:txBody>
          <a:bodyPr wrap="square" rtlCol="0" anchor="ctr"/>
          <a:lstStyle/>
          <a:p>
            <a:pPr algn="ctr" indent="0" marL="0">
              <a:buNone/>
            </a:pPr>
            <a:r>
              <a:rPr lang="en-US" sz="1500" b="1" dirty="0">
                <a:solidFill>
                  <a:srgbClr val="1E293B"/>
                </a:solidFill>
                <a:latin typeface="Consolas" pitchFamily="34" charset="0"/>
                <a:ea typeface="Consolas" pitchFamily="34" charset="-122"/>
                <a:cs typeface="Consolas" pitchFamily="34" charset="-120"/>
              </a:rPr>
              <a:t>name : Ravi</a:t>
            </a:r>
            <a:endParaRPr lang="en-US" sz="1500" dirty="0"/>
          </a:p>
        </p:txBody>
      </p:sp>
      <p:sp>
        <p:nvSpPr>
          <p:cNvPr id="15" name="Text 12"/>
          <p:cNvSpPr txBox="1"/>
          <p:nvPr/>
        </p:nvSpPr>
        <p:spPr>
          <a:xfrm>
            <a:off x="8595360" y="2852928"/>
            <a:ext cx="2743200" cy="640080"/>
          </a:xfrm>
          <a:prstGeom prst="rect">
            <a:avLst/>
          </a:prstGeom>
          <a:noFill/>
          <a:ln/>
        </p:spPr>
        <p:txBody>
          <a:bodyPr wrap="square" rtlCol="0" anchor="ctr"/>
          <a:lstStyle/>
          <a:p>
            <a:pPr indent="0" marL="0">
              <a:buNone/>
            </a:pPr>
            <a:r>
              <a:rPr lang="en-US" sz="1350" dirty="0">
                <a:solidFill>
                  <a:srgbClr val="64748B"/>
                </a:solidFill>
                <a:latin typeface="Calibri" pitchFamily="34" charset="0"/>
                <a:ea typeface="Calibri" pitchFamily="34" charset="-122"/>
                <a:cs typeface="Calibri" pitchFamily="34" charset="-120"/>
              </a:rPr>
              <a:t>reads college from the class</a:t>
            </a:r>
            <a:endParaRPr lang="en-US" sz="1350" dirty="0"/>
          </a:p>
        </p:txBody>
      </p:sp>
      <p:sp>
        <p:nvSpPr>
          <p:cNvPr id="16" name="Shape 13"/>
          <p:cNvSpPr/>
          <p:nvPr/>
        </p:nvSpPr>
        <p:spPr>
          <a:xfrm>
            <a:off x="5852160" y="3931920"/>
            <a:ext cx="5577840" cy="1389888"/>
          </a:xfrm>
          <a:prstGeom prst="roundRect">
            <a:avLst>
              <a:gd name="adj" fmla="val 6579"/>
            </a:avLst>
          </a:prstGeom>
          <a:solidFill>
            <a:srgbClr val="F0FDFA"/>
          </a:solidFill>
          <a:ln w="19050">
            <a:solidFill>
              <a:srgbClr val="14B8A6"/>
            </a:solidFill>
            <a:prstDash val="solid"/>
          </a:ln>
        </p:spPr>
      </p:sp>
      <p:sp>
        <p:nvSpPr>
          <p:cNvPr id="17" name="Text 14"/>
          <p:cNvSpPr txBox="1"/>
          <p:nvPr/>
        </p:nvSpPr>
        <p:spPr>
          <a:xfrm>
            <a:off x="6035040" y="4005072"/>
            <a:ext cx="4572000" cy="274320"/>
          </a:xfrm>
          <a:prstGeom prst="rect">
            <a:avLst/>
          </a:prstGeom>
          <a:noFill/>
          <a:ln/>
        </p:spPr>
        <p:txBody>
          <a:bodyPr wrap="square" rtlCol="0" anchor="ctr"/>
          <a:lstStyle/>
          <a:p>
            <a:pPr indent="0" marL="0">
              <a:buNone/>
            </a:pPr>
            <a:r>
              <a:rPr lang="en-US" sz="1100" b="1" spc="100" kern="0" dirty="0">
                <a:solidFill>
                  <a:srgbClr val="14B8A6"/>
                </a:solidFill>
                <a:latin typeface="Calibri" pitchFamily="34" charset="0"/>
                <a:ea typeface="Calibri" pitchFamily="34" charset="-122"/>
                <a:cs typeface="Calibri" pitchFamily="34" charset="-120"/>
              </a:rPr>
              <a:t>OBJECT s2: PERSONAL</a:t>
            </a:r>
            <a:endParaRPr lang="en-US" sz="1100" dirty="0"/>
          </a:p>
        </p:txBody>
      </p:sp>
      <p:sp>
        <p:nvSpPr>
          <p:cNvPr id="18" name="Shape 15"/>
          <p:cNvSpPr/>
          <p:nvPr/>
        </p:nvSpPr>
        <p:spPr>
          <a:xfrm>
            <a:off x="6035040" y="4389120"/>
            <a:ext cx="2377440" cy="640080"/>
          </a:xfrm>
          <a:prstGeom prst="roundRect">
            <a:avLst>
              <a:gd name="adj" fmla="val 8571"/>
            </a:avLst>
          </a:prstGeom>
          <a:solidFill>
            <a:srgbClr val="CCFBF1"/>
          </a:solidFill>
          <a:ln w="25400">
            <a:solidFill>
              <a:srgbClr val="14B8A6"/>
            </a:solidFill>
            <a:prstDash val="solid"/>
          </a:ln>
        </p:spPr>
      </p:sp>
      <p:sp>
        <p:nvSpPr>
          <p:cNvPr id="19" name="Text 16"/>
          <p:cNvSpPr txBox="1"/>
          <p:nvPr/>
        </p:nvSpPr>
        <p:spPr>
          <a:xfrm>
            <a:off x="6035040" y="4389120"/>
            <a:ext cx="2377440" cy="640080"/>
          </a:xfrm>
          <a:prstGeom prst="rect">
            <a:avLst/>
          </a:prstGeom>
          <a:noFill/>
          <a:ln/>
        </p:spPr>
        <p:txBody>
          <a:bodyPr wrap="square" rtlCol="0" anchor="ctr"/>
          <a:lstStyle/>
          <a:p>
            <a:pPr algn="ctr" indent="0" marL="0">
              <a:buNone/>
            </a:pPr>
            <a:r>
              <a:rPr lang="en-US" sz="1500" b="1" dirty="0">
                <a:solidFill>
                  <a:srgbClr val="1E293B"/>
                </a:solidFill>
                <a:latin typeface="Consolas" pitchFamily="34" charset="0"/>
                <a:ea typeface="Consolas" pitchFamily="34" charset="-122"/>
                <a:cs typeface="Consolas" pitchFamily="34" charset="-120"/>
              </a:rPr>
              <a:t>name : Priya</a:t>
            </a:r>
            <a:endParaRPr lang="en-US" sz="1500" dirty="0"/>
          </a:p>
        </p:txBody>
      </p:sp>
      <p:sp>
        <p:nvSpPr>
          <p:cNvPr id="20" name="Text 17"/>
          <p:cNvSpPr txBox="1"/>
          <p:nvPr/>
        </p:nvSpPr>
        <p:spPr>
          <a:xfrm>
            <a:off x="8595360" y="4389120"/>
            <a:ext cx="2743200" cy="640080"/>
          </a:xfrm>
          <a:prstGeom prst="rect">
            <a:avLst/>
          </a:prstGeom>
          <a:noFill/>
          <a:ln/>
        </p:spPr>
        <p:txBody>
          <a:bodyPr wrap="square" rtlCol="0" anchor="ctr"/>
          <a:lstStyle/>
          <a:p>
            <a:pPr indent="0" marL="0">
              <a:buNone/>
            </a:pPr>
            <a:r>
              <a:rPr lang="en-US" sz="1350" dirty="0">
                <a:solidFill>
                  <a:srgbClr val="64748B"/>
                </a:solidFill>
                <a:latin typeface="Calibri" pitchFamily="34" charset="0"/>
                <a:ea typeface="Calibri" pitchFamily="34" charset="-122"/>
                <a:cs typeface="Calibri" pitchFamily="34" charset="-120"/>
              </a:rPr>
              <a:t>reads college from the class</a:t>
            </a:r>
            <a:endParaRPr lang="en-US" sz="1350" dirty="0"/>
          </a:p>
        </p:txBody>
      </p:sp>
      <p:sp>
        <p:nvSpPr>
          <p:cNvPr id="21" name="Shape 18"/>
          <p:cNvSpPr/>
          <p:nvPr/>
        </p:nvSpPr>
        <p:spPr>
          <a:xfrm flipV="1">
            <a:off x="5148072" y="3108960"/>
            <a:ext cx="676656" cy="137160"/>
          </a:xfrm>
          <a:prstGeom prst="line">
            <a:avLst/>
          </a:prstGeom>
          <a:noFill/>
          <a:ln w="31750">
            <a:solidFill>
              <a:srgbClr val="8B5CF6"/>
            </a:solidFill>
            <a:prstDash val="solid"/>
            <a:tailEnd type="triangle"/>
          </a:ln>
        </p:spPr>
      </p:sp>
      <p:sp>
        <p:nvSpPr>
          <p:cNvPr id="22" name="Shape 19"/>
          <p:cNvSpPr/>
          <p:nvPr/>
        </p:nvSpPr>
        <p:spPr>
          <a:xfrm>
            <a:off x="5148072" y="3474720"/>
            <a:ext cx="676656" cy="1097280"/>
          </a:xfrm>
          <a:prstGeom prst="line">
            <a:avLst/>
          </a:prstGeom>
          <a:noFill/>
          <a:ln w="31750">
            <a:solidFill>
              <a:srgbClr val="8B5CF6"/>
            </a:solidFill>
            <a:prstDash val="solid"/>
            <a:tailEnd type="triangle"/>
          </a:ln>
        </p:spPr>
      </p:sp>
      <p:sp>
        <p:nvSpPr>
          <p:cNvPr id="23" name="Shape 20"/>
          <p:cNvSpPr/>
          <p:nvPr/>
        </p:nvSpPr>
        <p:spPr>
          <a:xfrm>
            <a:off x="731520" y="5559552"/>
            <a:ext cx="10698480" cy="0"/>
          </a:xfrm>
          <a:prstGeom prst="line">
            <a:avLst/>
          </a:prstGeom>
          <a:noFill/>
          <a:ln w="12700">
            <a:solidFill>
              <a:srgbClr val="E2E8F0"/>
            </a:solidFill>
            <a:prstDash val="solid"/>
          </a:ln>
        </p:spPr>
      </p:sp>
      <p:sp>
        <p:nvSpPr>
          <p:cNvPr id="24" name="Shape 21"/>
          <p:cNvSpPr/>
          <p:nvPr/>
        </p:nvSpPr>
        <p:spPr>
          <a:xfrm>
            <a:off x="777240" y="5650992"/>
            <a:ext cx="475488" cy="475488"/>
          </a:xfrm>
          <a:prstGeom prst="ellipse">
            <a:avLst/>
          </a:prstGeom>
          <a:solidFill>
            <a:srgbClr val="FCE7F3"/>
          </a:solidFill>
          <a:ln w="19050">
            <a:solidFill>
              <a:srgbClr val="EC4899"/>
            </a:solidFill>
            <a:prstDash val="solid"/>
          </a:ln>
        </p:spPr>
      </p:sp>
      <p:pic>
        <p:nvPicPr>
          <p:cNvPr id="25" name="Image 1" descr="assets/icon2_user_pink.png">    </p:cNvPr>
          <p:cNvPicPr>
            <a:picLocks noChangeAspect="1"/>
          </p:cNvPicPr>
          <p:nvPr/>
        </p:nvPicPr>
        <p:blipFill>
          <a:blip r:embed="rId2"/>
          <a:stretch>
            <a:fillRect/>
          </a:stretch>
        </p:blipFill>
        <p:spPr>
          <a:xfrm>
            <a:off x="872338" y="5746090"/>
            <a:ext cx="285293" cy="285293"/>
          </a:xfrm>
          <a:prstGeom prst="rect">
            <a:avLst/>
          </a:prstGeom>
        </p:spPr>
      </p:pic>
      <p:sp>
        <p:nvSpPr>
          <p:cNvPr id="26" name="Shape 22"/>
          <p:cNvSpPr/>
          <p:nvPr/>
        </p:nvSpPr>
        <p:spPr>
          <a:xfrm rot="2700000">
            <a:off x="1508760" y="5801868"/>
            <a:ext cx="182880" cy="182880"/>
          </a:xfrm>
          <a:prstGeom prst="rect">
            <a:avLst/>
          </a:prstGeom>
          <a:solidFill>
            <a:srgbClr val="FDF2F8"/>
          </a:solidFill>
          <a:ln w="15875">
            <a:solidFill>
              <a:srgbClr val="EC4899"/>
            </a:solidFill>
            <a:prstDash val="solid"/>
          </a:ln>
        </p:spPr>
      </p:sp>
      <p:sp>
        <p:nvSpPr>
          <p:cNvPr id="27" name="Shape 23"/>
          <p:cNvSpPr/>
          <p:nvPr/>
        </p:nvSpPr>
        <p:spPr>
          <a:xfrm>
            <a:off x="1600200" y="5641848"/>
            <a:ext cx="9829800" cy="502920"/>
          </a:xfrm>
          <a:prstGeom prst="roundRect">
            <a:avLst>
              <a:gd name="adj" fmla="val 21818"/>
            </a:avLst>
          </a:prstGeom>
          <a:solidFill>
            <a:srgbClr val="FDF2F8"/>
          </a:solidFill>
          <a:ln w="15875">
            <a:solidFill>
              <a:srgbClr val="EC4899"/>
            </a:solidFill>
            <a:prstDash val="solid"/>
          </a:ln>
        </p:spPr>
      </p:sp>
      <p:sp>
        <p:nvSpPr>
          <p:cNvPr id="28" name="Text 24"/>
          <p:cNvSpPr txBox="1"/>
          <p:nvPr/>
        </p:nvSpPr>
        <p:spPr>
          <a:xfrm>
            <a:off x="1783080" y="5641848"/>
            <a:ext cx="9464040" cy="502920"/>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Ravi says  </a:t>
            </a:r>
            <a:pPr indent="0" marL="0">
              <a:buNone/>
            </a:pPr>
            <a:r>
              <a:rPr lang="en-US" sz="1400" dirty="0">
                <a:solidFill>
                  <a:srgbClr val="1E293B"/>
                </a:solidFill>
                <a:latin typeface="Calibri" pitchFamily="34" charset="0"/>
                <a:ea typeface="Calibri" pitchFamily="34" charset="-122"/>
                <a:cs typeface="Calibri" pitchFamily="34" charset="-120"/>
              </a:rPr>
              <a:t>Ask: does every object share this, or is it personal? That decides where it lives.</a:t>
            </a:r>
            <a:endParaRPr lang="en-US" sz="1400" dirty="0"/>
          </a:p>
        </p:txBody>
      </p:sp>
      <p:sp>
        <p:nvSpPr>
          <p:cNvPr id="29" name="Text 25"/>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OOP Fundamentals and Inheritance  ·  Week 3  ·  Day 12</a:t>
            </a:r>
            <a:endParaRPr lang="en-US" sz="1000" dirty="0"/>
          </a:p>
        </p:txBody>
      </p:sp>
      <p:sp>
        <p:nvSpPr>
          <p:cNvPr id="30" name="Text 26"/>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72A"/>
        </a:solidFill>
      </p:bgPr>
    </p:bg>
    <p:spTree>
      <p:nvGrpSpPr>
        <p:cNvPr id="1" name=""/>
        <p:cNvGrpSpPr/>
        <p:nvPr/>
      </p:nvGrpSpPr>
      <p:grpSpPr>
        <a:xfrm>
          <a:off x="0" y="0"/>
          <a:ext cx="0" cy="0"/>
          <a:chOff x="0" y="0"/>
          <a:chExt cx="0" cy="0"/>
        </a:xfrm>
      </p:grpSpPr>
      <p:pic>
        <p:nvPicPr>
          <p:cNvPr id="2" name="Image 0" descr="assets/bloom_purple.png">    </p:cNvPr>
          <p:cNvPicPr>
            <a:picLocks noChangeAspect="1"/>
          </p:cNvPicPr>
          <p:nvPr/>
        </p:nvPicPr>
        <p:blipFill>
          <a:blip r:embed="rId1"/>
          <a:stretch>
            <a:fillRect/>
          </a:stretch>
        </p:blipFill>
        <p:spPr>
          <a:xfrm>
            <a:off x="-1828800" y="-1828800"/>
            <a:ext cx="6858000" cy="6858000"/>
          </a:xfrm>
          <a:prstGeom prst="rect">
            <a:avLst/>
          </a:prstGeom>
        </p:spPr>
      </p:pic>
      <p:pic>
        <p:nvPicPr>
          <p:cNvPr id="3" name="Image 1" descr="assets/bloom_pink.png">    </p:cNvPr>
          <p:cNvPicPr>
            <a:picLocks noChangeAspect="1"/>
          </p:cNvPicPr>
          <p:nvPr/>
        </p:nvPicPr>
        <p:blipFill>
          <a:blip r:embed="rId2"/>
          <a:stretch>
            <a:fillRect/>
          </a:stretch>
        </p:blipFill>
        <p:spPr>
          <a:xfrm>
            <a:off x="7772400" y="2286000"/>
            <a:ext cx="6400800" cy="6400800"/>
          </a:xfrm>
          <a:prstGeom prst="rect">
            <a:avLst/>
          </a:prstGeom>
        </p:spPr>
      </p:pic>
      <p:sp>
        <p:nvSpPr>
          <p:cNvPr id="4" name="Text 0"/>
          <p:cNvSpPr txBox="1"/>
          <p:nvPr/>
        </p:nvSpPr>
        <p:spPr>
          <a:xfrm>
            <a:off x="457200" y="320040"/>
            <a:ext cx="2286000" cy="45720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intellea</a:t>
            </a:r>
            <a:endParaRPr lang="en-US" sz="2200" dirty="0"/>
          </a:p>
        </p:txBody>
      </p:sp>
      <p:sp>
        <p:nvSpPr>
          <p:cNvPr id="5" name="Text 1"/>
          <p:cNvSpPr txBox="1"/>
          <p:nvPr/>
        </p:nvSpPr>
        <p:spPr>
          <a:xfrm>
            <a:off x="457200" y="109728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TOPIC 7</a:t>
            </a:r>
            <a:endParaRPr lang="en-US" sz="1400" dirty="0"/>
          </a:p>
        </p:txBody>
      </p:sp>
      <p:sp>
        <p:nvSpPr>
          <p:cNvPr id="6" name="Text 2"/>
          <p:cNvSpPr txBox="1"/>
          <p:nvPr/>
        </p:nvSpPr>
        <p:spPr>
          <a:xfrm>
            <a:off x="457200" y="1417320"/>
            <a:ext cx="10972800" cy="7315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Inheritance</a:t>
            </a:r>
            <a:endParaRPr lang="en-US" sz="3000" dirty="0"/>
          </a:p>
        </p:txBody>
      </p:sp>
      <p:sp>
        <p:nvSpPr>
          <p:cNvPr id="7" name="rc_topic"/>
          <p:cNvSpPr/>
          <p:nvPr/>
        </p:nvSpPr>
        <p:spPr>
          <a:xfrm>
            <a:off x="457200" y="2286000"/>
            <a:ext cx="11247120" cy="3977640"/>
          </a:xfrm>
          <a:prstGeom prst="roundRect">
            <a:avLst>
              <a:gd name="adj" fmla="val 2299"/>
            </a:avLst>
          </a:prstGeom>
          <a:solidFill>
            <a:srgbClr val="0F172A"/>
          </a:solidFill>
          <a:ln w="12700">
            <a:solidFill>
              <a:srgbClr val="334155"/>
            </a:solidFill>
            <a:prstDash val="solid"/>
          </a:ln>
          <a:effectLst>
            <a:outerShdw sx="100000" sy="100000" kx="0" ky="0" algn="bl" rotWithShape="0" blurRad="76200" dist="25400" dir="5400000">
              <a:srgbClr val="000000">
                <a:alpha val="8000"/>
              </a:srgbClr>
            </a:outerShdw>
          </a:effectLst>
        </p:spPr>
      </p:sp>
      <p:sp>
        <p:nvSpPr>
          <p:cNvPr id="8" name="Text 4"/>
          <p:cNvSpPr txBox="1"/>
          <p:nvPr/>
        </p:nvSpPr>
        <p:spPr>
          <a:xfrm>
            <a:off x="914400" y="2450592"/>
            <a:ext cx="9601200" cy="292608"/>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Real time example</a:t>
            </a:r>
            <a:endParaRPr lang="en-US" sz="1400" dirty="0"/>
          </a:p>
        </p:txBody>
      </p:sp>
      <p:sp>
        <p:nvSpPr>
          <p:cNvPr id="9" name="Text 5"/>
          <p:cNvSpPr txBox="1"/>
          <p:nvPr/>
        </p:nvSpPr>
        <p:spPr>
          <a:xfrm>
            <a:off x="914400" y="2761488"/>
            <a:ext cx="10332720" cy="868680"/>
          </a:xfrm>
          <a:prstGeom prst="rect">
            <a:avLst/>
          </a:prstGeom>
          <a:noFill/>
          <a:ln/>
        </p:spPr>
        <p:txBody>
          <a:bodyPr wrap="square" rtlCol="0" anchor="t"/>
          <a:lstStyle/>
          <a:p>
            <a:pPr indent="0" marL="0">
              <a:lnSpc>
                <a:spcPct val="110000"/>
              </a:lnSpc>
              <a:buNone/>
            </a:pPr>
            <a:r>
              <a:rPr lang="en-US" sz="1600" dirty="0">
                <a:solidFill>
                  <a:srgbClr val="CBD5E1"/>
                </a:solidFill>
                <a:latin typeface="Calibri" pitchFamily="34" charset="0"/>
                <a:ea typeface="Calibri" pitchFamily="34" charset="-122"/>
                <a:cs typeface="Calibri" pitchFamily="34" charset="-120"/>
              </a:rPr>
              <a:t>In a company, developers, trainers and testers are all employees. Each one has a name, an id and a role. The company writes these common details once, and each job adds only what is special to it.</a:t>
            </a:r>
            <a:endParaRPr lang="en-US" sz="1600" dirty="0"/>
          </a:p>
        </p:txBody>
      </p:sp>
      <p:sp>
        <p:nvSpPr>
          <p:cNvPr id="10" name="Text 6"/>
          <p:cNvSpPr txBox="1"/>
          <p:nvPr/>
        </p:nvSpPr>
        <p:spPr>
          <a:xfrm>
            <a:off x="914400" y="3712464"/>
            <a:ext cx="9601200" cy="292608"/>
          </a:xfrm>
          <a:prstGeom prst="rect">
            <a:avLst/>
          </a:prstGeom>
          <a:noFill/>
          <a:ln/>
        </p:spPr>
        <p:txBody>
          <a:bodyPr wrap="square" rtlCol="0" anchor="ctr"/>
          <a:lstStyle/>
          <a:p>
            <a:pPr indent="0" marL="0">
              <a:buNone/>
            </a:pPr>
            <a:r>
              <a:rPr lang="en-US" sz="1400" b="1" dirty="0">
                <a:solidFill>
                  <a:srgbClr val="F97316"/>
                </a:solidFill>
                <a:latin typeface="Calibri" pitchFamily="34" charset="0"/>
                <a:ea typeface="Calibri" pitchFamily="34" charset="-122"/>
                <a:cs typeface="Calibri" pitchFamily="34" charset="-120"/>
              </a:rPr>
              <a:t>Definition</a:t>
            </a:r>
            <a:endParaRPr lang="en-US" sz="1400" dirty="0"/>
          </a:p>
        </p:txBody>
      </p:sp>
      <p:sp>
        <p:nvSpPr>
          <p:cNvPr id="11" name="Text 7"/>
          <p:cNvSpPr txBox="1"/>
          <p:nvPr/>
        </p:nvSpPr>
        <p:spPr>
          <a:xfrm>
            <a:off x="914400" y="4023360"/>
            <a:ext cx="10332720" cy="868680"/>
          </a:xfrm>
          <a:prstGeom prst="rect">
            <a:avLst/>
          </a:prstGeom>
          <a:noFill/>
          <a:ln/>
        </p:spPr>
        <p:txBody>
          <a:bodyPr wrap="square" rtlCol="0" anchor="t"/>
          <a:lstStyle/>
          <a:p>
            <a:pPr indent="0" marL="0">
              <a:lnSpc>
                <a:spcPct val="110000"/>
              </a:lnSpc>
              <a:buNone/>
            </a:pPr>
            <a:r>
              <a:rPr lang="en-US" sz="1800" b="1" dirty="0">
                <a:solidFill>
                  <a:srgbClr val="FFFFFF"/>
                </a:solidFill>
                <a:latin typeface="Calibri" pitchFamily="34" charset="0"/>
                <a:ea typeface="Calibri" pitchFamily="34" charset="-122"/>
                <a:cs typeface="Calibri" pitchFamily="34" charset="-120"/>
              </a:rPr>
              <a:t>Inheritance lets a child class take the features of a parent class and add its own. The parent is the base class and the child is the derived class.</a:t>
            </a:r>
            <a:endParaRPr lang="en-US" sz="1800" dirty="0"/>
          </a:p>
        </p:txBody>
      </p:sp>
      <p:sp>
        <p:nvSpPr>
          <p:cNvPr id="12" name="Text 8"/>
          <p:cNvSpPr txBox="1"/>
          <p:nvPr/>
        </p:nvSpPr>
        <p:spPr>
          <a:xfrm>
            <a:off x="914400" y="4974336"/>
            <a:ext cx="9601200" cy="292608"/>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Where it is used</a:t>
            </a:r>
            <a:endParaRPr lang="en-US" sz="1400" dirty="0"/>
          </a:p>
        </p:txBody>
      </p:sp>
      <p:sp>
        <p:nvSpPr>
          <p:cNvPr id="13" name="Text 9"/>
          <p:cNvSpPr txBox="1"/>
          <p:nvPr/>
        </p:nvSpPr>
        <p:spPr>
          <a:xfrm>
            <a:off x="914400" y="5285232"/>
            <a:ext cx="10332720" cy="868680"/>
          </a:xfrm>
          <a:prstGeom prst="rect">
            <a:avLst/>
          </a:prstGeom>
          <a:noFill/>
          <a:ln/>
        </p:spPr>
        <p:txBody>
          <a:bodyPr wrap="square" rtlCol="0" anchor="t"/>
          <a:lstStyle/>
          <a:p>
            <a:pPr indent="0" marL="0">
              <a:lnSpc>
                <a:spcPct val="110000"/>
              </a:lnSpc>
              <a:buNone/>
            </a:pPr>
            <a:r>
              <a:rPr lang="en-US" sz="1600" dirty="0">
                <a:solidFill>
                  <a:srgbClr val="CBD5E1"/>
                </a:solidFill>
                <a:latin typeface="Calibri" pitchFamily="34" charset="0"/>
                <a:ea typeface="Calibri" pitchFamily="34" charset="-122"/>
                <a:cs typeface="Calibri" pitchFamily="34" charset="-120"/>
              </a:rPr>
              <a:t>Employee types, account types, vehicle types and any system where different things share a common core.</a:t>
            </a:r>
            <a:endParaRPr lang="en-US" sz="1600" dirty="0"/>
          </a:p>
        </p:txBody>
      </p:sp>
      <p:sp>
        <p:nvSpPr>
          <p:cNvPr id="14" name="Text 10"/>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OOP Fundamentals and Inheritance  ·  Week 3  ·  Day 12</a:t>
            </a:r>
            <a:endParaRPr lang="en-US" sz="1000" dirty="0"/>
          </a:p>
        </p:txBody>
      </p:sp>
      <p:sp>
        <p:nvSpPr>
          <p:cNvPr id="15" name="Text 11"/>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AFA"/>
        </a:solidFill>
      </p:bgPr>
    </p:bg>
    <p:spTree>
      <p:nvGrpSpPr>
        <p:cNvPr id="1" name=""/>
        <p:cNvGrpSpPr/>
        <p:nvPr/>
      </p:nvGrpSpPr>
      <p:grpSpPr>
        <a:xfrm>
          <a:off x="0" y="0"/>
          <a:ext cx="0" cy="0"/>
          <a:chOff x="0" y="0"/>
          <a:chExt cx="0" cy="0"/>
        </a:xfrm>
      </p:grpSpPr>
      <p:pic>
        <p:nvPicPr>
          <p:cNvPr id="2" name="Image 0" descr="assets/intellea_logo_cropped.png">    </p:cNvPr>
          <p:cNvPicPr>
            <a:picLocks noChangeAspect="1"/>
          </p:cNvPicPr>
          <p:nvPr/>
        </p:nvPicPr>
        <p:blipFill>
          <a:blip r:embed="rId1"/>
          <a:stretch>
            <a:fillRect/>
          </a:stretch>
        </p:blipFill>
        <p:spPr>
          <a:xfrm>
            <a:off x="457200" y="320040"/>
            <a:ext cx="1371600" cy="454323"/>
          </a:xfrm>
          <a:prstGeom prst="rect">
            <a:avLst/>
          </a:prstGeom>
        </p:spPr>
      </p:pic>
      <p:sp>
        <p:nvSpPr>
          <p:cNvPr id="3" name="Text 0"/>
          <p:cNvSpPr txBox="1"/>
          <p:nvPr/>
        </p:nvSpPr>
        <p:spPr>
          <a:xfrm>
            <a:off x="457200" y="96012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INHERITANCE TREE</a:t>
            </a:r>
            <a:endParaRPr lang="en-US" sz="1400" dirty="0"/>
          </a:p>
        </p:txBody>
      </p:sp>
      <p:sp>
        <p:nvSpPr>
          <p:cNvPr id="4" name="Text 1"/>
          <p:cNvSpPr txBox="1"/>
          <p:nvPr/>
        </p:nvSpPr>
        <p:spPr>
          <a:xfrm>
            <a:off x="457200" y="1280160"/>
            <a:ext cx="11155680" cy="822960"/>
          </a:xfrm>
          <a:prstGeom prst="rect">
            <a:avLst/>
          </a:prstGeom>
          <a:noFill/>
          <a:ln/>
        </p:spPr>
        <p:txBody>
          <a:bodyPr wrap="square"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Common Parts Written Once in the Parent</a:t>
            </a:r>
            <a:endParaRPr lang="en-US" sz="3000" dirty="0"/>
          </a:p>
        </p:txBody>
      </p:sp>
      <p:sp>
        <p:nvSpPr>
          <p:cNvPr id="5" name="rc_vis"/>
          <p:cNvSpPr/>
          <p:nvPr/>
        </p:nvSpPr>
        <p:spPr>
          <a:xfrm>
            <a:off x="457200" y="2240280"/>
            <a:ext cx="11247120" cy="4023360"/>
          </a:xfrm>
          <a:prstGeom prst="roundRect">
            <a:avLst>
              <a:gd name="adj" fmla="val 2273"/>
            </a:avLst>
          </a:prstGeom>
          <a:solidFill>
            <a:srgbClr val="F8FAFC"/>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Shape 3"/>
          <p:cNvSpPr/>
          <p:nvPr/>
        </p:nvSpPr>
        <p:spPr>
          <a:xfrm>
            <a:off x="4480560" y="2377440"/>
            <a:ext cx="3200400" cy="1005840"/>
          </a:xfrm>
          <a:prstGeom prst="roundRect">
            <a:avLst>
              <a:gd name="adj" fmla="val 9091"/>
            </a:avLst>
          </a:prstGeom>
          <a:solidFill>
            <a:srgbClr val="F5F3FF"/>
          </a:solidFill>
          <a:ln w="19050">
            <a:solidFill>
              <a:srgbClr val="8B5CF6"/>
            </a:solidFill>
            <a:prstDash val="solid"/>
          </a:ln>
        </p:spPr>
      </p:sp>
      <p:sp>
        <p:nvSpPr>
          <p:cNvPr id="7" name="Text 4"/>
          <p:cNvSpPr txBox="1"/>
          <p:nvPr/>
        </p:nvSpPr>
        <p:spPr>
          <a:xfrm>
            <a:off x="4553712" y="2487168"/>
            <a:ext cx="3054096" cy="365760"/>
          </a:xfrm>
          <a:prstGeom prst="rect">
            <a:avLst/>
          </a:prstGeom>
          <a:noFill/>
          <a:ln/>
        </p:spPr>
        <p:txBody>
          <a:bodyPr wrap="square" rtlCol="0" anchor="t"/>
          <a:lstStyle/>
          <a:p>
            <a:pPr algn="ctr" indent="0" marL="0">
              <a:buNone/>
            </a:pPr>
            <a:r>
              <a:rPr lang="en-US" sz="1700" b="1" dirty="0">
                <a:solidFill>
                  <a:srgbClr val="1E293B"/>
                </a:solidFill>
                <a:latin typeface="Calibri" pitchFamily="34" charset="0"/>
                <a:ea typeface="Calibri" pitchFamily="34" charset="-122"/>
                <a:cs typeface="Calibri" pitchFamily="34" charset="-120"/>
              </a:rPr>
              <a:t>Employee</a:t>
            </a:r>
            <a:endParaRPr lang="en-US" sz="1700" dirty="0"/>
          </a:p>
        </p:txBody>
      </p:sp>
      <p:sp>
        <p:nvSpPr>
          <p:cNvPr id="8" name="Text 5"/>
          <p:cNvSpPr txBox="1"/>
          <p:nvPr/>
        </p:nvSpPr>
        <p:spPr>
          <a:xfrm>
            <a:off x="4572000" y="2852928"/>
            <a:ext cx="3017520" cy="457200"/>
          </a:xfrm>
          <a:prstGeom prst="rect">
            <a:avLst/>
          </a:prstGeom>
          <a:noFill/>
          <a:ln/>
        </p:spPr>
        <p:txBody>
          <a:bodyPr wrap="square" rtlCol="0" anchor="t"/>
          <a:lstStyle/>
          <a:p>
            <a:pPr algn="ctr" indent="0" marL="0">
              <a:buNone/>
            </a:pPr>
            <a:r>
              <a:rPr lang="en-US" sz="1350" dirty="0">
                <a:solidFill>
                  <a:srgbClr val="64748B"/>
                </a:solidFill>
                <a:latin typeface="Calibri" pitchFamily="34" charset="0"/>
                <a:ea typeface="Calibri" pitchFamily="34" charset="-122"/>
                <a:cs typeface="Calibri" pitchFamily="34" charset="-120"/>
              </a:rPr>
              <a:t>parent: name and id</a:t>
            </a:r>
            <a:endParaRPr lang="en-US" sz="1350" dirty="0"/>
          </a:p>
        </p:txBody>
      </p:sp>
      <p:sp>
        <p:nvSpPr>
          <p:cNvPr id="9" name="Shape 6"/>
          <p:cNvSpPr/>
          <p:nvPr/>
        </p:nvSpPr>
        <p:spPr>
          <a:xfrm>
            <a:off x="731520" y="3886200"/>
            <a:ext cx="3108960" cy="1188720"/>
          </a:xfrm>
          <a:prstGeom prst="roundRect">
            <a:avLst>
              <a:gd name="adj" fmla="val 7692"/>
            </a:avLst>
          </a:prstGeom>
          <a:solidFill>
            <a:srgbClr val="F0FDFA"/>
          </a:solidFill>
          <a:ln w="19050">
            <a:solidFill>
              <a:srgbClr val="14B8A6"/>
            </a:solidFill>
            <a:prstDash val="solid"/>
          </a:ln>
        </p:spPr>
      </p:sp>
      <p:sp>
        <p:nvSpPr>
          <p:cNvPr id="10" name="Text 7"/>
          <p:cNvSpPr txBox="1"/>
          <p:nvPr/>
        </p:nvSpPr>
        <p:spPr>
          <a:xfrm>
            <a:off x="804672" y="3995928"/>
            <a:ext cx="2962656" cy="347472"/>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Developer</a:t>
            </a:r>
            <a:endParaRPr lang="en-US" sz="1600" dirty="0"/>
          </a:p>
        </p:txBody>
      </p:sp>
      <p:sp>
        <p:nvSpPr>
          <p:cNvPr id="11" name="Text 8"/>
          <p:cNvSpPr txBox="1"/>
          <p:nvPr/>
        </p:nvSpPr>
        <p:spPr>
          <a:xfrm>
            <a:off x="822960" y="4343400"/>
            <a:ext cx="2926080" cy="658368"/>
          </a:xfrm>
          <a:prstGeom prst="rect">
            <a:avLst/>
          </a:prstGeom>
          <a:noFill/>
          <a:ln/>
        </p:spPr>
        <p:txBody>
          <a:bodyPr wrap="square" rtlCol="0" anchor="t"/>
          <a:lstStyle/>
          <a:p>
            <a:pPr algn="ctr" indent="0" marL="0">
              <a:buNone/>
            </a:pPr>
            <a:r>
              <a:rPr lang="en-US" sz="1300" dirty="0">
                <a:solidFill>
                  <a:srgbClr val="64748B"/>
                </a:solidFill>
                <a:latin typeface="Calibri" pitchFamily="34" charset="0"/>
                <a:ea typeface="Calibri" pitchFamily="34" charset="-122"/>
                <a:cs typeface="Calibri" pitchFamily="34" charset="-120"/>
              </a:rPr>
              <a:t>inherits name and id, adds write code</a:t>
            </a:r>
            <a:endParaRPr lang="en-US" sz="1300" dirty="0"/>
          </a:p>
        </p:txBody>
      </p:sp>
      <p:sp>
        <p:nvSpPr>
          <p:cNvPr id="12" name="Shape 9"/>
          <p:cNvSpPr/>
          <p:nvPr/>
        </p:nvSpPr>
        <p:spPr>
          <a:xfrm>
            <a:off x="4526280" y="3886200"/>
            <a:ext cx="3108960" cy="1188720"/>
          </a:xfrm>
          <a:prstGeom prst="roundRect">
            <a:avLst>
              <a:gd name="adj" fmla="val 7692"/>
            </a:avLst>
          </a:prstGeom>
          <a:solidFill>
            <a:srgbClr val="FFF7ED"/>
          </a:solidFill>
          <a:ln w="19050">
            <a:solidFill>
              <a:srgbClr val="F97316"/>
            </a:solidFill>
            <a:prstDash val="solid"/>
          </a:ln>
        </p:spPr>
      </p:sp>
      <p:sp>
        <p:nvSpPr>
          <p:cNvPr id="13" name="Text 10"/>
          <p:cNvSpPr txBox="1"/>
          <p:nvPr/>
        </p:nvSpPr>
        <p:spPr>
          <a:xfrm>
            <a:off x="4599432" y="3995928"/>
            <a:ext cx="2962656" cy="347472"/>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Trainer</a:t>
            </a:r>
            <a:endParaRPr lang="en-US" sz="1600" dirty="0"/>
          </a:p>
        </p:txBody>
      </p:sp>
      <p:sp>
        <p:nvSpPr>
          <p:cNvPr id="14" name="Text 11"/>
          <p:cNvSpPr txBox="1"/>
          <p:nvPr/>
        </p:nvSpPr>
        <p:spPr>
          <a:xfrm>
            <a:off x="4617720" y="4343400"/>
            <a:ext cx="2926080" cy="658368"/>
          </a:xfrm>
          <a:prstGeom prst="rect">
            <a:avLst/>
          </a:prstGeom>
          <a:noFill/>
          <a:ln/>
        </p:spPr>
        <p:txBody>
          <a:bodyPr wrap="square" rtlCol="0" anchor="t"/>
          <a:lstStyle/>
          <a:p>
            <a:pPr algn="ctr" indent="0" marL="0">
              <a:buNone/>
            </a:pPr>
            <a:r>
              <a:rPr lang="en-US" sz="1300" dirty="0">
                <a:solidFill>
                  <a:srgbClr val="64748B"/>
                </a:solidFill>
                <a:latin typeface="Calibri" pitchFamily="34" charset="0"/>
                <a:ea typeface="Calibri" pitchFamily="34" charset="-122"/>
                <a:cs typeface="Calibri" pitchFamily="34" charset="-120"/>
              </a:rPr>
              <a:t>inherits name and id, adds teach</a:t>
            </a:r>
            <a:endParaRPr lang="en-US" sz="1300" dirty="0"/>
          </a:p>
        </p:txBody>
      </p:sp>
      <p:sp>
        <p:nvSpPr>
          <p:cNvPr id="15" name="Shape 12"/>
          <p:cNvSpPr/>
          <p:nvPr/>
        </p:nvSpPr>
        <p:spPr>
          <a:xfrm>
            <a:off x="8321040" y="3886200"/>
            <a:ext cx="3108960" cy="1188720"/>
          </a:xfrm>
          <a:prstGeom prst="roundRect">
            <a:avLst>
              <a:gd name="adj" fmla="val 7692"/>
            </a:avLst>
          </a:prstGeom>
          <a:solidFill>
            <a:srgbClr val="F0FDF4"/>
          </a:solidFill>
          <a:ln w="19050">
            <a:solidFill>
              <a:srgbClr val="10B981"/>
            </a:solidFill>
            <a:prstDash val="solid"/>
          </a:ln>
        </p:spPr>
      </p:sp>
      <p:sp>
        <p:nvSpPr>
          <p:cNvPr id="16" name="Text 13"/>
          <p:cNvSpPr txBox="1"/>
          <p:nvPr/>
        </p:nvSpPr>
        <p:spPr>
          <a:xfrm>
            <a:off x="8394192" y="3995928"/>
            <a:ext cx="2962656" cy="347472"/>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Tester</a:t>
            </a:r>
            <a:endParaRPr lang="en-US" sz="1600" dirty="0"/>
          </a:p>
        </p:txBody>
      </p:sp>
      <p:sp>
        <p:nvSpPr>
          <p:cNvPr id="17" name="Text 14"/>
          <p:cNvSpPr txBox="1"/>
          <p:nvPr/>
        </p:nvSpPr>
        <p:spPr>
          <a:xfrm>
            <a:off x="8412480" y="4343400"/>
            <a:ext cx="2926080" cy="658368"/>
          </a:xfrm>
          <a:prstGeom prst="rect">
            <a:avLst/>
          </a:prstGeom>
          <a:noFill/>
          <a:ln/>
        </p:spPr>
        <p:txBody>
          <a:bodyPr wrap="square" rtlCol="0" anchor="t"/>
          <a:lstStyle/>
          <a:p>
            <a:pPr algn="ctr" indent="0" marL="0">
              <a:buNone/>
            </a:pPr>
            <a:r>
              <a:rPr lang="en-US" sz="1300" dirty="0">
                <a:solidFill>
                  <a:srgbClr val="64748B"/>
                </a:solidFill>
                <a:latin typeface="Calibri" pitchFamily="34" charset="0"/>
                <a:ea typeface="Calibri" pitchFamily="34" charset="-122"/>
                <a:cs typeface="Calibri" pitchFamily="34" charset="-120"/>
              </a:rPr>
              <a:t>inherits name and id, adds test</a:t>
            </a:r>
            <a:endParaRPr lang="en-US" sz="1300" dirty="0"/>
          </a:p>
        </p:txBody>
      </p:sp>
      <p:sp>
        <p:nvSpPr>
          <p:cNvPr id="18" name="Shape 15"/>
          <p:cNvSpPr/>
          <p:nvPr/>
        </p:nvSpPr>
        <p:spPr>
          <a:xfrm flipV="1">
            <a:off x="2286000" y="3419856"/>
            <a:ext cx="2743200" cy="438912"/>
          </a:xfrm>
          <a:prstGeom prst="line">
            <a:avLst/>
          </a:prstGeom>
          <a:noFill/>
          <a:ln w="31750">
            <a:solidFill>
              <a:srgbClr val="14B8A6"/>
            </a:solidFill>
            <a:prstDash val="solid"/>
            <a:tailEnd type="triangle"/>
          </a:ln>
        </p:spPr>
      </p:sp>
      <p:sp>
        <p:nvSpPr>
          <p:cNvPr id="19" name="Shape 16"/>
          <p:cNvSpPr/>
          <p:nvPr/>
        </p:nvSpPr>
        <p:spPr>
          <a:xfrm flipV="1">
            <a:off x="6080760" y="3419856"/>
            <a:ext cx="0" cy="438912"/>
          </a:xfrm>
          <a:prstGeom prst="line">
            <a:avLst/>
          </a:prstGeom>
          <a:noFill/>
          <a:ln w="31750">
            <a:solidFill>
              <a:srgbClr val="F97316"/>
            </a:solidFill>
            <a:prstDash val="solid"/>
            <a:tailEnd type="triangle"/>
          </a:ln>
        </p:spPr>
      </p:sp>
      <p:sp>
        <p:nvSpPr>
          <p:cNvPr id="20" name="Shape 17"/>
          <p:cNvSpPr/>
          <p:nvPr/>
        </p:nvSpPr>
        <p:spPr>
          <a:xfrm flipH="1" flipV="1">
            <a:off x="7132320" y="3419856"/>
            <a:ext cx="2743200" cy="438912"/>
          </a:xfrm>
          <a:prstGeom prst="line">
            <a:avLst/>
          </a:prstGeom>
          <a:noFill/>
          <a:ln w="31750">
            <a:solidFill>
              <a:srgbClr val="10B981"/>
            </a:solidFill>
            <a:prstDash val="solid"/>
            <a:tailEnd type="triangle"/>
          </a:ln>
        </p:spPr>
      </p:sp>
      <p:sp>
        <p:nvSpPr>
          <p:cNvPr id="21" name="Text 18"/>
          <p:cNvSpPr txBox="1"/>
          <p:nvPr/>
        </p:nvSpPr>
        <p:spPr>
          <a:xfrm>
            <a:off x="2926080" y="3246120"/>
            <a:ext cx="1463040" cy="274320"/>
          </a:xfrm>
          <a:prstGeom prst="rect">
            <a:avLst/>
          </a:prstGeom>
          <a:noFill/>
          <a:ln/>
        </p:spPr>
        <p:txBody>
          <a:bodyPr wrap="square" rtlCol="0" anchor="ctr"/>
          <a:lstStyle/>
          <a:p>
            <a:pPr algn="ctr" indent="0" marL="0">
              <a:buNone/>
            </a:pPr>
            <a:r>
              <a:rPr lang="en-US" sz="1200" b="1" dirty="0">
                <a:solidFill>
                  <a:srgbClr val="64748B"/>
                </a:solidFill>
                <a:latin typeface="Calibri" pitchFamily="34" charset="0"/>
                <a:ea typeface="Calibri" pitchFamily="34" charset="-122"/>
                <a:cs typeface="Calibri" pitchFamily="34" charset="-120"/>
              </a:rPr>
              <a:t>inherits from</a:t>
            </a:r>
            <a:endParaRPr lang="en-US" sz="1200" dirty="0"/>
          </a:p>
        </p:txBody>
      </p:sp>
      <p:sp>
        <p:nvSpPr>
          <p:cNvPr id="22" name="Text 19"/>
          <p:cNvSpPr txBox="1"/>
          <p:nvPr/>
        </p:nvSpPr>
        <p:spPr>
          <a:xfrm>
            <a:off x="731520" y="5166360"/>
            <a:ext cx="6400800" cy="320040"/>
          </a:xfrm>
          <a:prstGeom prst="rect">
            <a:avLst/>
          </a:prstGeom>
          <a:noFill/>
          <a:ln/>
        </p:spPr>
        <p:txBody>
          <a:bodyPr wrap="square"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Child classes: derived classes</a:t>
            </a:r>
            <a:endParaRPr lang="en-US" sz="1200" dirty="0"/>
          </a:p>
        </p:txBody>
      </p:sp>
      <p:sp>
        <p:nvSpPr>
          <p:cNvPr id="23" name="Shape 20"/>
          <p:cNvSpPr/>
          <p:nvPr/>
        </p:nvSpPr>
        <p:spPr>
          <a:xfrm>
            <a:off x="731520" y="5559552"/>
            <a:ext cx="10698480" cy="0"/>
          </a:xfrm>
          <a:prstGeom prst="line">
            <a:avLst/>
          </a:prstGeom>
          <a:noFill/>
          <a:ln w="12700">
            <a:solidFill>
              <a:srgbClr val="E2E8F0"/>
            </a:solidFill>
            <a:prstDash val="solid"/>
          </a:ln>
        </p:spPr>
      </p:sp>
      <p:sp>
        <p:nvSpPr>
          <p:cNvPr id="24" name="Shape 21"/>
          <p:cNvSpPr/>
          <p:nvPr/>
        </p:nvSpPr>
        <p:spPr>
          <a:xfrm>
            <a:off x="777240" y="5650992"/>
            <a:ext cx="475488" cy="475488"/>
          </a:xfrm>
          <a:prstGeom prst="ellipse">
            <a:avLst/>
          </a:prstGeom>
          <a:solidFill>
            <a:srgbClr val="FCE7F3"/>
          </a:solidFill>
          <a:ln w="19050">
            <a:solidFill>
              <a:srgbClr val="EC4899"/>
            </a:solidFill>
            <a:prstDash val="solid"/>
          </a:ln>
        </p:spPr>
      </p:sp>
      <p:pic>
        <p:nvPicPr>
          <p:cNvPr id="25" name="Image 1" descr="assets/icon2_user_pink.png">    </p:cNvPr>
          <p:cNvPicPr>
            <a:picLocks noChangeAspect="1"/>
          </p:cNvPicPr>
          <p:nvPr/>
        </p:nvPicPr>
        <p:blipFill>
          <a:blip r:embed="rId2"/>
          <a:stretch>
            <a:fillRect/>
          </a:stretch>
        </p:blipFill>
        <p:spPr>
          <a:xfrm>
            <a:off x="872338" y="5746090"/>
            <a:ext cx="285293" cy="285293"/>
          </a:xfrm>
          <a:prstGeom prst="rect">
            <a:avLst/>
          </a:prstGeom>
        </p:spPr>
      </p:pic>
      <p:sp>
        <p:nvSpPr>
          <p:cNvPr id="26" name="Shape 22"/>
          <p:cNvSpPr/>
          <p:nvPr/>
        </p:nvSpPr>
        <p:spPr>
          <a:xfrm rot="2700000">
            <a:off x="1508760" y="5801868"/>
            <a:ext cx="182880" cy="182880"/>
          </a:xfrm>
          <a:prstGeom prst="rect">
            <a:avLst/>
          </a:prstGeom>
          <a:solidFill>
            <a:srgbClr val="FDF2F8"/>
          </a:solidFill>
          <a:ln w="15875">
            <a:solidFill>
              <a:srgbClr val="EC4899"/>
            </a:solidFill>
            <a:prstDash val="solid"/>
          </a:ln>
        </p:spPr>
      </p:sp>
      <p:sp>
        <p:nvSpPr>
          <p:cNvPr id="27" name="Shape 23"/>
          <p:cNvSpPr/>
          <p:nvPr/>
        </p:nvSpPr>
        <p:spPr>
          <a:xfrm>
            <a:off x="1600200" y="5641848"/>
            <a:ext cx="9829800" cy="502920"/>
          </a:xfrm>
          <a:prstGeom prst="roundRect">
            <a:avLst>
              <a:gd name="adj" fmla="val 21818"/>
            </a:avLst>
          </a:prstGeom>
          <a:solidFill>
            <a:srgbClr val="FDF2F8"/>
          </a:solidFill>
          <a:ln w="15875">
            <a:solidFill>
              <a:srgbClr val="EC4899"/>
            </a:solidFill>
            <a:prstDash val="solid"/>
          </a:ln>
        </p:spPr>
      </p:sp>
      <p:sp>
        <p:nvSpPr>
          <p:cNvPr id="28" name="Text 24"/>
          <p:cNvSpPr txBox="1"/>
          <p:nvPr/>
        </p:nvSpPr>
        <p:spPr>
          <a:xfrm>
            <a:off x="1783080" y="5641848"/>
            <a:ext cx="9464040" cy="502920"/>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Ravi says  </a:t>
            </a:r>
            <a:pPr indent="0" marL="0">
              <a:buNone/>
            </a:pPr>
            <a:r>
              <a:rPr lang="en-US" sz="1400" dirty="0">
                <a:solidFill>
                  <a:srgbClr val="1E293B"/>
                </a:solidFill>
                <a:latin typeface="Calibri" pitchFamily="34" charset="0"/>
                <a:ea typeface="Calibri" pitchFamily="34" charset="-122"/>
                <a:cs typeface="Calibri" pitchFamily="34" charset="-120"/>
              </a:rPr>
              <a:t>Fix or improve the parent and every child gets the change.</a:t>
            </a:r>
            <a:endParaRPr lang="en-US" sz="1400" dirty="0"/>
          </a:p>
        </p:txBody>
      </p:sp>
      <p:sp>
        <p:nvSpPr>
          <p:cNvPr id="29" name="Text 25"/>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OOP Fundamentals and Inheritance  ·  Week 3  ·  Day 12</a:t>
            </a:r>
            <a:endParaRPr lang="en-US" sz="1000" dirty="0"/>
          </a:p>
        </p:txBody>
      </p:sp>
      <p:sp>
        <p:nvSpPr>
          <p:cNvPr id="30" name="Text 26"/>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AFA"/>
        </a:solidFill>
      </p:bgPr>
    </p:bg>
    <p:spTree>
      <p:nvGrpSpPr>
        <p:cNvPr id="1" name=""/>
        <p:cNvGrpSpPr/>
        <p:nvPr/>
      </p:nvGrpSpPr>
      <p:grpSpPr>
        <a:xfrm>
          <a:off x="0" y="0"/>
          <a:ext cx="0" cy="0"/>
          <a:chOff x="0" y="0"/>
          <a:chExt cx="0" cy="0"/>
        </a:xfrm>
      </p:grpSpPr>
      <p:pic>
        <p:nvPicPr>
          <p:cNvPr id="2" name="Image 0" descr="assets/intellea_logo_cropped.png">    </p:cNvPr>
          <p:cNvPicPr>
            <a:picLocks noChangeAspect="1"/>
          </p:cNvPicPr>
          <p:nvPr/>
        </p:nvPicPr>
        <p:blipFill>
          <a:blip r:embed="rId1"/>
          <a:stretch>
            <a:fillRect/>
          </a:stretch>
        </p:blipFill>
        <p:spPr>
          <a:xfrm>
            <a:off x="457200" y="320040"/>
            <a:ext cx="1371600" cy="454323"/>
          </a:xfrm>
          <a:prstGeom prst="rect">
            <a:avLst/>
          </a:prstGeom>
        </p:spPr>
      </p:pic>
      <p:sp>
        <p:nvSpPr>
          <p:cNvPr id="3" name="Text 0"/>
          <p:cNvSpPr txBox="1"/>
          <p:nvPr/>
        </p:nvSpPr>
        <p:spPr>
          <a:xfrm>
            <a:off x="457200" y="96012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FINDING A METHOD</a:t>
            </a:r>
            <a:endParaRPr lang="en-US" sz="1400" dirty="0"/>
          </a:p>
        </p:txBody>
      </p:sp>
      <p:sp>
        <p:nvSpPr>
          <p:cNvPr id="4" name="Text 1"/>
          <p:cNvSpPr txBox="1"/>
          <p:nvPr/>
        </p:nvSpPr>
        <p:spPr>
          <a:xfrm>
            <a:off x="457200" y="1280160"/>
            <a:ext cx="11155680" cy="822960"/>
          </a:xfrm>
          <a:prstGeom prst="rect">
            <a:avLst/>
          </a:prstGeom>
          <a:noFill/>
          <a:ln/>
        </p:spPr>
        <p:txBody>
          <a:bodyPr wrap="square"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Child First, Then Parent</a:t>
            </a:r>
            <a:endParaRPr lang="en-US" sz="3000" dirty="0"/>
          </a:p>
        </p:txBody>
      </p:sp>
      <p:sp>
        <p:nvSpPr>
          <p:cNvPr id="5" name="rc_vis"/>
          <p:cNvSpPr/>
          <p:nvPr/>
        </p:nvSpPr>
        <p:spPr>
          <a:xfrm>
            <a:off x="457200" y="2240280"/>
            <a:ext cx="11247120" cy="4023360"/>
          </a:xfrm>
          <a:prstGeom prst="roundRect">
            <a:avLst>
              <a:gd name="adj" fmla="val 2273"/>
            </a:avLst>
          </a:prstGeom>
          <a:solidFill>
            <a:srgbClr val="F8FAFC"/>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Shape 3"/>
          <p:cNvSpPr/>
          <p:nvPr/>
        </p:nvSpPr>
        <p:spPr>
          <a:xfrm>
            <a:off x="731520" y="2377440"/>
            <a:ext cx="2743200" cy="566928"/>
          </a:xfrm>
          <a:prstGeom prst="flowChartTerminator">
            <a:avLst/>
          </a:prstGeom>
          <a:solidFill>
            <a:srgbClr val="F5F3FF"/>
          </a:solidFill>
          <a:ln w="22225">
            <a:solidFill>
              <a:srgbClr val="8B5CF6"/>
            </a:solidFill>
            <a:prstDash val="solid"/>
          </a:ln>
        </p:spPr>
      </p:sp>
      <p:sp>
        <p:nvSpPr>
          <p:cNvPr id="7" name="Text 4"/>
          <p:cNvSpPr txBox="1"/>
          <p:nvPr/>
        </p:nvSpPr>
        <p:spPr>
          <a:xfrm>
            <a:off x="804672" y="2377440"/>
            <a:ext cx="2596896" cy="566928"/>
          </a:xfrm>
          <a:prstGeom prst="rect">
            <a:avLst/>
          </a:prstGeom>
          <a:noFill/>
          <a:ln/>
        </p:spPr>
        <p:txBody>
          <a:bodyPr wrap="square" rtlCol="0" anchor="ctr"/>
          <a:lstStyle/>
          <a:p>
            <a:pPr algn="ctr" indent="0" marL="0">
              <a:buNone/>
            </a:pPr>
            <a:r>
              <a:rPr lang="en-US" sz="1350" b="1" dirty="0">
                <a:solidFill>
                  <a:srgbClr val="1E293B"/>
                </a:solidFill>
                <a:latin typeface="Calibri" pitchFamily="34" charset="0"/>
                <a:ea typeface="Calibri" pitchFamily="34" charset="-122"/>
                <a:cs typeface="Calibri" pitchFamily="34" charset="-120"/>
              </a:rPr>
              <a:t>dev1 is asked to display</a:t>
            </a:r>
            <a:endParaRPr lang="en-US" sz="1350" dirty="0"/>
          </a:p>
        </p:txBody>
      </p:sp>
      <p:sp>
        <p:nvSpPr>
          <p:cNvPr id="8" name="Shape 5"/>
          <p:cNvSpPr/>
          <p:nvPr/>
        </p:nvSpPr>
        <p:spPr>
          <a:xfrm>
            <a:off x="2103120" y="2971800"/>
            <a:ext cx="0" cy="228600"/>
          </a:xfrm>
          <a:prstGeom prst="line">
            <a:avLst/>
          </a:prstGeom>
          <a:noFill/>
          <a:ln w="31750">
            <a:solidFill>
              <a:srgbClr val="8B5CF6"/>
            </a:solidFill>
            <a:prstDash val="solid"/>
            <a:tailEnd type="triangle"/>
          </a:ln>
        </p:spPr>
      </p:sp>
      <p:sp>
        <p:nvSpPr>
          <p:cNvPr id="9" name="Shape 6"/>
          <p:cNvSpPr/>
          <p:nvPr/>
        </p:nvSpPr>
        <p:spPr>
          <a:xfrm>
            <a:off x="731520" y="3227832"/>
            <a:ext cx="2743200" cy="1234440"/>
          </a:xfrm>
          <a:prstGeom prst="flowChartDecision">
            <a:avLst/>
          </a:prstGeom>
          <a:solidFill>
            <a:srgbClr val="FFF7ED"/>
          </a:solidFill>
          <a:ln w="22225">
            <a:solidFill>
              <a:srgbClr val="F97316"/>
            </a:solidFill>
            <a:prstDash val="solid"/>
          </a:ln>
        </p:spPr>
      </p:sp>
      <p:sp>
        <p:nvSpPr>
          <p:cNvPr id="10" name="Text 7"/>
          <p:cNvSpPr txBox="1"/>
          <p:nvPr/>
        </p:nvSpPr>
        <p:spPr>
          <a:xfrm>
            <a:off x="1280160" y="3227832"/>
            <a:ext cx="1645920" cy="1234440"/>
          </a:xfrm>
          <a:prstGeom prst="rect">
            <a:avLst/>
          </a:prstGeom>
          <a:noFill/>
          <a:ln/>
        </p:spPr>
        <p:txBody>
          <a:bodyPr wrap="square" rtlCol="0" anchor="ctr"/>
          <a:lstStyle/>
          <a:p>
            <a:pPr algn="ctr" indent="0" marL="0">
              <a:buNone/>
            </a:pPr>
            <a:r>
              <a:rPr lang="en-US" sz="1350" b="1" dirty="0">
                <a:solidFill>
                  <a:srgbClr val="1E293B"/>
                </a:solidFill>
                <a:latin typeface="Calibri" pitchFamily="34" charset="0"/>
                <a:ea typeface="Calibri" pitchFamily="34" charset="-122"/>
                <a:cs typeface="Calibri" pitchFamily="34" charset="-120"/>
              </a:rPr>
              <a:t>Does Developer have it?</a:t>
            </a:r>
            <a:endParaRPr lang="en-US" sz="1350" dirty="0"/>
          </a:p>
        </p:txBody>
      </p:sp>
      <p:sp>
        <p:nvSpPr>
          <p:cNvPr id="11" name="Shape 8"/>
          <p:cNvSpPr/>
          <p:nvPr/>
        </p:nvSpPr>
        <p:spPr>
          <a:xfrm>
            <a:off x="3502152" y="3840480"/>
            <a:ext cx="676656" cy="0"/>
          </a:xfrm>
          <a:prstGeom prst="line">
            <a:avLst/>
          </a:prstGeom>
          <a:noFill/>
          <a:ln w="31750">
            <a:solidFill>
              <a:srgbClr val="10B981"/>
            </a:solidFill>
            <a:prstDash val="solid"/>
            <a:tailEnd type="triangle"/>
          </a:ln>
        </p:spPr>
      </p:sp>
      <p:sp>
        <p:nvSpPr>
          <p:cNvPr id="12" name="Text 9"/>
          <p:cNvSpPr txBox="1"/>
          <p:nvPr/>
        </p:nvSpPr>
        <p:spPr>
          <a:xfrm>
            <a:off x="3474720" y="3474720"/>
            <a:ext cx="731520" cy="274320"/>
          </a:xfrm>
          <a:prstGeom prst="rect">
            <a:avLst/>
          </a:prstGeom>
          <a:noFill/>
          <a:ln/>
        </p:spPr>
        <p:txBody>
          <a:bodyPr wrap="square" rtlCol="0" anchor="ctr"/>
          <a:lstStyle/>
          <a:p>
            <a:pPr algn="ctr" indent="0" marL="0">
              <a:buNone/>
            </a:pPr>
            <a:r>
              <a:rPr lang="en-US" sz="1200" b="1" dirty="0">
                <a:solidFill>
                  <a:srgbClr val="10B981"/>
                </a:solidFill>
                <a:latin typeface="Calibri" pitchFamily="34" charset="0"/>
                <a:ea typeface="Calibri" pitchFamily="34" charset="-122"/>
                <a:cs typeface="Calibri" pitchFamily="34" charset="-120"/>
              </a:rPr>
              <a:t>Yes</a:t>
            </a:r>
            <a:endParaRPr lang="en-US" sz="1200" dirty="0"/>
          </a:p>
        </p:txBody>
      </p:sp>
      <p:sp>
        <p:nvSpPr>
          <p:cNvPr id="13" name="Shape 10"/>
          <p:cNvSpPr/>
          <p:nvPr/>
        </p:nvSpPr>
        <p:spPr>
          <a:xfrm>
            <a:off x="4206240" y="3566160"/>
            <a:ext cx="3108960" cy="566928"/>
          </a:xfrm>
          <a:prstGeom prst="flowChartProcess">
            <a:avLst/>
          </a:prstGeom>
          <a:solidFill>
            <a:srgbClr val="F0FDF4"/>
          </a:solidFill>
          <a:ln w="22225">
            <a:solidFill>
              <a:srgbClr val="10B981"/>
            </a:solidFill>
            <a:prstDash val="solid"/>
          </a:ln>
        </p:spPr>
      </p:sp>
      <p:sp>
        <p:nvSpPr>
          <p:cNvPr id="14" name="Text 11"/>
          <p:cNvSpPr txBox="1"/>
          <p:nvPr/>
        </p:nvSpPr>
        <p:spPr>
          <a:xfrm>
            <a:off x="4279392" y="3566160"/>
            <a:ext cx="2962656" cy="566928"/>
          </a:xfrm>
          <a:prstGeom prst="rect">
            <a:avLst/>
          </a:prstGeom>
          <a:noFill/>
          <a:ln/>
        </p:spPr>
        <p:txBody>
          <a:bodyPr wrap="square" rtlCol="0" anchor="ctr"/>
          <a:lstStyle/>
          <a:p>
            <a:pPr algn="ctr" indent="0" marL="0">
              <a:buNone/>
            </a:pPr>
            <a:r>
              <a:rPr lang="en-US" sz="1350" b="1" dirty="0">
                <a:solidFill>
                  <a:srgbClr val="1E293B"/>
                </a:solidFill>
                <a:latin typeface="Calibri" pitchFamily="34" charset="0"/>
                <a:ea typeface="Calibri" pitchFamily="34" charset="-122"/>
                <a:cs typeface="Calibri" pitchFamily="34" charset="-120"/>
              </a:rPr>
              <a:t>Run the child's version</a:t>
            </a:r>
            <a:endParaRPr lang="en-US" sz="1350" dirty="0"/>
          </a:p>
        </p:txBody>
      </p:sp>
      <p:sp>
        <p:nvSpPr>
          <p:cNvPr id="15" name="Shape 12"/>
          <p:cNvSpPr/>
          <p:nvPr/>
        </p:nvSpPr>
        <p:spPr>
          <a:xfrm>
            <a:off x="2103120" y="4480560"/>
            <a:ext cx="0" cy="274320"/>
          </a:xfrm>
          <a:prstGeom prst="line">
            <a:avLst/>
          </a:prstGeom>
          <a:noFill/>
          <a:ln w="31750">
            <a:solidFill>
              <a:srgbClr val="F97316"/>
            </a:solidFill>
            <a:prstDash val="solid"/>
            <a:tailEnd type="triangle"/>
          </a:ln>
        </p:spPr>
      </p:sp>
      <p:sp>
        <p:nvSpPr>
          <p:cNvPr id="16" name="Text 13"/>
          <p:cNvSpPr txBox="1"/>
          <p:nvPr/>
        </p:nvSpPr>
        <p:spPr>
          <a:xfrm>
            <a:off x="2194560" y="4462272"/>
            <a:ext cx="548640" cy="274320"/>
          </a:xfrm>
          <a:prstGeom prst="rect">
            <a:avLst/>
          </a:prstGeom>
          <a:noFill/>
          <a:ln/>
        </p:spPr>
        <p:txBody>
          <a:bodyPr wrap="square" rtlCol="0" anchor="ctr"/>
          <a:lstStyle/>
          <a:p>
            <a:pPr algn="ctr" indent="0" marL="0">
              <a:buNone/>
            </a:pPr>
            <a:r>
              <a:rPr lang="en-US" sz="1200" b="1" dirty="0">
                <a:solidFill>
                  <a:srgbClr val="F97316"/>
                </a:solidFill>
                <a:latin typeface="Calibri" pitchFamily="34" charset="0"/>
                <a:ea typeface="Calibri" pitchFamily="34" charset="-122"/>
                <a:cs typeface="Calibri" pitchFamily="34" charset="-120"/>
              </a:rPr>
              <a:t>No</a:t>
            </a:r>
            <a:endParaRPr lang="en-US" sz="1200" dirty="0"/>
          </a:p>
        </p:txBody>
      </p:sp>
      <p:sp>
        <p:nvSpPr>
          <p:cNvPr id="17" name="Shape 14"/>
          <p:cNvSpPr/>
          <p:nvPr/>
        </p:nvSpPr>
        <p:spPr>
          <a:xfrm>
            <a:off x="731520" y="4773168"/>
            <a:ext cx="2743200" cy="640080"/>
          </a:xfrm>
          <a:prstGeom prst="flowChartProcess">
            <a:avLst/>
          </a:prstGeom>
          <a:solidFill>
            <a:srgbClr val="F0FDFA"/>
          </a:solidFill>
          <a:ln w="22225">
            <a:solidFill>
              <a:srgbClr val="14B8A6"/>
            </a:solidFill>
            <a:prstDash val="solid"/>
          </a:ln>
        </p:spPr>
      </p:sp>
      <p:sp>
        <p:nvSpPr>
          <p:cNvPr id="18" name="Text 15"/>
          <p:cNvSpPr txBox="1"/>
          <p:nvPr/>
        </p:nvSpPr>
        <p:spPr>
          <a:xfrm>
            <a:off x="804672" y="4773168"/>
            <a:ext cx="2596896" cy="640080"/>
          </a:xfrm>
          <a:prstGeom prst="rect">
            <a:avLst/>
          </a:prstGeom>
          <a:noFill/>
          <a:ln/>
        </p:spPr>
        <p:txBody>
          <a:bodyPr wrap="square" rtlCol="0" anchor="ctr"/>
          <a:lstStyle/>
          <a:p>
            <a:pPr algn="ctr" indent="0" marL="0">
              <a:buNone/>
            </a:pPr>
            <a:r>
              <a:rPr lang="en-US" sz="1300" b="1" dirty="0">
                <a:solidFill>
                  <a:srgbClr val="1E293B"/>
                </a:solidFill>
                <a:latin typeface="Calibri" pitchFamily="34" charset="0"/>
                <a:ea typeface="Calibri" pitchFamily="34" charset="-122"/>
                <a:cs typeface="Calibri" pitchFamily="34" charset="-120"/>
              </a:rPr>
              <a:t>Look in the parent, Employee</a:t>
            </a:r>
            <a:endParaRPr lang="en-US" sz="1300" dirty="0"/>
          </a:p>
        </p:txBody>
      </p:sp>
      <p:sp>
        <p:nvSpPr>
          <p:cNvPr id="19" name="Shape 16"/>
          <p:cNvSpPr/>
          <p:nvPr/>
        </p:nvSpPr>
        <p:spPr>
          <a:xfrm>
            <a:off x="3502152" y="5093208"/>
            <a:ext cx="676656" cy="0"/>
          </a:xfrm>
          <a:prstGeom prst="line">
            <a:avLst/>
          </a:prstGeom>
          <a:noFill/>
          <a:ln w="31750">
            <a:solidFill>
              <a:srgbClr val="14B8A6"/>
            </a:solidFill>
            <a:prstDash val="solid"/>
            <a:tailEnd type="triangle"/>
          </a:ln>
        </p:spPr>
      </p:sp>
      <p:sp>
        <p:nvSpPr>
          <p:cNvPr id="20" name="Shape 17"/>
          <p:cNvSpPr/>
          <p:nvPr/>
        </p:nvSpPr>
        <p:spPr>
          <a:xfrm>
            <a:off x="4206240" y="4800600"/>
            <a:ext cx="3108960" cy="566928"/>
          </a:xfrm>
          <a:prstGeom prst="flowChartProcess">
            <a:avLst/>
          </a:prstGeom>
          <a:solidFill>
            <a:srgbClr val="F0FDF4"/>
          </a:solidFill>
          <a:ln w="22225">
            <a:solidFill>
              <a:srgbClr val="10B981"/>
            </a:solidFill>
            <a:prstDash val="solid"/>
          </a:ln>
        </p:spPr>
      </p:sp>
      <p:sp>
        <p:nvSpPr>
          <p:cNvPr id="21" name="Text 18"/>
          <p:cNvSpPr txBox="1"/>
          <p:nvPr/>
        </p:nvSpPr>
        <p:spPr>
          <a:xfrm>
            <a:off x="4279392" y="4800600"/>
            <a:ext cx="2962656" cy="566928"/>
          </a:xfrm>
          <a:prstGeom prst="rect">
            <a:avLst/>
          </a:prstGeom>
          <a:noFill/>
          <a:ln/>
        </p:spPr>
        <p:txBody>
          <a:bodyPr wrap="square" rtlCol="0" anchor="ctr"/>
          <a:lstStyle/>
          <a:p>
            <a:pPr algn="ctr" indent="0" marL="0">
              <a:buNone/>
            </a:pPr>
            <a:r>
              <a:rPr lang="en-US" sz="1350" b="1" dirty="0">
                <a:solidFill>
                  <a:srgbClr val="1E293B"/>
                </a:solidFill>
                <a:latin typeface="Calibri" pitchFamily="34" charset="0"/>
                <a:ea typeface="Calibri" pitchFamily="34" charset="-122"/>
                <a:cs typeface="Calibri" pitchFamily="34" charset="-120"/>
              </a:rPr>
              <a:t>Found it, so run it</a:t>
            </a:r>
            <a:endParaRPr lang="en-US" sz="1350" dirty="0"/>
          </a:p>
        </p:txBody>
      </p:sp>
      <p:sp>
        <p:nvSpPr>
          <p:cNvPr id="22" name="Shape 19"/>
          <p:cNvSpPr/>
          <p:nvPr/>
        </p:nvSpPr>
        <p:spPr>
          <a:xfrm>
            <a:off x="7863840" y="2743200"/>
            <a:ext cx="3566160" cy="1737360"/>
          </a:xfrm>
          <a:prstGeom prst="roundRect">
            <a:avLst>
              <a:gd name="adj" fmla="val 5263"/>
            </a:avLst>
          </a:prstGeom>
          <a:solidFill>
            <a:srgbClr val="F5F3FF"/>
          </a:solidFill>
          <a:ln w="19050">
            <a:solidFill>
              <a:srgbClr val="8B5CF6"/>
            </a:solidFill>
            <a:prstDash val="solid"/>
          </a:ln>
        </p:spPr>
      </p:sp>
      <p:sp>
        <p:nvSpPr>
          <p:cNvPr id="23" name="Text 20"/>
          <p:cNvSpPr txBox="1"/>
          <p:nvPr/>
        </p:nvSpPr>
        <p:spPr>
          <a:xfrm>
            <a:off x="7936992" y="2852928"/>
            <a:ext cx="3419856" cy="347472"/>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Child first, then parent</a:t>
            </a:r>
            <a:endParaRPr lang="en-US" sz="1600" dirty="0"/>
          </a:p>
        </p:txBody>
      </p:sp>
      <p:sp>
        <p:nvSpPr>
          <p:cNvPr id="24" name="Text 21"/>
          <p:cNvSpPr txBox="1"/>
          <p:nvPr/>
        </p:nvSpPr>
        <p:spPr>
          <a:xfrm>
            <a:off x="7955280" y="3200400"/>
            <a:ext cx="3383280" cy="1207008"/>
          </a:xfrm>
          <a:prstGeom prst="rect">
            <a:avLst/>
          </a:prstGeom>
          <a:noFill/>
          <a:ln/>
        </p:spPr>
        <p:txBody>
          <a:bodyPr wrap="square" rtlCol="0" anchor="t"/>
          <a:lstStyle/>
          <a:p>
            <a:pPr algn="ctr" indent="0" marL="0">
              <a:buNone/>
            </a:pPr>
            <a:r>
              <a:rPr lang="en-US" sz="1350" dirty="0">
                <a:solidFill>
                  <a:srgbClr val="64748B"/>
                </a:solidFill>
                <a:latin typeface="Calibri" pitchFamily="34" charset="0"/>
                <a:ea typeface="Calibri" pitchFamily="34" charset="-122"/>
                <a:cs typeface="Calibri" pitchFamily="34" charset="-120"/>
              </a:rPr>
              <a:t>Python searches the child class first. If it is not there, it moves up to the parent.</a:t>
            </a:r>
            <a:endParaRPr lang="en-US" sz="1350" dirty="0"/>
          </a:p>
        </p:txBody>
      </p:sp>
      <p:sp>
        <p:nvSpPr>
          <p:cNvPr id="25" name="Shape 22"/>
          <p:cNvSpPr/>
          <p:nvPr/>
        </p:nvSpPr>
        <p:spPr>
          <a:xfrm>
            <a:off x="731520" y="5559552"/>
            <a:ext cx="10698480" cy="0"/>
          </a:xfrm>
          <a:prstGeom prst="line">
            <a:avLst/>
          </a:prstGeom>
          <a:noFill/>
          <a:ln w="12700">
            <a:solidFill>
              <a:srgbClr val="E2E8F0"/>
            </a:solidFill>
            <a:prstDash val="solid"/>
          </a:ln>
        </p:spPr>
      </p:sp>
      <p:sp>
        <p:nvSpPr>
          <p:cNvPr id="26" name="Shape 23"/>
          <p:cNvSpPr/>
          <p:nvPr/>
        </p:nvSpPr>
        <p:spPr>
          <a:xfrm>
            <a:off x="777240" y="5650992"/>
            <a:ext cx="475488" cy="475488"/>
          </a:xfrm>
          <a:prstGeom prst="ellipse">
            <a:avLst/>
          </a:prstGeom>
          <a:solidFill>
            <a:srgbClr val="FCE7F3"/>
          </a:solidFill>
          <a:ln w="19050">
            <a:solidFill>
              <a:srgbClr val="EC4899"/>
            </a:solidFill>
            <a:prstDash val="solid"/>
          </a:ln>
        </p:spPr>
      </p:sp>
      <p:pic>
        <p:nvPicPr>
          <p:cNvPr id="27" name="Image 1" descr="assets/icon2_user_pink.png">    </p:cNvPr>
          <p:cNvPicPr>
            <a:picLocks noChangeAspect="1"/>
          </p:cNvPicPr>
          <p:nvPr/>
        </p:nvPicPr>
        <p:blipFill>
          <a:blip r:embed="rId2"/>
          <a:stretch>
            <a:fillRect/>
          </a:stretch>
        </p:blipFill>
        <p:spPr>
          <a:xfrm>
            <a:off x="872338" y="5746090"/>
            <a:ext cx="285293" cy="285293"/>
          </a:xfrm>
          <a:prstGeom prst="rect">
            <a:avLst/>
          </a:prstGeom>
        </p:spPr>
      </p:pic>
      <p:sp>
        <p:nvSpPr>
          <p:cNvPr id="28" name="Shape 24"/>
          <p:cNvSpPr/>
          <p:nvPr/>
        </p:nvSpPr>
        <p:spPr>
          <a:xfrm rot="2700000">
            <a:off x="1508760" y="5801868"/>
            <a:ext cx="182880" cy="182880"/>
          </a:xfrm>
          <a:prstGeom prst="rect">
            <a:avLst/>
          </a:prstGeom>
          <a:solidFill>
            <a:srgbClr val="FDF2F8"/>
          </a:solidFill>
          <a:ln w="15875">
            <a:solidFill>
              <a:srgbClr val="EC4899"/>
            </a:solidFill>
            <a:prstDash val="solid"/>
          </a:ln>
        </p:spPr>
      </p:sp>
      <p:sp>
        <p:nvSpPr>
          <p:cNvPr id="29" name="Shape 25"/>
          <p:cNvSpPr/>
          <p:nvPr/>
        </p:nvSpPr>
        <p:spPr>
          <a:xfrm>
            <a:off x="1600200" y="5641848"/>
            <a:ext cx="9829800" cy="502920"/>
          </a:xfrm>
          <a:prstGeom prst="roundRect">
            <a:avLst>
              <a:gd name="adj" fmla="val 21818"/>
            </a:avLst>
          </a:prstGeom>
          <a:solidFill>
            <a:srgbClr val="FDF2F8"/>
          </a:solidFill>
          <a:ln w="15875">
            <a:solidFill>
              <a:srgbClr val="EC4899"/>
            </a:solidFill>
            <a:prstDash val="solid"/>
          </a:ln>
        </p:spPr>
      </p:sp>
      <p:sp>
        <p:nvSpPr>
          <p:cNvPr id="30" name="Text 26"/>
          <p:cNvSpPr txBox="1"/>
          <p:nvPr/>
        </p:nvSpPr>
        <p:spPr>
          <a:xfrm>
            <a:off x="1783080" y="5641848"/>
            <a:ext cx="9464040" cy="502920"/>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Ravi says  </a:t>
            </a:r>
            <a:pPr indent="0" marL="0">
              <a:buNone/>
            </a:pPr>
            <a:r>
              <a:rPr lang="en-US" sz="1400" dirty="0">
                <a:solidFill>
                  <a:srgbClr val="1E293B"/>
                </a:solidFill>
                <a:latin typeface="Calibri" pitchFamily="34" charset="0"/>
                <a:ea typeface="Calibri" pitchFamily="34" charset="-122"/>
                <a:cs typeface="Calibri" pitchFamily="34" charset="-120"/>
              </a:rPr>
              <a:t>That is why a child object can use every method its parent has.</a:t>
            </a:r>
            <a:endParaRPr lang="en-US" sz="1400" dirty="0"/>
          </a:p>
        </p:txBody>
      </p:sp>
      <p:sp>
        <p:nvSpPr>
          <p:cNvPr id="31" name="Text 27"/>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OOP Fundamentals and Inheritance  ·  Week 3  ·  Day 12</a:t>
            </a:r>
            <a:endParaRPr lang="en-US" sz="1000" dirty="0"/>
          </a:p>
        </p:txBody>
      </p:sp>
      <p:sp>
        <p:nvSpPr>
          <p:cNvPr id="32" name="Text 28"/>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72A"/>
        </a:solidFill>
      </p:bgPr>
    </p:bg>
    <p:spTree>
      <p:nvGrpSpPr>
        <p:cNvPr id="1" name=""/>
        <p:cNvGrpSpPr/>
        <p:nvPr/>
      </p:nvGrpSpPr>
      <p:grpSpPr>
        <a:xfrm>
          <a:off x="0" y="0"/>
          <a:ext cx="0" cy="0"/>
          <a:chOff x="0" y="0"/>
          <a:chExt cx="0" cy="0"/>
        </a:xfrm>
      </p:grpSpPr>
      <p:pic>
        <p:nvPicPr>
          <p:cNvPr id="2" name="Image 0" descr="assets/bloom_purple.png">    </p:cNvPr>
          <p:cNvPicPr>
            <a:picLocks noChangeAspect="1"/>
          </p:cNvPicPr>
          <p:nvPr/>
        </p:nvPicPr>
        <p:blipFill>
          <a:blip r:embed="rId1"/>
          <a:stretch>
            <a:fillRect/>
          </a:stretch>
        </p:blipFill>
        <p:spPr>
          <a:xfrm>
            <a:off x="-1828800" y="-1828800"/>
            <a:ext cx="6858000" cy="6858000"/>
          </a:xfrm>
          <a:prstGeom prst="rect">
            <a:avLst/>
          </a:prstGeom>
        </p:spPr>
      </p:pic>
      <p:pic>
        <p:nvPicPr>
          <p:cNvPr id="3" name="Image 1" descr="assets/bloom_pink.png">    </p:cNvPr>
          <p:cNvPicPr>
            <a:picLocks noChangeAspect="1"/>
          </p:cNvPicPr>
          <p:nvPr/>
        </p:nvPicPr>
        <p:blipFill>
          <a:blip r:embed="rId2"/>
          <a:stretch>
            <a:fillRect/>
          </a:stretch>
        </p:blipFill>
        <p:spPr>
          <a:xfrm>
            <a:off x="7772400" y="2286000"/>
            <a:ext cx="6400800" cy="6400800"/>
          </a:xfrm>
          <a:prstGeom prst="rect">
            <a:avLst/>
          </a:prstGeom>
        </p:spPr>
      </p:pic>
      <p:sp>
        <p:nvSpPr>
          <p:cNvPr id="4" name="Text 0"/>
          <p:cNvSpPr txBox="1"/>
          <p:nvPr/>
        </p:nvSpPr>
        <p:spPr>
          <a:xfrm>
            <a:off x="457200" y="320040"/>
            <a:ext cx="2286000" cy="45720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intellea</a:t>
            </a:r>
            <a:endParaRPr lang="en-US" sz="2200" dirty="0"/>
          </a:p>
        </p:txBody>
      </p:sp>
      <p:sp>
        <p:nvSpPr>
          <p:cNvPr id="5" name="Text 1"/>
          <p:cNvSpPr txBox="1"/>
          <p:nvPr/>
        </p:nvSpPr>
        <p:spPr>
          <a:xfrm>
            <a:off x="457200" y="109728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TOPIC 8</a:t>
            </a:r>
            <a:endParaRPr lang="en-US" sz="1400" dirty="0"/>
          </a:p>
        </p:txBody>
      </p:sp>
      <p:sp>
        <p:nvSpPr>
          <p:cNvPr id="6" name="Text 2"/>
          <p:cNvSpPr txBox="1"/>
          <p:nvPr/>
        </p:nvSpPr>
        <p:spPr>
          <a:xfrm>
            <a:off x="457200" y="1417320"/>
            <a:ext cx="10972800" cy="7315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The super() Method</a:t>
            </a:r>
            <a:endParaRPr lang="en-US" sz="3000" dirty="0"/>
          </a:p>
        </p:txBody>
      </p:sp>
      <p:sp>
        <p:nvSpPr>
          <p:cNvPr id="7" name="rc_topic"/>
          <p:cNvSpPr/>
          <p:nvPr/>
        </p:nvSpPr>
        <p:spPr>
          <a:xfrm>
            <a:off x="457200" y="2286000"/>
            <a:ext cx="11247120" cy="3977640"/>
          </a:xfrm>
          <a:prstGeom prst="roundRect">
            <a:avLst>
              <a:gd name="adj" fmla="val 2299"/>
            </a:avLst>
          </a:prstGeom>
          <a:solidFill>
            <a:srgbClr val="0F172A"/>
          </a:solidFill>
          <a:ln w="12700">
            <a:solidFill>
              <a:srgbClr val="334155"/>
            </a:solidFill>
            <a:prstDash val="solid"/>
          </a:ln>
          <a:effectLst>
            <a:outerShdw sx="100000" sy="100000" kx="0" ky="0" algn="bl" rotWithShape="0" blurRad="76200" dist="25400" dir="5400000">
              <a:srgbClr val="000000">
                <a:alpha val="8000"/>
              </a:srgbClr>
            </a:outerShdw>
          </a:effectLst>
        </p:spPr>
      </p:sp>
      <p:sp>
        <p:nvSpPr>
          <p:cNvPr id="8" name="Text 4"/>
          <p:cNvSpPr txBox="1"/>
          <p:nvPr/>
        </p:nvSpPr>
        <p:spPr>
          <a:xfrm>
            <a:off x="914400" y="2450592"/>
            <a:ext cx="9601200" cy="292608"/>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Real time example</a:t>
            </a:r>
            <a:endParaRPr lang="en-US" sz="1400" dirty="0"/>
          </a:p>
        </p:txBody>
      </p:sp>
      <p:sp>
        <p:nvSpPr>
          <p:cNvPr id="9" name="Text 5"/>
          <p:cNvSpPr txBox="1"/>
          <p:nvPr/>
        </p:nvSpPr>
        <p:spPr>
          <a:xfrm>
            <a:off x="914400" y="2761488"/>
            <a:ext cx="10332720" cy="868680"/>
          </a:xfrm>
          <a:prstGeom prst="rect">
            <a:avLst/>
          </a:prstGeom>
          <a:noFill/>
          <a:ln/>
        </p:spPr>
        <p:txBody>
          <a:bodyPr wrap="square" rtlCol="0" anchor="t"/>
          <a:lstStyle/>
          <a:p>
            <a:pPr indent="0" marL="0">
              <a:lnSpc>
                <a:spcPct val="110000"/>
              </a:lnSpc>
              <a:buNone/>
            </a:pPr>
            <a:r>
              <a:rPr lang="en-US" sz="1600" dirty="0">
                <a:solidFill>
                  <a:srgbClr val="CBD5E1"/>
                </a:solidFill>
                <a:latin typeface="Calibri" pitchFamily="34" charset="0"/>
                <a:ea typeface="Calibri" pitchFamily="34" charset="-122"/>
                <a:cs typeface="Calibri" pitchFamily="34" charset="-120"/>
              </a:rPr>
              <a:t>A new specialist joins a department. HR first creates the basic employee file with the name. Then the specialist's own team adds their extra detail, such as the language they work in.</a:t>
            </a:r>
            <a:endParaRPr lang="en-US" sz="1600" dirty="0"/>
          </a:p>
        </p:txBody>
      </p:sp>
      <p:sp>
        <p:nvSpPr>
          <p:cNvPr id="10" name="Text 6"/>
          <p:cNvSpPr txBox="1"/>
          <p:nvPr/>
        </p:nvSpPr>
        <p:spPr>
          <a:xfrm>
            <a:off x="914400" y="3712464"/>
            <a:ext cx="9601200" cy="292608"/>
          </a:xfrm>
          <a:prstGeom prst="rect">
            <a:avLst/>
          </a:prstGeom>
          <a:noFill/>
          <a:ln/>
        </p:spPr>
        <p:txBody>
          <a:bodyPr wrap="square" rtlCol="0" anchor="ctr"/>
          <a:lstStyle/>
          <a:p>
            <a:pPr indent="0" marL="0">
              <a:buNone/>
            </a:pPr>
            <a:r>
              <a:rPr lang="en-US" sz="1400" b="1" dirty="0">
                <a:solidFill>
                  <a:srgbClr val="F97316"/>
                </a:solidFill>
                <a:latin typeface="Calibri" pitchFamily="34" charset="0"/>
                <a:ea typeface="Calibri" pitchFamily="34" charset="-122"/>
                <a:cs typeface="Calibri" pitchFamily="34" charset="-120"/>
              </a:rPr>
              <a:t>Definition</a:t>
            </a:r>
            <a:endParaRPr lang="en-US" sz="1400" dirty="0"/>
          </a:p>
        </p:txBody>
      </p:sp>
      <p:sp>
        <p:nvSpPr>
          <p:cNvPr id="11" name="Text 7"/>
          <p:cNvSpPr txBox="1"/>
          <p:nvPr/>
        </p:nvSpPr>
        <p:spPr>
          <a:xfrm>
            <a:off x="914400" y="4023360"/>
            <a:ext cx="10332720" cy="868680"/>
          </a:xfrm>
          <a:prstGeom prst="rect">
            <a:avLst/>
          </a:prstGeom>
          <a:noFill/>
          <a:ln/>
        </p:spPr>
        <p:txBody>
          <a:bodyPr wrap="square" rtlCol="0" anchor="t"/>
          <a:lstStyle/>
          <a:p>
            <a:pPr indent="0" marL="0">
              <a:lnSpc>
                <a:spcPct val="110000"/>
              </a:lnSpc>
              <a:buNone/>
            </a:pPr>
            <a:r>
              <a:rPr lang="en-US" sz="1800" b="1" dirty="0">
                <a:solidFill>
                  <a:srgbClr val="FFFFFF"/>
                </a:solidFill>
                <a:latin typeface="Calibri" pitchFamily="34" charset="0"/>
                <a:ea typeface="Calibri" pitchFamily="34" charset="-122"/>
                <a:cs typeface="Calibri" pitchFamily="34" charset="-120"/>
              </a:rPr>
              <a:t>super() lets a child class call its parent class. It is mostly used inside the child's __init__, so the parent sets up its data first and the child adds more.</a:t>
            </a:r>
            <a:endParaRPr lang="en-US" sz="1800" dirty="0"/>
          </a:p>
        </p:txBody>
      </p:sp>
      <p:sp>
        <p:nvSpPr>
          <p:cNvPr id="12" name="Text 8"/>
          <p:cNvSpPr txBox="1"/>
          <p:nvPr/>
        </p:nvSpPr>
        <p:spPr>
          <a:xfrm>
            <a:off x="914400" y="4974336"/>
            <a:ext cx="9601200" cy="292608"/>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Where it is used</a:t>
            </a:r>
            <a:endParaRPr lang="en-US" sz="1400" dirty="0"/>
          </a:p>
        </p:txBody>
      </p:sp>
      <p:sp>
        <p:nvSpPr>
          <p:cNvPr id="13" name="Text 9"/>
          <p:cNvSpPr txBox="1"/>
          <p:nvPr/>
        </p:nvSpPr>
        <p:spPr>
          <a:xfrm>
            <a:off x="914400" y="5285232"/>
            <a:ext cx="10332720" cy="868680"/>
          </a:xfrm>
          <a:prstGeom prst="rect">
            <a:avLst/>
          </a:prstGeom>
          <a:noFill/>
          <a:ln/>
        </p:spPr>
        <p:txBody>
          <a:bodyPr wrap="square" rtlCol="0" anchor="t"/>
          <a:lstStyle/>
          <a:p>
            <a:pPr indent="0" marL="0">
              <a:lnSpc>
                <a:spcPct val="110000"/>
              </a:lnSpc>
              <a:buNone/>
            </a:pPr>
            <a:r>
              <a:rPr lang="en-US" sz="1600" dirty="0">
                <a:solidFill>
                  <a:srgbClr val="CBD5E1"/>
                </a:solidFill>
                <a:latin typeface="Calibri" pitchFamily="34" charset="0"/>
                <a:ea typeface="Calibri" pitchFamily="34" charset="-122"/>
                <a:cs typeface="Calibri" pitchFamily="34" charset="-120"/>
              </a:rPr>
              <a:t>Extending a base class without copying its setup code, in every framework and in most real class hierarchies.</a:t>
            </a:r>
            <a:endParaRPr lang="en-US" sz="1600" dirty="0"/>
          </a:p>
        </p:txBody>
      </p:sp>
      <p:sp>
        <p:nvSpPr>
          <p:cNvPr id="14" name="Text 10"/>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OOP Fundamentals and Inheritance  ·  Week 3  ·  Day 12</a:t>
            </a:r>
            <a:endParaRPr lang="en-US" sz="1000" dirty="0"/>
          </a:p>
        </p:txBody>
      </p:sp>
      <p:sp>
        <p:nvSpPr>
          <p:cNvPr id="15" name="Text 11"/>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AFA"/>
        </a:solidFill>
      </p:bgPr>
    </p:bg>
    <p:spTree>
      <p:nvGrpSpPr>
        <p:cNvPr id="1" name=""/>
        <p:cNvGrpSpPr/>
        <p:nvPr/>
      </p:nvGrpSpPr>
      <p:grpSpPr>
        <a:xfrm>
          <a:off x="0" y="0"/>
          <a:ext cx="0" cy="0"/>
          <a:chOff x="0" y="0"/>
          <a:chExt cx="0" cy="0"/>
        </a:xfrm>
      </p:grpSpPr>
      <p:pic>
        <p:nvPicPr>
          <p:cNvPr id="2" name="Image 0" descr="assets/intellea_logo_cropped.png">    </p:cNvPr>
          <p:cNvPicPr>
            <a:picLocks noChangeAspect="1"/>
          </p:cNvPicPr>
          <p:nvPr/>
        </p:nvPicPr>
        <p:blipFill>
          <a:blip r:embed="rId1"/>
          <a:stretch>
            <a:fillRect/>
          </a:stretch>
        </p:blipFill>
        <p:spPr>
          <a:xfrm>
            <a:off x="457200" y="320040"/>
            <a:ext cx="1371600" cy="454323"/>
          </a:xfrm>
          <a:prstGeom prst="rect">
            <a:avLst/>
          </a:prstGeom>
        </p:spPr>
      </p:pic>
      <p:sp>
        <p:nvSpPr>
          <p:cNvPr id="3" name="Text 0"/>
          <p:cNvSpPr txBox="1"/>
          <p:nvPr/>
        </p:nvSpPr>
        <p:spPr>
          <a:xfrm>
            <a:off x="457200" y="96012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SUPER IN PICTURES</a:t>
            </a:r>
            <a:endParaRPr lang="en-US" sz="1400" dirty="0"/>
          </a:p>
        </p:txBody>
      </p:sp>
      <p:sp>
        <p:nvSpPr>
          <p:cNvPr id="4" name="Text 1"/>
          <p:cNvSpPr txBox="1"/>
          <p:nvPr/>
        </p:nvSpPr>
        <p:spPr>
          <a:xfrm>
            <a:off x="457200" y="1280160"/>
            <a:ext cx="11155680" cy="822960"/>
          </a:xfrm>
          <a:prstGeom prst="rect">
            <a:avLst/>
          </a:prstGeom>
          <a:noFill/>
          <a:ln/>
        </p:spPr>
        <p:txBody>
          <a:bodyPr wrap="square"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Parent Setup First, Then the Child's Own</a:t>
            </a:r>
            <a:endParaRPr lang="en-US" sz="3000" dirty="0"/>
          </a:p>
        </p:txBody>
      </p:sp>
      <p:sp>
        <p:nvSpPr>
          <p:cNvPr id="5" name="rc_vis"/>
          <p:cNvSpPr/>
          <p:nvPr/>
        </p:nvSpPr>
        <p:spPr>
          <a:xfrm>
            <a:off x="457200" y="2240280"/>
            <a:ext cx="11247120" cy="4023360"/>
          </a:xfrm>
          <a:prstGeom prst="roundRect">
            <a:avLst>
              <a:gd name="adj" fmla="val 2273"/>
            </a:avLst>
          </a:prstGeom>
          <a:solidFill>
            <a:srgbClr val="F8FAFC"/>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Shape 3"/>
          <p:cNvSpPr/>
          <p:nvPr/>
        </p:nvSpPr>
        <p:spPr>
          <a:xfrm>
            <a:off x="731520" y="2468880"/>
            <a:ext cx="2331720" cy="1783080"/>
          </a:xfrm>
          <a:prstGeom prst="roundRect">
            <a:avLst>
              <a:gd name="adj" fmla="val 5128"/>
            </a:avLst>
          </a:prstGeom>
          <a:solidFill>
            <a:srgbClr val="F0FDFA"/>
          </a:solidFill>
          <a:ln w="19050">
            <a:solidFill>
              <a:srgbClr val="14B8A6"/>
            </a:solidFill>
            <a:prstDash val="solid"/>
          </a:ln>
        </p:spPr>
      </p:sp>
      <p:pic>
        <p:nvPicPr>
          <p:cNvPr id="7" name="Image 1" descr="assets/icon2_send_teal.png">    </p:cNvPr>
          <p:cNvPicPr>
            <a:picLocks noChangeAspect="1"/>
          </p:cNvPicPr>
          <p:nvPr/>
        </p:nvPicPr>
        <p:blipFill>
          <a:blip r:embed="rId2"/>
          <a:stretch>
            <a:fillRect/>
          </a:stretch>
        </p:blipFill>
        <p:spPr>
          <a:xfrm>
            <a:off x="1645920" y="2578608"/>
            <a:ext cx="502920" cy="502920"/>
          </a:xfrm>
          <a:prstGeom prst="rect">
            <a:avLst/>
          </a:prstGeom>
        </p:spPr>
      </p:pic>
      <p:sp>
        <p:nvSpPr>
          <p:cNvPr id="8" name="Text 4"/>
          <p:cNvSpPr txBox="1"/>
          <p:nvPr/>
        </p:nvSpPr>
        <p:spPr>
          <a:xfrm>
            <a:off x="804672" y="3145536"/>
            <a:ext cx="2185416" cy="365760"/>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Create</a:t>
            </a:r>
            <a:endParaRPr lang="en-US" sz="1600" dirty="0"/>
          </a:p>
        </p:txBody>
      </p:sp>
      <p:sp>
        <p:nvSpPr>
          <p:cNvPr id="9" name="Text 5"/>
          <p:cNvSpPr txBox="1"/>
          <p:nvPr/>
        </p:nvSpPr>
        <p:spPr>
          <a:xfrm>
            <a:off x="822960" y="3511296"/>
            <a:ext cx="2148840" cy="667512"/>
          </a:xfrm>
          <a:prstGeom prst="rect">
            <a:avLst/>
          </a:prstGeom>
          <a:noFill/>
          <a:ln/>
        </p:spPr>
        <p:txBody>
          <a:bodyPr wrap="square" rtlCol="0" anchor="t"/>
          <a:lstStyle/>
          <a:p>
            <a:pPr algn="ctr" indent="0" marL="0">
              <a:buNone/>
            </a:pPr>
            <a:r>
              <a:rPr lang="en-US" sz="1300" dirty="0">
                <a:solidFill>
                  <a:srgbClr val="64748B"/>
                </a:solidFill>
                <a:latin typeface="Calibri" pitchFamily="34" charset="0"/>
                <a:ea typeface="Calibri" pitchFamily="34" charset="-122"/>
                <a:cs typeface="Calibri" pitchFamily="34" charset="-120"/>
              </a:rPr>
              <a:t>Developer with Ravi and Python</a:t>
            </a:r>
            <a:endParaRPr lang="en-US" sz="1300" dirty="0"/>
          </a:p>
        </p:txBody>
      </p:sp>
      <p:sp>
        <p:nvSpPr>
          <p:cNvPr id="10" name="Shape 6"/>
          <p:cNvSpPr/>
          <p:nvPr/>
        </p:nvSpPr>
        <p:spPr>
          <a:xfrm>
            <a:off x="3118104" y="3360420"/>
            <a:ext cx="347472" cy="0"/>
          </a:xfrm>
          <a:prstGeom prst="line">
            <a:avLst/>
          </a:prstGeom>
          <a:noFill/>
          <a:ln w="31750">
            <a:solidFill>
              <a:srgbClr val="8B5CF6"/>
            </a:solidFill>
            <a:prstDash val="solid"/>
            <a:tailEnd type="triangle"/>
          </a:ln>
        </p:spPr>
      </p:sp>
      <p:sp>
        <p:nvSpPr>
          <p:cNvPr id="11" name="Shape 7"/>
          <p:cNvSpPr/>
          <p:nvPr/>
        </p:nvSpPr>
        <p:spPr>
          <a:xfrm>
            <a:off x="3520440" y="2468880"/>
            <a:ext cx="2331720" cy="1783080"/>
          </a:xfrm>
          <a:prstGeom prst="roundRect">
            <a:avLst>
              <a:gd name="adj" fmla="val 5128"/>
            </a:avLst>
          </a:prstGeom>
          <a:solidFill>
            <a:srgbClr val="F5F3FF"/>
          </a:solidFill>
          <a:ln w="19050">
            <a:solidFill>
              <a:srgbClr val="8B5CF6"/>
            </a:solidFill>
            <a:prstDash val="solid"/>
          </a:ln>
        </p:spPr>
      </p:sp>
      <p:pic>
        <p:nvPicPr>
          <p:cNvPr id="12" name="Image 2" descr="assets/icon2_settings_navy.png">    </p:cNvPr>
          <p:cNvPicPr>
            <a:picLocks noChangeAspect="1"/>
          </p:cNvPicPr>
          <p:nvPr/>
        </p:nvPicPr>
        <p:blipFill>
          <a:blip r:embed="rId3"/>
          <a:stretch>
            <a:fillRect/>
          </a:stretch>
        </p:blipFill>
        <p:spPr>
          <a:xfrm>
            <a:off x="4434840" y="2578608"/>
            <a:ext cx="502920" cy="502920"/>
          </a:xfrm>
          <a:prstGeom prst="rect">
            <a:avLst/>
          </a:prstGeom>
        </p:spPr>
      </p:pic>
      <p:sp>
        <p:nvSpPr>
          <p:cNvPr id="13" name="Text 8"/>
          <p:cNvSpPr txBox="1"/>
          <p:nvPr/>
        </p:nvSpPr>
        <p:spPr>
          <a:xfrm>
            <a:off x="3593592" y="3145536"/>
            <a:ext cx="2185416" cy="365760"/>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Child __init__</a:t>
            </a:r>
            <a:endParaRPr lang="en-US" sz="1600" dirty="0"/>
          </a:p>
        </p:txBody>
      </p:sp>
      <p:sp>
        <p:nvSpPr>
          <p:cNvPr id="14" name="Text 9"/>
          <p:cNvSpPr txBox="1"/>
          <p:nvPr/>
        </p:nvSpPr>
        <p:spPr>
          <a:xfrm>
            <a:off x="3611880" y="3511296"/>
            <a:ext cx="2148840" cy="667512"/>
          </a:xfrm>
          <a:prstGeom prst="rect">
            <a:avLst/>
          </a:prstGeom>
          <a:noFill/>
          <a:ln/>
        </p:spPr>
        <p:txBody>
          <a:bodyPr wrap="square" rtlCol="0" anchor="t"/>
          <a:lstStyle/>
          <a:p>
            <a:pPr algn="ctr" indent="0" marL="0">
              <a:buNone/>
            </a:pPr>
            <a:r>
              <a:rPr lang="en-US" sz="1300" dirty="0">
                <a:solidFill>
                  <a:srgbClr val="64748B"/>
                </a:solidFill>
                <a:latin typeface="Calibri" pitchFamily="34" charset="0"/>
                <a:ea typeface="Calibri" pitchFamily="34" charset="-122"/>
                <a:cs typeface="Calibri" pitchFamily="34" charset="-120"/>
              </a:rPr>
              <a:t>receives name and language</a:t>
            </a:r>
            <a:endParaRPr lang="en-US" sz="1300" dirty="0"/>
          </a:p>
        </p:txBody>
      </p:sp>
      <p:sp>
        <p:nvSpPr>
          <p:cNvPr id="15" name="Shape 10"/>
          <p:cNvSpPr/>
          <p:nvPr/>
        </p:nvSpPr>
        <p:spPr>
          <a:xfrm>
            <a:off x="5907024" y="3360420"/>
            <a:ext cx="347472" cy="0"/>
          </a:xfrm>
          <a:prstGeom prst="line">
            <a:avLst/>
          </a:prstGeom>
          <a:noFill/>
          <a:ln w="31750">
            <a:solidFill>
              <a:srgbClr val="8B5CF6"/>
            </a:solidFill>
            <a:prstDash val="solid"/>
            <a:tailEnd type="triangle"/>
          </a:ln>
        </p:spPr>
      </p:sp>
      <p:sp>
        <p:nvSpPr>
          <p:cNvPr id="16" name="Shape 11"/>
          <p:cNvSpPr/>
          <p:nvPr/>
        </p:nvSpPr>
        <p:spPr>
          <a:xfrm>
            <a:off x="6309360" y="2468880"/>
            <a:ext cx="2331720" cy="1783080"/>
          </a:xfrm>
          <a:prstGeom prst="roundRect">
            <a:avLst>
              <a:gd name="adj" fmla="val 5128"/>
            </a:avLst>
          </a:prstGeom>
          <a:solidFill>
            <a:srgbClr val="FFF7ED"/>
          </a:solidFill>
          <a:ln w="19050">
            <a:solidFill>
              <a:srgbClr val="F97316"/>
            </a:solidFill>
            <a:prstDash val="solid"/>
          </a:ln>
        </p:spPr>
      </p:sp>
      <p:pic>
        <p:nvPicPr>
          <p:cNvPr id="17" name="Image 3" descr="assets/icon2_network_teal.png">    </p:cNvPr>
          <p:cNvPicPr>
            <a:picLocks noChangeAspect="1"/>
          </p:cNvPicPr>
          <p:nvPr/>
        </p:nvPicPr>
        <p:blipFill>
          <a:blip r:embed="rId4"/>
          <a:stretch>
            <a:fillRect/>
          </a:stretch>
        </p:blipFill>
        <p:spPr>
          <a:xfrm>
            <a:off x="7223760" y="2578608"/>
            <a:ext cx="502920" cy="502920"/>
          </a:xfrm>
          <a:prstGeom prst="rect">
            <a:avLst/>
          </a:prstGeom>
        </p:spPr>
      </p:pic>
      <p:sp>
        <p:nvSpPr>
          <p:cNvPr id="18" name="Text 12"/>
          <p:cNvSpPr txBox="1"/>
          <p:nvPr/>
        </p:nvSpPr>
        <p:spPr>
          <a:xfrm>
            <a:off x="6382512" y="3145536"/>
            <a:ext cx="2185416" cy="365760"/>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super() hands over</a:t>
            </a:r>
            <a:endParaRPr lang="en-US" sz="1600" dirty="0"/>
          </a:p>
        </p:txBody>
      </p:sp>
      <p:sp>
        <p:nvSpPr>
          <p:cNvPr id="19" name="Text 13"/>
          <p:cNvSpPr txBox="1"/>
          <p:nvPr/>
        </p:nvSpPr>
        <p:spPr>
          <a:xfrm>
            <a:off x="6400800" y="3511296"/>
            <a:ext cx="2148840" cy="667512"/>
          </a:xfrm>
          <a:prstGeom prst="rect">
            <a:avLst/>
          </a:prstGeom>
          <a:noFill/>
          <a:ln/>
        </p:spPr>
        <p:txBody>
          <a:bodyPr wrap="square" rtlCol="0" anchor="t"/>
          <a:lstStyle/>
          <a:p>
            <a:pPr algn="ctr" indent="0" marL="0">
              <a:buNone/>
            </a:pPr>
            <a:r>
              <a:rPr lang="en-US" sz="1300" dirty="0">
                <a:solidFill>
                  <a:srgbClr val="64748B"/>
                </a:solidFill>
                <a:latin typeface="Calibri" pitchFamily="34" charset="0"/>
                <a:ea typeface="Calibri" pitchFamily="34" charset="-122"/>
                <a:cs typeface="Calibri" pitchFamily="34" charset="-120"/>
              </a:rPr>
              <a:t>the parent stores the name</a:t>
            </a:r>
            <a:endParaRPr lang="en-US" sz="1300" dirty="0"/>
          </a:p>
        </p:txBody>
      </p:sp>
      <p:sp>
        <p:nvSpPr>
          <p:cNvPr id="20" name="Shape 14"/>
          <p:cNvSpPr/>
          <p:nvPr/>
        </p:nvSpPr>
        <p:spPr>
          <a:xfrm>
            <a:off x="8695944" y="3360420"/>
            <a:ext cx="347472" cy="0"/>
          </a:xfrm>
          <a:prstGeom prst="line">
            <a:avLst/>
          </a:prstGeom>
          <a:noFill/>
          <a:ln w="31750">
            <a:solidFill>
              <a:srgbClr val="8B5CF6"/>
            </a:solidFill>
            <a:prstDash val="solid"/>
            <a:tailEnd type="triangle"/>
          </a:ln>
        </p:spPr>
      </p:sp>
      <p:sp>
        <p:nvSpPr>
          <p:cNvPr id="21" name="Shape 15"/>
          <p:cNvSpPr/>
          <p:nvPr/>
        </p:nvSpPr>
        <p:spPr>
          <a:xfrm>
            <a:off x="9098280" y="2468880"/>
            <a:ext cx="2331720" cy="1783080"/>
          </a:xfrm>
          <a:prstGeom prst="roundRect">
            <a:avLst>
              <a:gd name="adj" fmla="val 5128"/>
            </a:avLst>
          </a:prstGeom>
          <a:solidFill>
            <a:srgbClr val="F0FDF4"/>
          </a:solidFill>
          <a:ln w="19050">
            <a:solidFill>
              <a:srgbClr val="10B981"/>
            </a:solidFill>
            <a:prstDash val="solid"/>
          </a:ln>
        </p:spPr>
      </p:sp>
      <p:pic>
        <p:nvPicPr>
          <p:cNvPr id="22" name="Image 4" descr="assets/icon2_check_green.png">    </p:cNvPr>
          <p:cNvPicPr>
            <a:picLocks noChangeAspect="1"/>
          </p:cNvPicPr>
          <p:nvPr/>
        </p:nvPicPr>
        <p:blipFill>
          <a:blip r:embed="rId5"/>
          <a:stretch>
            <a:fillRect/>
          </a:stretch>
        </p:blipFill>
        <p:spPr>
          <a:xfrm>
            <a:off x="10012680" y="2578608"/>
            <a:ext cx="502920" cy="502920"/>
          </a:xfrm>
          <a:prstGeom prst="rect">
            <a:avLst/>
          </a:prstGeom>
        </p:spPr>
      </p:pic>
      <p:sp>
        <p:nvSpPr>
          <p:cNvPr id="23" name="Text 16"/>
          <p:cNvSpPr txBox="1"/>
          <p:nvPr/>
        </p:nvSpPr>
        <p:spPr>
          <a:xfrm>
            <a:off x="9171432" y="3145536"/>
            <a:ext cx="2185416" cy="365760"/>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Child adds more</a:t>
            </a:r>
            <a:endParaRPr lang="en-US" sz="1600" dirty="0"/>
          </a:p>
        </p:txBody>
      </p:sp>
      <p:sp>
        <p:nvSpPr>
          <p:cNvPr id="24" name="Text 17"/>
          <p:cNvSpPr txBox="1"/>
          <p:nvPr/>
        </p:nvSpPr>
        <p:spPr>
          <a:xfrm>
            <a:off x="9189720" y="3511296"/>
            <a:ext cx="2148840" cy="667512"/>
          </a:xfrm>
          <a:prstGeom prst="rect">
            <a:avLst/>
          </a:prstGeom>
          <a:noFill/>
          <a:ln/>
        </p:spPr>
        <p:txBody>
          <a:bodyPr wrap="square" rtlCol="0" anchor="t"/>
          <a:lstStyle/>
          <a:p>
            <a:pPr algn="ctr" indent="0" marL="0">
              <a:buNone/>
            </a:pPr>
            <a:r>
              <a:rPr lang="en-US" sz="1300" dirty="0">
                <a:solidFill>
                  <a:srgbClr val="64748B"/>
                </a:solidFill>
                <a:latin typeface="Calibri" pitchFamily="34" charset="0"/>
                <a:ea typeface="Calibri" pitchFamily="34" charset="-122"/>
                <a:cs typeface="Calibri" pitchFamily="34" charset="-120"/>
              </a:rPr>
              <a:t>the language Python is stored</a:t>
            </a:r>
            <a:endParaRPr lang="en-US" sz="1300" dirty="0"/>
          </a:p>
        </p:txBody>
      </p:sp>
      <p:sp>
        <p:nvSpPr>
          <p:cNvPr id="25" name="Shape 18"/>
          <p:cNvSpPr/>
          <p:nvPr/>
        </p:nvSpPr>
        <p:spPr>
          <a:xfrm>
            <a:off x="731520" y="4480560"/>
            <a:ext cx="10698480" cy="868680"/>
          </a:xfrm>
          <a:prstGeom prst="roundRect">
            <a:avLst>
              <a:gd name="adj" fmla="val 10526"/>
            </a:avLst>
          </a:prstGeom>
          <a:solidFill>
            <a:srgbClr val="F0FDF4"/>
          </a:solidFill>
          <a:ln w="19050">
            <a:solidFill>
              <a:srgbClr val="10B981"/>
            </a:solidFill>
            <a:prstDash val="solid"/>
          </a:ln>
        </p:spPr>
      </p:sp>
      <p:sp>
        <p:nvSpPr>
          <p:cNvPr id="26" name="Text 19"/>
          <p:cNvSpPr txBox="1"/>
          <p:nvPr/>
        </p:nvSpPr>
        <p:spPr>
          <a:xfrm>
            <a:off x="804672" y="4590288"/>
            <a:ext cx="10552176" cy="329184"/>
          </a:xfrm>
          <a:prstGeom prst="rect">
            <a:avLst/>
          </a:prstGeom>
          <a:noFill/>
          <a:ln/>
        </p:spPr>
        <p:txBody>
          <a:bodyPr wrap="square" rtlCol="0" anchor="t"/>
          <a:lstStyle/>
          <a:p>
            <a:pPr algn="ctr" indent="0" marL="0">
              <a:buNone/>
            </a:pPr>
            <a:r>
              <a:rPr lang="en-US" sz="1550" b="1" dirty="0">
                <a:solidFill>
                  <a:srgbClr val="1E293B"/>
                </a:solidFill>
                <a:latin typeface="Calibri" pitchFamily="34" charset="0"/>
                <a:ea typeface="Calibri" pitchFamily="34" charset="-122"/>
                <a:cs typeface="Calibri" pitchFamily="34" charset="-120"/>
              </a:rPr>
              <a:t>Result</a:t>
            </a:r>
            <a:endParaRPr lang="en-US" sz="1550" dirty="0"/>
          </a:p>
        </p:txBody>
      </p:sp>
      <p:sp>
        <p:nvSpPr>
          <p:cNvPr id="27" name="Text 20"/>
          <p:cNvSpPr txBox="1"/>
          <p:nvPr/>
        </p:nvSpPr>
        <p:spPr>
          <a:xfrm>
            <a:off x="822960" y="4919472"/>
            <a:ext cx="10515600" cy="356616"/>
          </a:xfrm>
          <a:prstGeom prst="rect">
            <a:avLst/>
          </a:prstGeom>
          <a:noFill/>
          <a:ln/>
        </p:spPr>
        <p:txBody>
          <a:bodyPr wrap="square" rtlCol="0" anchor="t"/>
          <a:lstStyle/>
          <a:p>
            <a:pPr algn="ctr" indent="0" marL="0">
              <a:buNone/>
            </a:pPr>
            <a:r>
              <a:rPr lang="en-US" sz="1350" dirty="0">
                <a:solidFill>
                  <a:srgbClr val="64748B"/>
                </a:solidFill>
                <a:latin typeface="Calibri" pitchFamily="34" charset="0"/>
                <a:ea typeface="Calibri" pitchFamily="34" charset="-122"/>
                <a:cs typeface="Calibri" pitchFamily="34" charset="-120"/>
              </a:rPr>
              <a:t>the object holds the name Ravi from the parent and the language Python from the child</a:t>
            </a:r>
            <a:endParaRPr lang="en-US" sz="1350" dirty="0"/>
          </a:p>
        </p:txBody>
      </p:sp>
      <p:sp>
        <p:nvSpPr>
          <p:cNvPr id="28" name="Shape 21"/>
          <p:cNvSpPr/>
          <p:nvPr/>
        </p:nvSpPr>
        <p:spPr>
          <a:xfrm>
            <a:off x="731520" y="5559552"/>
            <a:ext cx="10698480" cy="0"/>
          </a:xfrm>
          <a:prstGeom prst="line">
            <a:avLst/>
          </a:prstGeom>
          <a:noFill/>
          <a:ln w="12700">
            <a:solidFill>
              <a:srgbClr val="E2E8F0"/>
            </a:solidFill>
            <a:prstDash val="solid"/>
          </a:ln>
        </p:spPr>
      </p:sp>
      <p:sp>
        <p:nvSpPr>
          <p:cNvPr id="29" name="Shape 22"/>
          <p:cNvSpPr/>
          <p:nvPr/>
        </p:nvSpPr>
        <p:spPr>
          <a:xfrm>
            <a:off x="777240" y="5650992"/>
            <a:ext cx="475488" cy="475488"/>
          </a:xfrm>
          <a:prstGeom prst="ellipse">
            <a:avLst/>
          </a:prstGeom>
          <a:solidFill>
            <a:srgbClr val="FCE7F3"/>
          </a:solidFill>
          <a:ln w="19050">
            <a:solidFill>
              <a:srgbClr val="EC4899"/>
            </a:solidFill>
            <a:prstDash val="solid"/>
          </a:ln>
        </p:spPr>
      </p:sp>
      <p:pic>
        <p:nvPicPr>
          <p:cNvPr id="30" name="Image 5" descr="assets/icon2_user_pink.png">    </p:cNvPr>
          <p:cNvPicPr>
            <a:picLocks noChangeAspect="1"/>
          </p:cNvPicPr>
          <p:nvPr/>
        </p:nvPicPr>
        <p:blipFill>
          <a:blip r:embed="rId6"/>
          <a:stretch>
            <a:fillRect/>
          </a:stretch>
        </p:blipFill>
        <p:spPr>
          <a:xfrm>
            <a:off x="872338" y="5746090"/>
            <a:ext cx="285293" cy="285293"/>
          </a:xfrm>
          <a:prstGeom prst="rect">
            <a:avLst/>
          </a:prstGeom>
        </p:spPr>
      </p:pic>
      <p:sp>
        <p:nvSpPr>
          <p:cNvPr id="31" name="Shape 23"/>
          <p:cNvSpPr/>
          <p:nvPr/>
        </p:nvSpPr>
        <p:spPr>
          <a:xfrm rot="2700000">
            <a:off x="1508760" y="5801868"/>
            <a:ext cx="182880" cy="182880"/>
          </a:xfrm>
          <a:prstGeom prst="rect">
            <a:avLst/>
          </a:prstGeom>
          <a:solidFill>
            <a:srgbClr val="FDF2F8"/>
          </a:solidFill>
          <a:ln w="15875">
            <a:solidFill>
              <a:srgbClr val="EC4899"/>
            </a:solidFill>
            <a:prstDash val="solid"/>
          </a:ln>
        </p:spPr>
      </p:sp>
      <p:sp>
        <p:nvSpPr>
          <p:cNvPr id="32" name="Shape 24"/>
          <p:cNvSpPr/>
          <p:nvPr/>
        </p:nvSpPr>
        <p:spPr>
          <a:xfrm>
            <a:off x="1600200" y="5641848"/>
            <a:ext cx="9829800" cy="502920"/>
          </a:xfrm>
          <a:prstGeom prst="roundRect">
            <a:avLst>
              <a:gd name="adj" fmla="val 21818"/>
            </a:avLst>
          </a:prstGeom>
          <a:solidFill>
            <a:srgbClr val="FDF2F8"/>
          </a:solidFill>
          <a:ln w="15875">
            <a:solidFill>
              <a:srgbClr val="EC4899"/>
            </a:solidFill>
            <a:prstDash val="solid"/>
          </a:ln>
        </p:spPr>
      </p:sp>
      <p:sp>
        <p:nvSpPr>
          <p:cNvPr id="33" name="Text 25"/>
          <p:cNvSpPr txBox="1"/>
          <p:nvPr/>
        </p:nvSpPr>
        <p:spPr>
          <a:xfrm>
            <a:off x="1783080" y="5641848"/>
            <a:ext cx="9464040" cy="502920"/>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Ravi says  </a:t>
            </a:r>
            <a:pPr indent="0" marL="0">
              <a:buNone/>
            </a:pPr>
            <a:r>
              <a:rPr lang="en-US" sz="1400" dirty="0">
                <a:solidFill>
                  <a:srgbClr val="1E293B"/>
                </a:solidFill>
                <a:latin typeface="Calibri" pitchFamily="34" charset="0"/>
                <a:ea typeface="Calibri" pitchFamily="34" charset="-122"/>
                <a:cs typeface="Calibri" pitchFamily="34" charset="-120"/>
              </a:rPr>
              <a:t>No need to repeat the parent's code. super() does the handover.</a:t>
            </a:r>
            <a:endParaRPr lang="en-US" sz="1400" dirty="0"/>
          </a:p>
        </p:txBody>
      </p:sp>
      <p:sp>
        <p:nvSpPr>
          <p:cNvPr id="34" name="Text 26"/>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OOP Fundamentals and Inheritance  ·  Week 3  ·  Day 12</a:t>
            </a:r>
            <a:endParaRPr lang="en-US" sz="1000" dirty="0"/>
          </a:p>
        </p:txBody>
      </p:sp>
      <p:sp>
        <p:nvSpPr>
          <p:cNvPr id="35" name="Text 27"/>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72A"/>
        </a:solidFill>
      </p:bgPr>
    </p:bg>
    <p:spTree>
      <p:nvGrpSpPr>
        <p:cNvPr id="1" name=""/>
        <p:cNvGrpSpPr/>
        <p:nvPr/>
      </p:nvGrpSpPr>
      <p:grpSpPr>
        <a:xfrm>
          <a:off x="0" y="0"/>
          <a:ext cx="0" cy="0"/>
          <a:chOff x="0" y="0"/>
          <a:chExt cx="0" cy="0"/>
        </a:xfrm>
      </p:grpSpPr>
      <p:pic>
        <p:nvPicPr>
          <p:cNvPr id="2" name="Image 0" descr="assets/bloom_purple.png">    </p:cNvPr>
          <p:cNvPicPr>
            <a:picLocks noChangeAspect="1"/>
          </p:cNvPicPr>
          <p:nvPr/>
        </p:nvPicPr>
        <p:blipFill>
          <a:blip r:embed="rId1"/>
          <a:stretch>
            <a:fillRect/>
          </a:stretch>
        </p:blipFill>
        <p:spPr>
          <a:xfrm>
            <a:off x="-1828800" y="-1828800"/>
            <a:ext cx="6858000" cy="6858000"/>
          </a:xfrm>
          <a:prstGeom prst="rect">
            <a:avLst/>
          </a:prstGeom>
        </p:spPr>
      </p:pic>
      <p:pic>
        <p:nvPicPr>
          <p:cNvPr id="3" name="Image 1" descr="assets/bloom_pink.png">    </p:cNvPr>
          <p:cNvPicPr>
            <a:picLocks noChangeAspect="1"/>
          </p:cNvPicPr>
          <p:nvPr/>
        </p:nvPicPr>
        <p:blipFill>
          <a:blip r:embed="rId2"/>
          <a:stretch>
            <a:fillRect/>
          </a:stretch>
        </p:blipFill>
        <p:spPr>
          <a:xfrm>
            <a:off x="7772400" y="2286000"/>
            <a:ext cx="6400800" cy="6400800"/>
          </a:xfrm>
          <a:prstGeom prst="rect">
            <a:avLst/>
          </a:prstGeom>
        </p:spPr>
      </p:pic>
      <p:sp>
        <p:nvSpPr>
          <p:cNvPr id="4" name="Text 0"/>
          <p:cNvSpPr txBox="1"/>
          <p:nvPr/>
        </p:nvSpPr>
        <p:spPr>
          <a:xfrm>
            <a:off x="457200" y="320040"/>
            <a:ext cx="2286000" cy="45720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intellea</a:t>
            </a:r>
            <a:endParaRPr lang="en-US" sz="2200" dirty="0"/>
          </a:p>
        </p:txBody>
      </p:sp>
      <p:sp>
        <p:nvSpPr>
          <p:cNvPr id="5" name="Text 1"/>
          <p:cNvSpPr txBox="1"/>
          <p:nvPr/>
        </p:nvSpPr>
        <p:spPr>
          <a:xfrm>
            <a:off x="457200" y="109728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TOPIC 9</a:t>
            </a:r>
            <a:endParaRPr lang="en-US" sz="1400" dirty="0"/>
          </a:p>
        </p:txBody>
      </p:sp>
      <p:sp>
        <p:nvSpPr>
          <p:cNvPr id="6" name="Text 2"/>
          <p:cNvSpPr txBox="1"/>
          <p:nvPr/>
        </p:nvSpPr>
        <p:spPr>
          <a:xfrm>
            <a:off x="457200" y="1417320"/>
            <a:ext cx="10972800" cy="7315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Types of Inheritance</a:t>
            </a:r>
            <a:endParaRPr lang="en-US" sz="3000" dirty="0"/>
          </a:p>
        </p:txBody>
      </p:sp>
      <p:sp>
        <p:nvSpPr>
          <p:cNvPr id="7" name="rc_topic"/>
          <p:cNvSpPr/>
          <p:nvPr/>
        </p:nvSpPr>
        <p:spPr>
          <a:xfrm>
            <a:off x="457200" y="2286000"/>
            <a:ext cx="11247120" cy="3977640"/>
          </a:xfrm>
          <a:prstGeom prst="roundRect">
            <a:avLst>
              <a:gd name="adj" fmla="val 2299"/>
            </a:avLst>
          </a:prstGeom>
          <a:solidFill>
            <a:srgbClr val="0F172A"/>
          </a:solidFill>
          <a:ln w="12700">
            <a:solidFill>
              <a:srgbClr val="334155"/>
            </a:solidFill>
            <a:prstDash val="solid"/>
          </a:ln>
          <a:effectLst>
            <a:outerShdw sx="100000" sy="100000" kx="0" ky="0" algn="bl" rotWithShape="0" blurRad="76200" dist="25400" dir="5400000">
              <a:srgbClr val="000000">
                <a:alpha val="8000"/>
              </a:srgbClr>
            </a:outerShdw>
          </a:effectLst>
        </p:spPr>
      </p:sp>
      <p:sp>
        <p:nvSpPr>
          <p:cNvPr id="8" name="Text 4"/>
          <p:cNvSpPr txBox="1"/>
          <p:nvPr/>
        </p:nvSpPr>
        <p:spPr>
          <a:xfrm>
            <a:off x="914400" y="2450592"/>
            <a:ext cx="9601200" cy="292608"/>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Real time example</a:t>
            </a:r>
            <a:endParaRPr lang="en-US" sz="1400" dirty="0"/>
          </a:p>
        </p:txBody>
      </p:sp>
      <p:sp>
        <p:nvSpPr>
          <p:cNvPr id="9" name="Text 5"/>
          <p:cNvSpPr txBox="1"/>
          <p:nvPr/>
        </p:nvSpPr>
        <p:spPr>
          <a:xfrm>
            <a:off x="914400" y="2761488"/>
            <a:ext cx="10332720" cy="868680"/>
          </a:xfrm>
          <a:prstGeom prst="rect">
            <a:avLst/>
          </a:prstGeom>
          <a:noFill/>
          <a:ln/>
        </p:spPr>
        <p:txBody>
          <a:bodyPr wrap="square" rtlCol="0" anchor="t"/>
          <a:lstStyle/>
          <a:p>
            <a:pPr indent="0" marL="0">
              <a:lnSpc>
                <a:spcPct val="110000"/>
              </a:lnSpc>
              <a:buNone/>
            </a:pPr>
            <a:r>
              <a:rPr lang="en-US" sz="1600" dirty="0">
                <a:solidFill>
                  <a:srgbClr val="CBD5E1"/>
                </a:solidFill>
                <a:latin typeface="Calibri" pitchFamily="34" charset="0"/>
                <a:ea typeface="Calibri" pitchFamily="34" charset="-122"/>
                <a:cs typeface="Calibri" pitchFamily="34" charset="-120"/>
              </a:rPr>
              <a:t>In a family, a child learns from one parent. A grandchild learns from a chain of elders. And a student with two mentors learns different skills from each one.</a:t>
            </a:r>
            <a:endParaRPr lang="en-US" sz="1600" dirty="0"/>
          </a:p>
        </p:txBody>
      </p:sp>
      <p:sp>
        <p:nvSpPr>
          <p:cNvPr id="10" name="Text 6"/>
          <p:cNvSpPr txBox="1"/>
          <p:nvPr/>
        </p:nvSpPr>
        <p:spPr>
          <a:xfrm>
            <a:off x="914400" y="3712464"/>
            <a:ext cx="9601200" cy="292608"/>
          </a:xfrm>
          <a:prstGeom prst="rect">
            <a:avLst/>
          </a:prstGeom>
          <a:noFill/>
          <a:ln/>
        </p:spPr>
        <p:txBody>
          <a:bodyPr wrap="square" rtlCol="0" anchor="ctr"/>
          <a:lstStyle/>
          <a:p>
            <a:pPr indent="0" marL="0">
              <a:buNone/>
            </a:pPr>
            <a:r>
              <a:rPr lang="en-US" sz="1400" b="1" dirty="0">
                <a:solidFill>
                  <a:srgbClr val="F97316"/>
                </a:solidFill>
                <a:latin typeface="Calibri" pitchFamily="34" charset="0"/>
                <a:ea typeface="Calibri" pitchFamily="34" charset="-122"/>
                <a:cs typeface="Calibri" pitchFamily="34" charset="-120"/>
              </a:rPr>
              <a:t>Definition</a:t>
            </a:r>
            <a:endParaRPr lang="en-US" sz="1400" dirty="0"/>
          </a:p>
        </p:txBody>
      </p:sp>
      <p:sp>
        <p:nvSpPr>
          <p:cNvPr id="11" name="Text 7"/>
          <p:cNvSpPr txBox="1"/>
          <p:nvPr/>
        </p:nvSpPr>
        <p:spPr>
          <a:xfrm>
            <a:off x="914400" y="4023360"/>
            <a:ext cx="10332720" cy="868680"/>
          </a:xfrm>
          <a:prstGeom prst="rect">
            <a:avLst/>
          </a:prstGeom>
          <a:noFill/>
          <a:ln/>
        </p:spPr>
        <p:txBody>
          <a:bodyPr wrap="square" rtlCol="0" anchor="t"/>
          <a:lstStyle/>
          <a:p>
            <a:pPr indent="0" marL="0">
              <a:lnSpc>
                <a:spcPct val="110000"/>
              </a:lnSpc>
              <a:buNone/>
            </a:pPr>
            <a:r>
              <a:rPr lang="en-US" sz="1800" b="1" dirty="0">
                <a:solidFill>
                  <a:srgbClr val="FFFFFF"/>
                </a:solidFill>
                <a:latin typeface="Calibri" pitchFamily="34" charset="0"/>
                <a:ea typeface="Calibri" pitchFamily="34" charset="-122"/>
                <a:cs typeface="Calibri" pitchFamily="34" charset="-120"/>
              </a:rPr>
              <a:t>Single inheritance has one child and one parent. Multilevel inheritance is a chain of classes. Multiple inheritance gives one child two or more parents.</a:t>
            </a:r>
            <a:endParaRPr lang="en-US" sz="1800" dirty="0"/>
          </a:p>
        </p:txBody>
      </p:sp>
      <p:sp>
        <p:nvSpPr>
          <p:cNvPr id="12" name="Text 8"/>
          <p:cNvSpPr txBox="1"/>
          <p:nvPr/>
        </p:nvSpPr>
        <p:spPr>
          <a:xfrm>
            <a:off x="914400" y="4974336"/>
            <a:ext cx="9601200" cy="292608"/>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Where it is used</a:t>
            </a:r>
            <a:endParaRPr lang="en-US" sz="1400" dirty="0"/>
          </a:p>
        </p:txBody>
      </p:sp>
      <p:sp>
        <p:nvSpPr>
          <p:cNvPr id="13" name="Text 9"/>
          <p:cNvSpPr txBox="1"/>
          <p:nvPr/>
        </p:nvSpPr>
        <p:spPr>
          <a:xfrm>
            <a:off x="914400" y="5285232"/>
            <a:ext cx="10332720" cy="868680"/>
          </a:xfrm>
          <a:prstGeom prst="rect">
            <a:avLst/>
          </a:prstGeom>
          <a:noFill/>
          <a:ln/>
        </p:spPr>
        <p:txBody>
          <a:bodyPr wrap="square" rtlCol="0" anchor="t"/>
          <a:lstStyle/>
          <a:p>
            <a:pPr indent="0" marL="0">
              <a:lnSpc>
                <a:spcPct val="110000"/>
              </a:lnSpc>
              <a:buNone/>
            </a:pPr>
            <a:r>
              <a:rPr lang="en-US" sz="1600" dirty="0">
                <a:solidFill>
                  <a:srgbClr val="CBD5E1"/>
                </a:solidFill>
                <a:latin typeface="Calibri" pitchFamily="34" charset="0"/>
                <a:ea typeface="Calibri" pitchFamily="34" charset="-122"/>
                <a:cs typeface="Calibri" pitchFamily="34" charset="-120"/>
              </a:rPr>
              <a:t>Single and multilevel are common in business systems. Multiple inheritance is used carefully when one class needs skills from two sources.</a:t>
            </a:r>
            <a:endParaRPr lang="en-US" sz="1600" dirty="0"/>
          </a:p>
        </p:txBody>
      </p:sp>
      <p:sp>
        <p:nvSpPr>
          <p:cNvPr id="14" name="Text 10"/>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OOP Fundamentals and Inheritance  ·  Week 3  ·  Day 12</a:t>
            </a:r>
            <a:endParaRPr lang="en-US" sz="1000" dirty="0"/>
          </a:p>
        </p:txBody>
      </p:sp>
      <p:sp>
        <p:nvSpPr>
          <p:cNvPr id="15" name="Text 11"/>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AFA"/>
        </a:solidFill>
      </p:bgPr>
    </p:bg>
    <p:spTree>
      <p:nvGrpSpPr>
        <p:cNvPr id="1" name=""/>
        <p:cNvGrpSpPr/>
        <p:nvPr/>
      </p:nvGrpSpPr>
      <p:grpSpPr>
        <a:xfrm>
          <a:off x="0" y="0"/>
          <a:ext cx="0" cy="0"/>
          <a:chOff x="0" y="0"/>
          <a:chExt cx="0" cy="0"/>
        </a:xfrm>
      </p:grpSpPr>
      <p:pic>
        <p:nvPicPr>
          <p:cNvPr id="2" name="Image 0" descr="assets/intellea_logo_cropped.png">    </p:cNvPr>
          <p:cNvPicPr>
            <a:picLocks noChangeAspect="1"/>
          </p:cNvPicPr>
          <p:nvPr/>
        </p:nvPicPr>
        <p:blipFill>
          <a:blip r:embed="rId1"/>
          <a:stretch>
            <a:fillRect/>
          </a:stretch>
        </p:blipFill>
        <p:spPr>
          <a:xfrm>
            <a:off x="457200" y="320040"/>
            <a:ext cx="1371600" cy="454323"/>
          </a:xfrm>
          <a:prstGeom prst="rect">
            <a:avLst/>
          </a:prstGeom>
        </p:spPr>
      </p:pic>
      <p:sp>
        <p:nvSpPr>
          <p:cNvPr id="3" name="Text 0"/>
          <p:cNvSpPr txBox="1"/>
          <p:nvPr/>
        </p:nvSpPr>
        <p:spPr>
          <a:xfrm>
            <a:off x="457200" y="96012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THREE TYPES</a:t>
            </a:r>
            <a:endParaRPr lang="en-US" sz="1400" dirty="0"/>
          </a:p>
        </p:txBody>
      </p:sp>
      <p:sp>
        <p:nvSpPr>
          <p:cNvPr id="4" name="Text 1"/>
          <p:cNvSpPr txBox="1"/>
          <p:nvPr/>
        </p:nvSpPr>
        <p:spPr>
          <a:xfrm>
            <a:off x="457200" y="1280160"/>
            <a:ext cx="11155680" cy="822960"/>
          </a:xfrm>
          <a:prstGeom prst="rect">
            <a:avLst/>
          </a:prstGeom>
          <a:noFill/>
          <a:ln/>
        </p:spPr>
        <p:txBody>
          <a:bodyPr wrap="square"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Three Ways Classes Can Be Related</a:t>
            </a:r>
            <a:endParaRPr lang="en-US" sz="3000" dirty="0"/>
          </a:p>
        </p:txBody>
      </p:sp>
      <p:sp>
        <p:nvSpPr>
          <p:cNvPr id="5" name="rc_vis"/>
          <p:cNvSpPr/>
          <p:nvPr/>
        </p:nvSpPr>
        <p:spPr>
          <a:xfrm>
            <a:off x="457200" y="2240280"/>
            <a:ext cx="11247120" cy="4023360"/>
          </a:xfrm>
          <a:prstGeom prst="roundRect">
            <a:avLst>
              <a:gd name="adj" fmla="val 2273"/>
            </a:avLst>
          </a:prstGeom>
          <a:solidFill>
            <a:srgbClr val="F8FAFC"/>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Shape 3"/>
          <p:cNvSpPr/>
          <p:nvPr/>
        </p:nvSpPr>
        <p:spPr>
          <a:xfrm>
            <a:off x="731520" y="2395728"/>
            <a:ext cx="3413760" cy="3108960"/>
          </a:xfrm>
          <a:prstGeom prst="roundRect">
            <a:avLst>
              <a:gd name="adj" fmla="val 2941"/>
            </a:avLst>
          </a:prstGeom>
          <a:solidFill>
            <a:srgbClr val="F5F3FF"/>
          </a:solidFill>
          <a:ln w="19050">
            <a:solidFill>
              <a:srgbClr val="8B5CF6"/>
            </a:solidFill>
            <a:prstDash val="solid"/>
          </a:ln>
        </p:spPr>
      </p:sp>
      <p:pic>
        <p:nvPicPr>
          <p:cNvPr id="7" name="Image 1" descr="assets/icon2_gitbranch_purple.png">    </p:cNvPr>
          <p:cNvPicPr>
            <a:picLocks noChangeAspect="1"/>
          </p:cNvPicPr>
          <p:nvPr/>
        </p:nvPicPr>
        <p:blipFill>
          <a:blip r:embed="rId2"/>
          <a:stretch>
            <a:fillRect/>
          </a:stretch>
        </p:blipFill>
        <p:spPr>
          <a:xfrm>
            <a:off x="2186940" y="2505456"/>
            <a:ext cx="502920" cy="502920"/>
          </a:xfrm>
          <a:prstGeom prst="rect">
            <a:avLst/>
          </a:prstGeom>
        </p:spPr>
      </p:pic>
      <p:sp>
        <p:nvSpPr>
          <p:cNvPr id="8" name="Text 4"/>
          <p:cNvSpPr txBox="1"/>
          <p:nvPr/>
        </p:nvSpPr>
        <p:spPr>
          <a:xfrm>
            <a:off x="804672" y="3072384"/>
            <a:ext cx="3267456" cy="365760"/>
          </a:xfrm>
          <a:prstGeom prst="rect">
            <a:avLst/>
          </a:prstGeom>
          <a:noFill/>
          <a:ln/>
        </p:spPr>
        <p:txBody>
          <a:bodyPr wrap="square" rtlCol="0" anchor="t"/>
          <a:lstStyle/>
          <a:p>
            <a:pPr algn="ctr" indent="0" marL="0">
              <a:buNone/>
            </a:pPr>
            <a:r>
              <a:rPr lang="en-US" sz="1900" b="1" dirty="0">
                <a:solidFill>
                  <a:srgbClr val="1E293B"/>
                </a:solidFill>
                <a:latin typeface="Calibri" pitchFamily="34" charset="0"/>
                <a:ea typeface="Calibri" pitchFamily="34" charset="-122"/>
                <a:cs typeface="Calibri" pitchFamily="34" charset="-120"/>
              </a:rPr>
              <a:t>Single</a:t>
            </a:r>
            <a:endParaRPr lang="en-US" sz="1900" dirty="0"/>
          </a:p>
        </p:txBody>
      </p:sp>
      <p:sp>
        <p:nvSpPr>
          <p:cNvPr id="9" name="Text 5"/>
          <p:cNvSpPr txBox="1"/>
          <p:nvPr/>
        </p:nvSpPr>
        <p:spPr>
          <a:xfrm>
            <a:off x="822960" y="3438144"/>
            <a:ext cx="3230880" cy="1993392"/>
          </a:xfrm>
          <a:prstGeom prst="rect">
            <a:avLst/>
          </a:prstGeom>
          <a:noFill/>
          <a:ln/>
        </p:spPr>
        <p:txBody>
          <a:bodyPr wrap="square" rtlCol="0" anchor="t"/>
          <a:lstStyle/>
          <a:p>
            <a:pPr algn="ctr" indent="0" marL="0">
              <a:buNone/>
            </a:pPr>
            <a:r>
              <a:rPr lang="en-US" sz="1450" dirty="0">
                <a:solidFill>
                  <a:srgbClr val="64748B"/>
                </a:solidFill>
                <a:latin typeface="Calibri" pitchFamily="34" charset="0"/>
                <a:ea typeface="Calibri" pitchFamily="34" charset="-122"/>
                <a:cs typeface="Calibri" pitchFamily="34" charset="-120"/>
              </a:rPr>
              <a:t>One child inherits from one parent.</a:t>
            </a:r>
            <a:endParaRPr lang="en-US" sz="1450" dirty="0"/>
          </a:p>
        </p:txBody>
      </p:sp>
      <p:sp>
        <p:nvSpPr>
          <p:cNvPr id="10" name="Shape 6"/>
          <p:cNvSpPr/>
          <p:nvPr/>
        </p:nvSpPr>
        <p:spPr>
          <a:xfrm>
            <a:off x="960120" y="5001768"/>
            <a:ext cx="2956560" cy="384048"/>
          </a:xfrm>
          <a:prstGeom prst="roundRect">
            <a:avLst>
              <a:gd name="adj" fmla="val 14286"/>
            </a:avLst>
          </a:prstGeom>
          <a:solidFill>
            <a:srgbClr val="F5F3FF"/>
          </a:solidFill>
          <a:ln w="19050">
            <a:solidFill>
              <a:srgbClr val="8B5CF6"/>
            </a:solidFill>
            <a:prstDash val="solid"/>
          </a:ln>
        </p:spPr>
      </p:sp>
      <p:sp>
        <p:nvSpPr>
          <p:cNvPr id="11" name="Text 7"/>
          <p:cNvSpPr txBox="1"/>
          <p:nvPr/>
        </p:nvSpPr>
        <p:spPr>
          <a:xfrm>
            <a:off x="960120" y="5001768"/>
            <a:ext cx="2956560" cy="384048"/>
          </a:xfrm>
          <a:prstGeom prst="rect">
            <a:avLst/>
          </a:prstGeom>
          <a:noFill/>
          <a:ln/>
        </p:spPr>
        <p:txBody>
          <a:bodyPr wrap="square" rtlCol="0" anchor="ctr"/>
          <a:lstStyle/>
          <a:p>
            <a:pPr algn="ctr" indent="0" marL="0">
              <a:buNone/>
            </a:pPr>
            <a:r>
              <a:rPr lang="en-US" sz="1250" b="1" dirty="0">
                <a:solidFill>
                  <a:srgbClr val="1E293B"/>
                </a:solidFill>
                <a:latin typeface="Consolas" pitchFamily="34" charset="0"/>
                <a:ea typeface="Consolas" pitchFamily="34" charset="-122"/>
                <a:cs typeface="Consolas" pitchFamily="34" charset="-120"/>
              </a:rPr>
              <a:t>Employee to Developer</a:t>
            </a:r>
            <a:endParaRPr lang="en-US" sz="1250" dirty="0"/>
          </a:p>
        </p:txBody>
      </p:sp>
      <p:sp>
        <p:nvSpPr>
          <p:cNvPr id="12" name="Shape 8"/>
          <p:cNvSpPr/>
          <p:nvPr/>
        </p:nvSpPr>
        <p:spPr>
          <a:xfrm>
            <a:off x="4373880" y="2395728"/>
            <a:ext cx="3413760" cy="3108960"/>
          </a:xfrm>
          <a:prstGeom prst="roundRect">
            <a:avLst>
              <a:gd name="adj" fmla="val 2941"/>
            </a:avLst>
          </a:prstGeom>
          <a:solidFill>
            <a:srgbClr val="F0FDFA"/>
          </a:solidFill>
          <a:ln w="19050">
            <a:solidFill>
              <a:srgbClr val="14B8A6"/>
            </a:solidFill>
            <a:prstDash val="solid"/>
          </a:ln>
        </p:spPr>
      </p:sp>
      <p:pic>
        <p:nvPicPr>
          <p:cNvPr id="13" name="Image 2" descr="assets/icon2_layers_teal.png">    </p:cNvPr>
          <p:cNvPicPr>
            <a:picLocks noChangeAspect="1"/>
          </p:cNvPicPr>
          <p:nvPr/>
        </p:nvPicPr>
        <p:blipFill>
          <a:blip r:embed="rId3"/>
          <a:stretch>
            <a:fillRect/>
          </a:stretch>
        </p:blipFill>
        <p:spPr>
          <a:xfrm>
            <a:off x="5829300" y="2505456"/>
            <a:ext cx="502920" cy="502920"/>
          </a:xfrm>
          <a:prstGeom prst="rect">
            <a:avLst/>
          </a:prstGeom>
        </p:spPr>
      </p:pic>
      <p:sp>
        <p:nvSpPr>
          <p:cNvPr id="14" name="Text 9"/>
          <p:cNvSpPr txBox="1"/>
          <p:nvPr/>
        </p:nvSpPr>
        <p:spPr>
          <a:xfrm>
            <a:off x="4447032" y="3072384"/>
            <a:ext cx="3267456" cy="365760"/>
          </a:xfrm>
          <a:prstGeom prst="rect">
            <a:avLst/>
          </a:prstGeom>
          <a:noFill/>
          <a:ln/>
        </p:spPr>
        <p:txBody>
          <a:bodyPr wrap="square" rtlCol="0" anchor="t"/>
          <a:lstStyle/>
          <a:p>
            <a:pPr algn="ctr" indent="0" marL="0">
              <a:buNone/>
            </a:pPr>
            <a:r>
              <a:rPr lang="en-US" sz="1900" b="1" dirty="0">
                <a:solidFill>
                  <a:srgbClr val="1E293B"/>
                </a:solidFill>
                <a:latin typeface="Calibri" pitchFamily="34" charset="0"/>
                <a:ea typeface="Calibri" pitchFamily="34" charset="-122"/>
                <a:cs typeface="Calibri" pitchFamily="34" charset="-120"/>
              </a:rPr>
              <a:t>Multilevel</a:t>
            </a:r>
            <a:endParaRPr lang="en-US" sz="1900" dirty="0"/>
          </a:p>
        </p:txBody>
      </p:sp>
      <p:sp>
        <p:nvSpPr>
          <p:cNvPr id="15" name="Text 10"/>
          <p:cNvSpPr txBox="1"/>
          <p:nvPr/>
        </p:nvSpPr>
        <p:spPr>
          <a:xfrm>
            <a:off x="4465320" y="3438144"/>
            <a:ext cx="3230880" cy="1993392"/>
          </a:xfrm>
          <a:prstGeom prst="rect">
            <a:avLst/>
          </a:prstGeom>
          <a:noFill/>
          <a:ln/>
        </p:spPr>
        <p:txBody>
          <a:bodyPr wrap="square" rtlCol="0" anchor="t"/>
          <a:lstStyle/>
          <a:p>
            <a:pPr algn="ctr" indent="0" marL="0">
              <a:buNone/>
            </a:pPr>
            <a:r>
              <a:rPr lang="en-US" sz="1450" dirty="0">
                <a:solidFill>
                  <a:srgbClr val="64748B"/>
                </a:solidFill>
                <a:latin typeface="Calibri" pitchFamily="34" charset="0"/>
                <a:ea typeface="Calibri" pitchFamily="34" charset="-122"/>
                <a:cs typeface="Calibri" pitchFamily="34" charset="-120"/>
              </a:rPr>
              <a:t>A chain where a child becomes the parent of the next class.</a:t>
            </a:r>
            <a:endParaRPr lang="en-US" sz="1450" dirty="0"/>
          </a:p>
        </p:txBody>
      </p:sp>
      <p:sp>
        <p:nvSpPr>
          <p:cNvPr id="16" name="Shape 11"/>
          <p:cNvSpPr/>
          <p:nvPr/>
        </p:nvSpPr>
        <p:spPr>
          <a:xfrm>
            <a:off x="4602480" y="5001768"/>
            <a:ext cx="2956560" cy="384048"/>
          </a:xfrm>
          <a:prstGeom prst="roundRect">
            <a:avLst>
              <a:gd name="adj" fmla="val 14286"/>
            </a:avLst>
          </a:prstGeom>
          <a:solidFill>
            <a:srgbClr val="CCFBF1"/>
          </a:solidFill>
          <a:ln w="25400">
            <a:solidFill>
              <a:srgbClr val="14B8A6"/>
            </a:solidFill>
            <a:prstDash val="solid"/>
          </a:ln>
        </p:spPr>
      </p:sp>
      <p:sp>
        <p:nvSpPr>
          <p:cNvPr id="17" name="Text 12"/>
          <p:cNvSpPr txBox="1"/>
          <p:nvPr/>
        </p:nvSpPr>
        <p:spPr>
          <a:xfrm>
            <a:off x="4602480" y="5001768"/>
            <a:ext cx="2956560" cy="384048"/>
          </a:xfrm>
          <a:prstGeom prst="rect">
            <a:avLst/>
          </a:prstGeom>
          <a:noFill/>
          <a:ln/>
        </p:spPr>
        <p:txBody>
          <a:bodyPr wrap="square" rtlCol="0" anchor="ctr"/>
          <a:lstStyle/>
          <a:p>
            <a:pPr algn="ctr" indent="0" marL="0">
              <a:buNone/>
            </a:pPr>
            <a:r>
              <a:rPr lang="en-US" sz="1250" b="1" dirty="0">
                <a:solidFill>
                  <a:srgbClr val="1E293B"/>
                </a:solidFill>
                <a:latin typeface="Consolas" pitchFamily="34" charset="0"/>
                <a:ea typeface="Consolas" pitchFamily="34" charset="-122"/>
                <a:cs typeface="Consolas" pitchFamily="34" charset="-120"/>
              </a:rPr>
              <a:t>Person, Employee, Manager</a:t>
            </a:r>
            <a:endParaRPr lang="en-US" sz="1250" dirty="0"/>
          </a:p>
        </p:txBody>
      </p:sp>
      <p:sp>
        <p:nvSpPr>
          <p:cNvPr id="18" name="Shape 13"/>
          <p:cNvSpPr/>
          <p:nvPr/>
        </p:nvSpPr>
        <p:spPr>
          <a:xfrm>
            <a:off x="8016240" y="2395728"/>
            <a:ext cx="3413760" cy="3108960"/>
          </a:xfrm>
          <a:prstGeom prst="roundRect">
            <a:avLst>
              <a:gd name="adj" fmla="val 2941"/>
            </a:avLst>
          </a:prstGeom>
          <a:solidFill>
            <a:srgbClr val="FDF2F8"/>
          </a:solidFill>
          <a:ln w="19050">
            <a:solidFill>
              <a:srgbClr val="EC4899"/>
            </a:solidFill>
            <a:prstDash val="solid"/>
          </a:ln>
        </p:spPr>
      </p:sp>
      <p:pic>
        <p:nvPicPr>
          <p:cNvPr id="19" name="Image 3" descr="assets/icon2_users_pink.png">    </p:cNvPr>
          <p:cNvPicPr>
            <a:picLocks noChangeAspect="1"/>
          </p:cNvPicPr>
          <p:nvPr/>
        </p:nvPicPr>
        <p:blipFill>
          <a:blip r:embed="rId4"/>
          <a:stretch>
            <a:fillRect/>
          </a:stretch>
        </p:blipFill>
        <p:spPr>
          <a:xfrm>
            <a:off x="9471660" y="2505456"/>
            <a:ext cx="502920" cy="502920"/>
          </a:xfrm>
          <a:prstGeom prst="rect">
            <a:avLst/>
          </a:prstGeom>
        </p:spPr>
      </p:pic>
      <p:sp>
        <p:nvSpPr>
          <p:cNvPr id="20" name="Text 14"/>
          <p:cNvSpPr txBox="1"/>
          <p:nvPr/>
        </p:nvSpPr>
        <p:spPr>
          <a:xfrm>
            <a:off x="8089392" y="3072384"/>
            <a:ext cx="3267456" cy="365760"/>
          </a:xfrm>
          <a:prstGeom prst="rect">
            <a:avLst/>
          </a:prstGeom>
          <a:noFill/>
          <a:ln/>
        </p:spPr>
        <p:txBody>
          <a:bodyPr wrap="square" rtlCol="0" anchor="t"/>
          <a:lstStyle/>
          <a:p>
            <a:pPr algn="ctr" indent="0" marL="0">
              <a:buNone/>
            </a:pPr>
            <a:r>
              <a:rPr lang="en-US" sz="1900" b="1" dirty="0">
                <a:solidFill>
                  <a:srgbClr val="1E293B"/>
                </a:solidFill>
                <a:latin typeface="Calibri" pitchFamily="34" charset="0"/>
                <a:ea typeface="Calibri" pitchFamily="34" charset="-122"/>
                <a:cs typeface="Calibri" pitchFamily="34" charset="-120"/>
              </a:rPr>
              <a:t>Multiple</a:t>
            </a:r>
            <a:endParaRPr lang="en-US" sz="1900" dirty="0"/>
          </a:p>
        </p:txBody>
      </p:sp>
      <p:sp>
        <p:nvSpPr>
          <p:cNvPr id="21" name="Text 15"/>
          <p:cNvSpPr txBox="1"/>
          <p:nvPr/>
        </p:nvSpPr>
        <p:spPr>
          <a:xfrm>
            <a:off x="8107680" y="3438144"/>
            <a:ext cx="3230880" cy="1993392"/>
          </a:xfrm>
          <a:prstGeom prst="rect">
            <a:avLst/>
          </a:prstGeom>
          <a:noFill/>
          <a:ln/>
        </p:spPr>
        <p:txBody>
          <a:bodyPr wrap="square" rtlCol="0" anchor="t"/>
          <a:lstStyle/>
          <a:p>
            <a:pPr algn="ctr" indent="0" marL="0">
              <a:buNone/>
            </a:pPr>
            <a:r>
              <a:rPr lang="en-US" sz="1450" dirty="0">
                <a:solidFill>
                  <a:srgbClr val="64748B"/>
                </a:solidFill>
                <a:latin typeface="Calibri" pitchFamily="34" charset="0"/>
                <a:ea typeface="Calibri" pitchFamily="34" charset="-122"/>
                <a:cs typeface="Calibri" pitchFamily="34" charset="-120"/>
              </a:rPr>
              <a:t>One child inherits from two or more parents.</a:t>
            </a:r>
            <a:endParaRPr lang="en-US" sz="1450" dirty="0"/>
          </a:p>
        </p:txBody>
      </p:sp>
      <p:sp>
        <p:nvSpPr>
          <p:cNvPr id="22" name="Shape 16"/>
          <p:cNvSpPr/>
          <p:nvPr/>
        </p:nvSpPr>
        <p:spPr>
          <a:xfrm>
            <a:off x="8244840" y="5001768"/>
            <a:ext cx="2956560" cy="384048"/>
          </a:xfrm>
          <a:prstGeom prst="roundRect">
            <a:avLst>
              <a:gd name="adj" fmla="val 14286"/>
            </a:avLst>
          </a:prstGeom>
          <a:solidFill>
            <a:srgbClr val="FCE7F3"/>
          </a:solidFill>
          <a:ln w="19050">
            <a:solidFill>
              <a:srgbClr val="EC4899"/>
            </a:solidFill>
            <a:prstDash val="solid"/>
          </a:ln>
        </p:spPr>
      </p:sp>
      <p:sp>
        <p:nvSpPr>
          <p:cNvPr id="23" name="Text 17"/>
          <p:cNvSpPr txBox="1"/>
          <p:nvPr/>
        </p:nvSpPr>
        <p:spPr>
          <a:xfrm>
            <a:off x="8244840" y="5001768"/>
            <a:ext cx="2956560" cy="384048"/>
          </a:xfrm>
          <a:prstGeom prst="rect">
            <a:avLst/>
          </a:prstGeom>
          <a:noFill/>
          <a:ln/>
        </p:spPr>
        <p:txBody>
          <a:bodyPr wrap="square" rtlCol="0" anchor="ctr"/>
          <a:lstStyle/>
          <a:p>
            <a:pPr algn="ctr" indent="0" marL="0">
              <a:buNone/>
            </a:pPr>
            <a:r>
              <a:rPr lang="en-US" sz="1250" b="1" dirty="0">
                <a:solidFill>
                  <a:srgbClr val="1E293B"/>
                </a:solidFill>
                <a:latin typeface="Consolas" pitchFamily="34" charset="0"/>
                <a:ea typeface="Consolas" pitchFamily="34" charset="-122"/>
                <a:cs typeface="Consolas" pitchFamily="34" charset="-120"/>
              </a:rPr>
              <a:t>Two parents, one child</a:t>
            </a:r>
            <a:endParaRPr lang="en-US" sz="1250" dirty="0"/>
          </a:p>
        </p:txBody>
      </p:sp>
      <p:sp>
        <p:nvSpPr>
          <p:cNvPr id="24" name="Shape 18"/>
          <p:cNvSpPr/>
          <p:nvPr/>
        </p:nvSpPr>
        <p:spPr>
          <a:xfrm>
            <a:off x="731520" y="5559552"/>
            <a:ext cx="10698480" cy="0"/>
          </a:xfrm>
          <a:prstGeom prst="line">
            <a:avLst/>
          </a:prstGeom>
          <a:noFill/>
          <a:ln w="12700">
            <a:solidFill>
              <a:srgbClr val="E2E8F0"/>
            </a:solidFill>
            <a:prstDash val="solid"/>
          </a:ln>
        </p:spPr>
      </p:sp>
      <p:sp>
        <p:nvSpPr>
          <p:cNvPr id="25" name="Shape 19"/>
          <p:cNvSpPr/>
          <p:nvPr/>
        </p:nvSpPr>
        <p:spPr>
          <a:xfrm>
            <a:off x="777240" y="5650992"/>
            <a:ext cx="475488" cy="475488"/>
          </a:xfrm>
          <a:prstGeom prst="ellipse">
            <a:avLst/>
          </a:prstGeom>
          <a:solidFill>
            <a:srgbClr val="FCE7F3"/>
          </a:solidFill>
          <a:ln w="19050">
            <a:solidFill>
              <a:srgbClr val="EC4899"/>
            </a:solidFill>
            <a:prstDash val="solid"/>
          </a:ln>
        </p:spPr>
      </p:sp>
      <p:pic>
        <p:nvPicPr>
          <p:cNvPr id="26" name="Image 4" descr="assets/icon2_user_pink.png">    </p:cNvPr>
          <p:cNvPicPr>
            <a:picLocks noChangeAspect="1"/>
          </p:cNvPicPr>
          <p:nvPr/>
        </p:nvPicPr>
        <p:blipFill>
          <a:blip r:embed="rId5"/>
          <a:stretch>
            <a:fillRect/>
          </a:stretch>
        </p:blipFill>
        <p:spPr>
          <a:xfrm>
            <a:off x="872338" y="5746090"/>
            <a:ext cx="285293" cy="285293"/>
          </a:xfrm>
          <a:prstGeom prst="rect">
            <a:avLst/>
          </a:prstGeom>
        </p:spPr>
      </p:pic>
      <p:sp>
        <p:nvSpPr>
          <p:cNvPr id="27" name="Shape 20"/>
          <p:cNvSpPr/>
          <p:nvPr/>
        </p:nvSpPr>
        <p:spPr>
          <a:xfrm rot="2700000">
            <a:off x="1508760" y="5801868"/>
            <a:ext cx="182880" cy="182880"/>
          </a:xfrm>
          <a:prstGeom prst="rect">
            <a:avLst/>
          </a:prstGeom>
          <a:solidFill>
            <a:srgbClr val="FDF2F8"/>
          </a:solidFill>
          <a:ln w="15875">
            <a:solidFill>
              <a:srgbClr val="EC4899"/>
            </a:solidFill>
            <a:prstDash val="solid"/>
          </a:ln>
        </p:spPr>
      </p:sp>
      <p:sp>
        <p:nvSpPr>
          <p:cNvPr id="28" name="Shape 21"/>
          <p:cNvSpPr/>
          <p:nvPr/>
        </p:nvSpPr>
        <p:spPr>
          <a:xfrm>
            <a:off x="1600200" y="5641848"/>
            <a:ext cx="9829800" cy="502920"/>
          </a:xfrm>
          <a:prstGeom prst="roundRect">
            <a:avLst>
              <a:gd name="adj" fmla="val 21818"/>
            </a:avLst>
          </a:prstGeom>
          <a:solidFill>
            <a:srgbClr val="FDF2F8"/>
          </a:solidFill>
          <a:ln w="15875">
            <a:solidFill>
              <a:srgbClr val="EC4899"/>
            </a:solidFill>
            <a:prstDash val="solid"/>
          </a:ln>
        </p:spPr>
      </p:sp>
      <p:sp>
        <p:nvSpPr>
          <p:cNvPr id="29" name="Text 22"/>
          <p:cNvSpPr txBox="1"/>
          <p:nvPr/>
        </p:nvSpPr>
        <p:spPr>
          <a:xfrm>
            <a:off x="1783080" y="5641848"/>
            <a:ext cx="9464040" cy="502920"/>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Ravi says  </a:t>
            </a:r>
            <a:pPr indent="0" marL="0">
              <a:buNone/>
            </a:pPr>
            <a:r>
              <a:rPr lang="en-US" sz="1400" dirty="0">
                <a:solidFill>
                  <a:srgbClr val="1E293B"/>
                </a:solidFill>
                <a:latin typeface="Calibri" pitchFamily="34" charset="0"/>
                <a:ea typeface="Calibri" pitchFamily="34" charset="-122"/>
                <a:cs typeface="Calibri" pitchFamily="34" charset="-120"/>
              </a:rPr>
              <a:t>Start with single inheritance. Use the other two only when the design needs them.</a:t>
            </a:r>
            <a:endParaRPr lang="en-US" sz="1400" dirty="0"/>
          </a:p>
        </p:txBody>
      </p:sp>
      <p:sp>
        <p:nvSpPr>
          <p:cNvPr id="30" name="Text 23"/>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OOP Fundamentals and Inheritance  ·  Week 3  ·  Day 12</a:t>
            </a:r>
            <a:endParaRPr lang="en-US" sz="1000" dirty="0"/>
          </a:p>
        </p:txBody>
      </p:sp>
      <p:sp>
        <p:nvSpPr>
          <p:cNvPr id="31" name="Text 24"/>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AFA"/>
        </a:solidFill>
      </p:bgPr>
    </p:bg>
    <p:spTree>
      <p:nvGrpSpPr>
        <p:cNvPr id="1" name=""/>
        <p:cNvGrpSpPr/>
        <p:nvPr/>
      </p:nvGrpSpPr>
      <p:grpSpPr>
        <a:xfrm>
          <a:off x="0" y="0"/>
          <a:ext cx="0" cy="0"/>
          <a:chOff x="0" y="0"/>
          <a:chExt cx="0" cy="0"/>
        </a:xfrm>
      </p:grpSpPr>
      <p:pic>
        <p:nvPicPr>
          <p:cNvPr id="2" name="Image 0" descr="assets/intellea_logo_cropped.png">    </p:cNvPr>
          <p:cNvPicPr>
            <a:picLocks noChangeAspect="1"/>
          </p:cNvPicPr>
          <p:nvPr/>
        </p:nvPicPr>
        <p:blipFill>
          <a:blip r:embed="rId1"/>
          <a:stretch>
            <a:fillRect/>
          </a:stretch>
        </p:blipFill>
        <p:spPr>
          <a:xfrm>
            <a:off x="457200" y="320040"/>
            <a:ext cx="1371600" cy="454323"/>
          </a:xfrm>
          <a:prstGeom prst="rect">
            <a:avLst/>
          </a:prstGeom>
        </p:spPr>
      </p:pic>
      <p:sp>
        <p:nvSpPr>
          <p:cNvPr id="3" name="Text 0"/>
          <p:cNvSpPr txBox="1"/>
          <p:nvPr/>
        </p:nvSpPr>
        <p:spPr>
          <a:xfrm>
            <a:off x="457200" y="96012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MULTILEVEL INHERITANCE</a:t>
            </a:r>
            <a:endParaRPr lang="en-US" sz="1400" dirty="0"/>
          </a:p>
        </p:txBody>
      </p:sp>
      <p:sp>
        <p:nvSpPr>
          <p:cNvPr id="4" name="Text 1"/>
          <p:cNvSpPr txBox="1"/>
          <p:nvPr/>
        </p:nvSpPr>
        <p:spPr>
          <a:xfrm>
            <a:off x="457200" y="1280160"/>
            <a:ext cx="11155680" cy="822960"/>
          </a:xfrm>
          <a:prstGeom prst="rect">
            <a:avLst/>
          </a:prstGeom>
          <a:noFill/>
          <a:ln/>
        </p:spPr>
        <p:txBody>
          <a:bodyPr wrap="square"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A Chain of Classes</a:t>
            </a:r>
            <a:endParaRPr lang="en-US" sz="3000" dirty="0"/>
          </a:p>
        </p:txBody>
      </p:sp>
      <p:sp>
        <p:nvSpPr>
          <p:cNvPr id="5" name="rc_vis"/>
          <p:cNvSpPr/>
          <p:nvPr/>
        </p:nvSpPr>
        <p:spPr>
          <a:xfrm>
            <a:off x="457200" y="2240280"/>
            <a:ext cx="11247120" cy="4023360"/>
          </a:xfrm>
          <a:prstGeom prst="roundRect">
            <a:avLst>
              <a:gd name="adj" fmla="val 2273"/>
            </a:avLst>
          </a:prstGeom>
          <a:solidFill>
            <a:srgbClr val="F8FAFC"/>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Shape 3"/>
          <p:cNvSpPr/>
          <p:nvPr/>
        </p:nvSpPr>
        <p:spPr>
          <a:xfrm>
            <a:off x="731520" y="2423160"/>
            <a:ext cx="3139440" cy="1691640"/>
          </a:xfrm>
          <a:prstGeom prst="roundRect">
            <a:avLst>
              <a:gd name="adj" fmla="val 5405"/>
            </a:avLst>
          </a:prstGeom>
          <a:solidFill>
            <a:srgbClr val="FDF2F8"/>
          </a:solidFill>
          <a:ln w="19050">
            <a:solidFill>
              <a:srgbClr val="EC4899"/>
            </a:solidFill>
            <a:prstDash val="solid"/>
          </a:ln>
        </p:spPr>
      </p:sp>
      <p:pic>
        <p:nvPicPr>
          <p:cNvPr id="7" name="Image 1" descr="assets/icon2_user_pink.png">    </p:cNvPr>
          <p:cNvPicPr>
            <a:picLocks noChangeAspect="1"/>
          </p:cNvPicPr>
          <p:nvPr/>
        </p:nvPicPr>
        <p:blipFill>
          <a:blip r:embed="rId2"/>
          <a:stretch>
            <a:fillRect/>
          </a:stretch>
        </p:blipFill>
        <p:spPr>
          <a:xfrm>
            <a:off x="2049780" y="2532888"/>
            <a:ext cx="502920" cy="502920"/>
          </a:xfrm>
          <a:prstGeom prst="rect">
            <a:avLst/>
          </a:prstGeom>
        </p:spPr>
      </p:pic>
      <p:sp>
        <p:nvSpPr>
          <p:cNvPr id="8" name="Text 4"/>
          <p:cNvSpPr txBox="1"/>
          <p:nvPr/>
        </p:nvSpPr>
        <p:spPr>
          <a:xfrm>
            <a:off x="804672" y="3099816"/>
            <a:ext cx="2993136" cy="365760"/>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Person</a:t>
            </a:r>
            <a:endParaRPr lang="en-US" sz="1600" dirty="0"/>
          </a:p>
        </p:txBody>
      </p:sp>
      <p:sp>
        <p:nvSpPr>
          <p:cNvPr id="9" name="Text 5"/>
          <p:cNvSpPr txBox="1"/>
          <p:nvPr/>
        </p:nvSpPr>
        <p:spPr>
          <a:xfrm>
            <a:off x="822960" y="3465576"/>
            <a:ext cx="2956560" cy="576072"/>
          </a:xfrm>
          <a:prstGeom prst="rect">
            <a:avLst/>
          </a:prstGeom>
          <a:noFill/>
          <a:ln/>
        </p:spPr>
        <p:txBody>
          <a:bodyPr wrap="square" rtlCol="0" anchor="t"/>
          <a:lstStyle/>
          <a:p>
            <a:pPr algn="ctr" indent="0" marL="0">
              <a:buNone/>
            </a:pPr>
            <a:r>
              <a:rPr lang="en-US" sz="1300" dirty="0">
                <a:solidFill>
                  <a:srgbClr val="64748B"/>
                </a:solidFill>
                <a:latin typeface="Calibri" pitchFamily="34" charset="0"/>
                <a:ea typeface="Calibri" pitchFamily="34" charset="-122"/>
                <a:cs typeface="Calibri" pitchFamily="34" charset="-120"/>
              </a:rPr>
              <a:t>can introduce itself</a:t>
            </a:r>
            <a:endParaRPr lang="en-US" sz="1300" dirty="0"/>
          </a:p>
        </p:txBody>
      </p:sp>
      <p:sp>
        <p:nvSpPr>
          <p:cNvPr id="10" name="Shape 6"/>
          <p:cNvSpPr/>
          <p:nvPr/>
        </p:nvSpPr>
        <p:spPr>
          <a:xfrm>
            <a:off x="3925824" y="3268980"/>
            <a:ext cx="530352" cy="0"/>
          </a:xfrm>
          <a:prstGeom prst="line">
            <a:avLst/>
          </a:prstGeom>
          <a:noFill/>
          <a:ln w="31750">
            <a:solidFill>
              <a:srgbClr val="8B5CF6"/>
            </a:solidFill>
            <a:prstDash val="solid"/>
            <a:tailEnd type="triangle"/>
          </a:ln>
        </p:spPr>
      </p:sp>
      <p:sp>
        <p:nvSpPr>
          <p:cNvPr id="11" name="Shape 7"/>
          <p:cNvSpPr/>
          <p:nvPr/>
        </p:nvSpPr>
        <p:spPr>
          <a:xfrm>
            <a:off x="4511040" y="2423160"/>
            <a:ext cx="3139440" cy="1691640"/>
          </a:xfrm>
          <a:prstGeom prst="roundRect">
            <a:avLst>
              <a:gd name="adj" fmla="val 5405"/>
            </a:avLst>
          </a:prstGeom>
          <a:solidFill>
            <a:srgbClr val="F0FDFA"/>
          </a:solidFill>
          <a:ln w="19050">
            <a:solidFill>
              <a:srgbClr val="14B8A6"/>
            </a:solidFill>
            <a:prstDash val="solid"/>
          </a:ln>
        </p:spPr>
      </p:sp>
      <p:pic>
        <p:nvPicPr>
          <p:cNvPr id="12" name="Image 2" descr="assets/icon2_briefcase_navy.png">    </p:cNvPr>
          <p:cNvPicPr>
            <a:picLocks noChangeAspect="1"/>
          </p:cNvPicPr>
          <p:nvPr/>
        </p:nvPicPr>
        <p:blipFill>
          <a:blip r:embed="rId3"/>
          <a:stretch>
            <a:fillRect/>
          </a:stretch>
        </p:blipFill>
        <p:spPr>
          <a:xfrm>
            <a:off x="5829300" y="2532888"/>
            <a:ext cx="502920" cy="502920"/>
          </a:xfrm>
          <a:prstGeom prst="rect">
            <a:avLst/>
          </a:prstGeom>
        </p:spPr>
      </p:pic>
      <p:sp>
        <p:nvSpPr>
          <p:cNvPr id="13" name="Text 8"/>
          <p:cNvSpPr txBox="1"/>
          <p:nvPr/>
        </p:nvSpPr>
        <p:spPr>
          <a:xfrm>
            <a:off x="4584192" y="3099816"/>
            <a:ext cx="2993136" cy="365760"/>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Employee</a:t>
            </a:r>
            <a:endParaRPr lang="en-US" sz="1600" dirty="0"/>
          </a:p>
        </p:txBody>
      </p:sp>
      <p:sp>
        <p:nvSpPr>
          <p:cNvPr id="14" name="Text 9"/>
          <p:cNvSpPr txBox="1"/>
          <p:nvPr/>
        </p:nvSpPr>
        <p:spPr>
          <a:xfrm>
            <a:off x="4602480" y="3465576"/>
            <a:ext cx="2956560" cy="576072"/>
          </a:xfrm>
          <a:prstGeom prst="rect">
            <a:avLst/>
          </a:prstGeom>
          <a:noFill/>
          <a:ln/>
        </p:spPr>
        <p:txBody>
          <a:bodyPr wrap="square" rtlCol="0" anchor="t"/>
          <a:lstStyle/>
          <a:p>
            <a:pPr algn="ctr" indent="0" marL="0">
              <a:buNone/>
            </a:pPr>
            <a:r>
              <a:rPr lang="en-US" sz="1300" dirty="0">
                <a:solidFill>
                  <a:srgbClr val="64748B"/>
                </a:solidFill>
                <a:latin typeface="Calibri" pitchFamily="34" charset="0"/>
                <a:ea typeface="Calibri" pitchFamily="34" charset="-122"/>
                <a:cs typeface="Calibri" pitchFamily="34" charset="-120"/>
              </a:rPr>
              <a:t>inherits Person and adds work</a:t>
            </a:r>
            <a:endParaRPr lang="en-US" sz="1300" dirty="0"/>
          </a:p>
        </p:txBody>
      </p:sp>
      <p:sp>
        <p:nvSpPr>
          <p:cNvPr id="15" name="Shape 10"/>
          <p:cNvSpPr/>
          <p:nvPr/>
        </p:nvSpPr>
        <p:spPr>
          <a:xfrm>
            <a:off x="7705344" y="3268980"/>
            <a:ext cx="530352" cy="0"/>
          </a:xfrm>
          <a:prstGeom prst="line">
            <a:avLst/>
          </a:prstGeom>
          <a:noFill/>
          <a:ln w="31750">
            <a:solidFill>
              <a:srgbClr val="8B5CF6"/>
            </a:solidFill>
            <a:prstDash val="solid"/>
            <a:tailEnd type="triangle"/>
          </a:ln>
        </p:spPr>
      </p:sp>
      <p:sp>
        <p:nvSpPr>
          <p:cNvPr id="16" name="Shape 11"/>
          <p:cNvSpPr/>
          <p:nvPr/>
        </p:nvSpPr>
        <p:spPr>
          <a:xfrm>
            <a:off x="8290560" y="2423160"/>
            <a:ext cx="3139440" cy="1691640"/>
          </a:xfrm>
          <a:prstGeom prst="roundRect">
            <a:avLst>
              <a:gd name="adj" fmla="val 5405"/>
            </a:avLst>
          </a:prstGeom>
          <a:solidFill>
            <a:srgbClr val="F5F3FF"/>
          </a:solidFill>
          <a:ln w="19050">
            <a:solidFill>
              <a:srgbClr val="8B5CF6"/>
            </a:solidFill>
            <a:prstDash val="solid"/>
          </a:ln>
        </p:spPr>
      </p:sp>
      <p:pic>
        <p:nvPicPr>
          <p:cNvPr id="17" name="Image 3" descr="assets/icon2_users_pink.png">    </p:cNvPr>
          <p:cNvPicPr>
            <a:picLocks noChangeAspect="1"/>
          </p:cNvPicPr>
          <p:nvPr/>
        </p:nvPicPr>
        <p:blipFill>
          <a:blip r:embed="rId4"/>
          <a:stretch>
            <a:fillRect/>
          </a:stretch>
        </p:blipFill>
        <p:spPr>
          <a:xfrm>
            <a:off x="9608820" y="2532888"/>
            <a:ext cx="502920" cy="502920"/>
          </a:xfrm>
          <a:prstGeom prst="rect">
            <a:avLst/>
          </a:prstGeom>
        </p:spPr>
      </p:pic>
      <p:sp>
        <p:nvSpPr>
          <p:cNvPr id="18" name="Text 12"/>
          <p:cNvSpPr txBox="1"/>
          <p:nvPr/>
        </p:nvSpPr>
        <p:spPr>
          <a:xfrm>
            <a:off x="8363712" y="3099816"/>
            <a:ext cx="2993136" cy="365760"/>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Manager</a:t>
            </a:r>
            <a:endParaRPr lang="en-US" sz="1600" dirty="0"/>
          </a:p>
        </p:txBody>
      </p:sp>
      <p:sp>
        <p:nvSpPr>
          <p:cNvPr id="19" name="Text 13"/>
          <p:cNvSpPr txBox="1"/>
          <p:nvPr/>
        </p:nvSpPr>
        <p:spPr>
          <a:xfrm>
            <a:off x="8382000" y="3465576"/>
            <a:ext cx="2956560" cy="576072"/>
          </a:xfrm>
          <a:prstGeom prst="rect">
            <a:avLst/>
          </a:prstGeom>
          <a:noFill/>
          <a:ln/>
        </p:spPr>
        <p:txBody>
          <a:bodyPr wrap="square" rtlCol="0" anchor="t"/>
          <a:lstStyle/>
          <a:p>
            <a:pPr algn="ctr" indent="0" marL="0">
              <a:buNone/>
            </a:pPr>
            <a:r>
              <a:rPr lang="en-US" sz="1300" dirty="0">
                <a:solidFill>
                  <a:srgbClr val="64748B"/>
                </a:solidFill>
                <a:latin typeface="Calibri" pitchFamily="34" charset="0"/>
                <a:ea typeface="Calibri" pitchFamily="34" charset="-122"/>
                <a:cs typeface="Calibri" pitchFamily="34" charset="-120"/>
              </a:rPr>
              <a:t>inherits Employee and adds manage</a:t>
            </a:r>
            <a:endParaRPr lang="en-US" sz="1300" dirty="0"/>
          </a:p>
        </p:txBody>
      </p:sp>
      <p:sp>
        <p:nvSpPr>
          <p:cNvPr id="20" name="Text 14"/>
          <p:cNvSpPr txBox="1"/>
          <p:nvPr/>
        </p:nvSpPr>
        <p:spPr>
          <a:xfrm>
            <a:off x="731520" y="4343400"/>
            <a:ext cx="7315200" cy="256032"/>
          </a:xfrm>
          <a:prstGeom prst="rect">
            <a:avLst/>
          </a:prstGeom>
          <a:noFill/>
          <a:ln/>
        </p:spPr>
        <p:txBody>
          <a:bodyPr wrap="square" rtlCol="0" anchor="ctr"/>
          <a:lstStyle/>
          <a:p>
            <a:pPr indent="0" marL="0">
              <a:buNone/>
            </a:pPr>
            <a:r>
              <a:rPr lang="en-US" sz="1100" b="1" spc="100" kern="0" dirty="0">
                <a:solidFill>
                  <a:srgbClr val="10B981"/>
                </a:solidFill>
                <a:latin typeface="Calibri" pitchFamily="34" charset="0"/>
                <a:ea typeface="Calibri" pitchFamily="34" charset="-122"/>
                <a:cs typeface="Calibri" pitchFamily="34" charset="-120"/>
              </a:rPr>
              <a:t>A MANAGER OBJECT CAN DO ALL THREE</a:t>
            </a:r>
            <a:endParaRPr lang="en-US" sz="1100" dirty="0"/>
          </a:p>
        </p:txBody>
      </p:sp>
      <p:sp>
        <p:nvSpPr>
          <p:cNvPr id="21" name="Shape 15"/>
          <p:cNvSpPr/>
          <p:nvPr/>
        </p:nvSpPr>
        <p:spPr>
          <a:xfrm>
            <a:off x="731520" y="4663440"/>
            <a:ext cx="3383280" cy="594360"/>
          </a:xfrm>
          <a:prstGeom prst="roundRect">
            <a:avLst>
              <a:gd name="adj" fmla="val 9231"/>
            </a:avLst>
          </a:prstGeom>
          <a:solidFill>
            <a:srgbClr val="DCFCE7"/>
          </a:solidFill>
          <a:ln w="25400">
            <a:solidFill>
              <a:srgbClr val="10B981"/>
            </a:solidFill>
            <a:prstDash val="solid"/>
          </a:ln>
        </p:spPr>
      </p:sp>
      <p:sp>
        <p:nvSpPr>
          <p:cNvPr id="22" name="Text 16"/>
          <p:cNvSpPr txBox="1"/>
          <p:nvPr/>
        </p:nvSpPr>
        <p:spPr>
          <a:xfrm>
            <a:off x="731520" y="4663440"/>
            <a:ext cx="3383280" cy="594360"/>
          </a:xfrm>
          <a:prstGeom prst="rect">
            <a:avLst/>
          </a:prstGeom>
          <a:noFill/>
          <a:ln/>
        </p:spPr>
        <p:txBody>
          <a:bodyPr wrap="square" rtlCol="0" anchor="ctr"/>
          <a:lstStyle/>
          <a:p>
            <a:pPr algn="ctr" indent="0" marL="0">
              <a:buNone/>
            </a:pPr>
            <a:r>
              <a:rPr lang="en-US" sz="1400" b="1" dirty="0">
                <a:solidFill>
                  <a:srgbClr val="1E293B"/>
                </a:solidFill>
                <a:latin typeface="Consolas" pitchFamily="34" charset="0"/>
                <a:ea typeface="Consolas" pitchFamily="34" charset="-122"/>
                <a:cs typeface="Consolas" pitchFamily="34" charset="-120"/>
              </a:rPr>
              <a:t>I am a person</a:t>
            </a:r>
            <a:endParaRPr lang="en-US" sz="1400" dirty="0"/>
          </a:p>
        </p:txBody>
      </p:sp>
      <p:sp>
        <p:nvSpPr>
          <p:cNvPr id="23" name="Shape 17"/>
          <p:cNvSpPr/>
          <p:nvPr/>
        </p:nvSpPr>
        <p:spPr>
          <a:xfrm>
            <a:off x="4389120" y="4663440"/>
            <a:ext cx="3383280" cy="594360"/>
          </a:xfrm>
          <a:prstGeom prst="roundRect">
            <a:avLst>
              <a:gd name="adj" fmla="val 9231"/>
            </a:avLst>
          </a:prstGeom>
          <a:solidFill>
            <a:srgbClr val="DCFCE7"/>
          </a:solidFill>
          <a:ln w="25400">
            <a:solidFill>
              <a:srgbClr val="10B981"/>
            </a:solidFill>
            <a:prstDash val="solid"/>
          </a:ln>
        </p:spPr>
      </p:sp>
      <p:sp>
        <p:nvSpPr>
          <p:cNvPr id="24" name="Text 18"/>
          <p:cNvSpPr txBox="1"/>
          <p:nvPr/>
        </p:nvSpPr>
        <p:spPr>
          <a:xfrm>
            <a:off x="4389120" y="4663440"/>
            <a:ext cx="3383280" cy="594360"/>
          </a:xfrm>
          <a:prstGeom prst="rect">
            <a:avLst/>
          </a:prstGeom>
          <a:noFill/>
          <a:ln/>
        </p:spPr>
        <p:txBody>
          <a:bodyPr wrap="square" rtlCol="0" anchor="ctr"/>
          <a:lstStyle/>
          <a:p>
            <a:pPr algn="ctr" indent="0" marL="0">
              <a:buNone/>
            </a:pPr>
            <a:r>
              <a:rPr lang="en-US" sz="1400" b="1" dirty="0">
                <a:solidFill>
                  <a:srgbClr val="1E293B"/>
                </a:solidFill>
                <a:latin typeface="Consolas" pitchFamily="34" charset="0"/>
                <a:ea typeface="Consolas" pitchFamily="34" charset="-122"/>
                <a:cs typeface="Consolas" pitchFamily="34" charset="-120"/>
              </a:rPr>
              <a:t>I am working</a:t>
            </a:r>
            <a:endParaRPr lang="en-US" sz="1400" dirty="0"/>
          </a:p>
        </p:txBody>
      </p:sp>
      <p:sp>
        <p:nvSpPr>
          <p:cNvPr id="25" name="Shape 19"/>
          <p:cNvSpPr/>
          <p:nvPr/>
        </p:nvSpPr>
        <p:spPr>
          <a:xfrm>
            <a:off x="8046720" y="4663440"/>
            <a:ext cx="3383280" cy="594360"/>
          </a:xfrm>
          <a:prstGeom prst="roundRect">
            <a:avLst>
              <a:gd name="adj" fmla="val 9231"/>
            </a:avLst>
          </a:prstGeom>
          <a:solidFill>
            <a:srgbClr val="DCFCE7"/>
          </a:solidFill>
          <a:ln w="25400">
            <a:solidFill>
              <a:srgbClr val="10B981"/>
            </a:solidFill>
            <a:prstDash val="solid"/>
          </a:ln>
        </p:spPr>
      </p:sp>
      <p:sp>
        <p:nvSpPr>
          <p:cNvPr id="26" name="Text 20"/>
          <p:cNvSpPr txBox="1"/>
          <p:nvPr/>
        </p:nvSpPr>
        <p:spPr>
          <a:xfrm>
            <a:off x="8046720" y="4663440"/>
            <a:ext cx="3383280" cy="594360"/>
          </a:xfrm>
          <a:prstGeom prst="rect">
            <a:avLst/>
          </a:prstGeom>
          <a:noFill/>
          <a:ln/>
        </p:spPr>
        <p:txBody>
          <a:bodyPr wrap="square" rtlCol="0" anchor="ctr"/>
          <a:lstStyle/>
          <a:p>
            <a:pPr algn="ctr" indent="0" marL="0">
              <a:buNone/>
            </a:pPr>
            <a:r>
              <a:rPr lang="en-US" sz="1400" b="1" dirty="0">
                <a:solidFill>
                  <a:srgbClr val="1E293B"/>
                </a:solidFill>
                <a:latin typeface="Consolas" pitchFamily="34" charset="0"/>
                <a:ea typeface="Consolas" pitchFamily="34" charset="-122"/>
                <a:cs typeface="Consolas" pitchFamily="34" charset="-120"/>
              </a:rPr>
              <a:t>I manage a team</a:t>
            </a:r>
            <a:endParaRPr lang="en-US" sz="1400" dirty="0"/>
          </a:p>
        </p:txBody>
      </p:sp>
      <p:sp>
        <p:nvSpPr>
          <p:cNvPr id="27" name="Shape 21"/>
          <p:cNvSpPr/>
          <p:nvPr/>
        </p:nvSpPr>
        <p:spPr>
          <a:xfrm>
            <a:off x="731520" y="5559552"/>
            <a:ext cx="10698480" cy="0"/>
          </a:xfrm>
          <a:prstGeom prst="line">
            <a:avLst/>
          </a:prstGeom>
          <a:noFill/>
          <a:ln w="12700">
            <a:solidFill>
              <a:srgbClr val="E2E8F0"/>
            </a:solidFill>
            <a:prstDash val="solid"/>
          </a:ln>
        </p:spPr>
      </p:sp>
      <p:sp>
        <p:nvSpPr>
          <p:cNvPr id="28" name="Shape 22"/>
          <p:cNvSpPr/>
          <p:nvPr/>
        </p:nvSpPr>
        <p:spPr>
          <a:xfrm>
            <a:off x="777240" y="5650992"/>
            <a:ext cx="475488" cy="475488"/>
          </a:xfrm>
          <a:prstGeom prst="ellipse">
            <a:avLst/>
          </a:prstGeom>
          <a:solidFill>
            <a:srgbClr val="FCE7F3"/>
          </a:solidFill>
          <a:ln w="19050">
            <a:solidFill>
              <a:srgbClr val="EC4899"/>
            </a:solidFill>
            <a:prstDash val="solid"/>
          </a:ln>
        </p:spPr>
      </p:sp>
      <p:pic>
        <p:nvPicPr>
          <p:cNvPr id="29" name="Image 4" descr="assets/icon2_user_pink.png">    </p:cNvPr>
          <p:cNvPicPr>
            <a:picLocks noChangeAspect="1"/>
          </p:cNvPicPr>
          <p:nvPr/>
        </p:nvPicPr>
        <p:blipFill>
          <a:blip r:embed="rId5"/>
          <a:stretch>
            <a:fillRect/>
          </a:stretch>
        </p:blipFill>
        <p:spPr>
          <a:xfrm>
            <a:off x="872338" y="5746090"/>
            <a:ext cx="285293" cy="285293"/>
          </a:xfrm>
          <a:prstGeom prst="rect">
            <a:avLst/>
          </a:prstGeom>
        </p:spPr>
      </p:pic>
      <p:sp>
        <p:nvSpPr>
          <p:cNvPr id="30" name="Shape 23"/>
          <p:cNvSpPr/>
          <p:nvPr/>
        </p:nvSpPr>
        <p:spPr>
          <a:xfrm rot="2700000">
            <a:off x="1508760" y="5801868"/>
            <a:ext cx="182880" cy="182880"/>
          </a:xfrm>
          <a:prstGeom prst="rect">
            <a:avLst/>
          </a:prstGeom>
          <a:solidFill>
            <a:srgbClr val="FDF2F8"/>
          </a:solidFill>
          <a:ln w="15875">
            <a:solidFill>
              <a:srgbClr val="EC4899"/>
            </a:solidFill>
            <a:prstDash val="solid"/>
          </a:ln>
        </p:spPr>
      </p:sp>
      <p:sp>
        <p:nvSpPr>
          <p:cNvPr id="31" name="Shape 24"/>
          <p:cNvSpPr/>
          <p:nvPr/>
        </p:nvSpPr>
        <p:spPr>
          <a:xfrm>
            <a:off x="1600200" y="5641848"/>
            <a:ext cx="9829800" cy="502920"/>
          </a:xfrm>
          <a:prstGeom prst="roundRect">
            <a:avLst>
              <a:gd name="adj" fmla="val 21818"/>
            </a:avLst>
          </a:prstGeom>
          <a:solidFill>
            <a:srgbClr val="FDF2F8"/>
          </a:solidFill>
          <a:ln w="15875">
            <a:solidFill>
              <a:srgbClr val="EC4899"/>
            </a:solidFill>
            <a:prstDash val="solid"/>
          </a:ln>
        </p:spPr>
      </p:sp>
      <p:sp>
        <p:nvSpPr>
          <p:cNvPr id="32" name="Text 25"/>
          <p:cNvSpPr txBox="1"/>
          <p:nvPr/>
        </p:nvSpPr>
        <p:spPr>
          <a:xfrm>
            <a:off x="1783080" y="5641848"/>
            <a:ext cx="9464040" cy="502920"/>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Ravi says  </a:t>
            </a:r>
            <a:pPr indent="0" marL="0">
              <a:buNone/>
            </a:pPr>
            <a:r>
              <a:rPr lang="en-US" sz="1400" dirty="0">
                <a:solidFill>
                  <a:srgbClr val="1E293B"/>
                </a:solidFill>
                <a:latin typeface="Calibri" pitchFamily="34" charset="0"/>
                <a:ea typeface="Calibri" pitchFamily="34" charset="-122"/>
                <a:cs typeface="Calibri" pitchFamily="34" charset="-120"/>
              </a:rPr>
              <a:t>A grandchild class gets the features of its parent and its grandparent.</a:t>
            </a:r>
            <a:endParaRPr lang="en-US" sz="1400" dirty="0"/>
          </a:p>
        </p:txBody>
      </p:sp>
      <p:sp>
        <p:nvSpPr>
          <p:cNvPr id="33" name="Text 26"/>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OOP Fundamentals and Inheritance  ·  Week 3  ·  Day 12</a:t>
            </a:r>
            <a:endParaRPr lang="en-US" sz="1000" dirty="0"/>
          </a:p>
        </p:txBody>
      </p:sp>
      <p:sp>
        <p:nvSpPr>
          <p:cNvPr id="34" name="Text 27"/>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AFA"/>
        </a:solidFill>
      </p:bgPr>
    </p:bg>
    <p:spTree>
      <p:nvGrpSpPr>
        <p:cNvPr id="1" name=""/>
        <p:cNvGrpSpPr/>
        <p:nvPr/>
      </p:nvGrpSpPr>
      <p:grpSpPr>
        <a:xfrm>
          <a:off x="0" y="0"/>
          <a:ext cx="0" cy="0"/>
          <a:chOff x="0" y="0"/>
          <a:chExt cx="0" cy="0"/>
        </a:xfrm>
      </p:grpSpPr>
      <p:pic>
        <p:nvPicPr>
          <p:cNvPr id="2" name="Image 0" descr="assets/intellea_logo_cropped.png">    </p:cNvPr>
          <p:cNvPicPr>
            <a:picLocks noChangeAspect="1"/>
          </p:cNvPicPr>
          <p:nvPr/>
        </p:nvPicPr>
        <p:blipFill>
          <a:blip r:embed="rId1"/>
          <a:stretch>
            <a:fillRect/>
          </a:stretch>
        </p:blipFill>
        <p:spPr>
          <a:xfrm>
            <a:off x="457200" y="320040"/>
            <a:ext cx="1371600" cy="454323"/>
          </a:xfrm>
          <a:prstGeom prst="rect">
            <a:avLst/>
          </a:prstGeom>
        </p:spPr>
      </p:pic>
      <p:sp>
        <p:nvSpPr>
          <p:cNvPr id="3" name="Text 0"/>
          <p:cNvSpPr txBox="1"/>
          <p:nvPr/>
        </p:nvSpPr>
        <p:spPr>
          <a:xfrm>
            <a:off x="457200" y="96012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MULTIPLE INHERITANCE</a:t>
            </a:r>
            <a:endParaRPr lang="en-US" sz="1400" dirty="0"/>
          </a:p>
        </p:txBody>
      </p:sp>
      <p:sp>
        <p:nvSpPr>
          <p:cNvPr id="4" name="Text 1"/>
          <p:cNvSpPr txBox="1"/>
          <p:nvPr/>
        </p:nvSpPr>
        <p:spPr>
          <a:xfrm>
            <a:off x="457200" y="1280160"/>
            <a:ext cx="11155680" cy="822960"/>
          </a:xfrm>
          <a:prstGeom prst="rect">
            <a:avLst/>
          </a:prstGeom>
          <a:noFill/>
          <a:ln/>
        </p:spPr>
        <p:txBody>
          <a:bodyPr wrap="square"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One Child, Two Parents</a:t>
            </a:r>
            <a:endParaRPr lang="en-US" sz="3000" dirty="0"/>
          </a:p>
        </p:txBody>
      </p:sp>
      <p:sp>
        <p:nvSpPr>
          <p:cNvPr id="5" name="rc_vis"/>
          <p:cNvSpPr/>
          <p:nvPr/>
        </p:nvSpPr>
        <p:spPr>
          <a:xfrm>
            <a:off x="457200" y="2240280"/>
            <a:ext cx="11247120" cy="4023360"/>
          </a:xfrm>
          <a:prstGeom prst="roundRect">
            <a:avLst>
              <a:gd name="adj" fmla="val 2273"/>
            </a:avLst>
          </a:prstGeom>
          <a:solidFill>
            <a:srgbClr val="F8FAFC"/>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Shape 3"/>
          <p:cNvSpPr/>
          <p:nvPr/>
        </p:nvSpPr>
        <p:spPr>
          <a:xfrm>
            <a:off x="731520" y="2395728"/>
            <a:ext cx="3474720" cy="1325880"/>
          </a:xfrm>
          <a:prstGeom prst="roundRect">
            <a:avLst>
              <a:gd name="adj" fmla="val 6897"/>
            </a:avLst>
          </a:prstGeom>
          <a:solidFill>
            <a:srgbClr val="F5F3FF"/>
          </a:solidFill>
          <a:ln w="19050">
            <a:solidFill>
              <a:srgbClr val="8B5CF6"/>
            </a:solidFill>
            <a:prstDash val="solid"/>
          </a:ln>
        </p:spPr>
      </p:sp>
      <p:pic>
        <p:nvPicPr>
          <p:cNvPr id="7" name="Image 1" descr="assets/icon2_code_purple.png">    </p:cNvPr>
          <p:cNvPicPr>
            <a:picLocks noChangeAspect="1"/>
          </p:cNvPicPr>
          <p:nvPr/>
        </p:nvPicPr>
        <p:blipFill>
          <a:blip r:embed="rId2"/>
          <a:stretch>
            <a:fillRect/>
          </a:stretch>
        </p:blipFill>
        <p:spPr>
          <a:xfrm>
            <a:off x="2217420" y="2505456"/>
            <a:ext cx="502920" cy="502920"/>
          </a:xfrm>
          <a:prstGeom prst="rect">
            <a:avLst/>
          </a:prstGeom>
        </p:spPr>
      </p:pic>
      <p:sp>
        <p:nvSpPr>
          <p:cNvPr id="8" name="Text 4"/>
          <p:cNvSpPr txBox="1"/>
          <p:nvPr/>
        </p:nvSpPr>
        <p:spPr>
          <a:xfrm>
            <a:off x="804672" y="3072384"/>
            <a:ext cx="3328416" cy="347472"/>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Programmer</a:t>
            </a:r>
            <a:endParaRPr lang="en-US" sz="1600" dirty="0"/>
          </a:p>
        </p:txBody>
      </p:sp>
      <p:sp>
        <p:nvSpPr>
          <p:cNvPr id="9" name="Text 5"/>
          <p:cNvSpPr txBox="1"/>
          <p:nvPr/>
        </p:nvSpPr>
        <p:spPr>
          <a:xfrm>
            <a:off x="822960" y="3419856"/>
            <a:ext cx="3291840" cy="228600"/>
          </a:xfrm>
          <a:prstGeom prst="rect">
            <a:avLst/>
          </a:prstGeom>
          <a:noFill/>
          <a:ln/>
        </p:spPr>
        <p:txBody>
          <a:bodyPr wrap="square" rtlCol="0" anchor="t"/>
          <a:lstStyle/>
          <a:p>
            <a:pPr algn="ctr" indent="0" marL="0">
              <a:buNone/>
            </a:pPr>
            <a:r>
              <a:rPr lang="en-US" sz="1350" dirty="0">
                <a:solidFill>
                  <a:srgbClr val="64748B"/>
                </a:solidFill>
                <a:latin typeface="Calibri" pitchFamily="34" charset="0"/>
                <a:ea typeface="Calibri" pitchFamily="34" charset="-122"/>
                <a:cs typeface="Calibri" pitchFamily="34" charset="-120"/>
              </a:rPr>
              <a:t>knows how to code</a:t>
            </a:r>
            <a:endParaRPr lang="en-US" sz="1350" dirty="0"/>
          </a:p>
        </p:txBody>
      </p:sp>
      <p:sp>
        <p:nvSpPr>
          <p:cNvPr id="10" name="Shape 6"/>
          <p:cNvSpPr/>
          <p:nvPr/>
        </p:nvSpPr>
        <p:spPr>
          <a:xfrm>
            <a:off x="731520" y="3931920"/>
            <a:ext cx="3474720" cy="1325880"/>
          </a:xfrm>
          <a:prstGeom prst="roundRect">
            <a:avLst>
              <a:gd name="adj" fmla="val 6897"/>
            </a:avLst>
          </a:prstGeom>
          <a:solidFill>
            <a:srgbClr val="F0FDFA"/>
          </a:solidFill>
          <a:ln w="19050">
            <a:solidFill>
              <a:srgbClr val="14B8A6"/>
            </a:solidFill>
            <a:prstDash val="solid"/>
          </a:ln>
        </p:spPr>
      </p:sp>
      <p:pic>
        <p:nvPicPr>
          <p:cNvPr id="11" name="Image 2" descr="assets/icon2_gradcap_teal.png">    </p:cNvPr>
          <p:cNvPicPr>
            <a:picLocks noChangeAspect="1"/>
          </p:cNvPicPr>
          <p:nvPr/>
        </p:nvPicPr>
        <p:blipFill>
          <a:blip r:embed="rId3"/>
          <a:stretch>
            <a:fillRect/>
          </a:stretch>
        </p:blipFill>
        <p:spPr>
          <a:xfrm>
            <a:off x="2217420" y="4041648"/>
            <a:ext cx="502920" cy="502920"/>
          </a:xfrm>
          <a:prstGeom prst="rect">
            <a:avLst/>
          </a:prstGeom>
        </p:spPr>
      </p:pic>
      <p:sp>
        <p:nvSpPr>
          <p:cNvPr id="12" name="Text 7"/>
          <p:cNvSpPr txBox="1"/>
          <p:nvPr/>
        </p:nvSpPr>
        <p:spPr>
          <a:xfrm>
            <a:off x="804672" y="4608576"/>
            <a:ext cx="3328416" cy="347472"/>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Trainer</a:t>
            </a:r>
            <a:endParaRPr lang="en-US" sz="1600" dirty="0"/>
          </a:p>
        </p:txBody>
      </p:sp>
      <p:sp>
        <p:nvSpPr>
          <p:cNvPr id="13" name="Text 8"/>
          <p:cNvSpPr txBox="1"/>
          <p:nvPr/>
        </p:nvSpPr>
        <p:spPr>
          <a:xfrm>
            <a:off x="822960" y="4956048"/>
            <a:ext cx="3291840" cy="228600"/>
          </a:xfrm>
          <a:prstGeom prst="rect">
            <a:avLst/>
          </a:prstGeom>
          <a:noFill/>
          <a:ln/>
        </p:spPr>
        <p:txBody>
          <a:bodyPr wrap="square" rtlCol="0" anchor="t"/>
          <a:lstStyle/>
          <a:p>
            <a:pPr algn="ctr" indent="0" marL="0">
              <a:buNone/>
            </a:pPr>
            <a:r>
              <a:rPr lang="en-US" sz="1350" dirty="0">
                <a:solidFill>
                  <a:srgbClr val="64748B"/>
                </a:solidFill>
                <a:latin typeface="Calibri" pitchFamily="34" charset="0"/>
                <a:ea typeface="Calibri" pitchFamily="34" charset="-122"/>
                <a:cs typeface="Calibri" pitchFamily="34" charset="-120"/>
              </a:rPr>
              <a:t>knows how to teach</a:t>
            </a:r>
            <a:endParaRPr lang="en-US" sz="1350" dirty="0"/>
          </a:p>
        </p:txBody>
      </p:sp>
      <p:sp>
        <p:nvSpPr>
          <p:cNvPr id="14" name="Shape 9"/>
          <p:cNvSpPr/>
          <p:nvPr/>
        </p:nvSpPr>
        <p:spPr>
          <a:xfrm>
            <a:off x="4251960" y="3063240"/>
            <a:ext cx="1371600" cy="594360"/>
          </a:xfrm>
          <a:prstGeom prst="line">
            <a:avLst/>
          </a:prstGeom>
          <a:noFill/>
          <a:ln w="31750">
            <a:solidFill>
              <a:srgbClr val="8B5CF6"/>
            </a:solidFill>
            <a:prstDash val="solid"/>
            <a:tailEnd type="triangle"/>
          </a:ln>
        </p:spPr>
      </p:sp>
      <p:sp>
        <p:nvSpPr>
          <p:cNvPr id="15" name="Shape 10"/>
          <p:cNvSpPr/>
          <p:nvPr/>
        </p:nvSpPr>
        <p:spPr>
          <a:xfrm flipV="1">
            <a:off x="4251960" y="4023360"/>
            <a:ext cx="1371600" cy="594360"/>
          </a:xfrm>
          <a:prstGeom prst="line">
            <a:avLst/>
          </a:prstGeom>
          <a:noFill/>
          <a:ln w="31750">
            <a:solidFill>
              <a:srgbClr val="14B8A6"/>
            </a:solidFill>
            <a:prstDash val="solid"/>
            <a:tailEnd type="triangle"/>
          </a:ln>
        </p:spPr>
      </p:sp>
      <p:sp>
        <p:nvSpPr>
          <p:cNvPr id="16" name="Shape 11"/>
          <p:cNvSpPr/>
          <p:nvPr/>
        </p:nvSpPr>
        <p:spPr>
          <a:xfrm>
            <a:off x="5669280" y="3017520"/>
            <a:ext cx="2834640" cy="1645920"/>
          </a:xfrm>
          <a:prstGeom prst="roundRect">
            <a:avLst>
              <a:gd name="adj" fmla="val 5556"/>
            </a:avLst>
          </a:prstGeom>
          <a:solidFill>
            <a:srgbClr val="F0FDF4"/>
          </a:solidFill>
          <a:ln w="19050">
            <a:solidFill>
              <a:srgbClr val="10B981"/>
            </a:solidFill>
            <a:prstDash val="solid"/>
          </a:ln>
        </p:spPr>
      </p:sp>
      <p:pic>
        <p:nvPicPr>
          <p:cNvPr id="17" name="Image 3" descr="assets/icon2_users_pink.png">    </p:cNvPr>
          <p:cNvPicPr>
            <a:picLocks noChangeAspect="1"/>
          </p:cNvPicPr>
          <p:nvPr/>
        </p:nvPicPr>
        <p:blipFill>
          <a:blip r:embed="rId4"/>
          <a:stretch>
            <a:fillRect/>
          </a:stretch>
        </p:blipFill>
        <p:spPr>
          <a:xfrm>
            <a:off x="6835140" y="3127248"/>
            <a:ext cx="502920" cy="502920"/>
          </a:xfrm>
          <a:prstGeom prst="rect">
            <a:avLst/>
          </a:prstGeom>
        </p:spPr>
      </p:pic>
      <p:sp>
        <p:nvSpPr>
          <p:cNvPr id="18" name="Text 12"/>
          <p:cNvSpPr txBox="1"/>
          <p:nvPr/>
        </p:nvSpPr>
        <p:spPr>
          <a:xfrm>
            <a:off x="5742432" y="3694176"/>
            <a:ext cx="2688336" cy="347472"/>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TechnicalMentor</a:t>
            </a:r>
            <a:endParaRPr lang="en-US" sz="1600" dirty="0"/>
          </a:p>
        </p:txBody>
      </p:sp>
      <p:sp>
        <p:nvSpPr>
          <p:cNvPr id="19" name="Text 13"/>
          <p:cNvSpPr txBox="1"/>
          <p:nvPr/>
        </p:nvSpPr>
        <p:spPr>
          <a:xfrm>
            <a:off x="5760720" y="4041648"/>
            <a:ext cx="2651760" cy="548640"/>
          </a:xfrm>
          <a:prstGeom prst="rect">
            <a:avLst/>
          </a:prstGeom>
          <a:noFill/>
          <a:ln/>
        </p:spPr>
        <p:txBody>
          <a:bodyPr wrap="square" rtlCol="0" anchor="t"/>
          <a:lstStyle/>
          <a:p>
            <a:pPr algn="ctr" indent="0" marL="0">
              <a:buNone/>
            </a:pPr>
            <a:r>
              <a:rPr lang="en-US" sz="1350" dirty="0">
                <a:solidFill>
                  <a:srgbClr val="64748B"/>
                </a:solidFill>
                <a:latin typeface="Calibri" pitchFamily="34" charset="0"/>
                <a:ea typeface="Calibri" pitchFamily="34" charset="-122"/>
                <a:cs typeface="Calibri" pitchFamily="34" charset="-120"/>
              </a:rPr>
              <a:t>gets the skills of both parents</a:t>
            </a:r>
            <a:endParaRPr lang="en-US" sz="1350" dirty="0"/>
          </a:p>
        </p:txBody>
      </p:sp>
      <p:sp>
        <p:nvSpPr>
          <p:cNvPr id="20" name="Shape 14"/>
          <p:cNvSpPr/>
          <p:nvPr/>
        </p:nvSpPr>
        <p:spPr>
          <a:xfrm flipV="1">
            <a:off x="8549640" y="3200400"/>
            <a:ext cx="411480" cy="365760"/>
          </a:xfrm>
          <a:prstGeom prst="line">
            <a:avLst/>
          </a:prstGeom>
          <a:noFill/>
          <a:ln w="31750">
            <a:solidFill>
              <a:srgbClr val="10B981"/>
            </a:solidFill>
            <a:prstDash val="solid"/>
            <a:tailEnd type="triangle"/>
          </a:ln>
        </p:spPr>
      </p:sp>
      <p:sp>
        <p:nvSpPr>
          <p:cNvPr id="21" name="Shape 15"/>
          <p:cNvSpPr/>
          <p:nvPr/>
        </p:nvSpPr>
        <p:spPr>
          <a:xfrm>
            <a:off x="8549640" y="4114800"/>
            <a:ext cx="411480" cy="365760"/>
          </a:xfrm>
          <a:prstGeom prst="line">
            <a:avLst/>
          </a:prstGeom>
          <a:noFill/>
          <a:ln w="31750">
            <a:solidFill>
              <a:srgbClr val="10B981"/>
            </a:solidFill>
            <a:prstDash val="solid"/>
            <a:tailEnd type="triangle"/>
          </a:ln>
        </p:spPr>
      </p:sp>
      <p:sp>
        <p:nvSpPr>
          <p:cNvPr id="22" name="Shape 16"/>
          <p:cNvSpPr/>
          <p:nvPr/>
        </p:nvSpPr>
        <p:spPr>
          <a:xfrm>
            <a:off x="9006840" y="2880360"/>
            <a:ext cx="2423160" cy="548640"/>
          </a:xfrm>
          <a:prstGeom prst="roundRect">
            <a:avLst>
              <a:gd name="adj" fmla="val 10000"/>
            </a:avLst>
          </a:prstGeom>
          <a:solidFill>
            <a:srgbClr val="DCFCE7"/>
          </a:solidFill>
          <a:ln w="25400">
            <a:solidFill>
              <a:srgbClr val="10B981"/>
            </a:solidFill>
            <a:prstDash val="solid"/>
          </a:ln>
        </p:spPr>
      </p:sp>
      <p:sp>
        <p:nvSpPr>
          <p:cNvPr id="23" name="Text 17"/>
          <p:cNvSpPr txBox="1"/>
          <p:nvPr/>
        </p:nvSpPr>
        <p:spPr>
          <a:xfrm>
            <a:off x="9006840" y="2880360"/>
            <a:ext cx="2423160" cy="548640"/>
          </a:xfrm>
          <a:prstGeom prst="rect">
            <a:avLst/>
          </a:prstGeom>
          <a:noFill/>
          <a:ln/>
        </p:spPr>
        <p:txBody>
          <a:bodyPr wrap="square" rtlCol="0" anchor="ctr"/>
          <a:lstStyle/>
          <a:p>
            <a:pPr algn="ctr" indent="0" marL="0">
              <a:buNone/>
            </a:pPr>
            <a:r>
              <a:rPr lang="en-US" sz="1300" b="1" dirty="0">
                <a:solidFill>
                  <a:srgbClr val="1E293B"/>
                </a:solidFill>
                <a:latin typeface="Consolas" pitchFamily="34" charset="0"/>
                <a:ea typeface="Consolas" pitchFamily="34" charset="-122"/>
                <a:cs typeface="Consolas" pitchFamily="34" charset="-120"/>
              </a:rPr>
              <a:t>Writing code</a:t>
            </a:r>
            <a:endParaRPr lang="en-US" sz="1300" dirty="0"/>
          </a:p>
        </p:txBody>
      </p:sp>
      <p:sp>
        <p:nvSpPr>
          <p:cNvPr id="24" name="Shape 18"/>
          <p:cNvSpPr/>
          <p:nvPr/>
        </p:nvSpPr>
        <p:spPr>
          <a:xfrm>
            <a:off x="9006840" y="4251960"/>
            <a:ext cx="2423160" cy="548640"/>
          </a:xfrm>
          <a:prstGeom prst="roundRect">
            <a:avLst>
              <a:gd name="adj" fmla="val 10000"/>
            </a:avLst>
          </a:prstGeom>
          <a:solidFill>
            <a:srgbClr val="DCFCE7"/>
          </a:solidFill>
          <a:ln w="25400">
            <a:solidFill>
              <a:srgbClr val="10B981"/>
            </a:solidFill>
            <a:prstDash val="solid"/>
          </a:ln>
        </p:spPr>
      </p:sp>
      <p:sp>
        <p:nvSpPr>
          <p:cNvPr id="25" name="Text 19"/>
          <p:cNvSpPr txBox="1"/>
          <p:nvPr/>
        </p:nvSpPr>
        <p:spPr>
          <a:xfrm>
            <a:off x="9006840" y="4251960"/>
            <a:ext cx="2423160" cy="548640"/>
          </a:xfrm>
          <a:prstGeom prst="rect">
            <a:avLst/>
          </a:prstGeom>
          <a:noFill/>
          <a:ln/>
        </p:spPr>
        <p:txBody>
          <a:bodyPr wrap="square" rtlCol="0" anchor="ctr"/>
          <a:lstStyle/>
          <a:p>
            <a:pPr algn="ctr" indent="0" marL="0">
              <a:buNone/>
            </a:pPr>
            <a:r>
              <a:rPr lang="en-US" sz="1300" b="1" dirty="0">
                <a:solidFill>
                  <a:srgbClr val="1E293B"/>
                </a:solidFill>
                <a:latin typeface="Consolas" pitchFamily="34" charset="0"/>
                <a:ea typeface="Consolas" pitchFamily="34" charset="-122"/>
                <a:cs typeface="Consolas" pitchFamily="34" charset="-120"/>
              </a:rPr>
              <a:t>Teaching Students</a:t>
            </a:r>
            <a:endParaRPr lang="en-US" sz="1300" dirty="0"/>
          </a:p>
        </p:txBody>
      </p:sp>
      <p:sp>
        <p:nvSpPr>
          <p:cNvPr id="26" name="Shape 20"/>
          <p:cNvSpPr/>
          <p:nvPr/>
        </p:nvSpPr>
        <p:spPr>
          <a:xfrm>
            <a:off x="731520" y="5559552"/>
            <a:ext cx="10698480" cy="0"/>
          </a:xfrm>
          <a:prstGeom prst="line">
            <a:avLst/>
          </a:prstGeom>
          <a:noFill/>
          <a:ln w="12700">
            <a:solidFill>
              <a:srgbClr val="E2E8F0"/>
            </a:solidFill>
            <a:prstDash val="solid"/>
          </a:ln>
        </p:spPr>
      </p:sp>
      <p:sp>
        <p:nvSpPr>
          <p:cNvPr id="27" name="Shape 21"/>
          <p:cNvSpPr/>
          <p:nvPr/>
        </p:nvSpPr>
        <p:spPr>
          <a:xfrm>
            <a:off x="777240" y="5650992"/>
            <a:ext cx="475488" cy="475488"/>
          </a:xfrm>
          <a:prstGeom prst="ellipse">
            <a:avLst/>
          </a:prstGeom>
          <a:solidFill>
            <a:srgbClr val="FCE7F3"/>
          </a:solidFill>
          <a:ln w="19050">
            <a:solidFill>
              <a:srgbClr val="EC4899"/>
            </a:solidFill>
            <a:prstDash val="solid"/>
          </a:ln>
        </p:spPr>
      </p:sp>
      <p:pic>
        <p:nvPicPr>
          <p:cNvPr id="28" name="Image 4" descr="assets/icon2_user_pink.png">    </p:cNvPr>
          <p:cNvPicPr>
            <a:picLocks noChangeAspect="1"/>
          </p:cNvPicPr>
          <p:nvPr/>
        </p:nvPicPr>
        <p:blipFill>
          <a:blip r:embed="rId5"/>
          <a:stretch>
            <a:fillRect/>
          </a:stretch>
        </p:blipFill>
        <p:spPr>
          <a:xfrm>
            <a:off x="872338" y="5746090"/>
            <a:ext cx="285293" cy="285293"/>
          </a:xfrm>
          <a:prstGeom prst="rect">
            <a:avLst/>
          </a:prstGeom>
        </p:spPr>
      </p:pic>
      <p:sp>
        <p:nvSpPr>
          <p:cNvPr id="29" name="Shape 22"/>
          <p:cNvSpPr/>
          <p:nvPr/>
        </p:nvSpPr>
        <p:spPr>
          <a:xfrm rot="2700000">
            <a:off x="1508760" y="5801868"/>
            <a:ext cx="182880" cy="182880"/>
          </a:xfrm>
          <a:prstGeom prst="rect">
            <a:avLst/>
          </a:prstGeom>
          <a:solidFill>
            <a:srgbClr val="FDF2F8"/>
          </a:solidFill>
          <a:ln w="15875">
            <a:solidFill>
              <a:srgbClr val="EC4899"/>
            </a:solidFill>
            <a:prstDash val="solid"/>
          </a:ln>
        </p:spPr>
      </p:sp>
      <p:sp>
        <p:nvSpPr>
          <p:cNvPr id="30" name="Shape 23"/>
          <p:cNvSpPr/>
          <p:nvPr/>
        </p:nvSpPr>
        <p:spPr>
          <a:xfrm>
            <a:off x="1600200" y="5641848"/>
            <a:ext cx="9829800" cy="502920"/>
          </a:xfrm>
          <a:prstGeom prst="roundRect">
            <a:avLst>
              <a:gd name="adj" fmla="val 21818"/>
            </a:avLst>
          </a:prstGeom>
          <a:solidFill>
            <a:srgbClr val="FDF2F8"/>
          </a:solidFill>
          <a:ln w="15875">
            <a:solidFill>
              <a:srgbClr val="EC4899"/>
            </a:solidFill>
            <a:prstDash val="solid"/>
          </a:ln>
        </p:spPr>
      </p:sp>
      <p:sp>
        <p:nvSpPr>
          <p:cNvPr id="31" name="Text 24"/>
          <p:cNvSpPr txBox="1"/>
          <p:nvPr/>
        </p:nvSpPr>
        <p:spPr>
          <a:xfrm>
            <a:off x="1783080" y="5641848"/>
            <a:ext cx="9464040" cy="502920"/>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Ravi says  </a:t>
            </a:r>
            <a:pPr indent="0" marL="0">
              <a:buNone/>
            </a:pPr>
            <a:r>
              <a:rPr lang="en-US" sz="1400" dirty="0">
                <a:solidFill>
                  <a:srgbClr val="1E293B"/>
                </a:solidFill>
                <a:latin typeface="Calibri" pitchFamily="34" charset="0"/>
                <a:ea typeface="Calibri" pitchFamily="34" charset="-122"/>
                <a:cs typeface="Calibri" pitchFamily="34" charset="-120"/>
              </a:rPr>
              <a:t>The mentor object can both write code and teach, without writing either again.</a:t>
            </a:r>
            <a:endParaRPr lang="en-US" sz="1400" dirty="0"/>
          </a:p>
        </p:txBody>
      </p:sp>
      <p:sp>
        <p:nvSpPr>
          <p:cNvPr id="32" name="Text 25"/>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OOP Fundamentals and Inheritance  ·  Week 3  ·  Day 12</a:t>
            </a:r>
            <a:endParaRPr lang="en-US" sz="1000" dirty="0"/>
          </a:p>
        </p:txBody>
      </p:sp>
      <p:sp>
        <p:nvSpPr>
          <p:cNvPr id="33" name="Text 26"/>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AFA"/>
        </a:solidFill>
      </p:bgPr>
    </p:bg>
    <p:spTree>
      <p:nvGrpSpPr>
        <p:cNvPr id="1" name=""/>
        <p:cNvGrpSpPr/>
        <p:nvPr/>
      </p:nvGrpSpPr>
      <p:grpSpPr>
        <a:xfrm>
          <a:off x="0" y="0"/>
          <a:ext cx="0" cy="0"/>
          <a:chOff x="0" y="0"/>
          <a:chExt cx="0" cy="0"/>
        </a:xfrm>
      </p:grpSpPr>
      <p:pic>
        <p:nvPicPr>
          <p:cNvPr id="2" name="Image 0" descr="assets/intellea_logo_cropped.png">    </p:cNvPr>
          <p:cNvPicPr>
            <a:picLocks noChangeAspect="1"/>
          </p:cNvPicPr>
          <p:nvPr/>
        </p:nvPicPr>
        <p:blipFill>
          <a:blip r:embed="rId1"/>
          <a:stretch>
            <a:fillRect/>
          </a:stretch>
        </p:blipFill>
        <p:spPr>
          <a:xfrm>
            <a:off x="457200" y="320040"/>
            <a:ext cx="1371600" cy="454323"/>
          </a:xfrm>
          <a:prstGeom prst="rect">
            <a:avLst/>
          </a:prstGeom>
        </p:spPr>
      </p:pic>
      <p:sp>
        <p:nvSpPr>
          <p:cNvPr id="3" name="Text 0"/>
          <p:cNvSpPr txBox="1"/>
          <p:nvPr/>
        </p:nvSpPr>
        <p:spPr>
          <a:xfrm>
            <a:off x="457200" y="96012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WHERE IT IS USED</a:t>
            </a:r>
            <a:endParaRPr lang="en-US" sz="1400" dirty="0"/>
          </a:p>
        </p:txBody>
      </p:sp>
      <p:sp>
        <p:nvSpPr>
          <p:cNvPr id="4" name="Text 1"/>
          <p:cNvSpPr txBox="1"/>
          <p:nvPr/>
        </p:nvSpPr>
        <p:spPr>
          <a:xfrm>
            <a:off x="457200" y="1280160"/>
            <a:ext cx="11155680" cy="822960"/>
          </a:xfrm>
          <a:prstGeom prst="rect">
            <a:avLst/>
          </a:prstGeom>
          <a:noFill/>
          <a:ln/>
        </p:spPr>
        <p:txBody>
          <a:bodyPr wrap="square"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OOP in the Real World</a:t>
            </a:r>
            <a:endParaRPr lang="en-US" sz="3000" dirty="0"/>
          </a:p>
        </p:txBody>
      </p:sp>
      <p:sp>
        <p:nvSpPr>
          <p:cNvPr id="5" name="rc_vis"/>
          <p:cNvSpPr/>
          <p:nvPr/>
        </p:nvSpPr>
        <p:spPr>
          <a:xfrm>
            <a:off x="457200" y="2240280"/>
            <a:ext cx="11247120" cy="4023360"/>
          </a:xfrm>
          <a:prstGeom prst="roundRect">
            <a:avLst>
              <a:gd name="adj" fmla="val 2273"/>
            </a:avLst>
          </a:prstGeom>
          <a:solidFill>
            <a:srgbClr val="F8FAFC"/>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Text 3"/>
          <p:cNvSpPr txBox="1"/>
          <p:nvPr/>
        </p:nvSpPr>
        <p:spPr>
          <a:xfrm>
            <a:off x="731520" y="2359152"/>
            <a:ext cx="5120640" cy="320040"/>
          </a:xfrm>
          <a:prstGeom prst="rect">
            <a:avLst/>
          </a:prstGeom>
          <a:noFill/>
          <a:ln/>
        </p:spPr>
        <p:txBody>
          <a:bodyPr wrap="square" rtlCol="0" anchor="ctr"/>
          <a:lstStyle/>
          <a:p>
            <a:pPr indent="0" marL="0">
              <a:buNone/>
            </a:pPr>
            <a:r>
              <a:rPr lang="en-US" sz="1400" b="1" spc="100" kern="0" dirty="0">
                <a:solidFill>
                  <a:srgbClr val="14B8A6"/>
                </a:solidFill>
                <a:latin typeface="Calibri" pitchFamily="34" charset="0"/>
                <a:ea typeface="Calibri" pitchFamily="34" charset="-122"/>
                <a:cs typeface="Calibri" pitchFamily="34" charset="-120"/>
              </a:rPr>
              <a:t>Industries</a:t>
            </a:r>
            <a:endParaRPr lang="en-US" sz="1400" dirty="0"/>
          </a:p>
        </p:txBody>
      </p:sp>
      <p:sp>
        <p:nvSpPr>
          <p:cNvPr id="7" name="Shape 4"/>
          <p:cNvSpPr/>
          <p:nvPr/>
        </p:nvSpPr>
        <p:spPr>
          <a:xfrm>
            <a:off x="731520" y="2743200"/>
            <a:ext cx="5212080" cy="749808"/>
          </a:xfrm>
          <a:prstGeom prst="roundRect">
            <a:avLst>
              <a:gd name="adj" fmla="val 9756"/>
            </a:avLst>
          </a:prstGeom>
          <a:solidFill>
            <a:srgbClr val="FFFFFF"/>
          </a:solidFill>
          <a:ln w="15875">
            <a:solidFill>
              <a:srgbClr val="14B8A6"/>
            </a:solidFill>
            <a:prstDash val="solid"/>
          </a:ln>
        </p:spPr>
      </p:sp>
      <p:pic>
        <p:nvPicPr>
          <p:cNvPr id="8" name="Image 1" descr="assets/icon2_bank_navy.png">    </p:cNvPr>
          <p:cNvPicPr>
            <a:picLocks noChangeAspect="1"/>
          </p:cNvPicPr>
          <p:nvPr/>
        </p:nvPicPr>
        <p:blipFill>
          <a:blip r:embed="rId2"/>
          <a:stretch>
            <a:fillRect/>
          </a:stretch>
        </p:blipFill>
        <p:spPr>
          <a:xfrm>
            <a:off x="896112" y="2916936"/>
            <a:ext cx="402336" cy="402336"/>
          </a:xfrm>
          <a:prstGeom prst="rect">
            <a:avLst/>
          </a:prstGeom>
        </p:spPr>
      </p:pic>
      <p:sp>
        <p:nvSpPr>
          <p:cNvPr id="9" name="Text 5"/>
          <p:cNvSpPr txBox="1"/>
          <p:nvPr/>
        </p:nvSpPr>
        <p:spPr>
          <a:xfrm>
            <a:off x="1463040" y="2743200"/>
            <a:ext cx="4389120" cy="749808"/>
          </a:xfrm>
          <a:prstGeom prst="rect">
            <a:avLst/>
          </a:prstGeom>
          <a:noFill/>
          <a:ln/>
        </p:spPr>
        <p:txBody>
          <a:bodyPr wrap="square"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Banking</a:t>
            </a:r>
            <a:endParaRPr lang="en-US" sz="1500" dirty="0"/>
          </a:p>
          <a:p>
            <a:pPr indent="0" marL="0">
              <a:buNone/>
            </a:pPr>
            <a:r>
              <a:rPr lang="en-US" sz="1250" dirty="0">
                <a:solidFill>
                  <a:srgbClr val="64748B"/>
                </a:solidFill>
                <a:latin typeface="Calibri" pitchFamily="34" charset="0"/>
                <a:ea typeface="Calibri" pitchFamily="34" charset="-122"/>
                <a:cs typeface="Calibri" pitchFamily="34" charset="-120"/>
              </a:rPr>
              <a:t>accounts, customers and transactions as objects</a:t>
            </a:r>
            <a:endParaRPr lang="en-US" sz="1500" dirty="0"/>
          </a:p>
        </p:txBody>
      </p:sp>
      <p:sp>
        <p:nvSpPr>
          <p:cNvPr id="10" name="Shape 6"/>
          <p:cNvSpPr/>
          <p:nvPr/>
        </p:nvSpPr>
        <p:spPr>
          <a:xfrm>
            <a:off x="731520" y="3611880"/>
            <a:ext cx="5212080" cy="749808"/>
          </a:xfrm>
          <a:prstGeom prst="roundRect">
            <a:avLst>
              <a:gd name="adj" fmla="val 9756"/>
            </a:avLst>
          </a:prstGeom>
          <a:solidFill>
            <a:srgbClr val="FFFFFF"/>
          </a:solidFill>
          <a:ln w="15875">
            <a:solidFill>
              <a:srgbClr val="14B8A6"/>
            </a:solidFill>
            <a:prstDash val="solid"/>
          </a:ln>
        </p:spPr>
      </p:sp>
      <p:pic>
        <p:nvPicPr>
          <p:cNvPr id="11" name="Image 2" descr="assets/icon2_cart_orange.png">    </p:cNvPr>
          <p:cNvPicPr>
            <a:picLocks noChangeAspect="1"/>
          </p:cNvPicPr>
          <p:nvPr/>
        </p:nvPicPr>
        <p:blipFill>
          <a:blip r:embed="rId3"/>
          <a:stretch>
            <a:fillRect/>
          </a:stretch>
        </p:blipFill>
        <p:spPr>
          <a:xfrm>
            <a:off x="896112" y="3785616"/>
            <a:ext cx="402336" cy="402336"/>
          </a:xfrm>
          <a:prstGeom prst="rect">
            <a:avLst/>
          </a:prstGeom>
        </p:spPr>
      </p:pic>
      <p:sp>
        <p:nvSpPr>
          <p:cNvPr id="12" name="Text 7"/>
          <p:cNvSpPr txBox="1"/>
          <p:nvPr/>
        </p:nvSpPr>
        <p:spPr>
          <a:xfrm>
            <a:off x="1463040" y="3611880"/>
            <a:ext cx="4389120" cy="749808"/>
          </a:xfrm>
          <a:prstGeom prst="rect">
            <a:avLst/>
          </a:prstGeom>
          <a:noFill/>
          <a:ln/>
        </p:spPr>
        <p:txBody>
          <a:bodyPr wrap="square"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Online Shopping</a:t>
            </a:r>
            <a:endParaRPr lang="en-US" sz="1500" dirty="0"/>
          </a:p>
          <a:p>
            <a:pPr indent="0" marL="0">
              <a:buNone/>
            </a:pPr>
            <a:r>
              <a:rPr lang="en-US" sz="1250" dirty="0">
                <a:solidFill>
                  <a:srgbClr val="64748B"/>
                </a:solidFill>
                <a:latin typeface="Calibri" pitchFamily="34" charset="0"/>
                <a:ea typeface="Calibri" pitchFamily="34" charset="-122"/>
                <a:cs typeface="Calibri" pitchFamily="34" charset="-120"/>
              </a:rPr>
              <a:t>products, carts and orders as objects</a:t>
            </a:r>
            <a:endParaRPr lang="en-US" sz="1500" dirty="0"/>
          </a:p>
        </p:txBody>
      </p:sp>
      <p:sp>
        <p:nvSpPr>
          <p:cNvPr id="13" name="Shape 8"/>
          <p:cNvSpPr/>
          <p:nvPr/>
        </p:nvSpPr>
        <p:spPr>
          <a:xfrm>
            <a:off x="731520" y="4480560"/>
            <a:ext cx="5212080" cy="749808"/>
          </a:xfrm>
          <a:prstGeom prst="roundRect">
            <a:avLst>
              <a:gd name="adj" fmla="val 9756"/>
            </a:avLst>
          </a:prstGeom>
          <a:solidFill>
            <a:srgbClr val="FFFFFF"/>
          </a:solidFill>
          <a:ln w="15875">
            <a:solidFill>
              <a:srgbClr val="14B8A6"/>
            </a:solidFill>
            <a:prstDash val="solid"/>
          </a:ln>
        </p:spPr>
      </p:sp>
      <p:pic>
        <p:nvPicPr>
          <p:cNvPr id="14" name="Image 3" descr="assets/icon2_gradcap_teal.png">    </p:cNvPr>
          <p:cNvPicPr>
            <a:picLocks noChangeAspect="1"/>
          </p:cNvPicPr>
          <p:nvPr/>
        </p:nvPicPr>
        <p:blipFill>
          <a:blip r:embed="rId4"/>
          <a:stretch>
            <a:fillRect/>
          </a:stretch>
        </p:blipFill>
        <p:spPr>
          <a:xfrm>
            <a:off x="896112" y="4654296"/>
            <a:ext cx="402336" cy="402336"/>
          </a:xfrm>
          <a:prstGeom prst="rect">
            <a:avLst/>
          </a:prstGeom>
        </p:spPr>
      </p:pic>
      <p:sp>
        <p:nvSpPr>
          <p:cNvPr id="15" name="Text 9"/>
          <p:cNvSpPr txBox="1"/>
          <p:nvPr/>
        </p:nvSpPr>
        <p:spPr>
          <a:xfrm>
            <a:off x="1463040" y="4480560"/>
            <a:ext cx="4389120" cy="749808"/>
          </a:xfrm>
          <a:prstGeom prst="rect">
            <a:avLst/>
          </a:prstGeom>
          <a:noFill/>
          <a:ln/>
        </p:spPr>
        <p:txBody>
          <a:bodyPr wrap="square"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Education</a:t>
            </a:r>
            <a:endParaRPr lang="en-US" sz="1500" dirty="0"/>
          </a:p>
          <a:p>
            <a:pPr indent="0" marL="0">
              <a:buNone/>
            </a:pPr>
            <a:r>
              <a:rPr lang="en-US" sz="1250" dirty="0">
                <a:solidFill>
                  <a:srgbClr val="64748B"/>
                </a:solidFill>
                <a:latin typeface="Calibri" pitchFamily="34" charset="0"/>
                <a:ea typeface="Calibri" pitchFamily="34" charset="-122"/>
                <a:cs typeface="Calibri" pitchFamily="34" charset="-120"/>
              </a:rPr>
              <a:t>students, courses and teachers as objects</a:t>
            </a:r>
            <a:endParaRPr lang="en-US" sz="1500" dirty="0"/>
          </a:p>
        </p:txBody>
      </p:sp>
      <p:sp>
        <p:nvSpPr>
          <p:cNvPr id="16" name="Shape 10"/>
          <p:cNvSpPr/>
          <p:nvPr/>
        </p:nvSpPr>
        <p:spPr>
          <a:xfrm>
            <a:off x="731520" y="5349240"/>
            <a:ext cx="5212080" cy="749808"/>
          </a:xfrm>
          <a:prstGeom prst="roundRect">
            <a:avLst>
              <a:gd name="adj" fmla="val 9756"/>
            </a:avLst>
          </a:prstGeom>
          <a:solidFill>
            <a:srgbClr val="FFFFFF"/>
          </a:solidFill>
          <a:ln w="15875">
            <a:solidFill>
              <a:srgbClr val="14B8A6"/>
            </a:solidFill>
            <a:prstDash val="solid"/>
          </a:ln>
        </p:spPr>
      </p:sp>
      <p:pic>
        <p:nvPicPr>
          <p:cNvPr id="17" name="Image 4" descr="assets/icon2_hospital_pink.png">    </p:cNvPr>
          <p:cNvPicPr>
            <a:picLocks noChangeAspect="1"/>
          </p:cNvPicPr>
          <p:nvPr/>
        </p:nvPicPr>
        <p:blipFill>
          <a:blip r:embed="rId5"/>
          <a:stretch>
            <a:fillRect/>
          </a:stretch>
        </p:blipFill>
        <p:spPr>
          <a:xfrm>
            <a:off x="896112" y="5522976"/>
            <a:ext cx="402336" cy="402336"/>
          </a:xfrm>
          <a:prstGeom prst="rect">
            <a:avLst/>
          </a:prstGeom>
        </p:spPr>
      </p:pic>
      <p:sp>
        <p:nvSpPr>
          <p:cNvPr id="18" name="Text 11"/>
          <p:cNvSpPr txBox="1"/>
          <p:nvPr/>
        </p:nvSpPr>
        <p:spPr>
          <a:xfrm>
            <a:off x="1463040" y="5349240"/>
            <a:ext cx="4389120" cy="749808"/>
          </a:xfrm>
          <a:prstGeom prst="rect">
            <a:avLst/>
          </a:prstGeom>
          <a:noFill/>
          <a:ln/>
        </p:spPr>
        <p:txBody>
          <a:bodyPr wrap="square"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Healthcare</a:t>
            </a:r>
            <a:endParaRPr lang="en-US" sz="1500" dirty="0"/>
          </a:p>
          <a:p>
            <a:pPr indent="0" marL="0">
              <a:buNone/>
            </a:pPr>
            <a:r>
              <a:rPr lang="en-US" sz="1250" dirty="0">
                <a:solidFill>
                  <a:srgbClr val="64748B"/>
                </a:solidFill>
                <a:latin typeface="Calibri" pitchFamily="34" charset="0"/>
                <a:ea typeface="Calibri" pitchFamily="34" charset="-122"/>
                <a:cs typeface="Calibri" pitchFamily="34" charset="-120"/>
              </a:rPr>
              <a:t>patients, doctors and appointments as objects</a:t>
            </a:r>
            <a:endParaRPr lang="en-US" sz="1500" dirty="0"/>
          </a:p>
        </p:txBody>
      </p:sp>
      <p:sp>
        <p:nvSpPr>
          <p:cNvPr id="19" name="Text 12"/>
          <p:cNvSpPr txBox="1"/>
          <p:nvPr/>
        </p:nvSpPr>
        <p:spPr>
          <a:xfrm>
            <a:off x="6217920" y="2359152"/>
            <a:ext cx="5120640" cy="320040"/>
          </a:xfrm>
          <a:prstGeom prst="rect">
            <a:avLst/>
          </a:prstGeom>
          <a:noFill/>
          <a:ln/>
        </p:spPr>
        <p:txBody>
          <a:bodyPr wrap="square" rtlCol="0" anchor="ctr"/>
          <a:lstStyle/>
          <a:p>
            <a:pPr indent="0" marL="0">
              <a:buNone/>
            </a:pPr>
            <a:r>
              <a:rPr lang="en-US" sz="1400" b="1" spc="100" kern="0" dirty="0">
                <a:solidFill>
                  <a:srgbClr val="8B5CF6"/>
                </a:solidFill>
                <a:latin typeface="Calibri" pitchFamily="34" charset="0"/>
                <a:ea typeface="Calibri" pitchFamily="34" charset="-122"/>
                <a:cs typeface="Calibri" pitchFamily="34" charset="-120"/>
              </a:rPr>
              <a:t>Real time projects</a:t>
            </a:r>
            <a:endParaRPr lang="en-US" sz="1400" dirty="0"/>
          </a:p>
        </p:txBody>
      </p:sp>
      <p:sp>
        <p:nvSpPr>
          <p:cNvPr id="20" name="Shape 13"/>
          <p:cNvSpPr/>
          <p:nvPr/>
        </p:nvSpPr>
        <p:spPr>
          <a:xfrm>
            <a:off x="6217920" y="2743200"/>
            <a:ext cx="5212080" cy="749808"/>
          </a:xfrm>
          <a:prstGeom prst="roundRect">
            <a:avLst>
              <a:gd name="adj" fmla="val 9756"/>
            </a:avLst>
          </a:prstGeom>
          <a:solidFill>
            <a:srgbClr val="FFFFFF"/>
          </a:solidFill>
          <a:ln w="15875">
            <a:solidFill>
              <a:srgbClr val="8B5CF6"/>
            </a:solidFill>
            <a:prstDash val="solid"/>
          </a:ln>
        </p:spPr>
      </p:sp>
      <p:pic>
        <p:nvPicPr>
          <p:cNvPr id="21" name="Image 5" descr="assets/icon2_users_pink.png">    </p:cNvPr>
          <p:cNvPicPr>
            <a:picLocks noChangeAspect="1"/>
          </p:cNvPicPr>
          <p:nvPr/>
        </p:nvPicPr>
        <p:blipFill>
          <a:blip r:embed="rId6"/>
          <a:stretch>
            <a:fillRect/>
          </a:stretch>
        </p:blipFill>
        <p:spPr>
          <a:xfrm>
            <a:off x="6382512" y="2916936"/>
            <a:ext cx="402336" cy="402336"/>
          </a:xfrm>
          <a:prstGeom prst="rect">
            <a:avLst/>
          </a:prstGeom>
        </p:spPr>
      </p:pic>
      <p:sp>
        <p:nvSpPr>
          <p:cNvPr id="22" name="Text 14"/>
          <p:cNvSpPr txBox="1"/>
          <p:nvPr/>
        </p:nvSpPr>
        <p:spPr>
          <a:xfrm>
            <a:off x="6949440" y="2743200"/>
            <a:ext cx="4389120" cy="749808"/>
          </a:xfrm>
          <a:prstGeom prst="rect">
            <a:avLst/>
          </a:prstGeom>
          <a:noFill/>
          <a:ln/>
        </p:spPr>
        <p:txBody>
          <a:bodyPr wrap="square"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Student Management</a:t>
            </a:r>
            <a:endParaRPr lang="en-US" sz="1500" dirty="0"/>
          </a:p>
          <a:p>
            <a:pPr indent="0" marL="0">
              <a:buNone/>
            </a:pPr>
            <a:r>
              <a:rPr lang="en-US" sz="1250" dirty="0">
                <a:solidFill>
                  <a:srgbClr val="64748B"/>
                </a:solidFill>
                <a:latin typeface="Calibri" pitchFamily="34" charset="0"/>
                <a:ea typeface="Calibri" pitchFamily="34" charset="-122"/>
                <a:cs typeface="Calibri" pitchFamily="34" charset="-120"/>
              </a:rPr>
              <a:t>student objects with marks and details</a:t>
            </a:r>
            <a:endParaRPr lang="en-US" sz="1500" dirty="0"/>
          </a:p>
        </p:txBody>
      </p:sp>
      <p:sp>
        <p:nvSpPr>
          <p:cNvPr id="23" name="Shape 15"/>
          <p:cNvSpPr/>
          <p:nvPr/>
        </p:nvSpPr>
        <p:spPr>
          <a:xfrm>
            <a:off x="6217920" y="3611880"/>
            <a:ext cx="5212080" cy="749808"/>
          </a:xfrm>
          <a:prstGeom prst="roundRect">
            <a:avLst>
              <a:gd name="adj" fmla="val 9756"/>
            </a:avLst>
          </a:prstGeom>
          <a:solidFill>
            <a:srgbClr val="FFFFFF"/>
          </a:solidFill>
          <a:ln w="15875">
            <a:solidFill>
              <a:srgbClr val="8B5CF6"/>
            </a:solidFill>
            <a:prstDash val="solid"/>
          </a:ln>
        </p:spPr>
      </p:sp>
      <p:pic>
        <p:nvPicPr>
          <p:cNvPr id="24" name="Image 6" descr="assets/icon2_briefcase_navy.png">    </p:cNvPr>
          <p:cNvPicPr>
            <a:picLocks noChangeAspect="1"/>
          </p:cNvPicPr>
          <p:nvPr/>
        </p:nvPicPr>
        <p:blipFill>
          <a:blip r:embed="rId7"/>
          <a:stretch>
            <a:fillRect/>
          </a:stretch>
        </p:blipFill>
        <p:spPr>
          <a:xfrm>
            <a:off x="6382512" y="3785616"/>
            <a:ext cx="402336" cy="402336"/>
          </a:xfrm>
          <a:prstGeom prst="rect">
            <a:avLst/>
          </a:prstGeom>
        </p:spPr>
      </p:pic>
      <p:sp>
        <p:nvSpPr>
          <p:cNvPr id="25" name="Text 16"/>
          <p:cNvSpPr txBox="1"/>
          <p:nvPr/>
        </p:nvSpPr>
        <p:spPr>
          <a:xfrm>
            <a:off x="6949440" y="3611880"/>
            <a:ext cx="4389120" cy="749808"/>
          </a:xfrm>
          <a:prstGeom prst="rect">
            <a:avLst/>
          </a:prstGeom>
          <a:noFill/>
          <a:ln/>
        </p:spPr>
        <p:txBody>
          <a:bodyPr wrap="square"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Employee Management</a:t>
            </a:r>
            <a:endParaRPr lang="en-US" sz="1500" dirty="0"/>
          </a:p>
          <a:p>
            <a:pPr indent="0" marL="0">
              <a:buNone/>
            </a:pPr>
            <a:r>
              <a:rPr lang="en-US" sz="1250" dirty="0">
                <a:solidFill>
                  <a:srgbClr val="64748B"/>
                </a:solidFill>
                <a:latin typeface="Calibri" pitchFamily="34" charset="0"/>
                <a:ea typeface="Calibri" pitchFamily="34" charset="-122"/>
                <a:cs typeface="Calibri" pitchFamily="34" charset="-120"/>
              </a:rPr>
              <a:t>developer, trainer and tester roles</a:t>
            </a:r>
            <a:endParaRPr lang="en-US" sz="1500" dirty="0"/>
          </a:p>
        </p:txBody>
      </p:sp>
      <p:sp>
        <p:nvSpPr>
          <p:cNvPr id="26" name="Shape 17"/>
          <p:cNvSpPr/>
          <p:nvPr/>
        </p:nvSpPr>
        <p:spPr>
          <a:xfrm>
            <a:off x="6217920" y="4480560"/>
            <a:ext cx="5212080" cy="749808"/>
          </a:xfrm>
          <a:prstGeom prst="roundRect">
            <a:avLst>
              <a:gd name="adj" fmla="val 9756"/>
            </a:avLst>
          </a:prstGeom>
          <a:solidFill>
            <a:srgbClr val="FFFFFF"/>
          </a:solidFill>
          <a:ln w="15875">
            <a:solidFill>
              <a:srgbClr val="8B5CF6"/>
            </a:solidFill>
            <a:prstDash val="solid"/>
          </a:ln>
        </p:spPr>
      </p:sp>
      <p:pic>
        <p:nvPicPr>
          <p:cNvPr id="27" name="Image 7" descr="assets/icon2_wallet_green.png">    </p:cNvPr>
          <p:cNvPicPr>
            <a:picLocks noChangeAspect="1"/>
          </p:cNvPicPr>
          <p:nvPr/>
        </p:nvPicPr>
        <p:blipFill>
          <a:blip r:embed="rId8"/>
          <a:stretch>
            <a:fillRect/>
          </a:stretch>
        </p:blipFill>
        <p:spPr>
          <a:xfrm>
            <a:off x="6382512" y="4654296"/>
            <a:ext cx="402336" cy="402336"/>
          </a:xfrm>
          <a:prstGeom prst="rect">
            <a:avLst/>
          </a:prstGeom>
        </p:spPr>
      </p:pic>
      <p:sp>
        <p:nvSpPr>
          <p:cNvPr id="28" name="Text 18"/>
          <p:cNvSpPr txBox="1"/>
          <p:nvPr/>
        </p:nvSpPr>
        <p:spPr>
          <a:xfrm>
            <a:off x="6949440" y="4480560"/>
            <a:ext cx="4389120" cy="749808"/>
          </a:xfrm>
          <a:prstGeom prst="rect">
            <a:avLst/>
          </a:prstGeom>
          <a:noFill/>
          <a:ln/>
        </p:spPr>
        <p:txBody>
          <a:bodyPr wrap="square"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Bank Account App</a:t>
            </a:r>
            <a:endParaRPr lang="en-US" sz="1500" dirty="0"/>
          </a:p>
          <a:p>
            <a:pPr indent="0" marL="0">
              <a:buNone/>
            </a:pPr>
            <a:r>
              <a:rPr lang="en-US" sz="1250" dirty="0">
                <a:solidFill>
                  <a:srgbClr val="64748B"/>
                </a:solidFill>
                <a:latin typeface="Calibri" pitchFamily="34" charset="0"/>
                <a:ea typeface="Calibri" pitchFamily="34" charset="-122"/>
                <a:cs typeface="Calibri" pitchFamily="34" charset="-120"/>
              </a:rPr>
              <a:t>account objects with deposit and withdraw</a:t>
            </a:r>
            <a:endParaRPr lang="en-US" sz="1500" dirty="0"/>
          </a:p>
        </p:txBody>
      </p:sp>
      <p:sp>
        <p:nvSpPr>
          <p:cNvPr id="29" name="Shape 19"/>
          <p:cNvSpPr/>
          <p:nvPr/>
        </p:nvSpPr>
        <p:spPr>
          <a:xfrm>
            <a:off x="6217920" y="5349240"/>
            <a:ext cx="5212080" cy="749808"/>
          </a:xfrm>
          <a:prstGeom prst="roundRect">
            <a:avLst>
              <a:gd name="adj" fmla="val 9756"/>
            </a:avLst>
          </a:prstGeom>
          <a:solidFill>
            <a:srgbClr val="FFFFFF"/>
          </a:solidFill>
          <a:ln w="15875">
            <a:solidFill>
              <a:srgbClr val="8B5CF6"/>
            </a:solidFill>
            <a:prstDash val="solid"/>
          </a:ln>
        </p:spPr>
      </p:sp>
      <p:pic>
        <p:nvPicPr>
          <p:cNvPr id="30" name="Image 8" descr="assets/icon2_library_navy.png">    </p:cNvPr>
          <p:cNvPicPr>
            <a:picLocks noChangeAspect="1"/>
          </p:cNvPicPr>
          <p:nvPr/>
        </p:nvPicPr>
        <p:blipFill>
          <a:blip r:embed="rId9"/>
          <a:stretch>
            <a:fillRect/>
          </a:stretch>
        </p:blipFill>
        <p:spPr>
          <a:xfrm>
            <a:off x="6382512" y="5522976"/>
            <a:ext cx="402336" cy="402336"/>
          </a:xfrm>
          <a:prstGeom prst="rect">
            <a:avLst/>
          </a:prstGeom>
        </p:spPr>
      </p:pic>
      <p:sp>
        <p:nvSpPr>
          <p:cNvPr id="31" name="Text 20"/>
          <p:cNvSpPr txBox="1"/>
          <p:nvPr/>
        </p:nvSpPr>
        <p:spPr>
          <a:xfrm>
            <a:off x="6949440" y="5349240"/>
            <a:ext cx="4389120" cy="749808"/>
          </a:xfrm>
          <a:prstGeom prst="rect">
            <a:avLst/>
          </a:prstGeom>
          <a:noFill/>
          <a:ln/>
        </p:spPr>
        <p:txBody>
          <a:bodyPr wrap="square"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Library System</a:t>
            </a:r>
            <a:endParaRPr lang="en-US" sz="1500" dirty="0"/>
          </a:p>
          <a:p>
            <a:pPr indent="0" marL="0">
              <a:buNone/>
            </a:pPr>
            <a:r>
              <a:rPr lang="en-US" sz="1250" dirty="0">
                <a:solidFill>
                  <a:srgbClr val="64748B"/>
                </a:solidFill>
                <a:latin typeface="Calibri" pitchFamily="34" charset="0"/>
                <a:ea typeface="Calibri" pitchFamily="34" charset="-122"/>
                <a:cs typeface="Calibri" pitchFamily="34" charset="-120"/>
              </a:rPr>
              <a:t>book and member objects</a:t>
            </a:r>
            <a:endParaRPr lang="en-US" sz="1500" dirty="0"/>
          </a:p>
        </p:txBody>
      </p:sp>
      <p:sp>
        <p:nvSpPr>
          <p:cNvPr id="32" name="Text 21"/>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OOP Fundamentals and Inheritance  ·  Week 3  ·  Day 12</a:t>
            </a:r>
            <a:endParaRPr lang="en-US" sz="1000" dirty="0"/>
          </a:p>
        </p:txBody>
      </p:sp>
      <p:sp>
        <p:nvSpPr>
          <p:cNvPr id="33" name="Text 22"/>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AFA"/>
        </a:solidFill>
      </p:bgPr>
    </p:bg>
    <p:spTree>
      <p:nvGrpSpPr>
        <p:cNvPr id="1" name=""/>
        <p:cNvGrpSpPr/>
        <p:nvPr/>
      </p:nvGrpSpPr>
      <p:grpSpPr>
        <a:xfrm>
          <a:off x="0" y="0"/>
          <a:ext cx="0" cy="0"/>
          <a:chOff x="0" y="0"/>
          <a:chExt cx="0" cy="0"/>
        </a:xfrm>
      </p:grpSpPr>
      <p:pic>
        <p:nvPicPr>
          <p:cNvPr id="2" name="Image 0" descr="assets/intellea_logo_cropped.png">    </p:cNvPr>
          <p:cNvPicPr>
            <a:picLocks noChangeAspect="1"/>
          </p:cNvPicPr>
          <p:nvPr/>
        </p:nvPicPr>
        <p:blipFill>
          <a:blip r:embed="rId1"/>
          <a:stretch>
            <a:fillRect/>
          </a:stretch>
        </p:blipFill>
        <p:spPr>
          <a:xfrm>
            <a:off x="457200" y="320040"/>
            <a:ext cx="1371600" cy="454323"/>
          </a:xfrm>
          <a:prstGeom prst="rect">
            <a:avLst/>
          </a:prstGeom>
        </p:spPr>
      </p:pic>
      <p:sp>
        <p:nvSpPr>
          <p:cNvPr id="3" name="Text 0"/>
          <p:cNvSpPr txBox="1"/>
          <p:nvPr/>
        </p:nvSpPr>
        <p:spPr>
          <a:xfrm>
            <a:off x="457200" y="96012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PRACTICE TIME</a:t>
            </a:r>
            <a:endParaRPr lang="en-US" sz="1400" dirty="0"/>
          </a:p>
        </p:txBody>
      </p:sp>
      <p:sp>
        <p:nvSpPr>
          <p:cNvPr id="4" name="Text 1"/>
          <p:cNvSpPr txBox="1"/>
          <p:nvPr/>
        </p:nvSpPr>
        <p:spPr>
          <a:xfrm>
            <a:off x="457200" y="1280160"/>
            <a:ext cx="11155680" cy="822960"/>
          </a:xfrm>
          <a:prstGeom prst="rect">
            <a:avLst/>
          </a:prstGeom>
          <a:noFill/>
          <a:ln/>
        </p:spPr>
        <p:txBody>
          <a:bodyPr wrap="square"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Ravi's Practice Challenges</a:t>
            </a:r>
            <a:endParaRPr lang="en-US" sz="3000" dirty="0"/>
          </a:p>
        </p:txBody>
      </p:sp>
      <p:sp>
        <p:nvSpPr>
          <p:cNvPr id="5" name="rc_vis"/>
          <p:cNvSpPr/>
          <p:nvPr/>
        </p:nvSpPr>
        <p:spPr>
          <a:xfrm>
            <a:off x="457200" y="2240280"/>
            <a:ext cx="11247120" cy="4023360"/>
          </a:xfrm>
          <a:prstGeom prst="roundRect">
            <a:avLst>
              <a:gd name="adj" fmla="val 2273"/>
            </a:avLst>
          </a:prstGeom>
          <a:solidFill>
            <a:srgbClr val="F8FAFC"/>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Shape 3"/>
          <p:cNvSpPr/>
          <p:nvPr/>
        </p:nvSpPr>
        <p:spPr>
          <a:xfrm>
            <a:off x="685800" y="2395728"/>
            <a:ext cx="2560320" cy="3749040"/>
          </a:xfrm>
          <a:prstGeom prst="roundRect">
            <a:avLst>
              <a:gd name="adj" fmla="val 3571"/>
            </a:avLst>
          </a:prstGeom>
          <a:solidFill>
            <a:srgbClr val="FFFFFF"/>
          </a:solidFill>
          <a:ln w="19050">
            <a:solidFill>
              <a:srgbClr val="8B5CF6"/>
            </a:solidFill>
            <a:prstDash val="solid"/>
          </a:ln>
        </p:spPr>
      </p:sp>
      <p:sp>
        <p:nvSpPr>
          <p:cNvPr id="7" name="Shape 4"/>
          <p:cNvSpPr/>
          <p:nvPr/>
        </p:nvSpPr>
        <p:spPr>
          <a:xfrm>
            <a:off x="868680" y="2560320"/>
            <a:ext cx="457200" cy="457200"/>
          </a:xfrm>
          <a:prstGeom prst="ellipse">
            <a:avLst/>
          </a:prstGeom>
          <a:solidFill>
            <a:srgbClr val="8B5CF6"/>
          </a:solidFill>
          <a:ln w="12700">
            <a:solidFill>
              <a:srgbClr val="FFFFFF"/>
            </a:solidFill>
            <a:prstDash val="solid"/>
          </a:ln>
        </p:spPr>
      </p:sp>
      <p:sp>
        <p:nvSpPr>
          <p:cNvPr id="8" name="Text 5"/>
          <p:cNvSpPr txBox="1"/>
          <p:nvPr/>
        </p:nvSpPr>
        <p:spPr>
          <a:xfrm>
            <a:off x="868680" y="256032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6"/>
          <p:cNvSpPr txBox="1"/>
          <p:nvPr/>
        </p:nvSpPr>
        <p:spPr>
          <a:xfrm>
            <a:off x="1463040" y="2505456"/>
            <a:ext cx="1645920" cy="566928"/>
          </a:xfrm>
          <a:prstGeom prst="rect">
            <a:avLst/>
          </a:prstGeom>
          <a:noFill/>
          <a:ln/>
        </p:spPr>
        <p:txBody>
          <a:bodyPr wrap="square"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Student Card</a:t>
            </a:r>
            <a:endParaRPr lang="en-US" sz="1600" dirty="0"/>
          </a:p>
        </p:txBody>
      </p:sp>
      <p:sp>
        <p:nvSpPr>
          <p:cNvPr id="10" name="Text 7"/>
          <p:cNvSpPr txBox="1"/>
          <p:nvPr/>
        </p:nvSpPr>
        <p:spPr>
          <a:xfrm>
            <a:off x="914400" y="3172968"/>
            <a:ext cx="2103120" cy="960120"/>
          </a:xfrm>
          <a:prstGeom prst="rect">
            <a:avLst/>
          </a:prstGeom>
          <a:noFill/>
          <a:ln/>
        </p:spPr>
        <p:txBody>
          <a:bodyPr wrap="square" rtlCol="0" anchor="t"/>
          <a:lstStyle/>
          <a:p>
            <a:pPr indent="0" marL="0">
              <a:buNone/>
            </a:pPr>
            <a:r>
              <a:rPr lang="en-US" sz="1350" dirty="0">
                <a:solidFill>
                  <a:srgbClr val="64748B"/>
                </a:solidFill>
                <a:latin typeface="Calibri" pitchFamily="34" charset="0"/>
                <a:ea typeface="Calibri" pitchFamily="34" charset="-122"/>
                <a:cs typeface="Calibri" pitchFamily="34" charset="-120"/>
              </a:rPr>
              <a:t>Create a Student class with name and marks, and a method that shows them.</a:t>
            </a:r>
            <a:endParaRPr lang="en-US" sz="1350" dirty="0"/>
          </a:p>
        </p:txBody>
      </p:sp>
      <p:sp>
        <p:nvSpPr>
          <p:cNvPr id="11" name="Text 8"/>
          <p:cNvSpPr txBox="1"/>
          <p:nvPr/>
        </p:nvSpPr>
        <p:spPr>
          <a:xfrm>
            <a:off x="914400" y="4178808"/>
            <a:ext cx="2103120" cy="256032"/>
          </a:xfrm>
          <a:prstGeom prst="rect">
            <a:avLst/>
          </a:prstGeom>
          <a:noFill/>
          <a:ln/>
        </p:spPr>
        <p:txBody>
          <a:bodyPr wrap="square" rtlCol="0" anchor="ctr"/>
          <a:lstStyle/>
          <a:p>
            <a:pPr indent="0" marL="0">
              <a:buNone/>
            </a:pPr>
            <a:r>
              <a:rPr lang="en-US" sz="1100" b="1" spc="100" kern="0" dirty="0">
                <a:solidFill>
                  <a:srgbClr val="14B8A6"/>
                </a:solidFill>
                <a:latin typeface="Calibri" pitchFamily="34" charset="0"/>
                <a:ea typeface="Calibri" pitchFamily="34" charset="-122"/>
                <a:cs typeface="Calibri" pitchFamily="34" charset="-120"/>
              </a:rPr>
              <a:t>SAMPLE INPUT</a:t>
            </a:r>
            <a:endParaRPr lang="en-US" sz="1100" dirty="0"/>
          </a:p>
        </p:txBody>
      </p:sp>
      <p:sp>
        <p:nvSpPr>
          <p:cNvPr id="12" name="Shape 9"/>
          <p:cNvSpPr/>
          <p:nvPr/>
        </p:nvSpPr>
        <p:spPr>
          <a:xfrm>
            <a:off x="914400" y="4453128"/>
            <a:ext cx="2103120" cy="411480"/>
          </a:xfrm>
          <a:prstGeom prst="roundRect">
            <a:avLst>
              <a:gd name="adj" fmla="val 13333"/>
            </a:avLst>
          </a:prstGeom>
          <a:solidFill>
            <a:srgbClr val="F1F5F9"/>
          </a:solidFill>
          <a:ln w="12700">
            <a:solidFill>
              <a:srgbClr val="CBD5E1"/>
            </a:solidFill>
            <a:prstDash val="solid"/>
          </a:ln>
        </p:spPr>
      </p:sp>
      <p:sp>
        <p:nvSpPr>
          <p:cNvPr id="13" name="Text 10"/>
          <p:cNvSpPr txBox="1"/>
          <p:nvPr/>
        </p:nvSpPr>
        <p:spPr>
          <a:xfrm>
            <a:off x="914400" y="4453128"/>
            <a:ext cx="2103120" cy="411480"/>
          </a:xfrm>
          <a:prstGeom prst="rect">
            <a:avLst/>
          </a:prstGeom>
          <a:noFill/>
          <a:ln/>
        </p:spPr>
        <p:txBody>
          <a:bodyPr wrap="square" rtlCol="0" anchor="ctr"/>
          <a:lstStyle/>
          <a:p>
            <a:pPr algn="ctr" indent="0" marL="0">
              <a:buNone/>
            </a:pPr>
            <a:r>
              <a:rPr lang="en-US" sz="1300" dirty="0">
                <a:solidFill>
                  <a:srgbClr val="1E293B"/>
                </a:solidFill>
                <a:latin typeface="Consolas" pitchFamily="34" charset="0"/>
                <a:ea typeface="Consolas" pitchFamily="34" charset="-122"/>
                <a:cs typeface="Consolas" pitchFamily="34" charset="-120"/>
              </a:rPr>
              <a:t>Ravi, 90</a:t>
            </a:r>
            <a:endParaRPr lang="en-US" sz="1300" dirty="0"/>
          </a:p>
        </p:txBody>
      </p:sp>
      <p:sp>
        <p:nvSpPr>
          <p:cNvPr id="14" name="Text 11"/>
          <p:cNvSpPr txBox="1"/>
          <p:nvPr/>
        </p:nvSpPr>
        <p:spPr>
          <a:xfrm>
            <a:off x="914400" y="4956048"/>
            <a:ext cx="2103120" cy="256032"/>
          </a:xfrm>
          <a:prstGeom prst="rect">
            <a:avLst/>
          </a:prstGeom>
          <a:noFill/>
          <a:ln/>
        </p:spPr>
        <p:txBody>
          <a:bodyPr wrap="square" rtlCol="0" anchor="ctr"/>
          <a:lstStyle/>
          <a:p>
            <a:pPr indent="0" marL="0">
              <a:buNone/>
            </a:pPr>
            <a:r>
              <a:rPr lang="en-US" sz="1100" b="1" spc="100" kern="0" dirty="0">
                <a:solidFill>
                  <a:srgbClr val="F97316"/>
                </a:solidFill>
                <a:latin typeface="Calibri" pitchFamily="34" charset="0"/>
                <a:ea typeface="Calibri" pitchFamily="34" charset="-122"/>
                <a:cs typeface="Calibri" pitchFamily="34" charset="-120"/>
              </a:rPr>
              <a:t>SAMPLE OUTPUT</a:t>
            </a:r>
            <a:endParaRPr lang="en-US" sz="1100" dirty="0"/>
          </a:p>
        </p:txBody>
      </p:sp>
      <p:sp>
        <p:nvSpPr>
          <p:cNvPr id="15" name="Shape 12"/>
          <p:cNvSpPr/>
          <p:nvPr/>
        </p:nvSpPr>
        <p:spPr>
          <a:xfrm>
            <a:off x="914400" y="5230368"/>
            <a:ext cx="2103120" cy="822960"/>
          </a:xfrm>
          <a:prstGeom prst="roundRect">
            <a:avLst>
              <a:gd name="adj" fmla="val 6667"/>
            </a:avLst>
          </a:prstGeom>
          <a:solidFill>
            <a:srgbClr val="FFEDD5"/>
          </a:solidFill>
          <a:ln w="25400">
            <a:solidFill>
              <a:srgbClr val="F97316"/>
            </a:solidFill>
            <a:prstDash val="solid"/>
          </a:ln>
        </p:spPr>
      </p:sp>
      <p:sp>
        <p:nvSpPr>
          <p:cNvPr id="16" name="Text 13"/>
          <p:cNvSpPr txBox="1"/>
          <p:nvPr/>
        </p:nvSpPr>
        <p:spPr>
          <a:xfrm>
            <a:off x="914400" y="5230368"/>
            <a:ext cx="2103120" cy="822960"/>
          </a:xfrm>
          <a:prstGeom prst="rect">
            <a:avLst/>
          </a:prstGeom>
          <a:noFill/>
          <a:ln/>
        </p:spPr>
        <p:txBody>
          <a:bodyPr wrap="square" rtlCol="0" anchor="ctr"/>
          <a:lstStyle/>
          <a:p>
            <a:pPr algn="ctr" indent="0" marL="0">
              <a:buNone/>
            </a:pPr>
            <a:endParaRPr lang="en-US" sz="1300" dirty="0"/>
          </a:p>
        </p:txBody>
      </p:sp>
      <p:sp>
        <p:nvSpPr>
          <p:cNvPr id="17" name="Text 14"/>
          <p:cNvSpPr txBox="1"/>
          <p:nvPr/>
        </p:nvSpPr>
        <p:spPr>
          <a:xfrm>
            <a:off x="1234440" y="5230368"/>
            <a:ext cx="1463040" cy="822960"/>
          </a:xfrm>
          <a:prstGeom prst="rect">
            <a:avLst/>
          </a:prstGeom>
          <a:noFill/>
          <a:ln/>
        </p:spPr>
        <p:txBody>
          <a:bodyPr wrap="square" rtlCol="0" anchor="ctr"/>
          <a:lstStyle/>
          <a:p>
            <a:pPr algn="l" indent="0" marL="0">
              <a:buNone/>
            </a:pPr>
            <a:r>
              <a:rPr lang="en-US" sz="1300" b="1" dirty="0">
                <a:solidFill>
                  <a:srgbClr val="1E293B"/>
                </a:solidFill>
                <a:latin typeface="Consolas" pitchFamily="34" charset="0"/>
                <a:ea typeface="Consolas" pitchFamily="34" charset="-122"/>
                <a:cs typeface="Consolas" pitchFamily="34" charset="-120"/>
              </a:rPr>
              <a:t>name: Ravi</a:t>
            </a:r>
            <a:endParaRPr lang="en-US" sz="1300" dirty="0"/>
          </a:p>
          <a:p>
            <a:pPr algn="l" indent="0" marL="0">
              <a:buNone/>
            </a:pPr>
            <a:r>
              <a:rPr lang="en-US" sz="1300" b="1" dirty="0">
                <a:solidFill>
                  <a:srgbClr val="1E293B"/>
                </a:solidFill>
                <a:latin typeface="Consolas" pitchFamily="34" charset="0"/>
                <a:ea typeface="Consolas" pitchFamily="34" charset="-122"/>
                <a:cs typeface="Consolas" pitchFamily="34" charset="-120"/>
              </a:rPr>
              <a:t>marks: 90</a:t>
            </a:r>
            <a:endParaRPr lang="en-US" sz="1300" dirty="0"/>
          </a:p>
        </p:txBody>
      </p:sp>
      <p:sp>
        <p:nvSpPr>
          <p:cNvPr id="18" name="Shape 15"/>
          <p:cNvSpPr/>
          <p:nvPr/>
        </p:nvSpPr>
        <p:spPr>
          <a:xfrm>
            <a:off x="3429000" y="2395728"/>
            <a:ext cx="2560320" cy="3749040"/>
          </a:xfrm>
          <a:prstGeom prst="roundRect">
            <a:avLst>
              <a:gd name="adj" fmla="val 3571"/>
            </a:avLst>
          </a:prstGeom>
          <a:solidFill>
            <a:srgbClr val="FFFFFF"/>
          </a:solidFill>
          <a:ln w="19050">
            <a:solidFill>
              <a:srgbClr val="14B8A6"/>
            </a:solidFill>
            <a:prstDash val="solid"/>
          </a:ln>
        </p:spPr>
      </p:sp>
      <p:sp>
        <p:nvSpPr>
          <p:cNvPr id="19" name="Shape 16"/>
          <p:cNvSpPr/>
          <p:nvPr/>
        </p:nvSpPr>
        <p:spPr>
          <a:xfrm>
            <a:off x="3611880" y="2560320"/>
            <a:ext cx="457200" cy="457200"/>
          </a:xfrm>
          <a:prstGeom prst="ellipse">
            <a:avLst/>
          </a:prstGeom>
          <a:solidFill>
            <a:srgbClr val="14B8A6"/>
          </a:solidFill>
          <a:ln w="12700">
            <a:solidFill>
              <a:srgbClr val="FFFFFF"/>
            </a:solidFill>
            <a:prstDash val="solid"/>
          </a:ln>
        </p:spPr>
      </p:sp>
      <p:sp>
        <p:nvSpPr>
          <p:cNvPr id="20" name="Text 17"/>
          <p:cNvSpPr txBox="1"/>
          <p:nvPr/>
        </p:nvSpPr>
        <p:spPr>
          <a:xfrm>
            <a:off x="3611880" y="256032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21" name="Text 18"/>
          <p:cNvSpPr txBox="1"/>
          <p:nvPr/>
        </p:nvSpPr>
        <p:spPr>
          <a:xfrm>
            <a:off x="4206240" y="2505456"/>
            <a:ext cx="1645920" cy="566928"/>
          </a:xfrm>
          <a:prstGeom prst="rect">
            <a:avLst/>
          </a:prstGeom>
          <a:noFill/>
          <a:ln/>
        </p:spPr>
        <p:txBody>
          <a:bodyPr wrap="square"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Shared College</a:t>
            </a:r>
            <a:endParaRPr lang="en-US" sz="1600" dirty="0"/>
          </a:p>
        </p:txBody>
      </p:sp>
      <p:sp>
        <p:nvSpPr>
          <p:cNvPr id="22" name="Text 19"/>
          <p:cNvSpPr txBox="1"/>
          <p:nvPr/>
        </p:nvSpPr>
        <p:spPr>
          <a:xfrm>
            <a:off x="3657600" y="3172968"/>
            <a:ext cx="2103120" cy="960120"/>
          </a:xfrm>
          <a:prstGeom prst="rect">
            <a:avLst/>
          </a:prstGeom>
          <a:noFill/>
          <a:ln/>
        </p:spPr>
        <p:txBody>
          <a:bodyPr wrap="square" rtlCol="0" anchor="t"/>
          <a:lstStyle/>
          <a:p>
            <a:pPr indent="0" marL="0">
              <a:buNone/>
            </a:pPr>
            <a:r>
              <a:rPr lang="en-US" sz="1350" dirty="0">
                <a:solidFill>
                  <a:srgbClr val="64748B"/>
                </a:solidFill>
                <a:latin typeface="Calibri" pitchFamily="34" charset="0"/>
                <a:ea typeface="Calibri" pitchFamily="34" charset="-122"/>
                <a:cs typeface="Calibri" pitchFamily="34" charset="-120"/>
              </a:rPr>
              <a:t>Two students share one college name, ABC college. Print it for each.</a:t>
            </a:r>
            <a:endParaRPr lang="en-US" sz="1350" dirty="0"/>
          </a:p>
        </p:txBody>
      </p:sp>
      <p:sp>
        <p:nvSpPr>
          <p:cNvPr id="23" name="Text 20"/>
          <p:cNvSpPr txBox="1"/>
          <p:nvPr/>
        </p:nvSpPr>
        <p:spPr>
          <a:xfrm>
            <a:off x="3657600" y="4178808"/>
            <a:ext cx="2103120" cy="256032"/>
          </a:xfrm>
          <a:prstGeom prst="rect">
            <a:avLst/>
          </a:prstGeom>
          <a:noFill/>
          <a:ln/>
        </p:spPr>
        <p:txBody>
          <a:bodyPr wrap="square" rtlCol="0" anchor="ctr"/>
          <a:lstStyle/>
          <a:p>
            <a:pPr indent="0" marL="0">
              <a:buNone/>
            </a:pPr>
            <a:r>
              <a:rPr lang="en-US" sz="1100" b="1" spc="100" kern="0" dirty="0">
                <a:solidFill>
                  <a:srgbClr val="14B8A6"/>
                </a:solidFill>
                <a:latin typeface="Calibri" pitchFamily="34" charset="0"/>
                <a:ea typeface="Calibri" pitchFamily="34" charset="-122"/>
                <a:cs typeface="Calibri" pitchFamily="34" charset="-120"/>
              </a:rPr>
              <a:t>SAMPLE INPUT</a:t>
            </a:r>
            <a:endParaRPr lang="en-US" sz="1100" dirty="0"/>
          </a:p>
        </p:txBody>
      </p:sp>
      <p:sp>
        <p:nvSpPr>
          <p:cNvPr id="24" name="Shape 21"/>
          <p:cNvSpPr/>
          <p:nvPr/>
        </p:nvSpPr>
        <p:spPr>
          <a:xfrm>
            <a:off x="3657600" y="4453128"/>
            <a:ext cx="2103120" cy="411480"/>
          </a:xfrm>
          <a:prstGeom prst="roundRect">
            <a:avLst>
              <a:gd name="adj" fmla="val 13333"/>
            </a:avLst>
          </a:prstGeom>
          <a:solidFill>
            <a:srgbClr val="F1F5F9"/>
          </a:solidFill>
          <a:ln w="12700">
            <a:solidFill>
              <a:srgbClr val="CBD5E1"/>
            </a:solidFill>
            <a:prstDash val="solid"/>
          </a:ln>
        </p:spPr>
      </p:sp>
      <p:sp>
        <p:nvSpPr>
          <p:cNvPr id="25" name="Text 22"/>
          <p:cNvSpPr txBox="1"/>
          <p:nvPr/>
        </p:nvSpPr>
        <p:spPr>
          <a:xfrm>
            <a:off x="3657600" y="4453128"/>
            <a:ext cx="2103120" cy="411480"/>
          </a:xfrm>
          <a:prstGeom prst="rect">
            <a:avLst/>
          </a:prstGeom>
          <a:noFill/>
          <a:ln/>
        </p:spPr>
        <p:txBody>
          <a:bodyPr wrap="square" rtlCol="0" anchor="ctr"/>
          <a:lstStyle/>
          <a:p>
            <a:pPr algn="ctr" indent="0" marL="0">
              <a:buNone/>
            </a:pPr>
            <a:r>
              <a:rPr lang="en-US" sz="1300" dirty="0">
                <a:solidFill>
                  <a:srgbClr val="1E293B"/>
                </a:solidFill>
                <a:latin typeface="Consolas" pitchFamily="34" charset="0"/>
                <a:ea typeface="Consolas" pitchFamily="34" charset="-122"/>
                <a:cs typeface="Consolas" pitchFamily="34" charset="-120"/>
              </a:rPr>
              <a:t>Ravi, Priya</a:t>
            </a:r>
            <a:endParaRPr lang="en-US" sz="1300" dirty="0"/>
          </a:p>
        </p:txBody>
      </p:sp>
      <p:sp>
        <p:nvSpPr>
          <p:cNvPr id="26" name="Text 23"/>
          <p:cNvSpPr txBox="1"/>
          <p:nvPr/>
        </p:nvSpPr>
        <p:spPr>
          <a:xfrm>
            <a:off x="3657600" y="4956048"/>
            <a:ext cx="2103120" cy="256032"/>
          </a:xfrm>
          <a:prstGeom prst="rect">
            <a:avLst/>
          </a:prstGeom>
          <a:noFill/>
          <a:ln/>
        </p:spPr>
        <p:txBody>
          <a:bodyPr wrap="square" rtlCol="0" anchor="ctr"/>
          <a:lstStyle/>
          <a:p>
            <a:pPr indent="0" marL="0">
              <a:buNone/>
            </a:pPr>
            <a:r>
              <a:rPr lang="en-US" sz="1100" b="1" spc="100" kern="0" dirty="0">
                <a:solidFill>
                  <a:srgbClr val="F97316"/>
                </a:solidFill>
                <a:latin typeface="Calibri" pitchFamily="34" charset="0"/>
                <a:ea typeface="Calibri" pitchFamily="34" charset="-122"/>
                <a:cs typeface="Calibri" pitchFamily="34" charset="-120"/>
              </a:rPr>
              <a:t>SAMPLE OUTPUT</a:t>
            </a:r>
            <a:endParaRPr lang="en-US" sz="1100" dirty="0"/>
          </a:p>
        </p:txBody>
      </p:sp>
      <p:sp>
        <p:nvSpPr>
          <p:cNvPr id="27" name="Shape 24"/>
          <p:cNvSpPr/>
          <p:nvPr/>
        </p:nvSpPr>
        <p:spPr>
          <a:xfrm>
            <a:off x="3657600" y="5230368"/>
            <a:ext cx="2103120" cy="822960"/>
          </a:xfrm>
          <a:prstGeom prst="roundRect">
            <a:avLst>
              <a:gd name="adj" fmla="val 6667"/>
            </a:avLst>
          </a:prstGeom>
          <a:solidFill>
            <a:srgbClr val="FFEDD5"/>
          </a:solidFill>
          <a:ln w="25400">
            <a:solidFill>
              <a:srgbClr val="F97316"/>
            </a:solidFill>
            <a:prstDash val="solid"/>
          </a:ln>
        </p:spPr>
      </p:sp>
      <p:sp>
        <p:nvSpPr>
          <p:cNvPr id="28" name="Text 25"/>
          <p:cNvSpPr txBox="1"/>
          <p:nvPr/>
        </p:nvSpPr>
        <p:spPr>
          <a:xfrm>
            <a:off x="3657600" y="5230368"/>
            <a:ext cx="2103120" cy="822960"/>
          </a:xfrm>
          <a:prstGeom prst="rect">
            <a:avLst/>
          </a:prstGeom>
          <a:noFill/>
          <a:ln/>
        </p:spPr>
        <p:txBody>
          <a:bodyPr wrap="square" rtlCol="0" anchor="ctr"/>
          <a:lstStyle/>
          <a:p>
            <a:pPr algn="ctr" indent="0" marL="0">
              <a:buNone/>
            </a:pPr>
            <a:endParaRPr lang="en-US" sz="1300" dirty="0"/>
          </a:p>
        </p:txBody>
      </p:sp>
      <p:sp>
        <p:nvSpPr>
          <p:cNvPr id="29" name="Text 26"/>
          <p:cNvSpPr txBox="1"/>
          <p:nvPr/>
        </p:nvSpPr>
        <p:spPr>
          <a:xfrm>
            <a:off x="3977640" y="5230368"/>
            <a:ext cx="1463040" cy="822960"/>
          </a:xfrm>
          <a:prstGeom prst="rect">
            <a:avLst/>
          </a:prstGeom>
          <a:noFill/>
          <a:ln/>
        </p:spPr>
        <p:txBody>
          <a:bodyPr wrap="square" rtlCol="0" anchor="ctr"/>
          <a:lstStyle/>
          <a:p>
            <a:pPr algn="l" indent="0" marL="0">
              <a:buNone/>
            </a:pPr>
            <a:r>
              <a:rPr lang="en-US" sz="1300" b="1" dirty="0">
                <a:solidFill>
                  <a:srgbClr val="1E293B"/>
                </a:solidFill>
                <a:latin typeface="Consolas" pitchFamily="34" charset="0"/>
                <a:ea typeface="Consolas" pitchFamily="34" charset="-122"/>
                <a:cs typeface="Consolas" pitchFamily="34" charset="-120"/>
              </a:rPr>
              <a:t>ABC college</a:t>
            </a:r>
            <a:endParaRPr lang="en-US" sz="1300" dirty="0"/>
          </a:p>
          <a:p>
            <a:pPr algn="l" indent="0" marL="0">
              <a:buNone/>
            </a:pPr>
            <a:r>
              <a:rPr lang="en-US" sz="1300" b="1" dirty="0">
                <a:solidFill>
                  <a:srgbClr val="1E293B"/>
                </a:solidFill>
                <a:latin typeface="Consolas" pitchFamily="34" charset="0"/>
                <a:ea typeface="Consolas" pitchFamily="34" charset="-122"/>
                <a:cs typeface="Consolas" pitchFamily="34" charset="-120"/>
              </a:rPr>
              <a:t>ABC college</a:t>
            </a:r>
            <a:endParaRPr lang="en-US" sz="1300" dirty="0"/>
          </a:p>
        </p:txBody>
      </p:sp>
      <p:sp>
        <p:nvSpPr>
          <p:cNvPr id="30" name="Shape 27"/>
          <p:cNvSpPr/>
          <p:nvPr/>
        </p:nvSpPr>
        <p:spPr>
          <a:xfrm>
            <a:off x="6172200" y="2395728"/>
            <a:ext cx="2560320" cy="3749040"/>
          </a:xfrm>
          <a:prstGeom prst="roundRect">
            <a:avLst>
              <a:gd name="adj" fmla="val 3571"/>
            </a:avLst>
          </a:prstGeom>
          <a:solidFill>
            <a:srgbClr val="FFFFFF"/>
          </a:solidFill>
          <a:ln w="19050">
            <a:solidFill>
              <a:srgbClr val="8B5CF6"/>
            </a:solidFill>
            <a:prstDash val="solid"/>
          </a:ln>
        </p:spPr>
      </p:sp>
      <p:sp>
        <p:nvSpPr>
          <p:cNvPr id="31" name="Shape 28"/>
          <p:cNvSpPr/>
          <p:nvPr/>
        </p:nvSpPr>
        <p:spPr>
          <a:xfrm>
            <a:off x="6355080" y="2560320"/>
            <a:ext cx="457200" cy="457200"/>
          </a:xfrm>
          <a:prstGeom prst="ellipse">
            <a:avLst/>
          </a:prstGeom>
          <a:solidFill>
            <a:srgbClr val="8B5CF6"/>
          </a:solidFill>
          <a:ln w="12700">
            <a:solidFill>
              <a:srgbClr val="FFFFFF"/>
            </a:solidFill>
            <a:prstDash val="solid"/>
          </a:ln>
        </p:spPr>
      </p:sp>
      <p:sp>
        <p:nvSpPr>
          <p:cNvPr id="32" name="Text 29"/>
          <p:cNvSpPr txBox="1"/>
          <p:nvPr/>
        </p:nvSpPr>
        <p:spPr>
          <a:xfrm>
            <a:off x="6355080" y="256032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33" name="Text 30"/>
          <p:cNvSpPr txBox="1"/>
          <p:nvPr/>
        </p:nvSpPr>
        <p:spPr>
          <a:xfrm>
            <a:off x="6949440" y="2505456"/>
            <a:ext cx="1645920" cy="566928"/>
          </a:xfrm>
          <a:prstGeom prst="rect">
            <a:avLst/>
          </a:prstGeom>
          <a:noFill/>
          <a:ln/>
        </p:spPr>
        <p:txBody>
          <a:bodyPr wrap="square"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Developer Class</a:t>
            </a:r>
            <a:endParaRPr lang="en-US" sz="1600" dirty="0"/>
          </a:p>
        </p:txBody>
      </p:sp>
      <p:sp>
        <p:nvSpPr>
          <p:cNvPr id="34" name="Text 31"/>
          <p:cNvSpPr txBox="1"/>
          <p:nvPr/>
        </p:nvSpPr>
        <p:spPr>
          <a:xfrm>
            <a:off x="6400800" y="3172968"/>
            <a:ext cx="2103120" cy="960120"/>
          </a:xfrm>
          <a:prstGeom prst="rect">
            <a:avLst/>
          </a:prstGeom>
          <a:noFill/>
          <a:ln/>
        </p:spPr>
        <p:txBody>
          <a:bodyPr wrap="square" rtlCol="0" anchor="t"/>
          <a:lstStyle/>
          <a:p>
            <a:pPr indent="0" marL="0">
              <a:buNone/>
            </a:pPr>
            <a:r>
              <a:rPr lang="en-US" sz="1350" dirty="0">
                <a:solidFill>
                  <a:srgbClr val="64748B"/>
                </a:solidFill>
                <a:latin typeface="Calibri" pitchFamily="34" charset="0"/>
                <a:ea typeface="Calibri" pitchFamily="34" charset="-122"/>
                <a:cs typeface="Calibri" pitchFamily="34" charset="-120"/>
              </a:rPr>
              <a:t>Make Developer inherit Employee and show who is writing code.</a:t>
            </a:r>
            <a:endParaRPr lang="en-US" sz="1350" dirty="0"/>
          </a:p>
        </p:txBody>
      </p:sp>
      <p:sp>
        <p:nvSpPr>
          <p:cNvPr id="35" name="Text 32"/>
          <p:cNvSpPr txBox="1"/>
          <p:nvPr/>
        </p:nvSpPr>
        <p:spPr>
          <a:xfrm>
            <a:off x="6400800" y="4178808"/>
            <a:ext cx="2103120" cy="256032"/>
          </a:xfrm>
          <a:prstGeom prst="rect">
            <a:avLst/>
          </a:prstGeom>
          <a:noFill/>
          <a:ln/>
        </p:spPr>
        <p:txBody>
          <a:bodyPr wrap="square" rtlCol="0" anchor="ctr"/>
          <a:lstStyle/>
          <a:p>
            <a:pPr indent="0" marL="0">
              <a:buNone/>
            </a:pPr>
            <a:r>
              <a:rPr lang="en-US" sz="1100" b="1" spc="100" kern="0" dirty="0">
                <a:solidFill>
                  <a:srgbClr val="14B8A6"/>
                </a:solidFill>
                <a:latin typeface="Calibri" pitchFamily="34" charset="0"/>
                <a:ea typeface="Calibri" pitchFamily="34" charset="-122"/>
                <a:cs typeface="Calibri" pitchFamily="34" charset="-120"/>
              </a:rPr>
              <a:t>SAMPLE INPUT</a:t>
            </a:r>
            <a:endParaRPr lang="en-US" sz="1100" dirty="0"/>
          </a:p>
        </p:txBody>
      </p:sp>
      <p:sp>
        <p:nvSpPr>
          <p:cNvPr id="36" name="Shape 33"/>
          <p:cNvSpPr/>
          <p:nvPr/>
        </p:nvSpPr>
        <p:spPr>
          <a:xfrm>
            <a:off x="6400800" y="4453128"/>
            <a:ext cx="2103120" cy="411480"/>
          </a:xfrm>
          <a:prstGeom prst="roundRect">
            <a:avLst>
              <a:gd name="adj" fmla="val 13333"/>
            </a:avLst>
          </a:prstGeom>
          <a:solidFill>
            <a:srgbClr val="F1F5F9"/>
          </a:solidFill>
          <a:ln w="12700">
            <a:solidFill>
              <a:srgbClr val="CBD5E1"/>
            </a:solidFill>
            <a:prstDash val="solid"/>
          </a:ln>
        </p:spPr>
      </p:sp>
      <p:sp>
        <p:nvSpPr>
          <p:cNvPr id="37" name="Text 34"/>
          <p:cNvSpPr txBox="1"/>
          <p:nvPr/>
        </p:nvSpPr>
        <p:spPr>
          <a:xfrm>
            <a:off x="6400800" y="4453128"/>
            <a:ext cx="2103120" cy="411480"/>
          </a:xfrm>
          <a:prstGeom prst="rect">
            <a:avLst/>
          </a:prstGeom>
          <a:noFill/>
          <a:ln/>
        </p:spPr>
        <p:txBody>
          <a:bodyPr wrap="square" rtlCol="0" anchor="ctr"/>
          <a:lstStyle/>
          <a:p>
            <a:pPr algn="ctr" indent="0" marL="0">
              <a:buNone/>
            </a:pPr>
            <a:r>
              <a:rPr lang="en-US" sz="1300" dirty="0">
                <a:solidFill>
                  <a:srgbClr val="1E293B"/>
                </a:solidFill>
                <a:latin typeface="Consolas" pitchFamily="34" charset="0"/>
                <a:ea typeface="Consolas" pitchFamily="34" charset="-122"/>
                <a:cs typeface="Consolas" pitchFamily="34" charset="-120"/>
              </a:rPr>
              <a:t>Ravi</a:t>
            </a:r>
            <a:endParaRPr lang="en-US" sz="1300" dirty="0"/>
          </a:p>
        </p:txBody>
      </p:sp>
      <p:sp>
        <p:nvSpPr>
          <p:cNvPr id="38" name="Text 35"/>
          <p:cNvSpPr txBox="1"/>
          <p:nvPr/>
        </p:nvSpPr>
        <p:spPr>
          <a:xfrm>
            <a:off x="6400800" y="4956048"/>
            <a:ext cx="2103120" cy="256032"/>
          </a:xfrm>
          <a:prstGeom prst="rect">
            <a:avLst/>
          </a:prstGeom>
          <a:noFill/>
          <a:ln/>
        </p:spPr>
        <p:txBody>
          <a:bodyPr wrap="square" rtlCol="0" anchor="ctr"/>
          <a:lstStyle/>
          <a:p>
            <a:pPr indent="0" marL="0">
              <a:buNone/>
            </a:pPr>
            <a:r>
              <a:rPr lang="en-US" sz="1100" b="1" spc="100" kern="0" dirty="0">
                <a:solidFill>
                  <a:srgbClr val="F97316"/>
                </a:solidFill>
                <a:latin typeface="Calibri" pitchFamily="34" charset="0"/>
                <a:ea typeface="Calibri" pitchFamily="34" charset="-122"/>
                <a:cs typeface="Calibri" pitchFamily="34" charset="-120"/>
              </a:rPr>
              <a:t>SAMPLE OUTPUT</a:t>
            </a:r>
            <a:endParaRPr lang="en-US" sz="1100" dirty="0"/>
          </a:p>
        </p:txBody>
      </p:sp>
      <p:sp>
        <p:nvSpPr>
          <p:cNvPr id="39" name="Shape 36"/>
          <p:cNvSpPr/>
          <p:nvPr/>
        </p:nvSpPr>
        <p:spPr>
          <a:xfrm>
            <a:off x="6400800" y="5230368"/>
            <a:ext cx="2103120" cy="822960"/>
          </a:xfrm>
          <a:prstGeom prst="roundRect">
            <a:avLst>
              <a:gd name="adj" fmla="val 6667"/>
            </a:avLst>
          </a:prstGeom>
          <a:solidFill>
            <a:srgbClr val="FFEDD5"/>
          </a:solidFill>
          <a:ln w="25400">
            <a:solidFill>
              <a:srgbClr val="F97316"/>
            </a:solidFill>
            <a:prstDash val="solid"/>
          </a:ln>
        </p:spPr>
      </p:sp>
      <p:sp>
        <p:nvSpPr>
          <p:cNvPr id="40" name="Text 37"/>
          <p:cNvSpPr txBox="1"/>
          <p:nvPr/>
        </p:nvSpPr>
        <p:spPr>
          <a:xfrm>
            <a:off x="6400800" y="5230368"/>
            <a:ext cx="2103120" cy="822960"/>
          </a:xfrm>
          <a:prstGeom prst="rect">
            <a:avLst/>
          </a:prstGeom>
          <a:noFill/>
          <a:ln/>
        </p:spPr>
        <p:txBody>
          <a:bodyPr wrap="square" rtlCol="0" anchor="ctr"/>
          <a:lstStyle/>
          <a:p>
            <a:pPr algn="ctr" indent="0" marL="0">
              <a:buNone/>
            </a:pPr>
            <a:r>
              <a:rPr lang="en-US" sz="1300" b="1" dirty="0">
                <a:solidFill>
                  <a:srgbClr val="1E293B"/>
                </a:solidFill>
                <a:latin typeface="Consolas" pitchFamily="34" charset="0"/>
                <a:ea typeface="Consolas" pitchFamily="34" charset="-122"/>
                <a:cs typeface="Consolas" pitchFamily="34" charset="-120"/>
              </a:rPr>
              <a:t>Ravi is writing code</a:t>
            </a:r>
            <a:endParaRPr lang="en-US" sz="1300" dirty="0"/>
          </a:p>
        </p:txBody>
      </p:sp>
      <p:sp>
        <p:nvSpPr>
          <p:cNvPr id="41" name="Shape 38"/>
          <p:cNvSpPr/>
          <p:nvPr/>
        </p:nvSpPr>
        <p:spPr>
          <a:xfrm>
            <a:off x="8915400" y="2395728"/>
            <a:ext cx="2560320" cy="3749040"/>
          </a:xfrm>
          <a:prstGeom prst="roundRect">
            <a:avLst>
              <a:gd name="adj" fmla="val 3571"/>
            </a:avLst>
          </a:prstGeom>
          <a:solidFill>
            <a:srgbClr val="FFFFFF"/>
          </a:solidFill>
          <a:ln w="19050">
            <a:solidFill>
              <a:srgbClr val="14B8A6"/>
            </a:solidFill>
            <a:prstDash val="solid"/>
          </a:ln>
        </p:spPr>
      </p:sp>
      <p:sp>
        <p:nvSpPr>
          <p:cNvPr id="42" name="Shape 39"/>
          <p:cNvSpPr/>
          <p:nvPr/>
        </p:nvSpPr>
        <p:spPr>
          <a:xfrm>
            <a:off x="9098280" y="2560320"/>
            <a:ext cx="457200" cy="457200"/>
          </a:xfrm>
          <a:prstGeom prst="ellipse">
            <a:avLst/>
          </a:prstGeom>
          <a:solidFill>
            <a:srgbClr val="14B8A6"/>
          </a:solidFill>
          <a:ln w="12700">
            <a:solidFill>
              <a:srgbClr val="FFFFFF"/>
            </a:solidFill>
            <a:prstDash val="solid"/>
          </a:ln>
        </p:spPr>
      </p:sp>
      <p:sp>
        <p:nvSpPr>
          <p:cNvPr id="43" name="Text 40"/>
          <p:cNvSpPr txBox="1"/>
          <p:nvPr/>
        </p:nvSpPr>
        <p:spPr>
          <a:xfrm>
            <a:off x="9098280" y="256032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44" name="Text 41"/>
          <p:cNvSpPr txBox="1"/>
          <p:nvPr/>
        </p:nvSpPr>
        <p:spPr>
          <a:xfrm>
            <a:off x="9692640" y="2505456"/>
            <a:ext cx="1645920" cy="566928"/>
          </a:xfrm>
          <a:prstGeom prst="rect">
            <a:avLst/>
          </a:prstGeom>
          <a:noFill/>
          <a:ln/>
        </p:spPr>
        <p:txBody>
          <a:bodyPr wrap="square"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Account Object</a:t>
            </a:r>
            <a:endParaRPr lang="en-US" sz="1600" dirty="0"/>
          </a:p>
        </p:txBody>
      </p:sp>
      <p:sp>
        <p:nvSpPr>
          <p:cNvPr id="45" name="Text 42"/>
          <p:cNvSpPr txBox="1"/>
          <p:nvPr/>
        </p:nvSpPr>
        <p:spPr>
          <a:xfrm>
            <a:off x="9144000" y="3172968"/>
            <a:ext cx="2103120" cy="960120"/>
          </a:xfrm>
          <a:prstGeom prst="rect">
            <a:avLst/>
          </a:prstGeom>
          <a:noFill/>
          <a:ln/>
        </p:spPr>
        <p:txBody>
          <a:bodyPr wrap="square" rtlCol="0" anchor="t"/>
          <a:lstStyle/>
          <a:p>
            <a:pPr indent="0" marL="0">
              <a:buNone/>
            </a:pPr>
            <a:r>
              <a:rPr lang="en-US" sz="1350" dirty="0">
                <a:solidFill>
                  <a:srgbClr val="64748B"/>
                </a:solidFill>
                <a:latin typeface="Calibri" pitchFamily="34" charset="0"/>
                <a:ea typeface="Calibri" pitchFamily="34" charset="-122"/>
                <a:cs typeface="Calibri" pitchFamily="34" charset="-120"/>
              </a:rPr>
              <a:t>Create an Account class with owner and balance. Show both.</a:t>
            </a:r>
            <a:endParaRPr lang="en-US" sz="1350" dirty="0"/>
          </a:p>
        </p:txBody>
      </p:sp>
      <p:sp>
        <p:nvSpPr>
          <p:cNvPr id="46" name="Text 43"/>
          <p:cNvSpPr txBox="1"/>
          <p:nvPr/>
        </p:nvSpPr>
        <p:spPr>
          <a:xfrm>
            <a:off x="9144000" y="4178808"/>
            <a:ext cx="2103120" cy="256032"/>
          </a:xfrm>
          <a:prstGeom prst="rect">
            <a:avLst/>
          </a:prstGeom>
          <a:noFill/>
          <a:ln/>
        </p:spPr>
        <p:txBody>
          <a:bodyPr wrap="square" rtlCol="0" anchor="ctr"/>
          <a:lstStyle/>
          <a:p>
            <a:pPr indent="0" marL="0">
              <a:buNone/>
            </a:pPr>
            <a:r>
              <a:rPr lang="en-US" sz="1100" b="1" spc="100" kern="0" dirty="0">
                <a:solidFill>
                  <a:srgbClr val="14B8A6"/>
                </a:solidFill>
                <a:latin typeface="Calibri" pitchFamily="34" charset="0"/>
                <a:ea typeface="Calibri" pitchFamily="34" charset="-122"/>
                <a:cs typeface="Calibri" pitchFamily="34" charset="-120"/>
              </a:rPr>
              <a:t>SAMPLE INPUT</a:t>
            </a:r>
            <a:endParaRPr lang="en-US" sz="1100" dirty="0"/>
          </a:p>
        </p:txBody>
      </p:sp>
      <p:sp>
        <p:nvSpPr>
          <p:cNvPr id="47" name="Shape 44"/>
          <p:cNvSpPr/>
          <p:nvPr/>
        </p:nvSpPr>
        <p:spPr>
          <a:xfrm>
            <a:off x="9144000" y="4453128"/>
            <a:ext cx="2103120" cy="411480"/>
          </a:xfrm>
          <a:prstGeom prst="roundRect">
            <a:avLst>
              <a:gd name="adj" fmla="val 13333"/>
            </a:avLst>
          </a:prstGeom>
          <a:solidFill>
            <a:srgbClr val="F1F5F9"/>
          </a:solidFill>
          <a:ln w="12700">
            <a:solidFill>
              <a:srgbClr val="CBD5E1"/>
            </a:solidFill>
            <a:prstDash val="solid"/>
          </a:ln>
        </p:spPr>
      </p:sp>
      <p:sp>
        <p:nvSpPr>
          <p:cNvPr id="48" name="Text 45"/>
          <p:cNvSpPr txBox="1"/>
          <p:nvPr/>
        </p:nvSpPr>
        <p:spPr>
          <a:xfrm>
            <a:off x="9144000" y="4453128"/>
            <a:ext cx="2103120" cy="411480"/>
          </a:xfrm>
          <a:prstGeom prst="rect">
            <a:avLst/>
          </a:prstGeom>
          <a:noFill/>
          <a:ln/>
        </p:spPr>
        <p:txBody>
          <a:bodyPr wrap="square" rtlCol="0" anchor="ctr"/>
          <a:lstStyle/>
          <a:p>
            <a:pPr algn="ctr" indent="0" marL="0">
              <a:buNone/>
            </a:pPr>
            <a:r>
              <a:rPr lang="en-US" sz="1300" dirty="0">
                <a:solidFill>
                  <a:srgbClr val="1E293B"/>
                </a:solidFill>
                <a:latin typeface="Consolas" pitchFamily="34" charset="0"/>
                <a:ea typeface="Consolas" pitchFamily="34" charset="-122"/>
                <a:cs typeface="Consolas" pitchFamily="34" charset="-120"/>
              </a:rPr>
              <a:t>Priya, 5000</a:t>
            </a:r>
            <a:endParaRPr lang="en-US" sz="1300" dirty="0"/>
          </a:p>
        </p:txBody>
      </p:sp>
      <p:sp>
        <p:nvSpPr>
          <p:cNvPr id="49" name="Text 46"/>
          <p:cNvSpPr txBox="1"/>
          <p:nvPr/>
        </p:nvSpPr>
        <p:spPr>
          <a:xfrm>
            <a:off x="9144000" y="4956048"/>
            <a:ext cx="2103120" cy="256032"/>
          </a:xfrm>
          <a:prstGeom prst="rect">
            <a:avLst/>
          </a:prstGeom>
          <a:noFill/>
          <a:ln/>
        </p:spPr>
        <p:txBody>
          <a:bodyPr wrap="square" rtlCol="0" anchor="ctr"/>
          <a:lstStyle/>
          <a:p>
            <a:pPr indent="0" marL="0">
              <a:buNone/>
            </a:pPr>
            <a:r>
              <a:rPr lang="en-US" sz="1100" b="1" spc="100" kern="0" dirty="0">
                <a:solidFill>
                  <a:srgbClr val="F97316"/>
                </a:solidFill>
                <a:latin typeface="Calibri" pitchFamily="34" charset="0"/>
                <a:ea typeface="Calibri" pitchFamily="34" charset="-122"/>
                <a:cs typeface="Calibri" pitchFamily="34" charset="-120"/>
              </a:rPr>
              <a:t>SAMPLE OUTPUT</a:t>
            </a:r>
            <a:endParaRPr lang="en-US" sz="1100" dirty="0"/>
          </a:p>
        </p:txBody>
      </p:sp>
      <p:sp>
        <p:nvSpPr>
          <p:cNvPr id="50" name="Shape 47"/>
          <p:cNvSpPr/>
          <p:nvPr/>
        </p:nvSpPr>
        <p:spPr>
          <a:xfrm>
            <a:off x="9144000" y="5230368"/>
            <a:ext cx="2103120" cy="640080"/>
          </a:xfrm>
          <a:prstGeom prst="roundRect">
            <a:avLst>
              <a:gd name="adj" fmla="val 8571"/>
            </a:avLst>
          </a:prstGeom>
          <a:solidFill>
            <a:srgbClr val="FFEDD5"/>
          </a:solidFill>
          <a:ln w="25400">
            <a:solidFill>
              <a:srgbClr val="F97316"/>
            </a:solidFill>
            <a:prstDash val="solid"/>
          </a:ln>
        </p:spPr>
      </p:sp>
      <p:sp>
        <p:nvSpPr>
          <p:cNvPr id="51" name="Text 48"/>
          <p:cNvSpPr txBox="1"/>
          <p:nvPr/>
        </p:nvSpPr>
        <p:spPr>
          <a:xfrm>
            <a:off x="9144000" y="5230368"/>
            <a:ext cx="2103120" cy="640080"/>
          </a:xfrm>
          <a:prstGeom prst="rect">
            <a:avLst/>
          </a:prstGeom>
          <a:noFill/>
          <a:ln/>
        </p:spPr>
        <p:txBody>
          <a:bodyPr wrap="square" rtlCol="0" anchor="ctr"/>
          <a:lstStyle/>
          <a:p>
            <a:pPr algn="ctr" indent="0" marL="0">
              <a:buNone/>
            </a:pPr>
            <a:r>
              <a:rPr lang="en-US" sz="1300" b="1" dirty="0">
                <a:solidFill>
                  <a:srgbClr val="1E293B"/>
                </a:solidFill>
                <a:latin typeface="Consolas" pitchFamily="34" charset="0"/>
                <a:ea typeface="Consolas" pitchFamily="34" charset="-122"/>
                <a:cs typeface="Consolas" pitchFamily="34" charset="-120"/>
              </a:rPr>
              <a:t>Priya 5000</a:t>
            </a:r>
            <a:endParaRPr lang="en-US" sz="1300" dirty="0"/>
          </a:p>
        </p:txBody>
      </p:sp>
      <p:sp>
        <p:nvSpPr>
          <p:cNvPr id="52" name="Text 49"/>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OOP Fundamentals and Inheritance  ·  Week 3  ·  Day 12</a:t>
            </a:r>
            <a:endParaRPr lang="en-US" sz="1000" dirty="0"/>
          </a:p>
        </p:txBody>
      </p:sp>
      <p:sp>
        <p:nvSpPr>
          <p:cNvPr id="53" name="Text 50"/>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AFA"/>
        </a:solidFill>
      </p:bgPr>
    </p:bg>
    <p:spTree>
      <p:nvGrpSpPr>
        <p:cNvPr id="1" name=""/>
        <p:cNvGrpSpPr/>
        <p:nvPr/>
      </p:nvGrpSpPr>
      <p:grpSpPr>
        <a:xfrm>
          <a:off x="0" y="0"/>
          <a:ext cx="0" cy="0"/>
          <a:chOff x="0" y="0"/>
          <a:chExt cx="0" cy="0"/>
        </a:xfrm>
      </p:grpSpPr>
      <p:pic>
        <p:nvPicPr>
          <p:cNvPr id="2" name="Image 0" descr="assets/intellea_logo_cropped.png">    </p:cNvPr>
          <p:cNvPicPr>
            <a:picLocks noChangeAspect="1"/>
          </p:cNvPicPr>
          <p:nvPr/>
        </p:nvPicPr>
        <p:blipFill>
          <a:blip r:embed="rId1"/>
          <a:stretch>
            <a:fillRect/>
          </a:stretch>
        </p:blipFill>
        <p:spPr>
          <a:xfrm>
            <a:off x="457200" y="320040"/>
            <a:ext cx="1371600" cy="454323"/>
          </a:xfrm>
          <a:prstGeom prst="rect">
            <a:avLst/>
          </a:prstGeom>
        </p:spPr>
      </p:pic>
      <p:sp>
        <p:nvSpPr>
          <p:cNvPr id="3" name="Text 0"/>
          <p:cNvSpPr txBox="1"/>
          <p:nvPr/>
        </p:nvSpPr>
        <p:spPr>
          <a:xfrm>
            <a:off x="457200" y="118872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QUICK RECAP</a:t>
            </a:r>
            <a:endParaRPr lang="en-US" sz="1400" dirty="0"/>
          </a:p>
        </p:txBody>
      </p:sp>
      <p:sp>
        <p:nvSpPr>
          <p:cNvPr id="4" name="Text 1"/>
          <p:cNvSpPr txBox="1"/>
          <p:nvPr/>
        </p:nvSpPr>
        <p:spPr>
          <a:xfrm>
            <a:off x="457200" y="1554480"/>
            <a:ext cx="11155680" cy="822960"/>
          </a:xfrm>
          <a:prstGeom prst="rect">
            <a:avLst/>
          </a:prstGeom>
          <a:noFill/>
          <a:ln/>
        </p:spPr>
        <p:txBody>
          <a:bodyPr wrap="square" rtlCol="0" anchor="ctr"/>
          <a:lstStyle/>
          <a:p>
            <a:pPr indent="0" marL="0">
              <a:buNone/>
            </a:pPr>
            <a:r>
              <a:rPr lang="en-US" sz="3200" b="1" dirty="0">
                <a:solidFill>
                  <a:srgbClr val="1E293B"/>
                </a:solidFill>
                <a:latin typeface="Calibri" pitchFamily="34" charset="0"/>
                <a:ea typeface="Calibri" pitchFamily="34" charset="-122"/>
                <a:cs typeface="Calibri" pitchFamily="34" charset="-120"/>
              </a:rPr>
              <a:t>What Ravi Learned Today</a:t>
            </a:r>
            <a:endParaRPr lang="en-US" sz="3200" dirty="0"/>
          </a:p>
        </p:txBody>
      </p:sp>
      <p:sp>
        <p:nvSpPr>
          <p:cNvPr id="5" name="Text 2"/>
          <p:cNvSpPr txBox="1"/>
          <p:nvPr/>
        </p:nvSpPr>
        <p:spPr>
          <a:xfrm>
            <a:off x="457200" y="2286000"/>
            <a:ext cx="10515600" cy="365760"/>
          </a:xfrm>
          <a:prstGeom prst="rect">
            <a:avLst/>
          </a:prstGeom>
          <a:noFill/>
          <a:ln/>
        </p:spPr>
        <p:txBody>
          <a:bodyPr wrap="square"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Click to reveal each one.</a:t>
            </a:r>
            <a:endParaRPr lang="en-US" sz="1400" dirty="0"/>
          </a:p>
        </p:txBody>
      </p:sp>
      <p:sp>
        <p:nvSpPr>
          <p:cNvPr id="6" name="rc_8"/>
          <p:cNvSpPr/>
          <p:nvPr/>
        </p:nvSpPr>
        <p:spPr>
          <a:xfrm>
            <a:off x="457200" y="2834640"/>
            <a:ext cx="3566160" cy="2468880"/>
          </a:xfrm>
          <a:prstGeom prst="roundRect">
            <a:avLst>
              <a:gd name="adj" fmla="val 3704"/>
            </a:avLst>
          </a:prstGeom>
          <a:solidFill>
            <a:srgbClr val="F5F3FF"/>
          </a:solidFill>
          <a:ln w="12700">
            <a:solidFill>
              <a:srgbClr val="E2E8F0"/>
            </a:solidFill>
            <a:prstDash val="solid"/>
          </a:ln>
          <a:effectLst>
            <a:outerShdw sx="100000" sy="100000" kx="0" ky="0" algn="bl" rotWithShape="0" blurRad="76200" dist="25400" dir="5400000">
              <a:srgbClr val="000000">
                <a:alpha val="8000"/>
              </a:srgbClr>
            </a:outerShdw>
          </a:effectLst>
        </p:spPr>
      </p:sp>
      <p:pic>
        <p:nvPicPr>
          <p:cNvPr id="7" name="Image 1" descr="assets/icon2_ruler_purple.png">    </p:cNvPr>
          <p:cNvPicPr>
            <a:picLocks noChangeAspect="1"/>
          </p:cNvPicPr>
          <p:nvPr/>
        </p:nvPicPr>
        <p:blipFill>
          <a:blip r:embed="rId2"/>
          <a:stretch>
            <a:fillRect/>
          </a:stretch>
        </p:blipFill>
        <p:spPr>
          <a:xfrm>
            <a:off x="777240" y="3154680"/>
            <a:ext cx="548640" cy="548640"/>
          </a:xfrm>
          <a:prstGeom prst="rect">
            <a:avLst/>
          </a:prstGeom>
        </p:spPr>
      </p:pic>
      <p:sp>
        <p:nvSpPr>
          <p:cNvPr id="8" name="Text 4"/>
          <p:cNvSpPr txBox="1"/>
          <p:nvPr/>
        </p:nvSpPr>
        <p:spPr>
          <a:xfrm>
            <a:off x="731520" y="3931920"/>
            <a:ext cx="3017520" cy="1097280"/>
          </a:xfrm>
          <a:prstGeom prst="rect">
            <a:avLst/>
          </a:prstGeom>
          <a:noFill/>
          <a:ln/>
        </p:spPr>
        <p:txBody>
          <a:bodyPr wrap="square"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A class is a blueprint and an object is made from it. __init__ and self set up each object's own data</a:t>
            </a:r>
            <a:endParaRPr lang="en-US" sz="1600" dirty="0"/>
          </a:p>
        </p:txBody>
      </p:sp>
      <p:sp>
        <p:nvSpPr>
          <p:cNvPr id="9" name="rc_9"/>
          <p:cNvSpPr/>
          <p:nvPr/>
        </p:nvSpPr>
        <p:spPr>
          <a:xfrm>
            <a:off x="4297680" y="2834640"/>
            <a:ext cx="3566160" cy="2468880"/>
          </a:xfrm>
          <a:prstGeom prst="roundRect">
            <a:avLst>
              <a:gd name="adj" fmla="val 3704"/>
            </a:avLst>
          </a:prstGeom>
          <a:solidFill>
            <a:srgbClr val="F0FDFA"/>
          </a:solidFill>
          <a:ln w="12700">
            <a:solidFill>
              <a:srgbClr val="E2E8F0"/>
            </a:solidFill>
            <a:prstDash val="solid"/>
          </a:ln>
          <a:effectLst>
            <a:outerShdw sx="100000" sy="100000" kx="0" ky="0" algn="bl" rotWithShape="0" blurRad="76200" dist="25400" dir="5400000">
              <a:srgbClr val="000000">
                <a:alpha val="8000"/>
              </a:srgbClr>
            </a:outerShdw>
          </a:effectLst>
        </p:spPr>
      </p:sp>
      <p:pic>
        <p:nvPicPr>
          <p:cNvPr id="10" name="Image 2" descr="assets/icon2_idcard_purple.png">    </p:cNvPr>
          <p:cNvPicPr>
            <a:picLocks noChangeAspect="1"/>
          </p:cNvPicPr>
          <p:nvPr/>
        </p:nvPicPr>
        <p:blipFill>
          <a:blip r:embed="rId3"/>
          <a:stretch>
            <a:fillRect/>
          </a:stretch>
        </p:blipFill>
        <p:spPr>
          <a:xfrm>
            <a:off x="4617720" y="3154680"/>
            <a:ext cx="548640" cy="548640"/>
          </a:xfrm>
          <a:prstGeom prst="rect">
            <a:avLst/>
          </a:prstGeom>
        </p:spPr>
      </p:pic>
      <p:sp>
        <p:nvSpPr>
          <p:cNvPr id="11" name="Text 6"/>
          <p:cNvSpPr txBox="1"/>
          <p:nvPr/>
        </p:nvSpPr>
        <p:spPr>
          <a:xfrm>
            <a:off x="4572000" y="3931920"/>
            <a:ext cx="3017520" cy="1097280"/>
          </a:xfrm>
          <a:prstGeom prst="rect">
            <a:avLst/>
          </a:prstGeom>
          <a:noFill/>
          <a:ln/>
        </p:spPr>
        <p:txBody>
          <a:bodyPr wrap="square"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Instance attributes are personal. Class attributes are shared. Instance methods work through self</a:t>
            </a:r>
            <a:endParaRPr lang="en-US" sz="1600" dirty="0"/>
          </a:p>
        </p:txBody>
      </p:sp>
      <p:sp>
        <p:nvSpPr>
          <p:cNvPr id="12" name="rc_10"/>
          <p:cNvSpPr/>
          <p:nvPr/>
        </p:nvSpPr>
        <p:spPr>
          <a:xfrm>
            <a:off x="8138160" y="2834640"/>
            <a:ext cx="3566160" cy="2468880"/>
          </a:xfrm>
          <a:prstGeom prst="roundRect">
            <a:avLst>
              <a:gd name="adj" fmla="val 3704"/>
            </a:avLst>
          </a:prstGeom>
          <a:solidFill>
            <a:srgbClr val="FFF7ED"/>
          </a:solidFill>
          <a:ln w="12700">
            <a:solidFill>
              <a:srgbClr val="E2E8F0"/>
            </a:solidFill>
            <a:prstDash val="solid"/>
          </a:ln>
          <a:effectLst>
            <a:outerShdw sx="100000" sy="100000" kx="0" ky="0" algn="bl" rotWithShape="0" blurRad="76200" dist="25400" dir="5400000">
              <a:srgbClr val="000000">
                <a:alpha val="8000"/>
              </a:srgbClr>
            </a:outerShdw>
          </a:effectLst>
        </p:spPr>
      </p:sp>
      <p:pic>
        <p:nvPicPr>
          <p:cNvPr id="13" name="Image 3" descr="assets/icon2_network_teal.png">    </p:cNvPr>
          <p:cNvPicPr>
            <a:picLocks noChangeAspect="1"/>
          </p:cNvPicPr>
          <p:nvPr/>
        </p:nvPicPr>
        <p:blipFill>
          <a:blip r:embed="rId4"/>
          <a:stretch>
            <a:fillRect/>
          </a:stretch>
        </p:blipFill>
        <p:spPr>
          <a:xfrm>
            <a:off x="8458200" y="3154680"/>
            <a:ext cx="548640" cy="548640"/>
          </a:xfrm>
          <a:prstGeom prst="rect">
            <a:avLst/>
          </a:prstGeom>
        </p:spPr>
      </p:pic>
      <p:sp>
        <p:nvSpPr>
          <p:cNvPr id="14" name="Text 8"/>
          <p:cNvSpPr txBox="1"/>
          <p:nvPr/>
        </p:nvSpPr>
        <p:spPr>
          <a:xfrm>
            <a:off x="8412480" y="3931920"/>
            <a:ext cx="3017520" cy="1097280"/>
          </a:xfrm>
          <a:prstGeom prst="rect">
            <a:avLst/>
          </a:prstGeom>
          <a:noFill/>
          <a:ln/>
        </p:spPr>
        <p:txBody>
          <a:bodyPr wrap="square"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A child class inherits from a parent. super() calls the parent. Inheritance can be single, multilevel or multiple</a:t>
            </a:r>
            <a:endParaRPr lang="en-US" sz="1600" dirty="0"/>
          </a:p>
        </p:txBody>
      </p:sp>
      <p:sp>
        <p:nvSpPr>
          <p:cNvPr id="15" name="Text 9"/>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OOP Fundamentals and Inheritance  ·  Week 3  ·  Day 12</a:t>
            </a:r>
            <a:endParaRPr lang="en-US" sz="1000" dirty="0"/>
          </a:p>
        </p:txBody>
      </p:sp>
      <p:sp>
        <p:nvSpPr>
          <p:cNvPr id="16" name="Text 10"/>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00" presetID="1" presetClass="entr" presetSubtype="0" fill="hold" nodeType="clickEffect">
                      <p:stCondLst>
                        <p:cond delay="0"/>
                      </p:stCondLst>
                      <p:childTnLst>
                        <p:set>
                          <p:cBhvr>
                            <p:cTn id="101" dur="1" fill="hold">
                              <p:stCondLst>
                                <p:cond delay="0"/>
                              </p:stCondLst>
                            </p:cTn>
                            <p:tgtEl>
                              <p:spTgt spid="6"/>
                            </p:tgtEl>
                            <p:attrNameLst>
                              <p:attrName>style.visibility</p:attrName>
                            </p:attrNameLst>
                          </p:cBhvr>
                          <p:to>
                            <p:strVal val="visible"/>
                          </p:to>
                        </p:set>
                        <p:anim calcmode="lin" valueType="num">
                          <p:cBhvr>
                            <p:cTn id="102" dur="500" fill="hold"/>
                            <p:tgtEl>
                              <p:spTgt spid="6"/>
                            </p:tgtEl>
                            <p:attrNameLst>
                              <p:attrName>ppt_opacity</p:attrName>
                            </p:attrNameLst>
                          </p:cBhvr>
                          <p:tavLst>
                            <p:tav tm="0">
                              <p:val>
                                <p:fltVal val="0"/>
                              </p:val>
                            </p:tav>
                            <p:tav tm="100000">
                              <p:val>
                                <p:fltVal val="1"/>
                              </p:val>
                            </p:tav>
                          </p:tavLst>
                        </p:anim>
                      </p:childTnLst>
                    </p:cTn>
                  </p:par>
                  <p:par>
                    <p:cTn id="110" presetID="1" presetClass="entr" presetSubtype="0" fill="hold" nodeType="clickEffect">
                      <p:stCondLst>
                        <p:cond delay="0"/>
                      </p:stCondLst>
                      <p:childTnLst>
                        <p:set>
                          <p:cBhvr>
                            <p:cTn id="111" dur="1" fill="hold">
                              <p:stCondLst>
                                <p:cond delay="0"/>
                              </p:stCondLst>
                            </p:cTn>
                            <p:tgtEl>
                              <p:spTgt spid="9"/>
                            </p:tgtEl>
                            <p:attrNameLst>
                              <p:attrName>style.visibility</p:attrName>
                            </p:attrNameLst>
                          </p:cBhvr>
                          <p:to>
                            <p:strVal val="visible"/>
                          </p:to>
                        </p:set>
                        <p:anim calcmode="lin" valueType="num">
                          <p:cBhvr>
                            <p:cTn id="112" dur="500" fill="hold"/>
                            <p:tgtEl>
                              <p:spTgt spid="9"/>
                            </p:tgtEl>
                            <p:attrNameLst>
                              <p:attrName>ppt_opacity</p:attrName>
                            </p:attrNameLst>
                          </p:cBhvr>
                          <p:tavLst>
                            <p:tav tm="0">
                              <p:val>
                                <p:fltVal val="0"/>
                              </p:val>
                            </p:tav>
                            <p:tav tm="100000">
                              <p:val>
                                <p:fltVal val="1"/>
                              </p:val>
                            </p:tav>
                          </p:tavLst>
                        </p:anim>
                      </p:childTnLst>
                    </p:cTn>
                  </p:par>
                  <p:par>
                    <p:cTn id="120" presetID="1" presetClass="entr" presetSubtype="0" fill="hold" nodeType="clickEffect">
                      <p:stCondLst>
                        <p:cond delay="0"/>
                      </p:stCondLst>
                      <p:childTnLst>
                        <p:set>
                          <p:cBhvr>
                            <p:cTn id="121" dur="1" fill="hold">
                              <p:stCondLst>
                                <p:cond delay="0"/>
                              </p:stCondLst>
                            </p:cTn>
                            <p:tgtEl>
                              <p:spTgt spid="12"/>
                            </p:tgtEl>
                            <p:attrNameLst>
                              <p:attrName>style.visibility</p:attrName>
                            </p:attrNameLst>
                          </p:cBhvr>
                          <p:to>
                            <p:strVal val="visible"/>
                          </p:to>
                        </p:set>
                        <p:anim calcmode="lin" valueType="num">
                          <p:cBhvr>
                            <p:cTn id="122" dur="500" fill="hold"/>
                            <p:tgtEl>
                              <p:spTgt spid="12"/>
                            </p:tgtEl>
                            <p:attrNameLst>
                              <p:attrName>ppt_opacity</p:attrName>
                            </p:attrNameLst>
                          </p:cBhvr>
                          <p:tavLst>
                            <p:tav tm="0">
                              <p:val>
                                <p:fltVal val="0"/>
                              </p:val>
                            </p:tav>
                            <p:tav tm="100000">
                              <p:val>
                                <p:fltVal val="1"/>
                              </p:val>
                            </p:tav>
                          </p:tavLst>
                        </p:anim>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F172A"/>
        </a:solidFill>
      </p:bgPr>
    </p:bg>
    <p:spTree>
      <p:nvGrpSpPr>
        <p:cNvPr id="1" name=""/>
        <p:cNvGrpSpPr/>
        <p:nvPr/>
      </p:nvGrpSpPr>
      <p:grpSpPr>
        <a:xfrm>
          <a:off x="0" y="0"/>
          <a:ext cx="0" cy="0"/>
          <a:chOff x="0" y="0"/>
          <a:chExt cx="0" cy="0"/>
        </a:xfrm>
      </p:grpSpPr>
      <p:pic>
        <p:nvPicPr>
          <p:cNvPr id="2" name="Image 0" descr="assets/bloom_purple.png">    </p:cNvPr>
          <p:cNvPicPr>
            <a:picLocks noChangeAspect="1"/>
          </p:cNvPicPr>
          <p:nvPr/>
        </p:nvPicPr>
        <p:blipFill>
          <a:blip r:embed="rId1"/>
          <a:stretch>
            <a:fillRect/>
          </a:stretch>
        </p:blipFill>
        <p:spPr>
          <a:xfrm>
            <a:off x="-1828800" y="-1828800"/>
            <a:ext cx="6858000" cy="6858000"/>
          </a:xfrm>
          <a:prstGeom prst="rect">
            <a:avLst/>
          </a:prstGeom>
        </p:spPr>
      </p:pic>
      <p:pic>
        <p:nvPicPr>
          <p:cNvPr id="3" name="Image 1" descr="assets/bloom_pink.png">    </p:cNvPr>
          <p:cNvPicPr>
            <a:picLocks noChangeAspect="1"/>
          </p:cNvPicPr>
          <p:nvPr/>
        </p:nvPicPr>
        <p:blipFill>
          <a:blip r:embed="rId2"/>
          <a:stretch>
            <a:fillRect/>
          </a:stretch>
        </p:blipFill>
        <p:spPr>
          <a:xfrm>
            <a:off x="7772400" y="2286000"/>
            <a:ext cx="6400800" cy="6400800"/>
          </a:xfrm>
          <a:prstGeom prst="rect">
            <a:avLst/>
          </a:prstGeom>
        </p:spPr>
      </p:pic>
      <p:sp>
        <p:nvSpPr>
          <p:cNvPr id="4" name="Text 0"/>
          <p:cNvSpPr txBox="1"/>
          <p:nvPr/>
        </p:nvSpPr>
        <p:spPr>
          <a:xfrm>
            <a:off x="457200" y="320040"/>
            <a:ext cx="2286000" cy="45720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intellea</a:t>
            </a:r>
            <a:endParaRPr lang="en-US" sz="2200" dirty="0"/>
          </a:p>
        </p:txBody>
      </p:sp>
      <p:sp>
        <p:nvSpPr>
          <p:cNvPr id="5" name="Text 1"/>
          <p:cNvSpPr txBox="1"/>
          <p:nvPr/>
        </p:nvSpPr>
        <p:spPr>
          <a:xfrm>
            <a:off x="457200" y="1371600"/>
            <a:ext cx="100584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WEEK 3  ·  DAY 12 COMPLETE</a:t>
            </a:r>
            <a:endParaRPr lang="en-US" sz="1400" dirty="0"/>
          </a:p>
        </p:txBody>
      </p:sp>
      <p:sp>
        <p:nvSpPr>
          <p:cNvPr id="6" name="Text 2"/>
          <p:cNvSpPr txBox="1"/>
          <p:nvPr/>
        </p:nvSpPr>
        <p:spPr>
          <a:xfrm>
            <a:off x="457200" y="1737360"/>
            <a:ext cx="10515600" cy="82296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Great Work Today</a:t>
            </a:r>
            <a:endParaRPr lang="en-US" sz="3600" dirty="0"/>
          </a:p>
        </p:txBody>
      </p:sp>
      <p:sp>
        <p:nvSpPr>
          <p:cNvPr id="7" name="Text 3"/>
          <p:cNvSpPr txBox="1"/>
          <p:nvPr/>
        </p:nvSpPr>
        <p:spPr>
          <a:xfrm>
            <a:off x="457200" y="2651760"/>
            <a:ext cx="10515600" cy="731520"/>
          </a:xfrm>
          <a:prstGeom prst="rect">
            <a:avLst/>
          </a:prstGeom>
          <a:noFill/>
          <a:ln/>
        </p:spPr>
        <p:txBody>
          <a:bodyPr wrap="square" rtlCol="0" anchor="ctr"/>
          <a:lstStyle/>
          <a:p>
            <a:pPr indent="0" marL="0">
              <a:buNone/>
            </a:pPr>
            <a:r>
              <a:rPr lang="en-US" sz="1700" dirty="0">
                <a:solidFill>
                  <a:srgbClr val="CBD5E1"/>
                </a:solidFill>
                <a:latin typeface="Calibri" pitchFamily="34" charset="0"/>
                <a:ea typeface="Calibri" pitchFamily="34" charset="-122"/>
                <a:cs typeface="Calibri" pitchFamily="34" charset="-120"/>
              </a:rPr>
              <a:t>Ravi can now create classes and objects, share and personalise data, and reuse code through inheritance.</a:t>
            </a:r>
            <a:endParaRPr lang="en-US" sz="1700" dirty="0"/>
          </a:p>
        </p:txBody>
      </p:sp>
      <p:sp>
        <p:nvSpPr>
          <p:cNvPr id="8" name="rc_next"/>
          <p:cNvSpPr/>
          <p:nvPr/>
        </p:nvSpPr>
        <p:spPr>
          <a:xfrm>
            <a:off x="457200" y="3657600"/>
            <a:ext cx="11247120" cy="2377440"/>
          </a:xfrm>
          <a:prstGeom prst="roundRect">
            <a:avLst>
              <a:gd name="adj" fmla="val 3846"/>
            </a:avLst>
          </a:prstGeom>
          <a:solidFill>
            <a:srgbClr val="1E1B4B"/>
          </a:solidFill>
          <a:ln w="12700">
            <a:solidFill>
              <a:srgbClr val="6D28D9"/>
            </a:solidFill>
            <a:prstDash val="solid"/>
          </a:ln>
          <a:effectLst>
            <a:outerShdw sx="100000" sy="100000" kx="0" ky="0" algn="bl" rotWithShape="0" blurRad="76200" dist="25400" dir="5400000">
              <a:srgbClr val="000000">
                <a:alpha val="8000"/>
              </a:srgbClr>
            </a:outerShdw>
          </a:effectLst>
        </p:spPr>
      </p:sp>
      <p:sp>
        <p:nvSpPr>
          <p:cNvPr id="9" name="Text 5"/>
          <p:cNvSpPr txBox="1"/>
          <p:nvPr/>
        </p:nvSpPr>
        <p:spPr>
          <a:xfrm>
            <a:off x="914400" y="3931920"/>
            <a:ext cx="9601200" cy="365760"/>
          </a:xfrm>
          <a:prstGeom prst="rect">
            <a:avLst/>
          </a:prstGeom>
          <a:noFill/>
          <a:ln/>
        </p:spPr>
        <p:txBody>
          <a:bodyPr wrap="square" rtlCol="0" anchor="ctr"/>
          <a:lstStyle/>
          <a:p>
            <a:pPr indent="0" marL="0">
              <a:buNone/>
            </a:pPr>
            <a:r>
              <a:rPr lang="en-US" sz="1300" b="1" spc="200" kern="0" dirty="0">
                <a:solidFill>
                  <a:srgbClr val="8B5CF6"/>
                </a:solidFill>
                <a:latin typeface="Calibri" pitchFamily="34" charset="0"/>
                <a:ea typeface="Calibri" pitchFamily="34" charset="-122"/>
                <a:cs typeface="Calibri" pitchFamily="34" charset="-120"/>
              </a:rPr>
              <a:t>COMING UP NEXT, DAY 13</a:t>
            </a:r>
            <a:endParaRPr lang="en-US" sz="1300" dirty="0"/>
          </a:p>
        </p:txBody>
      </p:sp>
      <p:sp>
        <p:nvSpPr>
          <p:cNvPr id="10" name="Text 6"/>
          <p:cNvSpPr txBox="1"/>
          <p:nvPr/>
        </p:nvSpPr>
        <p:spPr>
          <a:xfrm>
            <a:off x="914400" y="4297680"/>
            <a:ext cx="10332720" cy="73152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OOP Advanced</a:t>
            </a:r>
            <a:endParaRPr lang="en-US" sz="2800" dirty="0"/>
          </a:p>
        </p:txBody>
      </p:sp>
      <p:sp>
        <p:nvSpPr>
          <p:cNvPr id="11" name="Text 7"/>
          <p:cNvSpPr txBox="1"/>
          <p:nvPr/>
        </p:nvSpPr>
        <p:spPr>
          <a:xfrm>
            <a:off x="914400" y="5074920"/>
            <a:ext cx="9875520" cy="731520"/>
          </a:xfrm>
          <a:prstGeom prst="rect">
            <a:avLst/>
          </a:prstGeom>
          <a:noFill/>
          <a:ln/>
        </p:spPr>
        <p:txBody>
          <a:bodyPr wrap="square" rtlCol="0" anchor="ctr"/>
          <a:lstStyle/>
          <a:p>
            <a:pPr indent="0" marL="0">
              <a:buNone/>
            </a:pPr>
            <a:r>
              <a:rPr lang="en-US" sz="1600" dirty="0">
                <a:solidFill>
                  <a:srgbClr val="CBD5E1"/>
                </a:solidFill>
                <a:latin typeface="Calibri" pitchFamily="34" charset="0"/>
                <a:ea typeface="Calibri" pitchFamily="34" charset="-122"/>
                <a:cs typeface="Calibri" pitchFamily="34" charset="-120"/>
              </a:rPr>
              <a:t>Tomorrow, Ravi learns to protect data inside objects, let different objects respond to the same action in their own way, and print objects in a readable form.</a:t>
            </a:r>
            <a:endParaRPr lang="en-US" sz="1600" dirty="0"/>
          </a:p>
        </p:txBody>
      </p:sp>
      <p:sp>
        <p:nvSpPr>
          <p:cNvPr id="12" name="Text 8"/>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OOP Fundamentals and Inheritance  ·  Week 3  ·  Day 12</a:t>
            </a:r>
            <a:endParaRPr lang="en-US" sz="1000" dirty="0"/>
          </a:p>
        </p:txBody>
      </p:sp>
      <p:sp>
        <p:nvSpPr>
          <p:cNvPr id="13" name="Text 9"/>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2026-10-27T08:57:59Z</dcterms:created>
  <dcterms:modified xsi:type="dcterms:W3CDTF">2026-10-27T08:57:59Z</dcterms:modified>
</cp:coreProperties>
</file>