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image" Target="../media/image-13-6.png"/><Relationship Id="rId7" Type="http://schemas.openxmlformats.org/officeDocument/2006/relationships/image" Target="../media/image-13-6.png"/><Relationship Id="rId8" Type="http://schemas.openxmlformats.org/officeDocument/2006/relationships/image" Target="../media/image-13-6.png"/><Relationship Id="rId9" Type="http://schemas.openxmlformats.org/officeDocument/2006/relationships/image" Target="../media/image-13-6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1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25146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</a:t>
            </a:r>
            <a:endParaRPr lang="en-US" sz="4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first program to variables, data types and user input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Live Class  ·  Theory and concept support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RAVI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5" name="rc_road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606040"/>
            <a:ext cx="868680" cy="868680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7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521208" cy="5212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 rot="2700000">
            <a:off x="1920240" y="3131820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011680" y="2560320"/>
            <a:ext cx="9418320" cy="1325880"/>
          </a:xfrm>
          <a:prstGeom prst="roundRect">
            <a:avLst>
              <a:gd name="adj" fmla="val 8276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94560" y="2560320"/>
            <a:ext cx="9052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wants to build his first app.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he learns the building blocks that every Python program is made of.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188720" y="4846320"/>
            <a:ext cx="97840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8229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13" name="Image 2" descr="assets/icon2_glob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6451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4191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Python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4536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17" name="Image 3" descr="assets/icon2_downloa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232" y="46451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6365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20497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VS Code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08432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1" name="Image 4" descr="assets/icon2_sqterm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912" y="464515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6720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68046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program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571500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25" name="Image 5" descr="assets/icon2_tag_purp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4645152"/>
            <a:ext cx="402336" cy="4023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89788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31114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734568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29" name="Image 6" descr="assets/icon2_layers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0272" y="4645152"/>
            <a:ext cx="402336" cy="40233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52856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694182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7636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B8A6"/>
            </a:solidFill>
            <a:prstDash val="solid"/>
          </a:ln>
        </p:spPr>
      </p:sp>
      <p:pic>
        <p:nvPicPr>
          <p:cNvPr id="33" name="Image 7" descr="assets/icon2_updown_pur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0952" y="4645152"/>
            <a:ext cx="402336" cy="40233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5924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857250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10607040" y="4480560"/>
            <a:ext cx="731520" cy="7315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B5CF6"/>
            </a:solidFill>
            <a:prstDash val="solid"/>
          </a:ln>
        </p:spPr>
      </p:sp>
      <p:pic>
        <p:nvPicPr>
          <p:cNvPr id="37" name="Image 8" descr="assets/icon2_keyboard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71632" y="4645152"/>
            <a:ext cx="402336" cy="40233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789920" y="4133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10203180" y="5303520"/>
            <a:ext cx="1539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40" name="Text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Python?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card gives plain steps that any cook can follow. Python works the same way: you write clear, readable steps and the computer follows them in order.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a popular, beginner friendly programming language that lets you give instructions to a computer using simple, English like words.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data analysis, AI and machine learning, automation scripts, software testing and cloud tools. Banks, hospitals, online shops and streaming platforms all use it.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PYTHON IS USED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Used Almost Everywhere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8" name="Image 1" descr="assets/icon2_ban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16936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and Finance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checks, risk reports, trading tools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315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1" name="Image 2" descr="assets/icon2_car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785616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search, recommendations, order reports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315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4" name="Image 3" descr="assets/icon2_hospital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54296"/>
            <a:ext cx="402336" cy="4023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analysis and medical image tools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7315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14B8A6"/>
            </a:solidFill>
            <a:prstDash val="solid"/>
          </a:ln>
        </p:spPr>
      </p:sp>
      <p:pic>
        <p:nvPicPr>
          <p:cNvPr id="17" name="Image 4" descr="assets/icon2_film_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522976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630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and Media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suggestions and video data pipelines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217920" y="2359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projects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17920" y="274320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1" name="Image 5" descr="assets/icon2_bot_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916936"/>
            <a:ext cx="402336" cy="40233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49440" y="27432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Chatbot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common questions automatically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6217920" y="361188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4" name="Image 6" descr="assets/icon2_chartbar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785616"/>
            <a:ext cx="402336" cy="4023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49440" y="361188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data and shows charts and trends</a:t>
            </a:r>
            <a:endParaRPr lang="en-US" sz="1500" dirty="0"/>
          </a:p>
        </p:txBody>
      </p:sp>
      <p:sp>
        <p:nvSpPr>
          <p:cNvPr id="26" name="Shape 17"/>
          <p:cNvSpPr/>
          <p:nvPr/>
        </p:nvSpPr>
        <p:spPr>
          <a:xfrm>
            <a:off x="6217920" y="448056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7" name="Image 7" descr="assets/icon2_zap_oran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4654296"/>
            <a:ext cx="402336" cy="40233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949440" y="448056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Script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files, sends emails, fills reports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6217920" y="5349240"/>
            <a:ext cx="52120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0" name="Image 8" descr="assets/icon2_globe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5522976"/>
            <a:ext cx="402336" cy="40233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949440" y="534924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products and payments behind a website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Runs Your Program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542032"/>
            <a:ext cx="1828800" cy="868680"/>
          </a:xfrm>
          <a:prstGeom prst="flowChartProcess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2542032"/>
            <a:ext cx="16824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program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903220" y="2542032"/>
            <a:ext cx="1463040" cy="868680"/>
          </a:xfrm>
          <a:prstGeom prst="flowChartProcess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76372" y="2542032"/>
            <a:ext cx="13167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09160" y="2542032"/>
            <a:ext cx="2286000" cy="868680"/>
          </a:xfrm>
          <a:prstGeom prst="flowChartProcess">
            <a:avLst/>
          </a:prstGeom>
          <a:solidFill>
            <a:srgbClr val="F5F3FF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82312" y="2542032"/>
            <a:ext cx="21396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the lines from the top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38060" y="2423160"/>
            <a:ext cx="1920240" cy="1097280"/>
          </a:xfrm>
          <a:prstGeom prst="flowChartDecision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22108" y="2423160"/>
            <a:ext cx="11521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mistake?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601200" y="2542032"/>
            <a:ext cx="1828800" cy="868680"/>
          </a:xfrm>
          <a:prstGeom prst="flowChartInputOutput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820656" y="2542032"/>
            <a:ext cx="13898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on the screen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596896" y="2971800"/>
            <a:ext cx="26517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07408" y="2971800"/>
            <a:ext cx="256032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031736" y="2971800"/>
            <a:ext cx="26517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299448" y="2971800"/>
            <a:ext cx="265176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9235440" y="26243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98180" y="3538728"/>
            <a:ext cx="0" cy="621792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8366760" y="3611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223760" y="4206240"/>
            <a:ext cx="2148840" cy="914400"/>
          </a:xfrm>
          <a:prstGeom prst="flowChartProcess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96912" y="4206240"/>
            <a:ext cx="2002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shows the error and its line number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 flipH="1">
            <a:off x="1645920" y="4663440"/>
            <a:ext cx="553212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1645920" y="3456432"/>
            <a:ext cx="0" cy="1207008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182880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and run again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0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your program from the top, one line at a time, and tells you where it got stuck.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READY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and VS Code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68880"/>
            <a:ext cx="2331720" cy="2148840"/>
          </a:xfrm>
          <a:prstGeom prst="roundRect">
            <a:avLst>
              <a:gd name="adj" fmla="val 4255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7" name="Image 1" descr="assets/icon2_download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578608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Python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511296"/>
            <a:ext cx="214884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python.org, the official site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118104" y="3543300"/>
            <a:ext cx="347472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3520440" y="2468880"/>
            <a:ext cx="2331720" cy="2148840"/>
          </a:xfrm>
          <a:prstGeom prst="roundRect">
            <a:avLst>
              <a:gd name="adj" fmla="val 4255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2" name="Image 2" descr="assets/icon2_settin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578608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9359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611880" y="3511296"/>
            <a:ext cx="214884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Add Python to PATH on Windows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907024" y="3543300"/>
            <a:ext cx="347472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6309360" y="2468880"/>
            <a:ext cx="2331720" cy="2148840"/>
          </a:xfrm>
          <a:prstGeom prst="roundRect">
            <a:avLst>
              <a:gd name="adj" fmla="val 4255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7" name="Image 3" descr="assets/icon2_code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57860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8251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400800" y="3511296"/>
            <a:ext cx="214884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code editor from Microsoft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695944" y="3543300"/>
            <a:ext cx="347472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9098280" y="2468880"/>
            <a:ext cx="2331720" cy="2148840"/>
          </a:xfrm>
          <a:prstGeom prst="roundRect">
            <a:avLst>
              <a:gd name="adj" fmla="val 4255"/>
            </a:avLst>
          </a:prstGeom>
          <a:solidFill>
            <a:srgbClr val="FDF2F8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2" name="Image 4" descr="assets/icon2_layout_purp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2578608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171432" y="3145536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extension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9189720" y="3511296"/>
            <a:ext cx="2148840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Python inside VS Code and install it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31520" y="4846320"/>
            <a:ext cx="10698480" cy="566928"/>
          </a:xfrm>
          <a:prstGeom prst="roundRect">
            <a:avLst>
              <a:gd name="adj" fmla="val 16129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04672" y="4956048"/>
            <a:ext cx="10552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set. Now you can write a program and run it.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9" name="Image 5" descr="assets/icon2_user_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the language. VS Code is the notebook where you write it.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EDITOR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VS Code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423160"/>
            <a:ext cx="731520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2523744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61288" y="25237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62456" y="25237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743200"/>
            <a:ext cx="1554480" cy="2697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14400" y="3108960"/>
            <a:ext cx="1371600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87552" y="3108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first.py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377440" y="2743200"/>
            <a:ext cx="12801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423160" y="27432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first.py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514600" y="32004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80360" y="3236976"/>
            <a:ext cx="2926080" cy="155448"/>
          </a:xfrm>
          <a:prstGeom prst="roundRect">
            <a:avLst>
              <a:gd name="adj" fmla="val 2941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514600" y="35478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880360" y="3584448"/>
            <a:ext cx="2194560" cy="155448"/>
          </a:xfrm>
          <a:prstGeom prst="roundRect">
            <a:avLst>
              <a:gd name="adj" fmla="val 29412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514600" y="389534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80360" y="3931920"/>
            <a:ext cx="3657600" cy="155448"/>
          </a:xfrm>
          <a:prstGeom prst="roundRect">
            <a:avLst>
              <a:gd name="adj" fmla="val 2941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35240" y="278892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23" name="Image 1" descr="assets/icon2_play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2880360"/>
            <a:ext cx="201168" cy="20116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2377440" y="4526280"/>
            <a:ext cx="57607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514600" y="4572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251460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2011680" y="2788920"/>
            <a:ext cx="310896" cy="310896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011680" y="2788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949440" y="3291840"/>
            <a:ext cx="310896" cy="310896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949440" y="3291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223760" y="2825496"/>
            <a:ext cx="310896" cy="310896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223760" y="2825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7680960" y="4892040"/>
            <a:ext cx="310896" cy="310896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768096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8503920" y="2560320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5039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9006840" y="24688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 and folders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8503920" y="3310128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503920" y="3310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9006840" y="321868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type the program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8503920" y="4059936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8503920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39"/>
          <p:cNvSpPr txBox="1"/>
          <p:nvPr/>
        </p:nvSpPr>
        <p:spPr>
          <a:xfrm>
            <a:off x="9006840" y="396849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button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program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8503920" y="4809744"/>
            <a:ext cx="365760" cy="36576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8503920" y="4809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2"/>
          <p:cNvSpPr txBox="1"/>
          <p:nvPr/>
        </p:nvSpPr>
        <p:spPr>
          <a:xfrm>
            <a:off x="9006840" y="47183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the program prints</a:t>
            </a: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9" name="Image 2" descr="assets/icon2_user_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 with .py at the end, so VS Code knows it is a Python file.</a:t>
            </a:r>
            <a:endParaRPr lang="en-US" sz="1400" dirty="0"/>
          </a:p>
        </p:txBody>
      </p:sp>
      <p:sp>
        <p:nvSpPr>
          <p:cNvPr id="53" name="Text 4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54" name="Text 4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Program: Showing a Message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display board shows the message the shopkeeper wants every customer to read. When a program needs to talk to the user, it puts a message on the screen in the same way.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is a built in function that displays a message or a value on the screen.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project: showing results and messages to users, and following the progress of a script. Developers also use it to check what is happening inside a program.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 FUNCTION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Goes In, The Screen Shows It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68880"/>
            <a:ext cx="3017520" cy="1417320"/>
          </a:xfrm>
          <a:prstGeom prst="roundRect">
            <a:avLst>
              <a:gd name="adj" fmla="val 6452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2578608"/>
            <a:ext cx="28712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World!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90088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message, written in quotes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80560" y="2468880"/>
            <a:ext cx="2743200" cy="1417320"/>
          </a:xfrm>
          <a:prstGeom prst="roundRect">
            <a:avLst>
              <a:gd name="adj" fmla="val 6452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0" name="Image 1" descr="assets/icon2_sqterm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57860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53712" y="3145536"/>
            <a:ext cx="25968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51129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it to the screen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94760" y="3172968"/>
            <a:ext cx="64008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269480" y="3172968"/>
            <a:ext cx="64008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955280" y="246888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138160" y="2542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13816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World!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731520" y="411480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9" name="Image 2" descr="assets/icon2_quote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420" y="422452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04672" y="4791456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are not shown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1206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only tell Python this is text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343400" y="411480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23" name="Image 3" descr="assets/icon2_listordere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422452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416552" y="4791456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print, one new line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4434840" y="51206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message starts below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955280" y="411480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27" name="Image 4" descr="assets/icon2_hash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180" y="4224528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028432" y="4791456"/>
            <a:ext cx="332841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need no quotes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8046720" y="51206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shows 25 as 25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2" name="Image 5" descr="assets/icon2_user_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forget a closing bracket, Python shows a SyntaxError and points to the line.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BASICS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Comments, Syntax and Indentation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3413760" cy="3108960"/>
          </a:xfrm>
          <a:prstGeom prst="roundRect">
            <a:avLst>
              <a:gd name="adj" fmla="val 2941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7" name="Image 1" descr="assets/icon2_msg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940" y="2505456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3072384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38144"/>
            <a:ext cx="32308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for humans. Python skips it completely. Teams use notes to explain why the code was written.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60120" y="5001768"/>
            <a:ext cx="2956560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5001768"/>
            <a:ext cx="295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 with the # symbol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73880" y="2395728"/>
            <a:ext cx="3413760" cy="3108960"/>
          </a:xfrm>
          <a:prstGeom prst="roundRect">
            <a:avLst>
              <a:gd name="adj" fmla="val 2941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3" name="Image 2" descr="assets/icon2_ban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505456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47032" y="3072384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465320" y="3438144"/>
            <a:ext cx="32308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grammar rules of Python. Spelling, brackets and quotes must all be correct.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4602480" y="4544568"/>
            <a:ext cx="2956560" cy="384048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602480" y="4544568"/>
            <a:ext cx="295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bracket: SyntaxError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02480" y="5001768"/>
            <a:ext cx="2956560" cy="384048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602480" y="5001768"/>
            <a:ext cx="295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spelling: NameError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16240" y="2395728"/>
            <a:ext cx="3413760" cy="3108960"/>
          </a:xfrm>
          <a:prstGeom prst="roundRect">
            <a:avLst>
              <a:gd name="adj" fmla="val 294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1" name="Image 3" descr="assets/icon2_indent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1660" y="2505456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89392" y="3072384"/>
            <a:ext cx="32674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8107680" y="3438144"/>
            <a:ext cx="323088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at the start of a line. They show which lines belong together as one block.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8244840" y="5001768"/>
            <a:ext cx="2956560" cy="384048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44840" y="5001768"/>
            <a:ext cx="295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 space: IndentationError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8" name="Image 4" descr="assets/icon2_user_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strict about spaces, so keep every line of a block lined up.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Giving Names to Information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phone, the name Mom is a label and the number saved under it is the information. You use the label and never have to remember the number.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place in memory that stores a value, so the program can use it or change it later.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Everywhere: a customer name, a cart total, a game score, a temperature reading or a salary. Every project is built on variables.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PICTURES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 Tag on a Box of Information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6888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2578608"/>
            <a:ext cx="12710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194560" y="2880360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06040" y="246888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9192" y="2578608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343400" y="246888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16552" y="2578608"/>
            <a:ext cx="12710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806440" y="2880360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217920" y="246888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91072" y="2578608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955280" y="2468880"/>
            <a:ext cx="141732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28432" y="2578608"/>
            <a:ext cx="12710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9418320" y="2880360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829800" y="246888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02952" y="2578608"/>
            <a:ext cx="13624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99.5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on the left holds the value on the right.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31520" y="379476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" y="397764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4672" y="4087368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holds 21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44988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749040" y="4590288"/>
            <a:ext cx="100584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370332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value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846320" y="3977640"/>
            <a:ext cx="292608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19472" y="4087368"/>
            <a:ext cx="277977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holds 22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4937760" y="44988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year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046720" y="397764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variable a new value replaces the old value. The old one is gone.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4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label on a box. The box can hold a new value any time.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Names Python Accepts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2359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NAMES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359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NAMES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6974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500" dirty="0"/>
          </a:p>
        </p:txBody>
      </p:sp>
      <p:pic>
        <p:nvPicPr>
          <p:cNvPr id="10" name="Image 1" descr="assets/icon2_circle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788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0332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only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340156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1520" y="34015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student_name</a:t>
            </a:r>
            <a:endParaRPr lang="en-US" sz="1500" dirty="0"/>
          </a:p>
        </p:txBody>
      </p:sp>
      <p:pic>
        <p:nvPicPr>
          <p:cNvPr id="14" name="Image 2" descr="assets/icon2_circle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4930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703320" y="34015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underscore is allowed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31520" y="410565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_count</a:t>
            </a:r>
            <a:endParaRPr lang="en-US" sz="1500" dirty="0"/>
          </a:p>
        </p:txBody>
      </p:sp>
      <p:pic>
        <p:nvPicPr>
          <p:cNvPr id="18" name="Image 3" descr="assets/icon2_circle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4197096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703320" y="41056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start with an underscore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31520" y="4809744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31520" y="48097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total2</a:t>
            </a:r>
            <a:endParaRPr lang="en-US" sz="1500" dirty="0"/>
          </a:p>
        </p:txBody>
      </p:sp>
      <p:pic>
        <p:nvPicPr>
          <p:cNvPr id="22" name="Image 4" descr="assets/icon2_circle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4901184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703320" y="48097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are fine after a letter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309360" y="26974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309360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name</a:t>
            </a:r>
            <a:endParaRPr lang="en-US" sz="1500" dirty="0"/>
          </a:p>
        </p:txBody>
      </p:sp>
      <p:pic>
        <p:nvPicPr>
          <p:cNvPr id="26" name="Image 5" descr="assets/icon2_circlex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78892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28116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space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309360" y="340156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309360" y="34015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2marks</a:t>
            </a:r>
            <a:endParaRPr lang="en-US" sz="1500" dirty="0"/>
          </a:p>
        </p:txBody>
      </p:sp>
      <p:pic>
        <p:nvPicPr>
          <p:cNvPr id="30" name="Image 6" descr="assets/icon2_circlex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0" y="3493008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281160" y="34015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 digit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309360" y="410565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6309360" y="4105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500" dirty="0"/>
          </a:p>
        </p:txBody>
      </p:sp>
      <p:pic>
        <p:nvPicPr>
          <p:cNvPr id="34" name="Image 7" descr="assets/icon2_circlex_oran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3960" y="4197096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281160" y="410565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reserved word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6309360" y="4809744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6309360" y="48097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total$</a:t>
            </a:r>
            <a:endParaRPr lang="en-US" sz="1500" dirty="0"/>
          </a:p>
        </p:txBody>
      </p:sp>
      <p:pic>
        <p:nvPicPr>
          <p:cNvPr id="38" name="Image 8" descr="assets/icon2_circlex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960" y="4901184"/>
            <a:ext cx="365760" cy="36576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281160" y="480974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symbol</a:t>
            </a:r>
            <a:endParaRPr lang="en-US" sz="1300" dirty="0"/>
          </a:p>
        </p:txBody>
      </p:sp>
      <p:sp>
        <p:nvSpPr>
          <p:cNvPr id="40" name="Shape 29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2" name="Image 9" descr="assets/icon2_user_pin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Age are two different names, because Python notices capital letters.</a:t>
            </a:r>
            <a:endParaRPr lang="en-US" sz="1400" dirty="0"/>
          </a:p>
        </p:txBody>
      </p:sp>
      <p:sp>
        <p:nvSpPr>
          <p:cNvPr id="46" name="Text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47" name="Text 3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Types: What Kind of Value Is It?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form has different fields. The name is text, the age is a whole number, the balance has decimals, and the question Is KYC done is a yes or no answer.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type tells Python what kind of value a variable holds: a whole number, a decimal number, text, or True and False.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billing, reports and databases. Choosing the right type avoids wrong totals and errors in every project.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BASIC TYPES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 You Will Use Every Day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7" name="Image 1" descr="assets/icon2_hash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45" y="2505456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(int)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number with no decimal point. Ages, counts, marks.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960120" y="45445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45445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60120" y="50017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60120" y="50017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type() says int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46329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0FDFA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15" name="Image 2" descr="assets/icon2_gaug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415" y="2505456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3644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(float)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55473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with a decimal point. Prices, heights, averages.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3691890" y="45445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691890" y="45445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99.5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91890" y="50017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691890" y="50017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type() says float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9506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23" name="Image 3" descr="assets/icon2_type_pur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185" y="2505456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26821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(str)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28650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of any kind. Names, cities, messages.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423660" y="45445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423660" y="45445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23660" y="50017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423660" y="50017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type() says str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926830" y="2395728"/>
            <a:ext cx="2503170" cy="3108960"/>
          </a:xfrm>
          <a:prstGeom prst="roundRect">
            <a:avLst>
              <a:gd name="adj" fmla="val 3653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31" name="Image 4" descr="assets/icon2_circle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955" y="2505456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999982" y="3072384"/>
            <a:ext cx="235686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(bool)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9018270" y="3438144"/>
            <a:ext cx="232029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values: True or False. Yes or no answers.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9155430" y="45445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155430" y="45445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9155430" y="5001768"/>
            <a:ext cx="204597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9155430" y="5001768"/>
            <a:ext cx="20459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type() says bool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0" name="Image 5" descr="assets/icon2_user_p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type() is a question to Python: what kind of value is this?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Casting: Changing One Type to Another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cashier receives the price typed as text on a form. Before it can be added to a bill, it must become a real number. That conversion is type casting.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means converting a value from one data type to another, using functions such as int(), float(), str() and bool().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form data and CSV files, doing calculations on typed input, and building messages that join text with numbers.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IN ACTION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In, a New Type Out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50592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45059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(text)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2734056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749040" y="2450592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22192" y="256032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349240" y="2734056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760720" y="2450592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DCFCE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245059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(whole number)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732520" y="245059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that looks like a number converts well.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31520" y="3218688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2186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  (decimal)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337560" y="3502152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749040" y="3218688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22192" y="3328416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349240" y="3502152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760720" y="3218688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60720" y="32186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(whole number)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732520" y="32186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decimal part is cut off, not rounded.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1520" y="3986784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398678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(whole)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337560" y="4270248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3749040" y="3986784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22192" y="4096512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349240" y="4270248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760720" y="3986784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760720" y="39867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  (decimal)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732520" y="39867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decimal point is added.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31520" y="4754880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47548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  (text)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337560" y="5038344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3749040" y="4754880"/>
            <a:ext cx="1554480" cy="566928"/>
          </a:xfrm>
          <a:prstGeom prst="roundRect">
            <a:avLst>
              <a:gd name="adj" fmla="val 16129"/>
            </a:avLst>
          </a:prstGeom>
          <a:solidFill>
            <a:srgbClr val="F5F3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822192" y="4864608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349240" y="5038344"/>
            <a:ext cx="3657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5760720" y="475488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760720" y="47548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8732520" y="47548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cannot become a number.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44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3.9 gives 3, not 4. Python simply removes the decimal part.</a:t>
            </a:r>
            <a:endParaRPr lang="en-US" sz="1400" dirty="0"/>
          </a:p>
        </p:txBody>
      </p:sp>
      <p:sp>
        <p:nvSpPr>
          <p:cNvPr id="48" name="Text 4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417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Input: Asking the User for Data</a:t>
            </a:r>
            <a:endParaRPr lang="en-US" sz="3000" dirty="0"/>
          </a:p>
        </p:txBody>
      </p:sp>
      <p:sp>
        <p:nvSpPr>
          <p:cNvPr id="7" name="rc_topic"/>
          <p:cNvSpPr/>
          <p:nvPr/>
        </p:nvSpPr>
        <p:spPr>
          <a:xfrm>
            <a:off x="457200" y="2286000"/>
            <a:ext cx="11247120" cy="3977640"/>
          </a:xfrm>
          <a:prstGeom prst="roundRect">
            <a:avLst>
              <a:gd name="adj" fmla="val 2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914400" y="245059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example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restaurant, the waiter asks for your order and writes down exactly what you say. A program can ask a question in the same way and wait for the answer.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1246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shows a question, waits for the user to type, and gives back what was typed. The answer always comes back as text (str).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49743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used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5285232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screens, billing counters, quiz apps, ATM style programs and any tool that needs details from the user.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FLOW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Keyboard to Your Program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487168"/>
            <a:ext cx="1828800" cy="960120"/>
          </a:xfrm>
          <a:prstGeom prst="flowChartInputOutput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487168"/>
            <a:ext cx="13898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asks a question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587752" y="2971800"/>
            <a:ext cx="33375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948940" y="2487168"/>
            <a:ext cx="1828800" cy="960120"/>
          </a:xfrm>
          <a:prstGeom prst="flowChartInputOutput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68396" y="2487168"/>
            <a:ext cx="138988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the answer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805172" y="2971800"/>
            <a:ext cx="33375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166360" y="2487168"/>
            <a:ext cx="1828800" cy="960120"/>
          </a:xfrm>
          <a:prstGeom prst="flowChartProcess">
            <a:avLst/>
          </a:prstGeom>
          <a:solidFill>
            <a:srgbClr val="FFF7ED"/>
          </a:solidFill>
          <a:ln w="22225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239512" y="2487168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receives it as text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022592" y="2971800"/>
            <a:ext cx="33375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383780" y="2487168"/>
            <a:ext cx="1828800" cy="960120"/>
          </a:xfrm>
          <a:prstGeom prst="flowChartProcess">
            <a:avLst/>
          </a:prstGeom>
          <a:solidFill>
            <a:srgbClr val="F5F3FF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56932" y="2487168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 number if needed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240012" y="2971800"/>
            <a:ext cx="33375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601200" y="2487168"/>
            <a:ext cx="1828800" cy="960120"/>
          </a:xfrm>
          <a:prstGeom prst="flowChartProcess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74352" y="2487168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 the program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31520" y="37947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21" name="Image 1" descr="assets/icon2_x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0" y="3904488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04672" y="447141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5 and 5, no conversion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822960" y="48371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joins the two texts. The result is 55.</a:t>
            </a:r>
            <a:endParaRPr lang="en-US" sz="1350" dirty="0"/>
          </a:p>
        </p:txBody>
      </p:sp>
      <p:sp>
        <p:nvSpPr>
          <p:cNvPr id="24" name="Shape 20"/>
          <p:cNvSpPr/>
          <p:nvPr/>
        </p:nvSpPr>
        <p:spPr>
          <a:xfrm>
            <a:off x="6217920" y="379476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25" name="Image 2" descr="assets/icon2_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904488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291072" y="447141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5 and 5, converted first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6309360" y="48371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adds the two numbers. The result is 10.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0" name="Image 3" descr="assets/icon2_user_p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gives text, even when the user types a number.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Project: Age Next Year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2514600"/>
            <a:ext cx="2194560" cy="77724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251460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566160" y="2514600"/>
            <a:ext cx="2194560" cy="777240"/>
          </a:xfrm>
          <a:prstGeom prst="flowChartInputOutput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29507" y="2514600"/>
            <a:ext cx="166786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name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0" y="2514600"/>
            <a:ext cx="2194560" cy="777240"/>
          </a:xfrm>
          <a:prstGeom prst="flowChartInputOutput">
            <a:avLst/>
          </a:prstGeom>
          <a:solidFill>
            <a:srgbClr val="F0FDFA"/>
          </a:solidFill>
          <a:ln w="22225">
            <a:solidFill>
              <a:srgbClr val="14B8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64147" y="2514600"/>
            <a:ext cx="166786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age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235440" y="2514600"/>
            <a:ext cx="2194560" cy="777240"/>
          </a:xfrm>
          <a:prstGeom prst="flowChartProcess">
            <a:avLst/>
          </a:prstGeom>
          <a:solidFill>
            <a:srgbClr val="F5F3FF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08592" y="251460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age to a number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953512" y="2903220"/>
            <a:ext cx="58521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788152" y="2903220"/>
            <a:ext cx="58521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622792" y="2903220"/>
            <a:ext cx="58521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0332720" y="3319272"/>
            <a:ext cx="0" cy="676656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235440" y="4023360"/>
            <a:ext cx="2194560" cy="777240"/>
          </a:xfrm>
          <a:prstGeom prst="flowChartProcess">
            <a:avLst/>
          </a:prstGeom>
          <a:solidFill>
            <a:srgbClr val="F5F3FF"/>
          </a:solidFill>
          <a:ln w="22225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08592" y="402336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 to the age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0" y="4023360"/>
            <a:ext cx="2194560" cy="777240"/>
          </a:xfrm>
          <a:prstGeom prst="flowChartInputOutput">
            <a:avLst/>
          </a:prstGeom>
          <a:solidFill>
            <a:srgbClr val="F0FDF4"/>
          </a:solidFill>
          <a:ln w="22225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64147" y="4023360"/>
            <a:ext cx="166786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message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566160" y="4023360"/>
            <a:ext cx="2194560" cy="777240"/>
          </a:xfrm>
          <a:prstGeom prst="flowChartTerminator">
            <a:avLst/>
          </a:prstGeom>
          <a:solidFill>
            <a:srgbClr val="F8FAFC"/>
          </a:solidFill>
          <a:ln w="22225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39312" y="4023360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 flipH="1">
            <a:off x="8622792" y="4411980"/>
            <a:ext cx="58521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 flipH="1">
            <a:off x="5788152" y="4411980"/>
            <a:ext cx="58521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31520" y="37947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38404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4160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 will be 22 next year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31520" y="5559552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7240" y="5650992"/>
            <a:ext cx="475488" cy="475488"/>
          </a:xfrm>
          <a:prstGeom prst="ellipse">
            <a:avLst/>
          </a:prstGeom>
          <a:solidFill>
            <a:srgbClr val="FCE7F3"/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31" name="Image 1" descr="assets/icon2_user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8" y="5746090"/>
            <a:ext cx="285293" cy="285293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 rot="2700000">
            <a:off x="1508760" y="5801868"/>
            <a:ext cx="182880" cy="182880"/>
          </a:xfrm>
          <a:prstGeom prst="rect">
            <a:avLst/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600200" y="5641848"/>
            <a:ext cx="9829800" cy="502920"/>
          </a:xfrm>
          <a:prstGeom prst="roundRect">
            <a:avLst>
              <a:gd name="adj" fmla="val 21818"/>
            </a:avLst>
          </a:prstGeom>
          <a:solidFill>
            <a:srgbClr val="FDF2F8"/>
          </a:solidFill>
          <a:ln w="15875">
            <a:solidFill>
              <a:srgbClr val="EC4899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783080" y="5641848"/>
            <a:ext cx="9464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says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program follows the same pattern: input, process, output.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Ravi's Practice Challenges</a:t>
            </a:r>
            <a:endParaRPr lang="en-US" sz="3000" dirty="0"/>
          </a:p>
        </p:txBody>
      </p:sp>
      <p:sp>
        <p:nvSpPr>
          <p:cNvPr id="5" name="rc_vis"/>
          <p:cNvSpPr/>
          <p:nvPr/>
        </p:nvSpPr>
        <p:spPr>
          <a:xfrm>
            <a:off x="457200" y="2240280"/>
            <a:ext cx="1124712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2395728"/>
            <a:ext cx="3474720" cy="37490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5054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Card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729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name, age and city. Show a one line introduction.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788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4453128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44531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Ravi, 21, Chennai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956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5230368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52303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Ravi is 21 years old and lives in Chennai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43400" y="2395728"/>
            <a:ext cx="3474720" cy="37490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26280" y="25603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120640" y="25054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Next Year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31729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age. Show how old the person will be after one year.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41788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0" y="4453128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0" y="44531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4956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0" y="5230368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0" y="52303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year you will be 22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001000" y="2395728"/>
            <a:ext cx="3474720" cy="37490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83880" y="2560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838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778240" y="250545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Two Numbers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0" y="3172968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two numbers. Show their total. Remember to convert first.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8229600" y="41788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229600" y="4453128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0" y="44531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and 8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0" y="49560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229600" y="5230368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FFEDD5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0" y="52303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sum is 20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ntellea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371600" cy="45432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Ravi Learned Today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86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reveal each one.</a:t>
            </a:r>
            <a:endParaRPr lang="en-US" sz="1400" dirty="0"/>
          </a:p>
        </p:txBody>
      </p:sp>
      <p:sp>
        <p:nvSpPr>
          <p:cNvPr id="6" name="rc_8"/>
          <p:cNvSpPr/>
          <p:nvPr/>
        </p:nvSpPr>
        <p:spPr>
          <a:xfrm>
            <a:off x="45720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1" descr="assets/icon2_sqterm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a program line by line, and print() shows the result</a:t>
            </a:r>
            <a:endParaRPr lang="en-US" sz="1600" dirty="0"/>
          </a:p>
        </p:txBody>
      </p:sp>
      <p:sp>
        <p:nvSpPr>
          <p:cNvPr id="9" name="rc_9"/>
          <p:cNvSpPr/>
          <p:nvPr/>
        </p:nvSpPr>
        <p:spPr>
          <a:xfrm>
            <a:off x="429768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2" descr="assets/icon2_tag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15468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hold values. The types are int, float, str and bool</a:t>
            </a:r>
            <a:endParaRPr lang="en-US" sz="1600" dirty="0"/>
          </a:p>
        </p:txBody>
      </p:sp>
      <p:sp>
        <p:nvSpPr>
          <p:cNvPr id="12" name="rc_10"/>
          <p:cNvSpPr/>
          <p:nvPr/>
        </p:nvSpPr>
        <p:spPr>
          <a:xfrm>
            <a:off x="8138160" y="28346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3" descr="assets/icon2_keyboar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15468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9319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gives text. Use int() or float() to convert it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02" dur="500" fill="hold"/>
                            <p:tgtEl>
                              <p:spTgt spid="6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1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12" dur="500" fill="hold"/>
                            <p:tgtEl>
                              <p:spTgt spid="9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0" presetID="1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 calcmode="lin" valueType="num">
                          <p:cBhvr>
                            <p:cTn id="122" dur="500" fill="hold"/>
                            <p:tgtEl>
                              <p:spTgt spid="12"/>
                            </p:tgtEl>
                            <p:attrNameLst>
                              <p:attrName>ppt_opacity</p:attrName>
                            </p:attrNameLst>
                          </p:cBhvr>
                          <p:tavLst>
                            <p:tav tm="0">
                              <p:val>
                                <p:fltVal val="0"/>
                              </p:val>
                            </p:tav>
                            <p:tav tm="100000">
                              <p:val>
                                <p:fltVal val="1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loom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28800" y="-1828800"/>
            <a:ext cx="6858000" cy="6858000"/>
          </a:xfrm>
          <a:prstGeom prst="rect">
            <a:avLst/>
          </a:prstGeom>
        </p:spPr>
      </p:pic>
      <p:pic>
        <p:nvPicPr>
          <p:cNvPr id="3" name="Image 1" descr="assets/bloom_p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86000"/>
            <a:ext cx="6400800" cy="64008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intellea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 1 COMPLETE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737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651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can now run a program, store values in variables, work with data types and take input from the user.</a:t>
            </a:r>
            <a:endParaRPr lang="en-US" sz="1700" dirty="0"/>
          </a:p>
        </p:txBody>
      </p:sp>
      <p:sp>
        <p:nvSpPr>
          <p:cNvPr id="8" name="rc_next"/>
          <p:cNvSpPr/>
          <p:nvPr/>
        </p:nvSpPr>
        <p:spPr>
          <a:xfrm>
            <a:off x="457200" y="3657600"/>
            <a:ext cx="11247120" cy="2377440"/>
          </a:xfrm>
          <a:prstGeom prst="roundRect">
            <a:avLst>
              <a:gd name="adj" fmla="val 3846"/>
            </a:avLst>
          </a:prstGeom>
          <a:solidFill>
            <a:srgbClr val="1E1B4B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914400" y="3931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NEXT, DAY 2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Conditional Statements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50749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Tomorrow, Ravi's programs learn to calculate, compare values and make decisions.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Fundamentals  ·  Week 1  ·  Day 1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2026-10-09T11:01:54Z</dcterms:created>
  <dcterms:modified xsi:type="dcterms:W3CDTF">2026-10-09T11:01:54Z</dcterms:modified>
</cp:coreProperties>
</file>