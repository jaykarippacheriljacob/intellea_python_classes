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3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DAY 8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5146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</a:t>
            </a:r>
            <a:endParaRPr lang="en-US" sz="4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flexible arguments, lambda and recursion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Class  ·  Theory and concept support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RAVI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3200" dirty="0"/>
          </a:p>
        </p:txBody>
      </p:sp>
      <p:sp>
        <p:nvSpPr>
          <p:cNvPr id="5" name="rc_road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606040"/>
            <a:ext cx="868680" cy="868680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7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779776"/>
            <a:ext cx="521208" cy="5212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rot="2700000">
            <a:off x="1920240" y="3131820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011680" y="2560320"/>
            <a:ext cx="9418320" cy="1325880"/>
          </a:xfrm>
          <a:prstGeom prst="roundRect">
            <a:avLst>
              <a:gd name="adj" fmla="val 8276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94560" y="2560320"/>
            <a:ext cx="9052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Ravi's shop app now has many functions, and they must work together without confusion.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he learns where names are visible, how to accept any number of values, and how a function can call itself.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188720" y="4846320"/>
            <a:ext cx="97840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82296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13" name="Image 2" descr="assets/icon2_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645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1910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scope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245364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17" name="Image 3" descr="assets/icon2_glob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232" y="464515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63652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204978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and global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08432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21" name="Image 4" descr="assets/icon2_layers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912" y="464515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26720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368046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71500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25" name="Image 5" descr="assets/icon2_lis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4645152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89788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531114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734568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29" name="Image 6" descr="assets/icon2_zap_oran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0272" y="4645152"/>
            <a:ext cx="402336" cy="40233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52856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694182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897636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33" name="Image 7" descr="assets/icon2_repeat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0952" y="4645152"/>
            <a:ext cx="402336" cy="40233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15924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857250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1060704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37" name="Image 8" descr="assets/icon2_trophy_or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1632" y="4645152"/>
            <a:ext cx="402336" cy="40233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078992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1020318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Scope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 has a manager's cabin and an open shop floor. Whatever is said inside the cabin stays in the cabin. A notice on the shop floor reaches everyone.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the area of a program where a name can be used. Python looks inside the function first, then in the main program, and then in its own built in names.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programs where hundreds of functions use simple names such as total or count without clashing.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Python Looks for a Name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468880"/>
            <a:ext cx="2331720" cy="1783080"/>
          </a:xfrm>
          <a:prstGeom prst="roundRect">
            <a:avLst>
              <a:gd name="adj" fmla="val 5128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7" name="Image 1" descr="assets/icon2_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578608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672" y="314553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function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511296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names are checked first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118104" y="3360420"/>
            <a:ext cx="347472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3520440" y="2468880"/>
            <a:ext cx="2331720" cy="1783080"/>
          </a:xfrm>
          <a:prstGeom prst="roundRect">
            <a:avLst>
              <a:gd name="adj" fmla="val 5128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2" name="Image 2" descr="assets/icon2_glob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578608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93592" y="314553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611880" y="3511296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names are checked next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907024" y="3360420"/>
            <a:ext cx="347472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6309360" y="2468880"/>
            <a:ext cx="233172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pic>
        <p:nvPicPr>
          <p:cNvPr id="17" name="Image 3" descr="assets/icon2_cpu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578608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82512" y="314553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names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400800" y="3511296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own names such as len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695944" y="3360420"/>
            <a:ext cx="347472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9098280" y="2468880"/>
            <a:ext cx="2331720" cy="1783080"/>
          </a:xfrm>
          <a:prstGeom prst="roundRect">
            <a:avLst>
              <a:gd name="adj" fmla="val 5128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22" name="Image 4" descr="assets/icon2_x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2578608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171432" y="314553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9189720" y="3511296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is not defined anywhere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731520" y="448056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04672" y="4590288"/>
            <a:ext cx="105521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stops at the first place where the name is found</a:t>
            </a:r>
            <a:endParaRPr lang="en-US" sz="1550" dirty="0"/>
          </a:p>
        </p:txBody>
      </p:sp>
      <p:sp>
        <p:nvSpPr>
          <p:cNvPr id="27" name="Text 20"/>
          <p:cNvSpPr txBox="1"/>
          <p:nvPr/>
        </p:nvSpPr>
        <p:spPr>
          <a:xfrm>
            <a:off x="822960" y="4919472"/>
            <a:ext cx="1051560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not found in any of the three places, the program stops with NameError.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0" name="Image 5" descr="assets/icon2_user_p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looking in your own bag first, then the office shelf, then the shop.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and Global Variables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hotel room key opens only your own room. The board in the lobby can be read by every guest. Two guests can both have a room number 5 in different hotels without any confusion.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variable is created inside a function and exists only while that function runs. A global variable is created in the main program and can be read by every function.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each function self contained, and sharing fixed values such as tax rate or company name.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NAME, TWO VARIABLES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Name Hides the Global One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5029200" cy="1920240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PROGRAM: GLOBAL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" y="2926080"/>
            <a:ext cx="310896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2926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 = 10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value never changes.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0" y="2395728"/>
            <a:ext cx="5029200" cy="1920240"/>
          </a:xfrm>
          <a:prstGeom prst="roundRect">
            <a:avLst>
              <a:gd name="adj" fmla="val 4762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FUNCTION: LOCAL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0" y="2926080"/>
            <a:ext cx="3108960" cy="594360"/>
          </a:xfrm>
          <a:prstGeom prst="roundRect">
            <a:avLst>
              <a:gd name="adj" fmla="val 9231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2926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 = 20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variable, only for this call.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31520" y="452628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" y="4636008"/>
            <a:ext cx="488289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function</a:t>
            </a:r>
            <a:endParaRPr 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965192"/>
            <a:ext cx="48463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is still 10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0" y="452628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73952" y="4636008"/>
            <a:ext cx="488289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function</a:t>
            </a:r>
            <a:endParaRPr lang="en-US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4965192"/>
            <a:ext cx="48463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is 20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4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 does not mean same variable. The function works on its own copy.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Keyword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the notice on the office board, you must first ask for permission. Without it you can only write on your own notepad, and the board stays the same.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a function cannot change a global variable. The global keyword tells Python that the name inside the function means the main program variable.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Counters, running totals and shared settings. In larger projects teams use it carefully and prefer return values.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Value Outside the Function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317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GLOBAL KEYWORD, A VISITOR COUNTER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26974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697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65960" y="269748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65960" y="26974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26080" y="2944368"/>
            <a:ext cx="50292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26974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2697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09160" y="269748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09160" y="26974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669280" y="2944368"/>
            <a:ext cx="50292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217920" y="26974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2697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2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452360" y="269748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52360" y="26974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412480" y="2944368"/>
            <a:ext cx="50292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961120" y="26974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0" y="2697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3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195560" y="269748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195560" y="26974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31520" y="365760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27" name="Image 1" descr="assets/icon2_circle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3767328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04672" y="4334256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global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822960" y="468172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updates the main program value. After three calls the counter shows 3.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6217920" y="365760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31" name="Image 2" descr="assets/icon2_circlex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767328"/>
            <a:ext cx="502920" cy="50292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291072" y="4334256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global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6309360" y="468172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treats the name as a new local one and stops with UnboundLocalError.</a:t>
            </a:r>
            <a:endParaRPr lang="en-US" sz="1350" dirty="0"/>
          </a:p>
        </p:txBody>
      </p:sp>
      <p:sp>
        <p:nvSpPr>
          <p:cNvPr id="34" name="Shape 29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6" name="Image 3" descr="assets/icon2_user_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a value is usually cleaner than changing a global one.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*args: Any Number of Values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billing counter does not know how many items the next customer will bring. It simply accepts all of them and adds them up.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lets a function accept any number of extra values. Python packs them together into a tuple.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totals, averages of any number of marks, and any tool that works on a list of items of unknown length.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ARGS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Values Packed Into One Tuple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240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GIVEN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251460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5146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10, 20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520440" y="2857500"/>
            <a:ext cx="54864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114800" y="2514600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87952" y="2624328"/>
            <a:ext cx="36941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 holds (10, 20)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01000" y="2857500"/>
            <a:ext cx="54864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595360" y="251460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95360" y="25146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30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6118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388620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8862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10, 20, 30, 40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520440" y="4229100"/>
            <a:ext cx="54864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114800" y="3886200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187952" y="3995928"/>
            <a:ext cx="369417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 holds (10, 20, 30, 40)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01000" y="4229100"/>
            <a:ext cx="54864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595360" y="388620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95360" y="38862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100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48463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function works for two values, four values or forty.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7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in front of the name is what tells Python to collect the extra values.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**kwargs: Any Number of Named Values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registration form has optional boxes such as city, age or phone. Each person fills in whichever boxes they want, and every answer has a label.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lets a function accept any number of named values. Python packs them together into a dictionary of names and values.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and options in libraries, user profiles with optional fields, and functions that pass options on to other functions.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KWARGS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Values Packed Into a Dictionary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31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VALUES GIVEN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265176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651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Arun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33756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337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Chennai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402336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023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931920" y="3383280"/>
            <a:ext cx="82296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846320" y="2697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5" name="Image 1" descr="assets/icon2_databas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80720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19472" y="3374136"/>
            <a:ext cx="241401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kwargs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937760" y="37033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7498080" y="3383280"/>
            <a:ext cx="64008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8229600" y="265176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29600" y="2651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: Arun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229600" y="333756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229600" y="3337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: Chennai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8229600" y="402336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229600" y="4023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: 25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731520" y="48463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label becomes a key and each value stays with its label.</a:t>
            </a:r>
            <a:endParaRPr lang="en-US" sz="1450" dirty="0"/>
          </a:p>
        </p:txBody>
      </p:sp>
      <p:sp>
        <p:nvSpPr>
          <p:cNvPr id="26" name="Shape 22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8" name="Image 2" descr="assets/icon2_user_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stars collect named values. One star collects plain values.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TOGETHER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Args and Kwargs in One Call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317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WITH EIGHT PIECES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265176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14600" y="2651760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14600" y="265176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91840" y="2651760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91840" y="265176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069080" y="2651760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69080" y="265176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983480" y="265176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8348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= kg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040880" y="265176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408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2026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31520" y="352044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4672" y="3630168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parameter</a:t>
            </a:r>
            <a:endParaRPr lang="en-US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3959352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gets Report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389120" y="352044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462272" y="3630168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args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3959352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(1, 2, 3)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046720" y="352044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19872" y="3630168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kwargs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8138160" y="3959352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kg and year 2026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31520" y="48006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4672" y="4910328"/>
            <a:ext cx="105521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in the definition: normal parameters, then *args, then **kwargs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2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sorts every value into the right box by its position and its label.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sticky note is perfect for a quick reminder. You do not write a formal letter with a title and signature just to jot down a number.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lambda function is a small function written in a single line without a name. It takes values, works out one expression and gives the result back.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records by a chosen field, and quick rules passed into map, filter and sorted.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Without the Ceremony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7" name="Image 1" descr="assets/icon2_filetex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2505456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672" y="3072384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function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4198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name, a body and a return. Written over several lines.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217920" y="2395728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1" name="Image 2" descr="assets/icon2_zap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505456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91072" y="3072384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309360" y="34198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name, one line, and the result comes back by itself.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31520" y="40233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77240" y="4023360"/>
            <a:ext cx="914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1691640" y="402336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of a number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goes in, 25 comes out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4389120" y="40233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434840" y="4023360"/>
            <a:ext cx="914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4, 6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5349240" y="402336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 numbers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and 6 go in, 10 comes out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8046720" y="40233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092440" y="4023360"/>
            <a:ext cx="914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9006840" y="402336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inputs, one result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number of inputs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5" name="Image 3" descr="assets/icon2_user_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lambda for small jobs. If the logic needs several lines, write a normal function.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WITH SORTED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sorted How to Compare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317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EMPLOYEES BY SALARY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2651760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6517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Arun 35000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31720" y="2651760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31720" y="26517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Priya 28000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31920" y="2651760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31920" y="26517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Kiran 42000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66560" y="2651760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26517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Priya 28000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366760" y="2651760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6760" y="26517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Arun 35000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966960" y="2651760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966960" y="26517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Kiran 42000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532120" y="265176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05272" y="2761488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394960" y="2926080"/>
            <a:ext cx="10972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565392" y="2926080"/>
            <a:ext cx="15544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731520" y="3657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NAMES BY LENGTH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39776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3977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Priya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920240" y="39776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920240" y="3977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Arun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108960" y="39776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108960" y="3977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Kiran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297680" y="39776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297680" y="3977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532120" y="397764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605272" y="4087368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394960" y="4251960"/>
            <a:ext cx="10972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6565392" y="4251960"/>
            <a:ext cx="15544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6766560" y="39776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766560" y="3977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Arun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7955280" y="39776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955280" y="3977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9144000" y="39776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144000" y="3977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Priya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10332720" y="39776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332720" y="3977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Kiran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731520" y="47548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lambda is the rule that says what to compare: salary in the first, length in the second.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7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with the same length keep their original order.</a:t>
            </a:r>
            <a:endParaRPr lang="en-US" sz="1400" dirty="0"/>
          </a:p>
        </p:txBody>
      </p:sp>
      <p:sp>
        <p:nvSpPr>
          <p:cNvPr id="51" name="Text 4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set of nested Russian dolls. Each doll hides a smaller one inside. You keep opening the same way until you reach the smallest doll that cannot be opened.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is when a function calls itself to solve a smaller version of the same problem. It stops when it reaches a base case, the simplest answer that needs no more calls.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and file searches, menus inside menus, tree structures, and many sorting and searching methods.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FLOWCHART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Factorial: Ask the Same Question Smaller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77440"/>
            <a:ext cx="2560320" cy="566928"/>
          </a:xfrm>
          <a:prstGeom prst="flowChartTerminator">
            <a:avLst/>
          </a:prstGeom>
          <a:solidFill>
            <a:srgbClr val="F5F3FF"/>
          </a:solidFill>
          <a:ln w="22225">
            <a:solidFill>
              <a:srgbClr val="8B5C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2377440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factorial(n) is called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011680" y="2971800"/>
            <a:ext cx="0" cy="22860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31520" y="3227832"/>
            <a:ext cx="2560320" cy="1234440"/>
          </a:xfrm>
          <a:prstGeom prst="flowChartDecision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43584" y="3227832"/>
            <a:ext cx="1536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 equal to 1?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19272" y="3840480"/>
            <a:ext cx="676656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3291840" y="3474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23360" y="3566160"/>
            <a:ext cx="2926080" cy="566928"/>
          </a:xfrm>
          <a:prstGeom prst="flowChartProcess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96512" y="3566160"/>
            <a:ext cx="2779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1: the base case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2011680" y="4480560"/>
            <a:ext cx="0" cy="27432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2103120" y="44622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773168"/>
            <a:ext cx="4572000" cy="640080"/>
          </a:xfrm>
          <a:prstGeom prst="flowChartProcess">
            <a:avLst/>
          </a:prstGeom>
          <a:solidFill>
            <a:srgbClr val="F0FDFA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4672" y="4773168"/>
            <a:ext cx="4425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n times factorial of n minus 1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2331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USES A SMALLER NUMBER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589520" y="269748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26974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430768" y="3017520"/>
            <a:ext cx="146304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595360" y="269748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95360" y="26974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436608" y="3017520"/>
            <a:ext cx="146304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601200" y="269748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01200" y="26974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0442448" y="3017520"/>
            <a:ext cx="146304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0607040" y="269748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607040" y="26974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7589520" y="365760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662672" y="3767328"/>
            <a:ext cx="36941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 of 4 is 24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680960" y="41148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times 3 times 2 times 1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6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keeps asking the same question until the answer is simple enough.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GO DOWN, ANSWERS COME BACK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Factorial of 4 Is Worked Out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42316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4231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factorial(4)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24231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factorial(3)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595360" y="242316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95360" y="24231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24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97280" y="315468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7280" y="31546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factorial(3)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31546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factorial(2)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595360" y="315468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95360" y="31546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6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463040" y="388620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463040" y="38862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factorial(2)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114800" y="38862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factorial(1)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595360" y="388620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95360" y="38862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2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828800" y="461772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828800" y="46177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factorial(1)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4480560" y="46177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reached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595360" y="46177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95360" y="461772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1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8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travel back up: 1, then 2 times 1, then 3 times 2, then 4 times 6.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RULES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Parts Every Recursive Function Needs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3413760" cy="3108960"/>
          </a:xfrm>
          <a:prstGeom prst="roundRect">
            <a:avLst>
              <a:gd name="adj" fmla="val 2941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7" name="Image 1" descr="assets/icon2_flag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940" y="2505456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672" y="3072384"/>
            <a:ext cx="32674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438144"/>
            <a:ext cx="323088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stopping point with a direct answer. Factorial of 1 returns 1.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960120" y="5001768"/>
            <a:ext cx="295656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60120" y="5001768"/>
            <a:ext cx="295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stops the calls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73880" y="2395728"/>
            <a:ext cx="3413760" cy="3108960"/>
          </a:xfrm>
          <a:prstGeom prst="roundRect">
            <a:avLst>
              <a:gd name="adj" fmla="val 2941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3" name="Image 2" descr="assets/icon2_repea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505456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47032" y="3072384"/>
            <a:ext cx="32674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465320" y="3438144"/>
            <a:ext cx="323088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calls itself with a smaller problem each time.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4602480" y="5001768"/>
            <a:ext cx="2956560" cy="384048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602480" y="5001768"/>
            <a:ext cx="295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becomes n minus 1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016240" y="2395728"/>
            <a:ext cx="3413760" cy="3108960"/>
          </a:xfrm>
          <a:prstGeom prst="roundRect">
            <a:avLst>
              <a:gd name="adj" fmla="val 2941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9" name="Image 3" descr="assets/icon2_ban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1660" y="2505456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089392" y="3072384"/>
            <a:ext cx="32674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 case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8107680" y="3438144"/>
            <a:ext cx="323088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calls never stop and Python raises RecursionError.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8244840" y="5001768"/>
            <a:ext cx="2956560" cy="384048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244840" y="5001768"/>
            <a:ext cx="295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RecursionError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6" name="Image 4" descr="assets/icon2_user_p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write a recursive function, decide where it will stop.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in the Real World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59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8" name="Image 1" descr="assets/icon2_ban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16936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7432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rates read by many calculation functions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31520" y="36118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1" name="Image 2" descr="assets/icon2_cart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785616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361188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 with any number of items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31520" y="44805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4" name="Image 3" descr="assets/icon2_code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654296"/>
            <a:ext cx="402336" cy="4023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448056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Teams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passed in by name to library functions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731520" y="53492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7" name="Image 4" descr="assets/icon2_chartbar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522976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63040" y="534924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Analytics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sorting and filtering rules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6217920" y="2359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projects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217920" y="27432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1" name="Image 5" descr="assets/icon2_cart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916936"/>
            <a:ext cx="402336" cy="4023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49440" y="27432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Total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adds any number of prices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6217920" y="36118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4" name="Image 6" descr="assets/icon2_filetext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785616"/>
            <a:ext cx="402336" cy="40233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949440" y="361188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Report Builder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any optional report settings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6217920" y="44805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7" name="Image 7" descr="assets/icon2_users_pin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4654296"/>
            <a:ext cx="402336" cy="40233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949440" y="448056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Sort Tool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staff by salary or by name</a:t>
            </a:r>
            <a:endParaRPr lang="en-US" sz="1500" dirty="0"/>
          </a:p>
        </p:txBody>
      </p:sp>
      <p:sp>
        <p:nvSpPr>
          <p:cNvPr id="29" name="Shape 19"/>
          <p:cNvSpPr/>
          <p:nvPr/>
        </p:nvSpPr>
        <p:spPr>
          <a:xfrm>
            <a:off x="6217920" y="53492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0" name="Image 8" descr="assets/icon2_folder_or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5522976"/>
            <a:ext cx="402336" cy="40233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949440" y="534924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Size Counter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folders inside folders</a:t>
            </a:r>
            <a:endParaRPr lang="en-US" sz="1500" dirty="0"/>
          </a:p>
        </p:txBody>
      </p:sp>
      <p:sp>
        <p:nvSpPr>
          <p:cNvPr id="32" name="Text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33" name="Text 2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Ravi's Practice Challenges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of Any Numbers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adds any number of values.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5, 10, 15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4400" y="5230368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523036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4290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11880" y="25603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118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2062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Card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name and city given by keyword, one per line.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36576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576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Arun, Pune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0" y="5230368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57600" y="523036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977640" y="523036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Arun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city: Pune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1722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55080" y="2560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55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Salary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Ravi 35000 and Anu 28000 by salary using lambda.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64008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008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employees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00800" y="5230368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00800" y="523036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Anu, Ravi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89154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098280" y="25603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0982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96926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91440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recursion to find the factorial of a number.</a:t>
            </a:r>
            <a:endParaRPr lang="en-US" sz="1350" dirty="0"/>
          </a:p>
        </p:txBody>
      </p:sp>
      <p:sp>
        <p:nvSpPr>
          <p:cNvPr id="45" name="Text 42"/>
          <p:cNvSpPr txBox="1"/>
          <p:nvPr/>
        </p:nvSpPr>
        <p:spPr>
          <a:xfrm>
            <a:off x="91440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1440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1440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91440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9144000" y="5230368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144000" y="523036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Ravi Learned Today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86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each one.</a:t>
            </a:r>
            <a:endParaRPr lang="en-US" sz="1400" dirty="0"/>
          </a:p>
        </p:txBody>
      </p:sp>
      <p:sp>
        <p:nvSpPr>
          <p:cNvPr id="6" name="rc_8"/>
          <p:cNvSpPr/>
          <p:nvPr/>
        </p:nvSpPr>
        <p:spPr>
          <a:xfrm>
            <a:off x="45720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1" descr="assets/icon2_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546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names stay inside a function. The global keyword lets it change a main program value</a:t>
            </a:r>
            <a:endParaRPr lang="en-US" sz="1600" dirty="0"/>
          </a:p>
        </p:txBody>
      </p:sp>
      <p:sp>
        <p:nvSpPr>
          <p:cNvPr id="9" name="rc_9"/>
          <p:cNvSpPr/>
          <p:nvPr/>
        </p:nvSpPr>
        <p:spPr>
          <a:xfrm>
            <a:off x="429768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2" descr="assets/icon2_layer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15468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collects extra values into a tuple. **kwargs collects named values into a dictionary</a:t>
            </a:r>
            <a:endParaRPr lang="en-US" sz="1600" dirty="0"/>
          </a:p>
        </p:txBody>
      </p:sp>
      <p:sp>
        <p:nvSpPr>
          <p:cNvPr id="12" name="rc_10"/>
          <p:cNvSpPr/>
          <p:nvPr/>
        </p:nvSpPr>
        <p:spPr>
          <a:xfrm>
            <a:off x="813816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3" descr="assets/icon2_repea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15468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1248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is a one line function. Recursion is a function calling itself until the base case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02" dur="500" fill="hold"/>
                            <p:tgtEl>
                              <p:spTgt spid="6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12" dur="500" fill="hold"/>
                            <p:tgtEl>
                              <p:spTgt spid="9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22" dur="500" fill="hold"/>
                            <p:tgtEl>
                              <p:spTgt spid="12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DAY 8 COMPLETE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737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651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can now control where names are visible, accept flexible values, write quick lambdas and use recursion.</a:t>
            </a:r>
            <a:endParaRPr lang="en-US" sz="1700" dirty="0"/>
          </a:p>
        </p:txBody>
      </p:sp>
      <p:sp>
        <p:nvSpPr>
          <p:cNvPr id="8" name="rc_next"/>
          <p:cNvSpPr/>
          <p:nvPr/>
        </p:nvSpPr>
        <p:spPr>
          <a:xfrm>
            <a:off x="457200" y="365760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1E1B4B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91440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NEXT, DAY 9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 and Modules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50749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Tomorrow, Ravi builds lists in one line, uses map, filter and reduce, and brings in ready made tools with modules, pip and virtual environments.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Functions  ·  Week 2  ·  Day 8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2026-10-26T09:23:36Z</dcterms:created>
  <dcterms:modified xsi:type="dcterms:W3CDTF">2026-10-26T09:23:36Z</dcterms:modified>
</cp:coreProperties>
</file>