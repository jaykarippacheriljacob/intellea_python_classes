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2011680"/>
            <a:ext cx="9144000" cy="457200"/>
          </a:xfrm>
          <a:prstGeom prst="rect">
            <a:avLst/>
          </a:prstGeom>
          <a:noFill/>
          <a:ln/>
        </p:spPr>
        <p:txBody>
          <a:bodyPr wrap="square" rtlCol="0" anchor="ctr"/>
          <a:lstStyle/>
          <a:p>
            <a:pPr indent="0" marL="0">
              <a:buNone/>
            </a:pPr>
            <a:r>
              <a:rPr lang="en-US" sz="1600" b="1" spc="200" kern="0" dirty="0">
                <a:solidFill>
                  <a:srgbClr val="8B5CF6"/>
                </a:solidFill>
                <a:latin typeface="Calibri" pitchFamily="34" charset="0"/>
                <a:ea typeface="Calibri" pitchFamily="34" charset="-122"/>
                <a:cs typeface="Calibri" pitchFamily="34" charset="-120"/>
              </a:rPr>
              <a:t>WEEK 2  ·  DAY 9</a:t>
            </a:r>
            <a:endParaRPr lang="en-US" sz="1600" dirty="0"/>
          </a:p>
        </p:txBody>
      </p:sp>
      <p:sp>
        <p:nvSpPr>
          <p:cNvPr id="6" name="Text 2"/>
          <p:cNvSpPr txBox="1"/>
          <p:nvPr/>
        </p:nvSpPr>
        <p:spPr>
          <a:xfrm>
            <a:off x="457200" y="2514600"/>
            <a:ext cx="10972800" cy="11887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Comprehensions, Built In Functions and Modules</a:t>
            </a:r>
            <a:endParaRPr lang="en-US" sz="4000" dirty="0"/>
          </a:p>
        </p:txBody>
      </p:sp>
      <p:sp>
        <p:nvSpPr>
          <p:cNvPr id="7" name="Text 3"/>
          <p:cNvSpPr txBox="1"/>
          <p:nvPr/>
        </p:nvSpPr>
        <p:spPr>
          <a:xfrm>
            <a:off x="457200" y="3840480"/>
            <a:ext cx="10515600" cy="731520"/>
          </a:xfrm>
          <a:prstGeom prst="rect">
            <a:avLst/>
          </a:prstGeom>
          <a:noFill/>
          <a:ln/>
        </p:spPr>
        <p:txBody>
          <a:bodyPr wrap="square" rtlCol="0" anchor="ctr"/>
          <a:lstStyle/>
          <a:p>
            <a:pPr indent="0" marL="0">
              <a:buNone/>
            </a:pPr>
            <a:r>
              <a:rPr lang="en-US" sz="2000" dirty="0">
                <a:solidFill>
                  <a:srgbClr val="CBD5E1"/>
                </a:solidFill>
                <a:latin typeface="Calibri" pitchFamily="34" charset="0"/>
                <a:ea typeface="Calibri" pitchFamily="34" charset="-122"/>
                <a:cs typeface="Calibri" pitchFamily="34" charset="-120"/>
              </a:rPr>
              <a:t>Shorter code, ready made tools and your own reusable files</a:t>
            </a:r>
            <a:endParaRPr lang="en-US" sz="2000" dirty="0"/>
          </a:p>
        </p:txBody>
      </p:sp>
      <p:sp>
        <p:nvSpPr>
          <p:cNvPr id="8" name="Text 4"/>
          <p:cNvSpPr txBox="1"/>
          <p:nvPr/>
        </p:nvSpPr>
        <p:spPr>
          <a:xfrm>
            <a:off x="457200" y="4846320"/>
            <a:ext cx="10058400" cy="36576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Python Live Class  ·  Theory and concept support</a:t>
            </a:r>
            <a:endParaRPr lang="en-US" sz="1400" dirty="0"/>
          </a:p>
        </p:txBody>
      </p:sp>
      <p:sp>
        <p:nvSpPr>
          <p:cNvPr id="9" name="Text 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0" name="Text 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MEET RAVI</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Today's Journey</a:t>
            </a:r>
            <a:endParaRPr lang="en-US" sz="3200" dirty="0"/>
          </a:p>
        </p:txBody>
      </p:sp>
      <p:sp>
        <p:nvSpPr>
          <p:cNvPr id="5" name="rc_road"/>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822960" y="2606040"/>
            <a:ext cx="868680" cy="868680"/>
          </a:xfrm>
          <a:prstGeom prst="ellipse">
            <a:avLst/>
          </a:prstGeom>
          <a:solidFill>
            <a:srgbClr val="FCE7F3"/>
          </a:solidFill>
          <a:ln w="19050">
            <a:solidFill>
              <a:srgbClr val="EC4899"/>
            </a:solidFill>
            <a:prstDash val="solid"/>
          </a:ln>
        </p:spPr>
      </p:sp>
      <p:pic>
        <p:nvPicPr>
          <p:cNvPr id="7" name="Image 1" descr="assets/icon2_user_pink.png">    </p:cNvPr>
          <p:cNvPicPr>
            <a:picLocks noChangeAspect="1"/>
          </p:cNvPicPr>
          <p:nvPr/>
        </p:nvPicPr>
        <p:blipFill>
          <a:blip r:embed="rId2"/>
          <a:stretch>
            <a:fillRect/>
          </a:stretch>
        </p:blipFill>
        <p:spPr>
          <a:xfrm>
            <a:off x="996696" y="2779776"/>
            <a:ext cx="521208" cy="521208"/>
          </a:xfrm>
          <a:prstGeom prst="rect">
            <a:avLst/>
          </a:prstGeom>
        </p:spPr>
      </p:pic>
      <p:sp>
        <p:nvSpPr>
          <p:cNvPr id="8" name="Shape 4"/>
          <p:cNvSpPr/>
          <p:nvPr/>
        </p:nvSpPr>
        <p:spPr>
          <a:xfrm rot="2700000">
            <a:off x="1920240" y="3131820"/>
            <a:ext cx="182880" cy="182880"/>
          </a:xfrm>
          <a:prstGeom prst="rect">
            <a:avLst/>
          </a:prstGeom>
          <a:solidFill>
            <a:srgbClr val="FDF2F8"/>
          </a:solidFill>
          <a:ln w="15875">
            <a:solidFill>
              <a:srgbClr val="EC4899"/>
            </a:solidFill>
            <a:prstDash val="solid"/>
          </a:ln>
        </p:spPr>
      </p:sp>
      <p:sp>
        <p:nvSpPr>
          <p:cNvPr id="9" name="Shape 5"/>
          <p:cNvSpPr/>
          <p:nvPr/>
        </p:nvSpPr>
        <p:spPr>
          <a:xfrm>
            <a:off x="2011680" y="2560320"/>
            <a:ext cx="9418320" cy="1325880"/>
          </a:xfrm>
          <a:prstGeom prst="roundRect">
            <a:avLst>
              <a:gd name="adj" fmla="val 8276"/>
            </a:avLst>
          </a:prstGeom>
          <a:solidFill>
            <a:srgbClr val="FDF2F8"/>
          </a:solidFill>
          <a:ln w="15875">
            <a:solidFill>
              <a:srgbClr val="EC4899"/>
            </a:solidFill>
            <a:prstDash val="solid"/>
          </a:ln>
        </p:spPr>
      </p:sp>
      <p:sp>
        <p:nvSpPr>
          <p:cNvPr id="10" name="Text 6"/>
          <p:cNvSpPr txBox="1"/>
          <p:nvPr/>
        </p:nvSpPr>
        <p:spPr>
          <a:xfrm>
            <a:off x="2194560" y="2560320"/>
            <a:ext cx="9052560" cy="132588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Ravi's marks analyser works, but it is long and he keeps writing the same helpers.</a:t>
            </a:r>
            <a:endParaRPr lang="en-US" sz="1500" dirty="0"/>
          </a:p>
          <a:p>
            <a:pPr indent="0" marL="0">
              <a:buNone/>
            </a:pPr>
            <a:r>
              <a:rPr lang="en-US" sz="1500" dirty="0">
                <a:solidFill>
                  <a:srgbClr val="64748B"/>
                </a:solidFill>
                <a:latin typeface="Calibri" pitchFamily="34" charset="0"/>
                <a:ea typeface="Calibri" pitchFamily="34" charset="-122"/>
                <a:cs typeface="Calibri" pitchFamily="34" charset="-120"/>
              </a:rPr>
              <a:t>Today he learns shortcuts for lists, ready made tools in Python, and how to bring in code from other files.</a:t>
            </a:r>
            <a:endParaRPr lang="en-US" sz="1500" dirty="0"/>
          </a:p>
        </p:txBody>
      </p:sp>
      <p:sp>
        <p:nvSpPr>
          <p:cNvPr id="11" name="Shape 7"/>
          <p:cNvSpPr/>
          <p:nvPr/>
        </p:nvSpPr>
        <p:spPr>
          <a:xfrm>
            <a:off x="1188720" y="4846320"/>
            <a:ext cx="9784080" cy="0"/>
          </a:xfrm>
          <a:prstGeom prst="line">
            <a:avLst/>
          </a:prstGeom>
          <a:noFill/>
          <a:ln w="38100">
            <a:solidFill>
              <a:srgbClr val="8B5CF6"/>
            </a:solidFill>
            <a:prstDash val="dash"/>
          </a:ln>
        </p:spPr>
      </p:sp>
      <p:sp>
        <p:nvSpPr>
          <p:cNvPr id="12" name="Shape 8"/>
          <p:cNvSpPr/>
          <p:nvPr/>
        </p:nvSpPr>
        <p:spPr>
          <a:xfrm>
            <a:off x="822960" y="4480560"/>
            <a:ext cx="731520" cy="731520"/>
          </a:xfrm>
          <a:prstGeom prst="ellipse">
            <a:avLst/>
          </a:prstGeom>
          <a:solidFill>
            <a:srgbClr val="FFFFFF"/>
          </a:solidFill>
          <a:ln w="31750">
            <a:solidFill>
              <a:srgbClr val="8B5CF6"/>
            </a:solidFill>
            <a:prstDash val="solid"/>
          </a:ln>
        </p:spPr>
      </p:sp>
      <p:pic>
        <p:nvPicPr>
          <p:cNvPr id="13" name="Image 2" descr="assets/icon2_list_teal.png">    </p:cNvPr>
          <p:cNvPicPr>
            <a:picLocks noChangeAspect="1"/>
          </p:cNvPicPr>
          <p:nvPr/>
        </p:nvPicPr>
        <p:blipFill>
          <a:blip r:embed="rId3"/>
          <a:stretch>
            <a:fillRect/>
          </a:stretch>
        </p:blipFill>
        <p:spPr>
          <a:xfrm>
            <a:off x="987552" y="4645152"/>
            <a:ext cx="402336" cy="402336"/>
          </a:xfrm>
          <a:prstGeom prst="rect">
            <a:avLst/>
          </a:prstGeom>
        </p:spPr>
      </p:pic>
      <p:sp>
        <p:nvSpPr>
          <p:cNvPr id="14" name="Text 9"/>
          <p:cNvSpPr txBox="1"/>
          <p:nvPr/>
        </p:nvSpPr>
        <p:spPr>
          <a:xfrm>
            <a:off x="10058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1</a:t>
            </a:r>
            <a:endParaRPr lang="en-US" sz="1200" dirty="0"/>
          </a:p>
        </p:txBody>
      </p:sp>
      <p:sp>
        <p:nvSpPr>
          <p:cNvPr id="15" name="Text 10"/>
          <p:cNvSpPr txBox="1"/>
          <p:nvPr/>
        </p:nvSpPr>
        <p:spPr>
          <a:xfrm>
            <a:off x="41910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Comprehensions</a:t>
            </a:r>
            <a:endParaRPr lang="en-US" sz="1300" dirty="0"/>
          </a:p>
        </p:txBody>
      </p:sp>
      <p:sp>
        <p:nvSpPr>
          <p:cNvPr id="16" name="Shape 11"/>
          <p:cNvSpPr/>
          <p:nvPr/>
        </p:nvSpPr>
        <p:spPr>
          <a:xfrm>
            <a:off x="2453640" y="4480560"/>
            <a:ext cx="731520" cy="731520"/>
          </a:xfrm>
          <a:prstGeom prst="ellipse">
            <a:avLst/>
          </a:prstGeom>
          <a:solidFill>
            <a:srgbClr val="FFFFFF"/>
          </a:solidFill>
          <a:ln w="31750">
            <a:solidFill>
              <a:srgbClr val="14B8A6"/>
            </a:solidFill>
            <a:prstDash val="solid"/>
          </a:ln>
        </p:spPr>
      </p:sp>
      <p:pic>
        <p:nvPicPr>
          <p:cNvPr id="17" name="Image 3" descr="assets/icon2_shuffle_purple.png">    </p:cNvPr>
          <p:cNvPicPr>
            <a:picLocks noChangeAspect="1"/>
          </p:cNvPicPr>
          <p:nvPr/>
        </p:nvPicPr>
        <p:blipFill>
          <a:blip r:embed="rId4"/>
          <a:stretch>
            <a:fillRect/>
          </a:stretch>
        </p:blipFill>
        <p:spPr>
          <a:xfrm>
            <a:off x="2618232" y="4645152"/>
            <a:ext cx="402336" cy="402336"/>
          </a:xfrm>
          <a:prstGeom prst="rect">
            <a:avLst/>
          </a:prstGeom>
        </p:spPr>
      </p:pic>
      <p:sp>
        <p:nvSpPr>
          <p:cNvPr id="18" name="Text 12"/>
          <p:cNvSpPr txBox="1"/>
          <p:nvPr/>
        </p:nvSpPr>
        <p:spPr>
          <a:xfrm>
            <a:off x="26365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2</a:t>
            </a:r>
            <a:endParaRPr lang="en-US" sz="1200" dirty="0"/>
          </a:p>
        </p:txBody>
      </p:sp>
      <p:sp>
        <p:nvSpPr>
          <p:cNvPr id="19" name="Text 13"/>
          <p:cNvSpPr txBox="1"/>
          <p:nvPr/>
        </p:nvSpPr>
        <p:spPr>
          <a:xfrm>
            <a:off x="204978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map, filter, reduce</a:t>
            </a:r>
            <a:endParaRPr lang="en-US" sz="1300" dirty="0"/>
          </a:p>
        </p:txBody>
      </p:sp>
      <p:sp>
        <p:nvSpPr>
          <p:cNvPr id="20" name="Shape 14"/>
          <p:cNvSpPr/>
          <p:nvPr/>
        </p:nvSpPr>
        <p:spPr>
          <a:xfrm>
            <a:off x="4084320" y="4480560"/>
            <a:ext cx="731520" cy="731520"/>
          </a:xfrm>
          <a:prstGeom prst="ellipse">
            <a:avLst/>
          </a:prstGeom>
          <a:solidFill>
            <a:srgbClr val="FFFFFF"/>
          </a:solidFill>
          <a:ln w="31750">
            <a:solidFill>
              <a:srgbClr val="8B5CF6"/>
            </a:solidFill>
            <a:prstDash val="solid"/>
          </a:ln>
        </p:spPr>
      </p:sp>
      <p:pic>
        <p:nvPicPr>
          <p:cNvPr id="21" name="Image 4" descr="assets/icon2_sigma_navy.png">    </p:cNvPr>
          <p:cNvPicPr>
            <a:picLocks noChangeAspect="1"/>
          </p:cNvPicPr>
          <p:nvPr/>
        </p:nvPicPr>
        <p:blipFill>
          <a:blip r:embed="rId5"/>
          <a:stretch>
            <a:fillRect/>
          </a:stretch>
        </p:blipFill>
        <p:spPr>
          <a:xfrm>
            <a:off x="4248912" y="4645152"/>
            <a:ext cx="402336" cy="402336"/>
          </a:xfrm>
          <a:prstGeom prst="rect">
            <a:avLst/>
          </a:prstGeom>
        </p:spPr>
      </p:pic>
      <p:sp>
        <p:nvSpPr>
          <p:cNvPr id="22" name="Text 15"/>
          <p:cNvSpPr txBox="1"/>
          <p:nvPr/>
        </p:nvSpPr>
        <p:spPr>
          <a:xfrm>
            <a:off x="426720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3</a:t>
            </a:r>
            <a:endParaRPr lang="en-US" sz="1200" dirty="0"/>
          </a:p>
        </p:txBody>
      </p:sp>
      <p:sp>
        <p:nvSpPr>
          <p:cNvPr id="23" name="Text 16"/>
          <p:cNvSpPr txBox="1"/>
          <p:nvPr/>
        </p:nvSpPr>
        <p:spPr>
          <a:xfrm>
            <a:off x="368046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Built in helpers</a:t>
            </a:r>
            <a:endParaRPr lang="en-US" sz="1300" dirty="0"/>
          </a:p>
        </p:txBody>
      </p:sp>
      <p:sp>
        <p:nvSpPr>
          <p:cNvPr id="24" name="Shape 17"/>
          <p:cNvSpPr/>
          <p:nvPr/>
        </p:nvSpPr>
        <p:spPr>
          <a:xfrm>
            <a:off x="5715000" y="4480560"/>
            <a:ext cx="731520" cy="731520"/>
          </a:xfrm>
          <a:prstGeom prst="ellipse">
            <a:avLst/>
          </a:prstGeom>
          <a:solidFill>
            <a:srgbClr val="FFFFFF"/>
          </a:solidFill>
          <a:ln w="31750">
            <a:solidFill>
              <a:srgbClr val="14B8A6"/>
            </a:solidFill>
            <a:prstDash val="solid"/>
          </a:ln>
        </p:spPr>
      </p:sp>
      <p:pic>
        <p:nvPicPr>
          <p:cNvPr id="25" name="Image 5" descr="assets/icon2_package_purple.png">    </p:cNvPr>
          <p:cNvPicPr>
            <a:picLocks noChangeAspect="1"/>
          </p:cNvPicPr>
          <p:nvPr/>
        </p:nvPicPr>
        <p:blipFill>
          <a:blip r:embed="rId6"/>
          <a:stretch>
            <a:fillRect/>
          </a:stretch>
        </p:blipFill>
        <p:spPr>
          <a:xfrm>
            <a:off x="5879592" y="4645152"/>
            <a:ext cx="402336" cy="402336"/>
          </a:xfrm>
          <a:prstGeom prst="rect">
            <a:avLst/>
          </a:prstGeom>
        </p:spPr>
      </p:pic>
      <p:sp>
        <p:nvSpPr>
          <p:cNvPr id="26" name="Text 18"/>
          <p:cNvSpPr txBox="1"/>
          <p:nvPr/>
        </p:nvSpPr>
        <p:spPr>
          <a:xfrm>
            <a:off x="589788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4</a:t>
            </a:r>
            <a:endParaRPr lang="en-US" sz="1200" dirty="0"/>
          </a:p>
        </p:txBody>
      </p:sp>
      <p:sp>
        <p:nvSpPr>
          <p:cNvPr id="27" name="Text 19"/>
          <p:cNvSpPr txBox="1"/>
          <p:nvPr/>
        </p:nvSpPr>
        <p:spPr>
          <a:xfrm>
            <a:off x="531114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Modules</a:t>
            </a:r>
            <a:endParaRPr lang="en-US" sz="1300" dirty="0"/>
          </a:p>
        </p:txBody>
      </p:sp>
      <p:sp>
        <p:nvSpPr>
          <p:cNvPr id="28" name="Shape 20"/>
          <p:cNvSpPr/>
          <p:nvPr/>
        </p:nvSpPr>
        <p:spPr>
          <a:xfrm>
            <a:off x="7345680" y="4480560"/>
            <a:ext cx="731520" cy="731520"/>
          </a:xfrm>
          <a:prstGeom prst="ellipse">
            <a:avLst/>
          </a:prstGeom>
          <a:solidFill>
            <a:srgbClr val="FFFFFF"/>
          </a:solidFill>
          <a:ln w="31750">
            <a:solidFill>
              <a:srgbClr val="8B5CF6"/>
            </a:solidFill>
            <a:prstDash val="solid"/>
          </a:ln>
        </p:spPr>
      </p:sp>
      <p:pic>
        <p:nvPicPr>
          <p:cNvPr id="29" name="Image 6" descr="assets/icon2_calendar_teal.png">    </p:cNvPr>
          <p:cNvPicPr>
            <a:picLocks noChangeAspect="1"/>
          </p:cNvPicPr>
          <p:nvPr/>
        </p:nvPicPr>
        <p:blipFill>
          <a:blip r:embed="rId7"/>
          <a:stretch>
            <a:fillRect/>
          </a:stretch>
        </p:blipFill>
        <p:spPr>
          <a:xfrm>
            <a:off x="7510272" y="4645152"/>
            <a:ext cx="402336" cy="402336"/>
          </a:xfrm>
          <a:prstGeom prst="rect">
            <a:avLst/>
          </a:prstGeom>
        </p:spPr>
      </p:pic>
      <p:sp>
        <p:nvSpPr>
          <p:cNvPr id="30" name="Text 21"/>
          <p:cNvSpPr txBox="1"/>
          <p:nvPr/>
        </p:nvSpPr>
        <p:spPr>
          <a:xfrm>
            <a:off x="752856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5</a:t>
            </a:r>
            <a:endParaRPr lang="en-US" sz="1200" dirty="0"/>
          </a:p>
        </p:txBody>
      </p:sp>
      <p:sp>
        <p:nvSpPr>
          <p:cNvPr id="31" name="Text 22"/>
          <p:cNvSpPr txBox="1"/>
          <p:nvPr/>
        </p:nvSpPr>
        <p:spPr>
          <a:xfrm>
            <a:off x="694182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math, random, date</a:t>
            </a:r>
            <a:endParaRPr lang="en-US" sz="1300" dirty="0"/>
          </a:p>
        </p:txBody>
      </p:sp>
      <p:sp>
        <p:nvSpPr>
          <p:cNvPr id="32" name="Shape 23"/>
          <p:cNvSpPr/>
          <p:nvPr/>
        </p:nvSpPr>
        <p:spPr>
          <a:xfrm>
            <a:off x="8976360" y="4480560"/>
            <a:ext cx="731520" cy="731520"/>
          </a:xfrm>
          <a:prstGeom prst="ellipse">
            <a:avLst/>
          </a:prstGeom>
          <a:solidFill>
            <a:srgbClr val="FFFFFF"/>
          </a:solidFill>
          <a:ln w="31750">
            <a:solidFill>
              <a:srgbClr val="14B8A6"/>
            </a:solidFill>
            <a:prstDash val="solid"/>
          </a:ln>
        </p:spPr>
      </p:sp>
      <p:pic>
        <p:nvPicPr>
          <p:cNvPr id="33" name="Image 7" descr="assets/icon2_filetext_teal.png">    </p:cNvPr>
          <p:cNvPicPr>
            <a:picLocks noChangeAspect="1"/>
          </p:cNvPicPr>
          <p:nvPr/>
        </p:nvPicPr>
        <p:blipFill>
          <a:blip r:embed="rId8"/>
          <a:stretch>
            <a:fillRect/>
          </a:stretch>
        </p:blipFill>
        <p:spPr>
          <a:xfrm>
            <a:off x="9140952" y="4645152"/>
            <a:ext cx="402336" cy="402336"/>
          </a:xfrm>
          <a:prstGeom prst="rect">
            <a:avLst/>
          </a:prstGeom>
        </p:spPr>
      </p:pic>
      <p:sp>
        <p:nvSpPr>
          <p:cNvPr id="34" name="Text 24"/>
          <p:cNvSpPr txBox="1"/>
          <p:nvPr/>
        </p:nvSpPr>
        <p:spPr>
          <a:xfrm>
            <a:off x="91592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6</a:t>
            </a:r>
            <a:endParaRPr lang="en-US" sz="1200" dirty="0"/>
          </a:p>
        </p:txBody>
      </p:sp>
      <p:sp>
        <p:nvSpPr>
          <p:cNvPr id="35" name="Text 25"/>
          <p:cNvSpPr txBox="1"/>
          <p:nvPr/>
        </p:nvSpPr>
        <p:spPr>
          <a:xfrm>
            <a:off x="857250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Own modules</a:t>
            </a:r>
            <a:endParaRPr lang="en-US" sz="1300" dirty="0"/>
          </a:p>
        </p:txBody>
      </p:sp>
      <p:sp>
        <p:nvSpPr>
          <p:cNvPr id="36" name="Shape 26"/>
          <p:cNvSpPr/>
          <p:nvPr/>
        </p:nvSpPr>
        <p:spPr>
          <a:xfrm>
            <a:off x="10607040" y="4480560"/>
            <a:ext cx="731520" cy="731520"/>
          </a:xfrm>
          <a:prstGeom prst="ellipse">
            <a:avLst/>
          </a:prstGeom>
          <a:solidFill>
            <a:srgbClr val="FFFFFF"/>
          </a:solidFill>
          <a:ln w="31750">
            <a:solidFill>
              <a:srgbClr val="8B5CF6"/>
            </a:solidFill>
            <a:prstDash val="solid"/>
          </a:ln>
        </p:spPr>
      </p:sp>
      <p:pic>
        <p:nvPicPr>
          <p:cNvPr id="37" name="Image 8" descr="assets/icon2_download_teal.png">    </p:cNvPr>
          <p:cNvPicPr>
            <a:picLocks noChangeAspect="1"/>
          </p:cNvPicPr>
          <p:nvPr/>
        </p:nvPicPr>
        <p:blipFill>
          <a:blip r:embed="rId9"/>
          <a:stretch>
            <a:fillRect/>
          </a:stretch>
        </p:blipFill>
        <p:spPr>
          <a:xfrm>
            <a:off x="10771632" y="4645152"/>
            <a:ext cx="402336" cy="402336"/>
          </a:xfrm>
          <a:prstGeom prst="rect">
            <a:avLst/>
          </a:prstGeom>
        </p:spPr>
      </p:pic>
      <p:sp>
        <p:nvSpPr>
          <p:cNvPr id="38" name="Text 27"/>
          <p:cNvSpPr txBox="1"/>
          <p:nvPr/>
        </p:nvSpPr>
        <p:spPr>
          <a:xfrm>
            <a:off x="107899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7</a:t>
            </a:r>
            <a:endParaRPr lang="en-US" sz="1200" dirty="0"/>
          </a:p>
        </p:txBody>
      </p:sp>
      <p:sp>
        <p:nvSpPr>
          <p:cNvPr id="39" name="Text 28"/>
          <p:cNvSpPr txBox="1"/>
          <p:nvPr/>
        </p:nvSpPr>
        <p:spPr>
          <a:xfrm>
            <a:off x="1020318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pip and venv</a:t>
            </a:r>
            <a:endParaRPr lang="en-US" sz="1300" dirty="0"/>
          </a:p>
        </p:txBody>
      </p:sp>
      <p:sp>
        <p:nvSpPr>
          <p:cNvPr id="40"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1"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List Comprehensions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factory belt checks each item, stamps the good ones and drops them into a box. The worker does not stop the belt to write notes between items. Everything happens in one smooth pass.</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list comprehension is a short way to build a new list from an existing one, in a single line, with an optional condition to pick only some items.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Cleaning data, picking records that match a rule, and building lists of results in analytics and web projects.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LIST COMPREHENSION FLOW</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Pass: Pick, Change, Collect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77440"/>
            <a:ext cx="2560320" cy="566928"/>
          </a:xfrm>
          <a:prstGeom prst="flowChartTerminator">
            <a:avLst/>
          </a:prstGeom>
          <a:solidFill>
            <a:srgbClr val="F5F3FF"/>
          </a:solidFill>
          <a:ln w="22225">
            <a:solidFill>
              <a:srgbClr val="8B5CF6"/>
            </a:solidFill>
            <a:prstDash val="solid"/>
          </a:ln>
        </p:spPr>
      </p:sp>
      <p:sp>
        <p:nvSpPr>
          <p:cNvPr id="7" name="Text 4"/>
          <p:cNvSpPr txBox="1"/>
          <p:nvPr/>
        </p:nvSpPr>
        <p:spPr>
          <a:xfrm>
            <a:off x="804672" y="2377440"/>
            <a:ext cx="241401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Take numbers 1 to 10</a:t>
            </a:r>
            <a:endParaRPr lang="en-US" sz="1350" dirty="0"/>
          </a:p>
        </p:txBody>
      </p:sp>
      <p:sp>
        <p:nvSpPr>
          <p:cNvPr id="8" name="Shape 5"/>
          <p:cNvSpPr/>
          <p:nvPr/>
        </p:nvSpPr>
        <p:spPr>
          <a:xfrm>
            <a:off x="2011680" y="2971800"/>
            <a:ext cx="0" cy="228600"/>
          </a:xfrm>
          <a:prstGeom prst="line">
            <a:avLst/>
          </a:prstGeom>
          <a:noFill/>
          <a:ln w="31750">
            <a:solidFill>
              <a:srgbClr val="8B5CF6"/>
            </a:solidFill>
            <a:prstDash val="solid"/>
            <a:tailEnd type="triangle"/>
          </a:ln>
        </p:spPr>
      </p:sp>
      <p:sp>
        <p:nvSpPr>
          <p:cNvPr id="9" name="Shape 6"/>
          <p:cNvSpPr/>
          <p:nvPr/>
        </p:nvSpPr>
        <p:spPr>
          <a:xfrm>
            <a:off x="731520" y="3227832"/>
            <a:ext cx="2560320" cy="1234440"/>
          </a:xfrm>
          <a:prstGeom prst="flowChartDecision">
            <a:avLst/>
          </a:prstGeom>
          <a:solidFill>
            <a:srgbClr val="FFF7ED"/>
          </a:solidFill>
          <a:ln w="22225">
            <a:solidFill>
              <a:srgbClr val="F97316"/>
            </a:solidFill>
            <a:prstDash val="solid"/>
          </a:ln>
        </p:spPr>
      </p:sp>
      <p:sp>
        <p:nvSpPr>
          <p:cNvPr id="10" name="Text 7"/>
          <p:cNvSpPr txBox="1"/>
          <p:nvPr/>
        </p:nvSpPr>
        <p:spPr>
          <a:xfrm>
            <a:off x="1243584" y="3227832"/>
            <a:ext cx="1536192" cy="123444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Is it even?</a:t>
            </a:r>
            <a:endParaRPr lang="en-US" sz="1400" dirty="0"/>
          </a:p>
        </p:txBody>
      </p:sp>
      <p:sp>
        <p:nvSpPr>
          <p:cNvPr id="11" name="Shape 8"/>
          <p:cNvSpPr/>
          <p:nvPr/>
        </p:nvSpPr>
        <p:spPr>
          <a:xfrm>
            <a:off x="3319272" y="3840480"/>
            <a:ext cx="676656" cy="0"/>
          </a:xfrm>
          <a:prstGeom prst="line">
            <a:avLst/>
          </a:prstGeom>
          <a:noFill/>
          <a:ln w="31750">
            <a:solidFill>
              <a:srgbClr val="10B981"/>
            </a:solidFill>
            <a:prstDash val="solid"/>
            <a:tailEnd type="triangle"/>
          </a:ln>
        </p:spPr>
      </p:sp>
      <p:sp>
        <p:nvSpPr>
          <p:cNvPr id="12" name="Text 9"/>
          <p:cNvSpPr txBox="1"/>
          <p:nvPr/>
        </p:nvSpPr>
        <p:spPr>
          <a:xfrm>
            <a:off x="3291840" y="347472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Yes</a:t>
            </a:r>
            <a:endParaRPr lang="en-US" sz="1200" dirty="0"/>
          </a:p>
        </p:txBody>
      </p:sp>
      <p:sp>
        <p:nvSpPr>
          <p:cNvPr id="13" name="Shape 10"/>
          <p:cNvSpPr/>
          <p:nvPr/>
        </p:nvSpPr>
        <p:spPr>
          <a:xfrm>
            <a:off x="4023360" y="3566160"/>
            <a:ext cx="2194560" cy="566928"/>
          </a:xfrm>
          <a:prstGeom prst="flowChartProcess">
            <a:avLst/>
          </a:prstGeom>
          <a:solidFill>
            <a:srgbClr val="F0FDFA"/>
          </a:solidFill>
          <a:ln w="22225">
            <a:solidFill>
              <a:srgbClr val="14B8A6"/>
            </a:solidFill>
            <a:prstDash val="solid"/>
          </a:ln>
        </p:spPr>
      </p:sp>
      <p:sp>
        <p:nvSpPr>
          <p:cNvPr id="14" name="Text 11"/>
          <p:cNvSpPr txBox="1"/>
          <p:nvPr/>
        </p:nvSpPr>
        <p:spPr>
          <a:xfrm>
            <a:off x="4096512" y="3566160"/>
            <a:ext cx="204825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Square it</a:t>
            </a:r>
            <a:endParaRPr lang="en-US" sz="1350" dirty="0"/>
          </a:p>
        </p:txBody>
      </p:sp>
      <p:sp>
        <p:nvSpPr>
          <p:cNvPr id="15" name="Shape 12"/>
          <p:cNvSpPr/>
          <p:nvPr/>
        </p:nvSpPr>
        <p:spPr>
          <a:xfrm>
            <a:off x="6245352" y="3840480"/>
            <a:ext cx="493776" cy="0"/>
          </a:xfrm>
          <a:prstGeom prst="line">
            <a:avLst/>
          </a:prstGeom>
          <a:noFill/>
          <a:ln w="31750">
            <a:solidFill>
              <a:srgbClr val="64748B"/>
            </a:solidFill>
            <a:prstDash val="solid"/>
            <a:tailEnd type="triangle"/>
          </a:ln>
        </p:spPr>
      </p:sp>
      <p:sp>
        <p:nvSpPr>
          <p:cNvPr id="16" name="Shape 13"/>
          <p:cNvSpPr/>
          <p:nvPr/>
        </p:nvSpPr>
        <p:spPr>
          <a:xfrm>
            <a:off x="6766560" y="3566160"/>
            <a:ext cx="2926080" cy="566928"/>
          </a:xfrm>
          <a:prstGeom prst="flowChartProcess">
            <a:avLst/>
          </a:prstGeom>
          <a:solidFill>
            <a:srgbClr val="F0FDF4"/>
          </a:solidFill>
          <a:ln w="22225">
            <a:solidFill>
              <a:srgbClr val="10B981"/>
            </a:solidFill>
            <a:prstDash val="solid"/>
          </a:ln>
        </p:spPr>
      </p:sp>
      <p:sp>
        <p:nvSpPr>
          <p:cNvPr id="17" name="Text 14"/>
          <p:cNvSpPr txBox="1"/>
          <p:nvPr/>
        </p:nvSpPr>
        <p:spPr>
          <a:xfrm>
            <a:off x="6839712" y="3566160"/>
            <a:ext cx="277977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Add it to the new list</a:t>
            </a:r>
            <a:endParaRPr lang="en-US" sz="1350" dirty="0"/>
          </a:p>
        </p:txBody>
      </p:sp>
      <p:sp>
        <p:nvSpPr>
          <p:cNvPr id="18" name="Shape 15"/>
          <p:cNvSpPr/>
          <p:nvPr/>
        </p:nvSpPr>
        <p:spPr>
          <a:xfrm>
            <a:off x="2011680" y="4480560"/>
            <a:ext cx="0" cy="274320"/>
          </a:xfrm>
          <a:prstGeom prst="line">
            <a:avLst/>
          </a:prstGeom>
          <a:noFill/>
          <a:ln w="31750">
            <a:solidFill>
              <a:srgbClr val="F97316"/>
            </a:solidFill>
            <a:prstDash val="solid"/>
            <a:tailEnd type="triangle"/>
          </a:ln>
        </p:spPr>
      </p:sp>
      <p:sp>
        <p:nvSpPr>
          <p:cNvPr id="19" name="Text 16"/>
          <p:cNvSpPr txBox="1"/>
          <p:nvPr/>
        </p:nvSpPr>
        <p:spPr>
          <a:xfrm>
            <a:off x="2103120" y="4462272"/>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a:t>
            </a:r>
            <a:endParaRPr lang="en-US" sz="1200" dirty="0"/>
          </a:p>
        </p:txBody>
      </p:sp>
      <p:sp>
        <p:nvSpPr>
          <p:cNvPr id="20" name="Shape 17"/>
          <p:cNvSpPr/>
          <p:nvPr/>
        </p:nvSpPr>
        <p:spPr>
          <a:xfrm>
            <a:off x="731520" y="4773168"/>
            <a:ext cx="2560320" cy="566928"/>
          </a:xfrm>
          <a:prstGeom prst="flowChartProcess">
            <a:avLst/>
          </a:prstGeom>
          <a:solidFill>
            <a:srgbClr val="FFF7ED"/>
          </a:solidFill>
          <a:ln w="22225">
            <a:solidFill>
              <a:srgbClr val="F97316"/>
            </a:solidFill>
            <a:prstDash val="solid"/>
          </a:ln>
        </p:spPr>
      </p:sp>
      <p:sp>
        <p:nvSpPr>
          <p:cNvPr id="21" name="Text 18"/>
          <p:cNvSpPr txBox="1"/>
          <p:nvPr/>
        </p:nvSpPr>
        <p:spPr>
          <a:xfrm>
            <a:off x="804672" y="4773168"/>
            <a:ext cx="241401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Skip it</a:t>
            </a:r>
            <a:endParaRPr lang="en-US" sz="1350" dirty="0"/>
          </a:p>
        </p:txBody>
      </p:sp>
      <p:sp>
        <p:nvSpPr>
          <p:cNvPr id="22" name="Text 19"/>
          <p:cNvSpPr txBox="1"/>
          <p:nvPr/>
        </p:nvSpPr>
        <p:spPr>
          <a:xfrm>
            <a:off x="4023360" y="4434840"/>
            <a:ext cx="3657600" cy="256032"/>
          </a:xfrm>
          <a:prstGeom prst="rect">
            <a:avLst/>
          </a:prstGeom>
          <a:noFill/>
          <a:ln/>
        </p:spPr>
        <p:txBody>
          <a:bodyPr wrap="square"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THE NEW LIST</a:t>
            </a:r>
            <a:endParaRPr lang="en-US" sz="1100" dirty="0"/>
          </a:p>
        </p:txBody>
      </p:sp>
      <p:sp>
        <p:nvSpPr>
          <p:cNvPr id="23" name="Shape 20"/>
          <p:cNvSpPr/>
          <p:nvPr/>
        </p:nvSpPr>
        <p:spPr>
          <a:xfrm>
            <a:off x="4023360" y="4754880"/>
            <a:ext cx="1005840" cy="548640"/>
          </a:xfrm>
          <a:prstGeom prst="roundRect">
            <a:avLst>
              <a:gd name="adj" fmla="val 10000"/>
            </a:avLst>
          </a:prstGeom>
          <a:solidFill>
            <a:srgbClr val="DCFCE7"/>
          </a:solidFill>
          <a:ln w="25400">
            <a:solidFill>
              <a:srgbClr val="10B981"/>
            </a:solidFill>
            <a:prstDash val="solid"/>
          </a:ln>
        </p:spPr>
      </p:sp>
      <p:sp>
        <p:nvSpPr>
          <p:cNvPr id="24" name="Text 21"/>
          <p:cNvSpPr txBox="1"/>
          <p:nvPr/>
        </p:nvSpPr>
        <p:spPr>
          <a:xfrm>
            <a:off x="4023360" y="4754880"/>
            <a:ext cx="100584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4</a:t>
            </a:r>
            <a:endParaRPr lang="en-US" sz="1500" dirty="0"/>
          </a:p>
        </p:txBody>
      </p:sp>
      <p:sp>
        <p:nvSpPr>
          <p:cNvPr id="25" name="Shape 22"/>
          <p:cNvSpPr/>
          <p:nvPr/>
        </p:nvSpPr>
        <p:spPr>
          <a:xfrm>
            <a:off x="5166360" y="4754880"/>
            <a:ext cx="1005840" cy="548640"/>
          </a:xfrm>
          <a:prstGeom prst="roundRect">
            <a:avLst>
              <a:gd name="adj" fmla="val 10000"/>
            </a:avLst>
          </a:prstGeom>
          <a:solidFill>
            <a:srgbClr val="DCFCE7"/>
          </a:solidFill>
          <a:ln w="25400">
            <a:solidFill>
              <a:srgbClr val="10B981"/>
            </a:solidFill>
            <a:prstDash val="solid"/>
          </a:ln>
        </p:spPr>
      </p:sp>
      <p:sp>
        <p:nvSpPr>
          <p:cNvPr id="26" name="Text 23"/>
          <p:cNvSpPr txBox="1"/>
          <p:nvPr/>
        </p:nvSpPr>
        <p:spPr>
          <a:xfrm>
            <a:off x="5166360" y="4754880"/>
            <a:ext cx="100584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16</a:t>
            </a:r>
            <a:endParaRPr lang="en-US" sz="1500" dirty="0"/>
          </a:p>
        </p:txBody>
      </p:sp>
      <p:sp>
        <p:nvSpPr>
          <p:cNvPr id="27" name="Shape 24"/>
          <p:cNvSpPr/>
          <p:nvPr/>
        </p:nvSpPr>
        <p:spPr>
          <a:xfrm>
            <a:off x="6309360" y="4754880"/>
            <a:ext cx="1005840" cy="548640"/>
          </a:xfrm>
          <a:prstGeom prst="roundRect">
            <a:avLst>
              <a:gd name="adj" fmla="val 10000"/>
            </a:avLst>
          </a:prstGeom>
          <a:solidFill>
            <a:srgbClr val="DCFCE7"/>
          </a:solidFill>
          <a:ln w="25400">
            <a:solidFill>
              <a:srgbClr val="10B981"/>
            </a:solidFill>
            <a:prstDash val="solid"/>
          </a:ln>
        </p:spPr>
      </p:sp>
      <p:sp>
        <p:nvSpPr>
          <p:cNvPr id="28" name="Text 25"/>
          <p:cNvSpPr txBox="1"/>
          <p:nvPr/>
        </p:nvSpPr>
        <p:spPr>
          <a:xfrm>
            <a:off x="6309360" y="4754880"/>
            <a:ext cx="100584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36</a:t>
            </a:r>
            <a:endParaRPr lang="en-US" sz="1500" dirty="0"/>
          </a:p>
        </p:txBody>
      </p:sp>
      <p:sp>
        <p:nvSpPr>
          <p:cNvPr id="29" name="Shape 26"/>
          <p:cNvSpPr/>
          <p:nvPr/>
        </p:nvSpPr>
        <p:spPr>
          <a:xfrm>
            <a:off x="7452360" y="4754880"/>
            <a:ext cx="1005840" cy="548640"/>
          </a:xfrm>
          <a:prstGeom prst="roundRect">
            <a:avLst>
              <a:gd name="adj" fmla="val 10000"/>
            </a:avLst>
          </a:prstGeom>
          <a:solidFill>
            <a:srgbClr val="DCFCE7"/>
          </a:solidFill>
          <a:ln w="25400">
            <a:solidFill>
              <a:srgbClr val="10B981"/>
            </a:solidFill>
            <a:prstDash val="solid"/>
          </a:ln>
        </p:spPr>
      </p:sp>
      <p:sp>
        <p:nvSpPr>
          <p:cNvPr id="30" name="Text 27"/>
          <p:cNvSpPr txBox="1"/>
          <p:nvPr/>
        </p:nvSpPr>
        <p:spPr>
          <a:xfrm>
            <a:off x="7452360" y="4754880"/>
            <a:ext cx="100584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64</a:t>
            </a:r>
            <a:endParaRPr lang="en-US" sz="1500" dirty="0"/>
          </a:p>
        </p:txBody>
      </p:sp>
      <p:sp>
        <p:nvSpPr>
          <p:cNvPr id="31" name="Shape 28"/>
          <p:cNvSpPr/>
          <p:nvPr/>
        </p:nvSpPr>
        <p:spPr>
          <a:xfrm>
            <a:off x="8595360" y="4754880"/>
            <a:ext cx="1005840" cy="548640"/>
          </a:xfrm>
          <a:prstGeom prst="roundRect">
            <a:avLst>
              <a:gd name="adj" fmla="val 10000"/>
            </a:avLst>
          </a:prstGeom>
          <a:solidFill>
            <a:srgbClr val="DCFCE7"/>
          </a:solidFill>
          <a:ln w="25400">
            <a:solidFill>
              <a:srgbClr val="10B981"/>
            </a:solidFill>
            <a:prstDash val="solid"/>
          </a:ln>
        </p:spPr>
      </p:sp>
      <p:sp>
        <p:nvSpPr>
          <p:cNvPr id="32" name="Text 29"/>
          <p:cNvSpPr txBox="1"/>
          <p:nvPr/>
        </p:nvSpPr>
        <p:spPr>
          <a:xfrm>
            <a:off x="8595360" y="4754880"/>
            <a:ext cx="100584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100</a:t>
            </a:r>
            <a:endParaRPr lang="en-US" sz="1500" dirty="0"/>
          </a:p>
        </p:txBody>
      </p:sp>
      <p:sp>
        <p:nvSpPr>
          <p:cNvPr id="33" name="Shape 30"/>
          <p:cNvSpPr/>
          <p:nvPr/>
        </p:nvSpPr>
        <p:spPr>
          <a:xfrm>
            <a:off x="731520" y="5559552"/>
            <a:ext cx="10698480" cy="0"/>
          </a:xfrm>
          <a:prstGeom prst="line">
            <a:avLst/>
          </a:prstGeom>
          <a:noFill/>
          <a:ln w="12700">
            <a:solidFill>
              <a:srgbClr val="E2E8F0"/>
            </a:solidFill>
            <a:prstDash val="solid"/>
          </a:ln>
        </p:spPr>
      </p:sp>
      <p:sp>
        <p:nvSpPr>
          <p:cNvPr id="34" name="Shape 31"/>
          <p:cNvSpPr/>
          <p:nvPr/>
        </p:nvSpPr>
        <p:spPr>
          <a:xfrm>
            <a:off x="777240" y="5650992"/>
            <a:ext cx="475488" cy="475488"/>
          </a:xfrm>
          <a:prstGeom prst="ellipse">
            <a:avLst/>
          </a:prstGeom>
          <a:solidFill>
            <a:srgbClr val="FCE7F3"/>
          </a:solidFill>
          <a:ln w="19050">
            <a:solidFill>
              <a:srgbClr val="EC4899"/>
            </a:solidFill>
            <a:prstDash val="solid"/>
          </a:ln>
        </p:spPr>
      </p:sp>
      <p:pic>
        <p:nvPicPr>
          <p:cNvPr id="35"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36" name="Shape 32"/>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7" name="Shape 33"/>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8" name="Text 34"/>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The same job as a loop with an if, written as one short line.</a:t>
            </a:r>
            <a:endParaRPr lang="en-US" sz="1400" dirty="0"/>
          </a:p>
        </p:txBody>
      </p:sp>
      <p:sp>
        <p:nvSpPr>
          <p:cNvPr id="39" name="Text 3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0" name="Text 3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2</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Dictionary Comprehensions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school office makes name tags for every student in one go. Each tag has a label on one side and a detail on the other. It can skip students who are not attending.</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dictionary comprehension builds a new dictionary in one line. Each item gets a key and a value, and a condition can keep only some items.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Lookup tables, quick summaries such as name to length or name to salary, and cleaning records.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DICTIONARY COMPREHENSION</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Build Key and Value Pairs in One Line</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5486400" cy="256032"/>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NAME TO LENGTH OF NAME</a:t>
            </a:r>
            <a:endParaRPr lang="en-US" sz="1100" dirty="0"/>
          </a:p>
        </p:txBody>
      </p:sp>
      <p:sp>
        <p:nvSpPr>
          <p:cNvPr id="7" name="Shape 4"/>
          <p:cNvSpPr/>
          <p:nvPr/>
        </p:nvSpPr>
        <p:spPr>
          <a:xfrm>
            <a:off x="731520" y="2651760"/>
            <a:ext cx="1325880" cy="548640"/>
          </a:xfrm>
          <a:prstGeom prst="roundRect">
            <a:avLst>
              <a:gd name="adj" fmla="val 10000"/>
            </a:avLst>
          </a:prstGeom>
          <a:solidFill>
            <a:srgbClr val="F1F5F9"/>
          </a:solidFill>
          <a:ln w="12700">
            <a:solidFill>
              <a:srgbClr val="CBD5E1"/>
            </a:solidFill>
            <a:prstDash val="solid"/>
          </a:ln>
        </p:spPr>
      </p:sp>
      <p:sp>
        <p:nvSpPr>
          <p:cNvPr id="8" name="Text 5"/>
          <p:cNvSpPr txBox="1"/>
          <p:nvPr/>
        </p:nvSpPr>
        <p:spPr>
          <a:xfrm>
            <a:off x="731520" y="2651760"/>
            <a:ext cx="132588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Arun</a:t>
            </a:r>
            <a:endParaRPr lang="en-US" sz="1300" dirty="0"/>
          </a:p>
        </p:txBody>
      </p:sp>
      <p:sp>
        <p:nvSpPr>
          <p:cNvPr id="9" name="Shape 6"/>
          <p:cNvSpPr/>
          <p:nvPr/>
        </p:nvSpPr>
        <p:spPr>
          <a:xfrm>
            <a:off x="2148840" y="2651760"/>
            <a:ext cx="1325880" cy="548640"/>
          </a:xfrm>
          <a:prstGeom prst="roundRect">
            <a:avLst>
              <a:gd name="adj" fmla="val 10000"/>
            </a:avLst>
          </a:prstGeom>
          <a:solidFill>
            <a:srgbClr val="F1F5F9"/>
          </a:solidFill>
          <a:ln w="12700">
            <a:solidFill>
              <a:srgbClr val="CBD5E1"/>
            </a:solidFill>
            <a:prstDash val="solid"/>
          </a:ln>
        </p:spPr>
      </p:sp>
      <p:sp>
        <p:nvSpPr>
          <p:cNvPr id="10" name="Text 7"/>
          <p:cNvSpPr txBox="1"/>
          <p:nvPr/>
        </p:nvSpPr>
        <p:spPr>
          <a:xfrm>
            <a:off x="2148840" y="2651760"/>
            <a:ext cx="132588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Priya</a:t>
            </a:r>
            <a:endParaRPr lang="en-US" sz="1300" dirty="0"/>
          </a:p>
        </p:txBody>
      </p:sp>
      <p:sp>
        <p:nvSpPr>
          <p:cNvPr id="11" name="Shape 8"/>
          <p:cNvSpPr/>
          <p:nvPr/>
        </p:nvSpPr>
        <p:spPr>
          <a:xfrm>
            <a:off x="3566160" y="2651760"/>
            <a:ext cx="1325880" cy="548640"/>
          </a:xfrm>
          <a:prstGeom prst="roundRect">
            <a:avLst>
              <a:gd name="adj" fmla="val 10000"/>
            </a:avLst>
          </a:prstGeom>
          <a:solidFill>
            <a:srgbClr val="F1F5F9"/>
          </a:solidFill>
          <a:ln w="12700">
            <a:solidFill>
              <a:srgbClr val="CBD5E1"/>
            </a:solidFill>
            <a:prstDash val="solid"/>
          </a:ln>
        </p:spPr>
      </p:sp>
      <p:sp>
        <p:nvSpPr>
          <p:cNvPr id="12" name="Text 9"/>
          <p:cNvSpPr txBox="1"/>
          <p:nvPr/>
        </p:nvSpPr>
        <p:spPr>
          <a:xfrm>
            <a:off x="3566160" y="2651760"/>
            <a:ext cx="132588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Kiran</a:t>
            </a:r>
            <a:endParaRPr lang="en-US" sz="1300" dirty="0"/>
          </a:p>
        </p:txBody>
      </p:sp>
      <p:sp>
        <p:nvSpPr>
          <p:cNvPr id="13" name="Shape 10"/>
          <p:cNvSpPr/>
          <p:nvPr/>
        </p:nvSpPr>
        <p:spPr>
          <a:xfrm>
            <a:off x="5029200" y="2926080"/>
            <a:ext cx="274320" cy="0"/>
          </a:xfrm>
          <a:prstGeom prst="line">
            <a:avLst/>
          </a:prstGeom>
          <a:noFill/>
          <a:ln w="31750">
            <a:solidFill>
              <a:srgbClr val="64748B"/>
            </a:solidFill>
            <a:prstDash val="solid"/>
            <a:tailEnd type="triangle"/>
          </a:ln>
        </p:spPr>
      </p:sp>
      <p:sp>
        <p:nvSpPr>
          <p:cNvPr id="14" name="Shape 11"/>
          <p:cNvSpPr/>
          <p:nvPr/>
        </p:nvSpPr>
        <p:spPr>
          <a:xfrm>
            <a:off x="5349240" y="2651760"/>
            <a:ext cx="1737360" cy="548640"/>
          </a:xfrm>
          <a:prstGeom prst="roundRect">
            <a:avLst>
              <a:gd name="adj" fmla="val 16667"/>
            </a:avLst>
          </a:prstGeom>
          <a:solidFill>
            <a:srgbClr val="FFF7ED"/>
          </a:solidFill>
          <a:ln w="19050">
            <a:solidFill>
              <a:srgbClr val="F97316"/>
            </a:solidFill>
            <a:prstDash val="solid"/>
          </a:ln>
        </p:spPr>
      </p:sp>
      <p:sp>
        <p:nvSpPr>
          <p:cNvPr id="15" name="Text 12"/>
          <p:cNvSpPr txBox="1"/>
          <p:nvPr/>
        </p:nvSpPr>
        <p:spPr>
          <a:xfrm>
            <a:off x="5422392" y="2761488"/>
            <a:ext cx="1591056" cy="347472"/>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length of name</a:t>
            </a:r>
            <a:endParaRPr lang="en-US" sz="1200" dirty="0"/>
          </a:p>
        </p:txBody>
      </p:sp>
      <p:sp>
        <p:nvSpPr>
          <p:cNvPr id="16" name="Shape 13"/>
          <p:cNvSpPr/>
          <p:nvPr/>
        </p:nvSpPr>
        <p:spPr>
          <a:xfrm>
            <a:off x="7132320" y="2926080"/>
            <a:ext cx="274320" cy="0"/>
          </a:xfrm>
          <a:prstGeom prst="line">
            <a:avLst/>
          </a:prstGeom>
          <a:noFill/>
          <a:ln w="31750">
            <a:solidFill>
              <a:srgbClr val="64748B"/>
            </a:solidFill>
            <a:prstDash val="solid"/>
            <a:tailEnd type="triangle"/>
          </a:ln>
        </p:spPr>
      </p:sp>
      <p:sp>
        <p:nvSpPr>
          <p:cNvPr id="17" name="Shape 14"/>
          <p:cNvSpPr/>
          <p:nvPr/>
        </p:nvSpPr>
        <p:spPr>
          <a:xfrm>
            <a:off x="7452360" y="2651760"/>
            <a:ext cx="1298448" cy="548640"/>
          </a:xfrm>
          <a:prstGeom prst="roundRect">
            <a:avLst>
              <a:gd name="adj" fmla="val 10000"/>
            </a:avLst>
          </a:prstGeom>
          <a:solidFill>
            <a:srgbClr val="DCFCE7"/>
          </a:solidFill>
          <a:ln w="25400">
            <a:solidFill>
              <a:srgbClr val="10B981"/>
            </a:solidFill>
            <a:prstDash val="solid"/>
          </a:ln>
        </p:spPr>
      </p:sp>
      <p:sp>
        <p:nvSpPr>
          <p:cNvPr id="18" name="Text 15"/>
          <p:cNvSpPr txBox="1"/>
          <p:nvPr/>
        </p:nvSpPr>
        <p:spPr>
          <a:xfrm>
            <a:off x="7452360" y="265176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Arun : 4</a:t>
            </a:r>
            <a:endParaRPr lang="en-US" sz="1250" dirty="0"/>
          </a:p>
        </p:txBody>
      </p:sp>
      <p:sp>
        <p:nvSpPr>
          <p:cNvPr id="19" name="Shape 16"/>
          <p:cNvSpPr/>
          <p:nvPr/>
        </p:nvSpPr>
        <p:spPr>
          <a:xfrm>
            <a:off x="8823960" y="2651760"/>
            <a:ext cx="1298448" cy="548640"/>
          </a:xfrm>
          <a:prstGeom prst="roundRect">
            <a:avLst>
              <a:gd name="adj" fmla="val 10000"/>
            </a:avLst>
          </a:prstGeom>
          <a:solidFill>
            <a:srgbClr val="DCFCE7"/>
          </a:solidFill>
          <a:ln w="25400">
            <a:solidFill>
              <a:srgbClr val="10B981"/>
            </a:solidFill>
            <a:prstDash val="solid"/>
          </a:ln>
        </p:spPr>
      </p:sp>
      <p:sp>
        <p:nvSpPr>
          <p:cNvPr id="20" name="Text 17"/>
          <p:cNvSpPr txBox="1"/>
          <p:nvPr/>
        </p:nvSpPr>
        <p:spPr>
          <a:xfrm>
            <a:off x="8823960" y="265176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Priya : 5</a:t>
            </a:r>
            <a:endParaRPr lang="en-US" sz="1250" dirty="0"/>
          </a:p>
        </p:txBody>
      </p:sp>
      <p:sp>
        <p:nvSpPr>
          <p:cNvPr id="21" name="Shape 18"/>
          <p:cNvSpPr/>
          <p:nvPr/>
        </p:nvSpPr>
        <p:spPr>
          <a:xfrm>
            <a:off x="10195560" y="2651760"/>
            <a:ext cx="1298448" cy="548640"/>
          </a:xfrm>
          <a:prstGeom prst="roundRect">
            <a:avLst>
              <a:gd name="adj" fmla="val 10000"/>
            </a:avLst>
          </a:prstGeom>
          <a:solidFill>
            <a:srgbClr val="DCFCE7"/>
          </a:solidFill>
          <a:ln w="25400">
            <a:solidFill>
              <a:srgbClr val="10B981"/>
            </a:solidFill>
            <a:prstDash val="solid"/>
          </a:ln>
        </p:spPr>
      </p:sp>
      <p:sp>
        <p:nvSpPr>
          <p:cNvPr id="22" name="Text 19"/>
          <p:cNvSpPr txBox="1"/>
          <p:nvPr/>
        </p:nvSpPr>
        <p:spPr>
          <a:xfrm>
            <a:off x="10195560" y="265176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Kiran : 5</a:t>
            </a:r>
            <a:endParaRPr lang="en-US" sz="1250" dirty="0"/>
          </a:p>
        </p:txBody>
      </p:sp>
      <p:sp>
        <p:nvSpPr>
          <p:cNvPr id="23" name="Text 20"/>
          <p:cNvSpPr txBox="1"/>
          <p:nvPr/>
        </p:nvSpPr>
        <p:spPr>
          <a:xfrm>
            <a:off x="731520" y="3657600"/>
            <a:ext cx="548640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KEEP SALARIES ABOVE 30000</a:t>
            </a:r>
            <a:endParaRPr lang="en-US" sz="1100" dirty="0"/>
          </a:p>
        </p:txBody>
      </p:sp>
      <p:sp>
        <p:nvSpPr>
          <p:cNvPr id="24" name="Shape 21"/>
          <p:cNvSpPr/>
          <p:nvPr/>
        </p:nvSpPr>
        <p:spPr>
          <a:xfrm>
            <a:off x="731520" y="3977640"/>
            <a:ext cx="1371600" cy="548640"/>
          </a:xfrm>
          <a:prstGeom prst="roundRect">
            <a:avLst>
              <a:gd name="adj" fmla="val 10000"/>
            </a:avLst>
          </a:prstGeom>
          <a:solidFill>
            <a:srgbClr val="F1F5F9"/>
          </a:solidFill>
          <a:ln w="12700">
            <a:solidFill>
              <a:srgbClr val="CBD5E1"/>
            </a:solidFill>
            <a:prstDash val="solid"/>
          </a:ln>
        </p:spPr>
      </p:sp>
      <p:sp>
        <p:nvSpPr>
          <p:cNvPr id="25" name="Text 22"/>
          <p:cNvSpPr txBox="1"/>
          <p:nvPr/>
        </p:nvSpPr>
        <p:spPr>
          <a:xfrm>
            <a:off x="731520" y="3977640"/>
            <a:ext cx="1371600" cy="54864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Arun 35000</a:t>
            </a:r>
            <a:endParaRPr lang="en-US" sz="1200" dirty="0"/>
          </a:p>
        </p:txBody>
      </p:sp>
      <p:sp>
        <p:nvSpPr>
          <p:cNvPr id="26" name="Shape 23"/>
          <p:cNvSpPr/>
          <p:nvPr/>
        </p:nvSpPr>
        <p:spPr>
          <a:xfrm>
            <a:off x="2194560" y="3977640"/>
            <a:ext cx="1371600" cy="548640"/>
          </a:xfrm>
          <a:prstGeom prst="roundRect">
            <a:avLst>
              <a:gd name="adj" fmla="val 10000"/>
            </a:avLst>
          </a:prstGeom>
          <a:solidFill>
            <a:srgbClr val="F1F5F9"/>
          </a:solidFill>
          <a:ln w="12700">
            <a:solidFill>
              <a:srgbClr val="CBD5E1"/>
            </a:solidFill>
            <a:prstDash val="solid"/>
          </a:ln>
        </p:spPr>
      </p:sp>
      <p:sp>
        <p:nvSpPr>
          <p:cNvPr id="27" name="Text 24"/>
          <p:cNvSpPr txBox="1"/>
          <p:nvPr/>
        </p:nvSpPr>
        <p:spPr>
          <a:xfrm>
            <a:off x="2194560" y="3977640"/>
            <a:ext cx="1371600" cy="54864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Priya 28000</a:t>
            </a:r>
            <a:endParaRPr lang="en-US" sz="1200" dirty="0"/>
          </a:p>
        </p:txBody>
      </p:sp>
      <p:sp>
        <p:nvSpPr>
          <p:cNvPr id="28" name="Shape 25"/>
          <p:cNvSpPr/>
          <p:nvPr/>
        </p:nvSpPr>
        <p:spPr>
          <a:xfrm>
            <a:off x="3657600" y="3977640"/>
            <a:ext cx="1371600" cy="548640"/>
          </a:xfrm>
          <a:prstGeom prst="roundRect">
            <a:avLst>
              <a:gd name="adj" fmla="val 10000"/>
            </a:avLst>
          </a:prstGeom>
          <a:solidFill>
            <a:srgbClr val="F1F5F9"/>
          </a:solidFill>
          <a:ln w="12700">
            <a:solidFill>
              <a:srgbClr val="CBD5E1"/>
            </a:solidFill>
            <a:prstDash val="solid"/>
          </a:ln>
        </p:spPr>
      </p:sp>
      <p:sp>
        <p:nvSpPr>
          <p:cNvPr id="29" name="Text 26"/>
          <p:cNvSpPr txBox="1"/>
          <p:nvPr/>
        </p:nvSpPr>
        <p:spPr>
          <a:xfrm>
            <a:off x="3657600" y="3977640"/>
            <a:ext cx="1371600" cy="54864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Kiran 42000</a:t>
            </a:r>
            <a:endParaRPr lang="en-US" sz="1200" dirty="0"/>
          </a:p>
        </p:txBody>
      </p:sp>
      <p:sp>
        <p:nvSpPr>
          <p:cNvPr id="30" name="Shape 27"/>
          <p:cNvSpPr/>
          <p:nvPr/>
        </p:nvSpPr>
        <p:spPr>
          <a:xfrm>
            <a:off x="5120640" y="4251960"/>
            <a:ext cx="228600" cy="0"/>
          </a:xfrm>
          <a:prstGeom prst="line">
            <a:avLst/>
          </a:prstGeom>
          <a:noFill/>
          <a:ln w="31750">
            <a:solidFill>
              <a:srgbClr val="64748B"/>
            </a:solidFill>
            <a:prstDash val="solid"/>
            <a:tailEnd type="triangle"/>
          </a:ln>
        </p:spPr>
      </p:sp>
      <p:sp>
        <p:nvSpPr>
          <p:cNvPr id="31" name="Shape 28"/>
          <p:cNvSpPr/>
          <p:nvPr/>
        </p:nvSpPr>
        <p:spPr>
          <a:xfrm>
            <a:off x="5394960" y="3977640"/>
            <a:ext cx="1554480" cy="548640"/>
          </a:xfrm>
          <a:prstGeom prst="roundRect">
            <a:avLst>
              <a:gd name="adj" fmla="val 16667"/>
            </a:avLst>
          </a:prstGeom>
          <a:solidFill>
            <a:srgbClr val="FFF7ED"/>
          </a:solidFill>
          <a:ln w="19050">
            <a:solidFill>
              <a:srgbClr val="F97316"/>
            </a:solidFill>
            <a:prstDash val="solid"/>
          </a:ln>
        </p:spPr>
      </p:sp>
      <p:sp>
        <p:nvSpPr>
          <p:cNvPr id="32" name="Text 29"/>
          <p:cNvSpPr txBox="1"/>
          <p:nvPr/>
        </p:nvSpPr>
        <p:spPr>
          <a:xfrm>
            <a:off x="5468112" y="4087368"/>
            <a:ext cx="1408176" cy="347472"/>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above 30000</a:t>
            </a:r>
            <a:endParaRPr lang="en-US" sz="1200" dirty="0"/>
          </a:p>
        </p:txBody>
      </p:sp>
      <p:sp>
        <p:nvSpPr>
          <p:cNvPr id="33" name="Shape 30"/>
          <p:cNvSpPr/>
          <p:nvPr/>
        </p:nvSpPr>
        <p:spPr>
          <a:xfrm>
            <a:off x="6995160" y="4251960"/>
            <a:ext cx="274320" cy="0"/>
          </a:xfrm>
          <a:prstGeom prst="line">
            <a:avLst/>
          </a:prstGeom>
          <a:noFill/>
          <a:ln w="31750">
            <a:solidFill>
              <a:srgbClr val="64748B"/>
            </a:solidFill>
            <a:prstDash val="solid"/>
            <a:tailEnd type="triangle"/>
          </a:ln>
        </p:spPr>
      </p:sp>
      <p:sp>
        <p:nvSpPr>
          <p:cNvPr id="34" name="Shape 31"/>
          <p:cNvSpPr/>
          <p:nvPr/>
        </p:nvSpPr>
        <p:spPr>
          <a:xfrm>
            <a:off x="7315200" y="3977640"/>
            <a:ext cx="1965960" cy="548640"/>
          </a:xfrm>
          <a:prstGeom prst="roundRect">
            <a:avLst>
              <a:gd name="adj" fmla="val 10000"/>
            </a:avLst>
          </a:prstGeom>
          <a:solidFill>
            <a:srgbClr val="DCFCE7"/>
          </a:solidFill>
          <a:ln w="25400">
            <a:solidFill>
              <a:srgbClr val="10B981"/>
            </a:solidFill>
            <a:prstDash val="solid"/>
          </a:ln>
        </p:spPr>
      </p:sp>
      <p:sp>
        <p:nvSpPr>
          <p:cNvPr id="35" name="Text 32"/>
          <p:cNvSpPr txBox="1"/>
          <p:nvPr/>
        </p:nvSpPr>
        <p:spPr>
          <a:xfrm>
            <a:off x="7315200" y="3977640"/>
            <a:ext cx="1965960"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Arun : 35000</a:t>
            </a:r>
            <a:endParaRPr lang="en-US" sz="1250" dirty="0"/>
          </a:p>
        </p:txBody>
      </p:sp>
      <p:sp>
        <p:nvSpPr>
          <p:cNvPr id="36" name="Shape 33"/>
          <p:cNvSpPr/>
          <p:nvPr/>
        </p:nvSpPr>
        <p:spPr>
          <a:xfrm>
            <a:off x="9372600" y="3977640"/>
            <a:ext cx="1965960" cy="548640"/>
          </a:xfrm>
          <a:prstGeom prst="roundRect">
            <a:avLst>
              <a:gd name="adj" fmla="val 10000"/>
            </a:avLst>
          </a:prstGeom>
          <a:solidFill>
            <a:srgbClr val="DCFCE7"/>
          </a:solidFill>
          <a:ln w="25400">
            <a:solidFill>
              <a:srgbClr val="10B981"/>
            </a:solidFill>
            <a:prstDash val="solid"/>
          </a:ln>
        </p:spPr>
      </p:sp>
      <p:sp>
        <p:nvSpPr>
          <p:cNvPr id="37" name="Text 34"/>
          <p:cNvSpPr txBox="1"/>
          <p:nvPr/>
        </p:nvSpPr>
        <p:spPr>
          <a:xfrm>
            <a:off x="9372600" y="3977640"/>
            <a:ext cx="1965960"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Kiran : 42000</a:t>
            </a:r>
            <a:endParaRPr lang="en-US" sz="1250" dirty="0"/>
          </a:p>
        </p:txBody>
      </p:sp>
      <p:sp>
        <p:nvSpPr>
          <p:cNvPr id="38" name="Text 35"/>
          <p:cNvSpPr txBox="1"/>
          <p:nvPr/>
        </p:nvSpPr>
        <p:spPr>
          <a:xfrm>
            <a:off x="731520" y="4800600"/>
            <a:ext cx="10698480" cy="45720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Left side shows what goes in. Right side shows the new dictionary.</a:t>
            </a:r>
            <a:endParaRPr lang="en-US" sz="1400" dirty="0"/>
          </a:p>
        </p:txBody>
      </p:sp>
      <p:sp>
        <p:nvSpPr>
          <p:cNvPr id="39" name="Shape 36"/>
          <p:cNvSpPr/>
          <p:nvPr/>
        </p:nvSpPr>
        <p:spPr>
          <a:xfrm>
            <a:off x="731520" y="5559552"/>
            <a:ext cx="10698480" cy="0"/>
          </a:xfrm>
          <a:prstGeom prst="line">
            <a:avLst/>
          </a:prstGeom>
          <a:noFill/>
          <a:ln w="12700">
            <a:solidFill>
              <a:srgbClr val="E2E8F0"/>
            </a:solidFill>
            <a:prstDash val="solid"/>
          </a:ln>
        </p:spPr>
      </p:sp>
      <p:sp>
        <p:nvSpPr>
          <p:cNvPr id="40" name="Shape 37"/>
          <p:cNvSpPr/>
          <p:nvPr/>
        </p:nvSpPr>
        <p:spPr>
          <a:xfrm>
            <a:off x="777240" y="5650992"/>
            <a:ext cx="475488" cy="475488"/>
          </a:xfrm>
          <a:prstGeom prst="ellipse">
            <a:avLst/>
          </a:prstGeom>
          <a:solidFill>
            <a:srgbClr val="FCE7F3"/>
          </a:solidFill>
          <a:ln w="19050">
            <a:solidFill>
              <a:srgbClr val="EC4899"/>
            </a:solidFill>
            <a:prstDash val="solid"/>
          </a:ln>
        </p:spPr>
      </p:sp>
      <p:pic>
        <p:nvPicPr>
          <p:cNvPr id="41"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42" name="Shape 38"/>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43" name="Shape 39"/>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44" name="Text 40"/>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 filter condition simply leaves out the items that do not match, like Priya here.</a:t>
            </a:r>
            <a:endParaRPr lang="en-US" sz="1400" dirty="0"/>
          </a:p>
        </p:txBody>
      </p:sp>
      <p:sp>
        <p:nvSpPr>
          <p:cNvPr id="45" name="Text 4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6" name="Text 4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3</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map()</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At a factory, one machine adds the same sticker to every box that passes. Every box comes out changed in the same way and none is left behind.</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map() applies one function to every item of a list and gives back the changed items. The number of items going in and coming out is the same.</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Adding tax to every price, converting units for a whole column of data, and cleaning every record the same way.</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MAP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The Same Rule for Every Item</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5486400" cy="256032"/>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ADD 50 DELIVERY TO EVERY PRICE</a:t>
            </a:r>
            <a:endParaRPr lang="en-US" sz="1100" dirty="0"/>
          </a:p>
        </p:txBody>
      </p:sp>
      <p:sp>
        <p:nvSpPr>
          <p:cNvPr id="7" name="Shape 4"/>
          <p:cNvSpPr/>
          <p:nvPr/>
        </p:nvSpPr>
        <p:spPr>
          <a:xfrm>
            <a:off x="731520" y="2697480"/>
            <a:ext cx="1005840" cy="640080"/>
          </a:xfrm>
          <a:prstGeom prst="roundRect">
            <a:avLst>
              <a:gd name="adj" fmla="val 8571"/>
            </a:avLst>
          </a:prstGeom>
          <a:solidFill>
            <a:srgbClr val="F1F5F9"/>
          </a:solidFill>
          <a:ln w="12700">
            <a:solidFill>
              <a:srgbClr val="CBD5E1"/>
            </a:solidFill>
            <a:prstDash val="solid"/>
          </a:ln>
        </p:spPr>
      </p:sp>
      <p:sp>
        <p:nvSpPr>
          <p:cNvPr id="8" name="Text 5"/>
          <p:cNvSpPr txBox="1"/>
          <p:nvPr/>
        </p:nvSpPr>
        <p:spPr>
          <a:xfrm>
            <a:off x="731520" y="2697480"/>
            <a:ext cx="100584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100</a:t>
            </a:r>
            <a:endParaRPr lang="en-US" sz="1500" dirty="0"/>
          </a:p>
        </p:txBody>
      </p:sp>
      <p:sp>
        <p:nvSpPr>
          <p:cNvPr id="9" name="Shape 6"/>
          <p:cNvSpPr/>
          <p:nvPr/>
        </p:nvSpPr>
        <p:spPr>
          <a:xfrm>
            <a:off x="1828800" y="2697480"/>
            <a:ext cx="1005840" cy="640080"/>
          </a:xfrm>
          <a:prstGeom prst="roundRect">
            <a:avLst>
              <a:gd name="adj" fmla="val 8571"/>
            </a:avLst>
          </a:prstGeom>
          <a:solidFill>
            <a:srgbClr val="F1F5F9"/>
          </a:solidFill>
          <a:ln w="12700">
            <a:solidFill>
              <a:srgbClr val="CBD5E1"/>
            </a:solidFill>
            <a:prstDash val="solid"/>
          </a:ln>
        </p:spPr>
      </p:sp>
      <p:sp>
        <p:nvSpPr>
          <p:cNvPr id="10" name="Text 7"/>
          <p:cNvSpPr txBox="1"/>
          <p:nvPr/>
        </p:nvSpPr>
        <p:spPr>
          <a:xfrm>
            <a:off x="1828800" y="2697480"/>
            <a:ext cx="100584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200</a:t>
            </a:r>
            <a:endParaRPr lang="en-US" sz="1500" dirty="0"/>
          </a:p>
        </p:txBody>
      </p:sp>
      <p:sp>
        <p:nvSpPr>
          <p:cNvPr id="11" name="Shape 8"/>
          <p:cNvSpPr/>
          <p:nvPr/>
        </p:nvSpPr>
        <p:spPr>
          <a:xfrm>
            <a:off x="2926080" y="2697480"/>
            <a:ext cx="1005840" cy="640080"/>
          </a:xfrm>
          <a:prstGeom prst="roundRect">
            <a:avLst>
              <a:gd name="adj" fmla="val 8571"/>
            </a:avLst>
          </a:prstGeom>
          <a:solidFill>
            <a:srgbClr val="F1F5F9"/>
          </a:solidFill>
          <a:ln w="12700">
            <a:solidFill>
              <a:srgbClr val="CBD5E1"/>
            </a:solidFill>
            <a:prstDash val="solid"/>
          </a:ln>
        </p:spPr>
      </p:sp>
      <p:sp>
        <p:nvSpPr>
          <p:cNvPr id="12" name="Text 9"/>
          <p:cNvSpPr txBox="1"/>
          <p:nvPr/>
        </p:nvSpPr>
        <p:spPr>
          <a:xfrm>
            <a:off x="2926080" y="2697480"/>
            <a:ext cx="100584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300</a:t>
            </a:r>
            <a:endParaRPr lang="en-US" sz="1500" dirty="0"/>
          </a:p>
        </p:txBody>
      </p:sp>
      <p:sp>
        <p:nvSpPr>
          <p:cNvPr id="13" name="Shape 10"/>
          <p:cNvSpPr/>
          <p:nvPr/>
        </p:nvSpPr>
        <p:spPr>
          <a:xfrm>
            <a:off x="4114800" y="3017520"/>
            <a:ext cx="320040" cy="0"/>
          </a:xfrm>
          <a:prstGeom prst="line">
            <a:avLst/>
          </a:prstGeom>
          <a:noFill/>
          <a:ln w="31750">
            <a:solidFill>
              <a:srgbClr val="64748B"/>
            </a:solidFill>
            <a:prstDash val="solid"/>
            <a:tailEnd type="triangle"/>
          </a:ln>
        </p:spPr>
      </p:sp>
      <p:sp>
        <p:nvSpPr>
          <p:cNvPr id="14" name="Shape 11"/>
          <p:cNvSpPr/>
          <p:nvPr/>
        </p:nvSpPr>
        <p:spPr>
          <a:xfrm>
            <a:off x="4480560" y="2606040"/>
            <a:ext cx="2743200" cy="822960"/>
          </a:xfrm>
          <a:prstGeom prst="roundRect">
            <a:avLst>
              <a:gd name="adj" fmla="val 11111"/>
            </a:avLst>
          </a:prstGeom>
          <a:solidFill>
            <a:srgbClr val="FFF7ED"/>
          </a:solidFill>
          <a:ln w="19050">
            <a:solidFill>
              <a:srgbClr val="F97316"/>
            </a:solidFill>
            <a:prstDash val="solid"/>
          </a:ln>
        </p:spPr>
      </p:sp>
      <p:sp>
        <p:nvSpPr>
          <p:cNvPr id="15" name="Text 12"/>
          <p:cNvSpPr txBox="1"/>
          <p:nvPr/>
        </p:nvSpPr>
        <p:spPr>
          <a:xfrm>
            <a:off x="4553712" y="2715768"/>
            <a:ext cx="2596896" cy="329184"/>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map</a:t>
            </a:r>
            <a:endParaRPr lang="en-US" sz="1600" dirty="0"/>
          </a:p>
        </p:txBody>
      </p:sp>
      <p:sp>
        <p:nvSpPr>
          <p:cNvPr id="16" name="Text 13"/>
          <p:cNvSpPr txBox="1"/>
          <p:nvPr/>
        </p:nvSpPr>
        <p:spPr>
          <a:xfrm>
            <a:off x="4572000" y="3044952"/>
            <a:ext cx="2560320" cy="31089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same rule for each item</a:t>
            </a:r>
            <a:endParaRPr lang="en-US" sz="1300" dirty="0"/>
          </a:p>
        </p:txBody>
      </p:sp>
      <p:sp>
        <p:nvSpPr>
          <p:cNvPr id="17" name="Shape 14"/>
          <p:cNvSpPr/>
          <p:nvPr/>
        </p:nvSpPr>
        <p:spPr>
          <a:xfrm>
            <a:off x="7269480" y="3017520"/>
            <a:ext cx="320040" cy="0"/>
          </a:xfrm>
          <a:prstGeom prst="line">
            <a:avLst/>
          </a:prstGeom>
          <a:noFill/>
          <a:ln w="31750">
            <a:solidFill>
              <a:srgbClr val="64748B"/>
            </a:solidFill>
            <a:prstDash val="solid"/>
            <a:tailEnd type="triangle"/>
          </a:ln>
        </p:spPr>
      </p:sp>
      <p:sp>
        <p:nvSpPr>
          <p:cNvPr id="18" name="Shape 15"/>
          <p:cNvSpPr/>
          <p:nvPr/>
        </p:nvSpPr>
        <p:spPr>
          <a:xfrm>
            <a:off x="7635240" y="2697480"/>
            <a:ext cx="1097280" cy="640080"/>
          </a:xfrm>
          <a:prstGeom prst="roundRect">
            <a:avLst>
              <a:gd name="adj" fmla="val 8571"/>
            </a:avLst>
          </a:prstGeom>
          <a:solidFill>
            <a:srgbClr val="DCFCE7"/>
          </a:solidFill>
          <a:ln w="25400">
            <a:solidFill>
              <a:srgbClr val="10B981"/>
            </a:solidFill>
            <a:prstDash val="solid"/>
          </a:ln>
        </p:spPr>
      </p:sp>
      <p:sp>
        <p:nvSpPr>
          <p:cNvPr id="19" name="Text 16"/>
          <p:cNvSpPr txBox="1"/>
          <p:nvPr/>
        </p:nvSpPr>
        <p:spPr>
          <a:xfrm>
            <a:off x="7635240" y="2697480"/>
            <a:ext cx="109728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150</a:t>
            </a:r>
            <a:endParaRPr lang="en-US" sz="1500" dirty="0"/>
          </a:p>
        </p:txBody>
      </p:sp>
      <p:sp>
        <p:nvSpPr>
          <p:cNvPr id="20" name="Shape 17"/>
          <p:cNvSpPr/>
          <p:nvPr/>
        </p:nvSpPr>
        <p:spPr>
          <a:xfrm>
            <a:off x="8823960" y="2697480"/>
            <a:ext cx="1097280" cy="640080"/>
          </a:xfrm>
          <a:prstGeom prst="roundRect">
            <a:avLst>
              <a:gd name="adj" fmla="val 8571"/>
            </a:avLst>
          </a:prstGeom>
          <a:solidFill>
            <a:srgbClr val="DCFCE7"/>
          </a:solidFill>
          <a:ln w="25400">
            <a:solidFill>
              <a:srgbClr val="10B981"/>
            </a:solidFill>
            <a:prstDash val="solid"/>
          </a:ln>
        </p:spPr>
      </p:sp>
      <p:sp>
        <p:nvSpPr>
          <p:cNvPr id="21" name="Text 18"/>
          <p:cNvSpPr txBox="1"/>
          <p:nvPr/>
        </p:nvSpPr>
        <p:spPr>
          <a:xfrm>
            <a:off x="8823960" y="2697480"/>
            <a:ext cx="109728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250</a:t>
            </a:r>
            <a:endParaRPr lang="en-US" sz="1500" dirty="0"/>
          </a:p>
        </p:txBody>
      </p:sp>
      <p:sp>
        <p:nvSpPr>
          <p:cNvPr id="22" name="Shape 19"/>
          <p:cNvSpPr/>
          <p:nvPr/>
        </p:nvSpPr>
        <p:spPr>
          <a:xfrm>
            <a:off x="10012680" y="2697480"/>
            <a:ext cx="1097280" cy="640080"/>
          </a:xfrm>
          <a:prstGeom prst="roundRect">
            <a:avLst>
              <a:gd name="adj" fmla="val 8571"/>
            </a:avLst>
          </a:prstGeom>
          <a:solidFill>
            <a:srgbClr val="DCFCE7"/>
          </a:solidFill>
          <a:ln w="25400">
            <a:solidFill>
              <a:srgbClr val="10B981"/>
            </a:solidFill>
            <a:prstDash val="solid"/>
          </a:ln>
        </p:spPr>
      </p:sp>
      <p:sp>
        <p:nvSpPr>
          <p:cNvPr id="23" name="Text 20"/>
          <p:cNvSpPr txBox="1"/>
          <p:nvPr/>
        </p:nvSpPr>
        <p:spPr>
          <a:xfrm>
            <a:off x="10012680" y="2697480"/>
            <a:ext cx="109728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350</a:t>
            </a:r>
            <a:endParaRPr lang="en-US" sz="1500" dirty="0"/>
          </a:p>
        </p:txBody>
      </p:sp>
      <p:sp>
        <p:nvSpPr>
          <p:cNvPr id="24" name="Shape 21"/>
          <p:cNvSpPr/>
          <p:nvPr/>
        </p:nvSpPr>
        <p:spPr>
          <a:xfrm>
            <a:off x="731520" y="3840480"/>
            <a:ext cx="5212080" cy="1463040"/>
          </a:xfrm>
          <a:prstGeom prst="roundRect">
            <a:avLst>
              <a:gd name="adj" fmla="val 6250"/>
            </a:avLst>
          </a:prstGeom>
          <a:solidFill>
            <a:srgbClr val="F0FDFA"/>
          </a:solidFill>
          <a:ln w="19050">
            <a:solidFill>
              <a:srgbClr val="14B8A6"/>
            </a:solidFill>
            <a:prstDash val="solid"/>
          </a:ln>
        </p:spPr>
      </p:sp>
      <p:pic>
        <p:nvPicPr>
          <p:cNvPr id="25" name="Image 1" descr="assets/icon2_equal_teal.png">    </p:cNvPr>
          <p:cNvPicPr>
            <a:picLocks noChangeAspect="1"/>
          </p:cNvPicPr>
          <p:nvPr/>
        </p:nvPicPr>
        <p:blipFill>
          <a:blip r:embed="rId2"/>
          <a:stretch>
            <a:fillRect/>
          </a:stretch>
        </p:blipFill>
        <p:spPr>
          <a:xfrm>
            <a:off x="3086100" y="3950208"/>
            <a:ext cx="502920" cy="502920"/>
          </a:xfrm>
          <a:prstGeom prst="rect">
            <a:avLst/>
          </a:prstGeom>
        </p:spPr>
      </p:pic>
      <p:sp>
        <p:nvSpPr>
          <p:cNvPr id="26" name="Text 22"/>
          <p:cNvSpPr txBox="1"/>
          <p:nvPr/>
        </p:nvSpPr>
        <p:spPr>
          <a:xfrm>
            <a:off x="804672" y="4517136"/>
            <a:ext cx="506577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Same number of items</a:t>
            </a:r>
            <a:endParaRPr lang="en-US" sz="1600" dirty="0"/>
          </a:p>
        </p:txBody>
      </p:sp>
      <p:sp>
        <p:nvSpPr>
          <p:cNvPr id="27" name="Text 23"/>
          <p:cNvSpPr txBox="1"/>
          <p:nvPr/>
        </p:nvSpPr>
        <p:spPr>
          <a:xfrm>
            <a:off x="822960" y="4864608"/>
            <a:ext cx="5029200" cy="36576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Three prices go in and three changed prices come out.</a:t>
            </a:r>
            <a:endParaRPr lang="en-US" sz="1350" dirty="0"/>
          </a:p>
        </p:txBody>
      </p:sp>
      <p:sp>
        <p:nvSpPr>
          <p:cNvPr id="28" name="Shape 24"/>
          <p:cNvSpPr/>
          <p:nvPr/>
        </p:nvSpPr>
        <p:spPr>
          <a:xfrm>
            <a:off x="6217920" y="3840480"/>
            <a:ext cx="5212080" cy="1463040"/>
          </a:xfrm>
          <a:prstGeom prst="roundRect">
            <a:avLst>
              <a:gd name="adj" fmla="val 6250"/>
            </a:avLst>
          </a:prstGeom>
          <a:solidFill>
            <a:srgbClr val="F5F3FF"/>
          </a:solidFill>
          <a:ln w="19050">
            <a:solidFill>
              <a:srgbClr val="8B5CF6"/>
            </a:solidFill>
            <a:prstDash val="solid"/>
          </a:ln>
        </p:spPr>
      </p:sp>
      <p:pic>
        <p:nvPicPr>
          <p:cNvPr id="29" name="Image 2" descr="assets/icon2_list_teal.png">    </p:cNvPr>
          <p:cNvPicPr>
            <a:picLocks noChangeAspect="1"/>
          </p:cNvPicPr>
          <p:nvPr/>
        </p:nvPicPr>
        <p:blipFill>
          <a:blip r:embed="rId3"/>
          <a:stretch>
            <a:fillRect/>
          </a:stretch>
        </p:blipFill>
        <p:spPr>
          <a:xfrm>
            <a:off x="8572500" y="3950208"/>
            <a:ext cx="502920" cy="502920"/>
          </a:xfrm>
          <a:prstGeom prst="rect">
            <a:avLst/>
          </a:prstGeom>
        </p:spPr>
      </p:pic>
      <p:sp>
        <p:nvSpPr>
          <p:cNvPr id="30" name="Text 25"/>
          <p:cNvSpPr txBox="1"/>
          <p:nvPr/>
        </p:nvSpPr>
        <p:spPr>
          <a:xfrm>
            <a:off x="6291072" y="4517136"/>
            <a:ext cx="506577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Wrap it to see it</a:t>
            </a:r>
            <a:endParaRPr lang="en-US" sz="1600" dirty="0"/>
          </a:p>
        </p:txBody>
      </p:sp>
      <p:sp>
        <p:nvSpPr>
          <p:cNvPr id="31" name="Text 26"/>
          <p:cNvSpPr txBox="1"/>
          <p:nvPr/>
        </p:nvSpPr>
        <p:spPr>
          <a:xfrm>
            <a:off x="6309360" y="4864608"/>
            <a:ext cx="5029200" cy="36576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map gives a lazy result. Turn it into a list to view the values.</a:t>
            </a:r>
            <a:endParaRPr lang="en-US" sz="1350" dirty="0"/>
          </a:p>
        </p:txBody>
      </p:sp>
      <p:sp>
        <p:nvSpPr>
          <p:cNvPr id="32" name="Shape 27"/>
          <p:cNvSpPr/>
          <p:nvPr/>
        </p:nvSpPr>
        <p:spPr>
          <a:xfrm>
            <a:off x="731520" y="5559552"/>
            <a:ext cx="10698480" cy="0"/>
          </a:xfrm>
          <a:prstGeom prst="line">
            <a:avLst/>
          </a:prstGeom>
          <a:noFill/>
          <a:ln w="12700">
            <a:solidFill>
              <a:srgbClr val="E2E8F0"/>
            </a:solidFill>
            <a:prstDash val="solid"/>
          </a:ln>
        </p:spPr>
      </p:sp>
      <p:sp>
        <p:nvSpPr>
          <p:cNvPr id="33" name="Shape 28"/>
          <p:cNvSpPr/>
          <p:nvPr/>
        </p:nvSpPr>
        <p:spPr>
          <a:xfrm>
            <a:off x="777240" y="5650992"/>
            <a:ext cx="475488" cy="475488"/>
          </a:xfrm>
          <a:prstGeom prst="ellipse">
            <a:avLst/>
          </a:prstGeom>
          <a:solidFill>
            <a:srgbClr val="FCE7F3"/>
          </a:solidFill>
          <a:ln w="19050">
            <a:solidFill>
              <a:srgbClr val="EC4899"/>
            </a:solidFill>
            <a:prstDash val="solid"/>
          </a:ln>
        </p:spPr>
      </p:sp>
      <p:pic>
        <p:nvPicPr>
          <p:cNvPr id="34" name="Image 3" descr="assets/icon2_user_pink.png">    </p:cNvPr>
          <p:cNvPicPr>
            <a:picLocks noChangeAspect="1"/>
          </p:cNvPicPr>
          <p:nvPr/>
        </p:nvPicPr>
        <p:blipFill>
          <a:blip r:embed="rId4"/>
          <a:stretch>
            <a:fillRect/>
          </a:stretch>
        </p:blipFill>
        <p:spPr>
          <a:xfrm>
            <a:off x="872338" y="5746090"/>
            <a:ext cx="285293" cy="285293"/>
          </a:xfrm>
          <a:prstGeom prst="rect">
            <a:avLst/>
          </a:prstGeom>
        </p:spPr>
      </p:pic>
      <p:sp>
        <p:nvSpPr>
          <p:cNvPr id="35" name="Shape 29"/>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6" name="Shape 30"/>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7" name="Text 31"/>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Use map when every item needs the same change.</a:t>
            </a:r>
            <a:endParaRPr lang="en-US" sz="1400" dirty="0"/>
          </a:p>
        </p:txBody>
      </p:sp>
      <p:sp>
        <p:nvSpPr>
          <p:cNvPr id="38" name="Text 32"/>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9" name="Text 33"/>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4</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filter()</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security gate lets in only the people who show a valid ID. The others are turned back. Nobody who enters is changed, and some people simply do not enter.</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filter() checks every item with a test that answers True or False, and keeps only the items that pass. The kept items are not changed.</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Selecting passed students, active customers, orders above a limit, or valid records from a large list.</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FILTER FLOW</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Keep Only the Items That Pass the Test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77440"/>
            <a:ext cx="914400" cy="548640"/>
          </a:xfrm>
          <a:prstGeom prst="roundRect">
            <a:avLst>
              <a:gd name="adj" fmla="val 10000"/>
            </a:avLst>
          </a:prstGeom>
          <a:solidFill>
            <a:srgbClr val="F1F5F9"/>
          </a:solidFill>
          <a:ln w="12700">
            <a:solidFill>
              <a:srgbClr val="CBD5E1"/>
            </a:solidFill>
            <a:prstDash val="solid"/>
          </a:ln>
        </p:spPr>
      </p:sp>
      <p:sp>
        <p:nvSpPr>
          <p:cNvPr id="7" name="Text 4"/>
          <p:cNvSpPr txBox="1"/>
          <p:nvPr/>
        </p:nvSpPr>
        <p:spPr>
          <a:xfrm>
            <a:off x="731520" y="2377440"/>
            <a:ext cx="91440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35</a:t>
            </a:r>
            <a:endParaRPr lang="en-US" sz="1500" dirty="0"/>
          </a:p>
        </p:txBody>
      </p:sp>
      <p:sp>
        <p:nvSpPr>
          <p:cNvPr id="8" name="Shape 5"/>
          <p:cNvSpPr/>
          <p:nvPr/>
        </p:nvSpPr>
        <p:spPr>
          <a:xfrm>
            <a:off x="1783080" y="2377440"/>
            <a:ext cx="914400" cy="548640"/>
          </a:xfrm>
          <a:prstGeom prst="roundRect">
            <a:avLst>
              <a:gd name="adj" fmla="val 10000"/>
            </a:avLst>
          </a:prstGeom>
          <a:solidFill>
            <a:srgbClr val="F1F5F9"/>
          </a:solidFill>
          <a:ln w="12700">
            <a:solidFill>
              <a:srgbClr val="CBD5E1"/>
            </a:solidFill>
            <a:prstDash val="solid"/>
          </a:ln>
        </p:spPr>
      </p:sp>
      <p:sp>
        <p:nvSpPr>
          <p:cNvPr id="9" name="Text 6"/>
          <p:cNvSpPr txBox="1"/>
          <p:nvPr/>
        </p:nvSpPr>
        <p:spPr>
          <a:xfrm>
            <a:off x="1783080" y="2377440"/>
            <a:ext cx="91440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82</a:t>
            </a:r>
            <a:endParaRPr lang="en-US" sz="1500" dirty="0"/>
          </a:p>
        </p:txBody>
      </p:sp>
      <p:sp>
        <p:nvSpPr>
          <p:cNvPr id="10" name="Shape 7"/>
          <p:cNvSpPr/>
          <p:nvPr/>
        </p:nvSpPr>
        <p:spPr>
          <a:xfrm>
            <a:off x="2834640" y="2377440"/>
            <a:ext cx="914400" cy="548640"/>
          </a:xfrm>
          <a:prstGeom prst="roundRect">
            <a:avLst>
              <a:gd name="adj" fmla="val 10000"/>
            </a:avLst>
          </a:prstGeom>
          <a:solidFill>
            <a:srgbClr val="F1F5F9"/>
          </a:solidFill>
          <a:ln w="12700">
            <a:solidFill>
              <a:srgbClr val="CBD5E1"/>
            </a:solidFill>
            <a:prstDash val="solid"/>
          </a:ln>
        </p:spPr>
      </p:sp>
      <p:sp>
        <p:nvSpPr>
          <p:cNvPr id="11" name="Text 8"/>
          <p:cNvSpPr txBox="1"/>
          <p:nvPr/>
        </p:nvSpPr>
        <p:spPr>
          <a:xfrm>
            <a:off x="2834640" y="2377440"/>
            <a:ext cx="91440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47</a:t>
            </a:r>
            <a:endParaRPr lang="en-US" sz="1500" dirty="0"/>
          </a:p>
        </p:txBody>
      </p:sp>
      <p:sp>
        <p:nvSpPr>
          <p:cNvPr id="12" name="Shape 9"/>
          <p:cNvSpPr/>
          <p:nvPr/>
        </p:nvSpPr>
        <p:spPr>
          <a:xfrm>
            <a:off x="3886200" y="2377440"/>
            <a:ext cx="914400" cy="548640"/>
          </a:xfrm>
          <a:prstGeom prst="roundRect">
            <a:avLst>
              <a:gd name="adj" fmla="val 10000"/>
            </a:avLst>
          </a:prstGeom>
          <a:solidFill>
            <a:srgbClr val="F1F5F9"/>
          </a:solidFill>
          <a:ln w="12700">
            <a:solidFill>
              <a:srgbClr val="CBD5E1"/>
            </a:solidFill>
            <a:prstDash val="solid"/>
          </a:ln>
        </p:spPr>
      </p:sp>
      <p:sp>
        <p:nvSpPr>
          <p:cNvPr id="13" name="Text 10"/>
          <p:cNvSpPr txBox="1"/>
          <p:nvPr/>
        </p:nvSpPr>
        <p:spPr>
          <a:xfrm>
            <a:off x="3886200" y="2377440"/>
            <a:ext cx="91440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91</a:t>
            </a:r>
            <a:endParaRPr lang="en-US" sz="1500" dirty="0"/>
          </a:p>
        </p:txBody>
      </p:sp>
      <p:sp>
        <p:nvSpPr>
          <p:cNvPr id="14" name="Shape 11"/>
          <p:cNvSpPr/>
          <p:nvPr/>
        </p:nvSpPr>
        <p:spPr>
          <a:xfrm>
            <a:off x="4937760" y="2377440"/>
            <a:ext cx="914400" cy="548640"/>
          </a:xfrm>
          <a:prstGeom prst="roundRect">
            <a:avLst>
              <a:gd name="adj" fmla="val 10000"/>
            </a:avLst>
          </a:prstGeom>
          <a:solidFill>
            <a:srgbClr val="F1F5F9"/>
          </a:solidFill>
          <a:ln w="12700">
            <a:solidFill>
              <a:srgbClr val="CBD5E1"/>
            </a:solidFill>
            <a:prstDash val="solid"/>
          </a:ln>
        </p:spPr>
      </p:sp>
      <p:sp>
        <p:nvSpPr>
          <p:cNvPr id="15" name="Text 12"/>
          <p:cNvSpPr txBox="1"/>
          <p:nvPr/>
        </p:nvSpPr>
        <p:spPr>
          <a:xfrm>
            <a:off x="4937760" y="2377440"/>
            <a:ext cx="914400" cy="54864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60</a:t>
            </a:r>
            <a:endParaRPr lang="en-US" sz="1500" dirty="0"/>
          </a:p>
        </p:txBody>
      </p:sp>
      <p:sp>
        <p:nvSpPr>
          <p:cNvPr id="16" name="Text 13"/>
          <p:cNvSpPr txBox="1"/>
          <p:nvPr/>
        </p:nvSpPr>
        <p:spPr>
          <a:xfrm>
            <a:off x="6126480" y="2395728"/>
            <a:ext cx="2743200" cy="502920"/>
          </a:xfrm>
          <a:prstGeom prst="rect">
            <a:avLst/>
          </a:prstGeom>
          <a:noFill/>
          <a:ln/>
        </p:spPr>
        <p:txBody>
          <a:bodyPr wrap="square"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ALL MARKS</a:t>
            </a:r>
            <a:endParaRPr lang="en-US" sz="1100" dirty="0"/>
          </a:p>
        </p:txBody>
      </p:sp>
      <p:sp>
        <p:nvSpPr>
          <p:cNvPr id="17" name="Shape 14"/>
          <p:cNvSpPr/>
          <p:nvPr/>
        </p:nvSpPr>
        <p:spPr>
          <a:xfrm>
            <a:off x="3200400" y="2971800"/>
            <a:ext cx="0" cy="274320"/>
          </a:xfrm>
          <a:prstGeom prst="line">
            <a:avLst/>
          </a:prstGeom>
          <a:noFill/>
          <a:ln w="31750">
            <a:solidFill>
              <a:srgbClr val="8B5CF6"/>
            </a:solidFill>
            <a:prstDash val="solid"/>
            <a:tailEnd type="triangle"/>
          </a:ln>
        </p:spPr>
      </p:sp>
      <p:sp>
        <p:nvSpPr>
          <p:cNvPr id="18" name="Shape 15"/>
          <p:cNvSpPr/>
          <p:nvPr/>
        </p:nvSpPr>
        <p:spPr>
          <a:xfrm>
            <a:off x="1737360" y="3273552"/>
            <a:ext cx="2926080" cy="1234440"/>
          </a:xfrm>
          <a:prstGeom prst="flowChartDecision">
            <a:avLst/>
          </a:prstGeom>
          <a:solidFill>
            <a:srgbClr val="FFF7ED"/>
          </a:solidFill>
          <a:ln w="22225">
            <a:solidFill>
              <a:srgbClr val="F97316"/>
            </a:solidFill>
            <a:prstDash val="solid"/>
          </a:ln>
        </p:spPr>
      </p:sp>
      <p:sp>
        <p:nvSpPr>
          <p:cNvPr id="19" name="Text 16"/>
          <p:cNvSpPr txBox="1"/>
          <p:nvPr/>
        </p:nvSpPr>
        <p:spPr>
          <a:xfrm>
            <a:off x="2322576" y="3273552"/>
            <a:ext cx="1755648" cy="123444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Is the mark 50 or more?</a:t>
            </a:r>
            <a:endParaRPr lang="en-US" sz="1400" dirty="0"/>
          </a:p>
        </p:txBody>
      </p:sp>
      <p:sp>
        <p:nvSpPr>
          <p:cNvPr id="20" name="Shape 17"/>
          <p:cNvSpPr/>
          <p:nvPr/>
        </p:nvSpPr>
        <p:spPr>
          <a:xfrm>
            <a:off x="4690872" y="3886200"/>
            <a:ext cx="676656" cy="0"/>
          </a:xfrm>
          <a:prstGeom prst="line">
            <a:avLst/>
          </a:prstGeom>
          <a:noFill/>
          <a:ln w="31750">
            <a:solidFill>
              <a:srgbClr val="10B981"/>
            </a:solidFill>
            <a:prstDash val="solid"/>
            <a:tailEnd type="triangle"/>
          </a:ln>
        </p:spPr>
      </p:sp>
      <p:sp>
        <p:nvSpPr>
          <p:cNvPr id="21" name="Text 18"/>
          <p:cNvSpPr txBox="1"/>
          <p:nvPr/>
        </p:nvSpPr>
        <p:spPr>
          <a:xfrm>
            <a:off x="4663440" y="352044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Yes</a:t>
            </a:r>
            <a:endParaRPr lang="en-US" sz="1200" dirty="0"/>
          </a:p>
        </p:txBody>
      </p:sp>
      <p:sp>
        <p:nvSpPr>
          <p:cNvPr id="22" name="Text 19"/>
          <p:cNvSpPr txBox="1"/>
          <p:nvPr/>
        </p:nvSpPr>
        <p:spPr>
          <a:xfrm>
            <a:off x="5440680" y="3246120"/>
            <a:ext cx="1828800" cy="256032"/>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KEPT</a:t>
            </a:r>
            <a:endParaRPr lang="en-US" sz="1100" dirty="0"/>
          </a:p>
        </p:txBody>
      </p:sp>
      <p:sp>
        <p:nvSpPr>
          <p:cNvPr id="23" name="Shape 20"/>
          <p:cNvSpPr/>
          <p:nvPr/>
        </p:nvSpPr>
        <p:spPr>
          <a:xfrm>
            <a:off x="5440680" y="3566160"/>
            <a:ext cx="914400" cy="640080"/>
          </a:xfrm>
          <a:prstGeom prst="roundRect">
            <a:avLst>
              <a:gd name="adj" fmla="val 8571"/>
            </a:avLst>
          </a:prstGeom>
          <a:solidFill>
            <a:srgbClr val="DCFCE7"/>
          </a:solidFill>
          <a:ln w="25400">
            <a:solidFill>
              <a:srgbClr val="10B981"/>
            </a:solidFill>
            <a:prstDash val="solid"/>
          </a:ln>
        </p:spPr>
      </p:sp>
      <p:sp>
        <p:nvSpPr>
          <p:cNvPr id="24" name="Text 21"/>
          <p:cNvSpPr txBox="1"/>
          <p:nvPr/>
        </p:nvSpPr>
        <p:spPr>
          <a:xfrm>
            <a:off x="5440680" y="3566160"/>
            <a:ext cx="914400" cy="640080"/>
          </a:xfrm>
          <a:prstGeom prst="rect">
            <a:avLst/>
          </a:prstGeom>
          <a:noFill/>
          <a:ln/>
        </p:spPr>
        <p:txBody>
          <a:bodyPr wrap="square" rtlCol="0" anchor="ctr"/>
          <a:lstStyle/>
          <a:p>
            <a:pPr algn="ctr" indent="0" marL="0">
              <a:buNone/>
            </a:pPr>
            <a:r>
              <a:rPr lang="en-US" sz="1600" b="1" dirty="0">
                <a:solidFill>
                  <a:srgbClr val="1E293B"/>
                </a:solidFill>
                <a:latin typeface="Consolas" pitchFamily="34" charset="0"/>
                <a:ea typeface="Consolas" pitchFamily="34" charset="-122"/>
                <a:cs typeface="Consolas" pitchFamily="34" charset="-120"/>
              </a:rPr>
              <a:t>82</a:t>
            </a:r>
            <a:endParaRPr lang="en-US" sz="1600" dirty="0"/>
          </a:p>
        </p:txBody>
      </p:sp>
      <p:sp>
        <p:nvSpPr>
          <p:cNvPr id="25" name="Shape 22"/>
          <p:cNvSpPr/>
          <p:nvPr/>
        </p:nvSpPr>
        <p:spPr>
          <a:xfrm>
            <a:off x="6492240" y="3566160"/>
            <a:ext cx="914400" cy="640080"/>
          </a:xfrm>
          <a:prstGeom prst="roundRect">
            <a:avLst>
              <a:gd name="adj" fmla="val 8571"/>
            </a:avLst>
          </a:prstGeom>
          <a:solidFill>
            <a:srgbClr val="DCFCE7"/>
          </a:solidFill>
          <a:ln w="25400">
            <a:solidFill>
              <a:srgbClr val="10B981"/>
            </a:solidFill>
            <a:prstDash val="solid"/>
          </a:ln>
        </p:spPr>
      </p:sp>
      <p:sp>
        <p:nvSpPr>
          <p:cNvPr id="26" name="Text 23"/>
          <p:cNvSpPr txBox="1"/>
          <p:nvPr/>
        </p:nvSpPr>
        <p:spPr>
          <a:xfrm>
            <a:off x="6492240" y="3566160"/>
            <a:ext cx="914400" cy="640080"/>
          </a:xfrm>
          <a:prstGeom prst="rect">
            <a:avLst/>
          </a:prstGeom>
          <a:noFill/>
          <a:ln/>
        </p:spPr>
        <p:txBody>
          <a:bodyPr wrap="square" rtlCol="0" anchor="ctr"/>
          <a:lstStyle/>
          <a:p>
            <a:pPr algn="ctr" indent="0" marL="0">
              <a:buNone/>
            </a:pPr>
            <a:r>
              <a:rPr lang="en-US" sz="1600" b="1" dirty="0">
                <a:solidFill>
                  <a:srgbClr val="1E293B"/>
                </a:solidFill>
                <a:latin typeface="Consolas" pitchFamily="34" charset="0"/>
                <a:ea typeface="Consolas" pitchFamily="34" charset="-122"/>
                <a:cs typeface="Consolas" pitchFamily="34" charset="-120"/>
              </a:rPr>
              <a:t>91</a:t>
            </a:r>
            <a:endParaRPr lang="en-US" sz="1600" dirty="0"/>
          </a:p>
        </p:txBody>
      </p:sp>
      <p:sp>
        <p:nvSpPr>
          <p:cNvPr id="27" name="Shape 24"/>
          <p:cNvSpPr/>
          <p:nvPr/>
        </p:nvSpPr>
        <p:spPr>
          <a:xfrm>
            <a:off x="7543800" y="3566160"/>
            <a:ext cx="914400" cy="640080"/>
          </a:xfrm>
          <a:prstGeom prst="roundRect">
            <a:avLst>
              <a:gd name="adj" fmla="val 8571"/>
            </a:avLst>
          </a:prstGeom>
          <a:solidFill>
            <a:srgbClr val="DCFCE7"/>
          </a:solidFill>
          <a:ln w="25400">
            <a:solidFill>
              <a:srgbClr val="10B981"/>
            </a:solidFill>
            <a:prstDash val="solid"/>
          </a:ln>
        </p:spPr>
      </p:sp>
      <p:sp>
        <p:nvSpPr>
          <p:cNvPr id="28" name="Text 25"/>
          <p:cNvSpPr txBox="1"/>
          <p:nvPr/>
        </p:nvSpPr>
        <p:spPr>
          <a:xfrm>
            <a:off x="7543800" y="3566160"/>
            <a:ext cx="914400" cy="640080"/>
          </a:xfrm>
          <a:prstGeom prst="rect">
            <a:avLst/>
          </a:prstGeom>
          <a:noFill/>
          <a:ln/>
        </p:spPr>
        <p:txBody>
          <a:bodyPr wrap="square" rtlCol="0" anchor="ctr"/>
          <a:lstStyle/>
          <a:p>
            <a:pPr algn="ctr" indent="0" marL="0">
              <a:buNone/>
            </a:pPr>
            <a:r>
              <a:rPr lang="en-US" sz="1600" b="1" dirty="0">
                <a:solidFill>
                  <a:srgbClr val="1E293B"/>
                </a:solidFill>
                <a:latin typeface="Consolas" pitchFamily="34" charset="0"/>
                <a:ea typeface="Consolas" pitchFamily="34" charset="-122"/>
                <a:cs typeface="Consolas" pitchFamily="34" charset="-120"/>
              </a:rPr>
              <a:t>60</a:t>
            </a:r>
            <a:endParaRPr lang="en-US" sz="1600" dirty="0"/>
          </a:p>
        </p:txBody>
      </p:sp>
      <p:sp>
        <p:nvSpPr>
          <p:cNvPr id="29" name="Shape 26"/>
          <p:cNvSpPr/>
          <p:nvPr/>
        </p:nvSpPr>
        <p:spPr>
          <a:xfrm>
            <a:off x="3200400" y="4526280"/>
            <a:ext cx="0" cy="246888"/>
          </a:xfrm>
          <a:prstGeom prst="line">
            <a:avLst/>
          </a:prstGeom>
          <a:noFill/>
          <a:ln w="31750">
            <a:solidFill>
              <a:srgbClr val="F97316"/>
            </a:solidFill>
            <a:prstDash val="solid"/>
            <a:tailEnd type="triangle"/>
          </a:ln>
        </p:spPr>
      </p:sp>
      <p:sp>
        <p:nvSpPr>
          <p:cNvPr id="30" name="Text 27"/>
          <p:cNvSpPr txBox="1"/>
          <p:nvPr/>
        </p:nvSpPr>
        <p:spPr>
          <a:xfrm>
            <a:off x="3291840" y="4507992"/>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a:t>
            </a:r>
            <a:endParaRPr lang="en-US" sz="1200" dirty="0"/>
          </a:p>
        </p:txBody>
      </p:sp>
      <p:sp>
        <p:nvSpPr>
          <p:cNvPr id="31" name="Text 28"/>
          <p:cNvSpPr txBox="1"/>
          <p:nvPr/>
        </p:nvSpPr>
        <p:spPr>
          <a:xfrm>
            <a:off x="4069080" y="4754880"/>
            <a:ext cx="182880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DROPPED</a:t>
            </a:r>
            <a:endParaRPr lang="en-US" sz="1100" dirty="0"/>
          </a:p>
        </p:txBody>
      </p:sp>
      <p:sp>
        <p:nvSpPr>
          <p:cNvPr id="32" name="Shape 29"/>
          <p:cNvSpPr/>
          <p:nvPr/>
        </p:nvSpPr>
        <p:spPr>
          <a:xfrm>
            <a:off x="2331720" y="4800600"/>
            <a:ext cx="777240" cy="502920"/>
          </a:xfrm>
          <a:prstGeom prst="roundRect">
            <a:avLst>
              <a:gd name="adj" fmla="val 10909"/>
            </a:avLst>
          </a:prstGeom>
          <a:solidFill>
            <a:srgbClr val="FFEDD5"/>
          </a:solidFill>
          <a:ln w="25400">
            <a:solidFill>
              <a:srgbClr val="F97316"/>
            </a:solidFill>
            <a:prstDash val="solid"/>
          </a:ln>
        </p:spPr>
      </p:sp>
      <p:sp>
        <p:nvSpPr>
          <p:cNvPr id="33" name="Text 30"/>
          <p:cNvSpPr txBox="1"/>
          <p:nvPr/>
        </p:nvSpPr>
        <p:spPr>
          <a:xfrm>
            <a:off x="2331720" y="4800600"/>
            <a:ext cx="777240" cy="50292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35</a:t>
            </a:r>
            <a:endParaRPr lang="en-US" sz="1400" dirty="0"/>
          </a:p>
        </p:txBody>
      </p:sp>
      <p:sp>
        <p:nvSpPr>
          <p:cNvPr id="34" name="Shape 31"/>
          <p:cNvSpPr/>
          <p:nvPr/>
        </p:nvSpPr>
        <p:spPr>
          <a:xfrm>
            <a:off x="3246120" y="4800600"/>
            <a:ext cx="777240" cy="502920"/>
          </a:xfrm>
          <a:prstGeom prst="roundRect">
            <a:avLst>
              <a:gd name="adj" fmla="val 10909"/>
            </a:avLst>
          </a:prstGeom>
          <a:solidFill>
            <a:srgbClr val="FFEDD5"/>
          </a:solidFill>
          <a:ln w="25400">
            <a:solidFill>
              <a:srgbClr val="F97316"/>
            </a:solidFill>
            <a:prstDash val="solid"/>
          </a:ln>
        </p:spPr>
      </p:sp>
      <p:sp>
        <p:nvSpPr>
          <p:cNvPr id="35" name="Text 32"/>
          <p:cNvSpPr txBox="1"/>
          <p:nvPr/>
        </p:nvSpPr>
        <p:spPr>
          <a:xfrm>
            <a:off x="3246120" y="4800600"/>
            <a:ext cx="777240" cy="50292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47</a:t>
            </a:r>
            <a:endParaRPr lang="en-US" sz="1400" dirty="0"/>
          </a:p>
        </p:txBody>
      </p:sp>
      <p:sp>
        <p:nvSpPr>
          <p:cNvPr id="36" name="Shape 33"/>
          <p:cNvSpPr/>
          <p:nvPr/>
        </p:nvSpPr>
        <p:spPr>
          <a:xfrm>
            <a:off x="8869680" y="3429000"/>
            <a:ext cx="2560320" cy="1097280"/>
          </a:xfrm>
          <a:prstGeom prst="roundRect">
            <a:avLst>
              <a:gd name="adj" fmla="val 8333"/>
            </a:avLst>
          </a:prstGeom>
          <a:solidFill>
            <a:srgbClr val="F0FDF4"/>
          </a:solidFill>
          <a:ln w="19050">
            <a:solidFill>
              <a:srgbClr val="10B981"/>
            </a:solidFill>
            <a:prstDash val="solid"/>
          </a:ln>
        </p:spPr>
      </p:sp>
      <p:sp>
        <p:nvSpPr>
          <p:cNvPr id="37" name="Text 34"/>
          <p:cNvSpPr txBox="1"/>
          <p:nvPr/>
        </p:nvSpPr>
        <p:spPr>
          <a:xfrm>
            <a:off x="8942832" y="3538728"/>
            <a:ext cx="2414016" cy="329184"/>
          </a:xfrm>
          <a:prstGeom prst="rect">
            <a:avLst/>
          </a:prstGeom>
          <a:noFill/>
          <a:ln/>
        </p:spPr>
        <p:txBody>
          <a:bodyPr wrap="square" rtlCol="0" anchor="t"/>
          <a:lstStyle/>
          <a:p>
            <a:pPr algn="ctr" indent="0" marL="0">
              <a:buNone/>
            </a:pPr>
            <a:r>
              <a:rPr lang="en-US" sz="1500" b="1" dirty="0">
                <a:solidFill>
                  <a:srgbClr val="1E293B"/>
                </a:solidFill>
                <a:latin typeface="Calibri" pitchFamily="34" charset="0"/>
                <a:ea typeface="Calibri" pitchFamily="34" charset="-122"/>
                <a:cs typeface="Calibri" pitchFamily="34" charset="-120"/>
              </a:rPr>
              <a:t>Fewer items</a:t>
            </a:r>
            <a:endParaRPr lang="en-US" sz="1500" dirty="0"/>
          </a:p>
        </p:txBody>
      </p:sp>
      <p:sp>
        <p:nvSpPr>
          <p:cNvPr id="38" name="Text 35"/>
          <p:cNvSpPr txBox="1"/>
          <p:nvPr/>
        </p:nvSpPr>
        <p:spPr>
          <a:xfrm>
            <a:off x="8961120" y="3867912"/>
            <a:ext cx="2377440" cy="58521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same values, nothing changed</a:t>
            </a:r>
            <a:endParaRPr lang="en-US" sz="1300" dirty="0"/>
          </a:p>
        </p:txBody>
      </p:sp>
      <p:sp>
        <p:nvSpPr>
          <p:cNvPr id="39" name="Shape 36"/>
          <p:cNvSpPr/>
          <p:nvPr/>
        </p:nvSpPr>
        <p:spPr>
          <a:xfrm>
            <a:off x="731520" y="5559552"/>
            <a:ext cx="10698480" cy="0"/>
          </a:xfrm>
          <a:prstGeom prst="line">
            <a:avLst/>
          </a:prstGeom>
          <a:noFill/>
          <a:ln w="12700">
            <a:solidFill>
              <a:srgbClr val="E2E8F0"/>
            </a:solidFill>
            <a:prstDash val="solid"/>
          </a:ln>
        </p:spPr>
      </p:sp>
      <p:sp>
        <p:nvSpPr>
          <p:cNvPr id="40" name="Shape 37"/>
          <p:cNvSpPr/>
          <p:nvPr/>
        </p:nvSpPr>
        <p:spPr>
          <a:xfrm>
            <a:off x="777240" y="5650992"/>
            <a:ext cx="475488" cy="475488"/>
          </a:xfrm>
          <a:prstGeom prst="ellipse">
            <a:avLst/>
          </a:prstGeom>
          <a:solidFill>
            <a:srgbClr val="FCE7F3"/>
          </a:solidFill>
          <a:ln w="19050">
            <a:solidFill>
              <a:srgbClr val="EC4899"/>
            </a:solidFill>
            <a:prstDash val="solid"/>
          </a:ln>
        </p:spPr>
      </p:sp>
      <p:pic>
        <p:nvPicPr>
          <p:cNvPr id="41"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42" name="Shape 38"/>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43" name="Shape 39"/>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44" name="Text 40"/>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filter never changes a value. It only decides who stays.</a:t>
            </a:r>
            <a:endParaRPr lang="en-US" sz="1400" dirty="0"/>
          </a:p>
        </p:txBody>
      </p:sp>
      <p:sp>
        <p:nvSpPr>
          <p:cNvPr id="45" name="Text 4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6" name="Text 4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5</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reduce()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cashier adds bill after bill into one running total on the machine. At the end, many bills have turned into a single number.</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reduce() combines all items of a list into one single value by applying a function to two items at a time. It lives in the functools module.</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Totals, products, longest or highest values, and any job that boils a whole list down to one answer.</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REDUCE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A Running Total Builds Up Step by Step</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1847088" cy="1783080"/>
          </a:xfrm>
          <a:prstGeom prst="roundRect">
            <a:avLst>
              <a:gd name="adj" fmla="val 5128"/>
            </a:avLst>
          </a:prstGeom>
          <a:solidFill>
            <a:srgbClr val="F8FAFC"/>
          </a:solidFill>
          <a:ln w="19050">
            <a:solidFill>
              <a:srgbClr val="CBD5E1"/>
            </a:solidFill>
            <a:prstDash val="solid"/>
          </a:ln>
        </p:spPr>
      </p:sp>
      <p:pic>
        <p:nvPicPr>
          <p:cNvPr id="7" name="Image 1" descr="assets/icon2_list_teal.png">    </p:cNvPr>
          <p:cNvPicPr>
            <a:picLocks noChangeAspect="1"/>
          </p:cNvPicPr>
          <p:nvPr/>
        </p:nvPicPr>
        <p:blipFill>
          <a:blip r:embed="rId2"/>
          <a:stretch>
            <a:fillRect/>
          </a:stretch>
        </p:blipFill>
        <p:spPr>
          <a:xfrm>
            <a:off x="1403604" y="2578608"/>
            <a:ext cx="502920" cy="502920"/>
          </a:xfrm>
          <a:prstGeom prst="rect">
            <a:avLst/>
          </a:prstGeom>
        </p:spPr>
      </p:pic>
      <p:sp>
        <p:nvSpPr>
          <p:cNvPr id="8" name="Text 4"/>
          <p:cNvSpPr txBox="1"/>
          <p:nvPr/>
        </p:nvSpPr>
        <p:spPr>
          <a:xfrm>
            <a:off x="804672" y="3145536"/>
            <a:ext cx="1700784"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Start</a:t>
            </a:r>
            <a:endParaRPr lang="en-US" sz="1600" dirty="0"/>
          </a:p>
        </p:txBody>
      </p:sp>
      <p:sp>
        <p:nvSpPr>
          <p:cNvPr id="9" name="Text 5"/>
          <p:cNvSpPr txBox="1"/>
          <p:nvPr/>
        </p:nvSpPr>
        <p:spPr>
          <a:xfrm>
            <a:off x="822960" y="3511296"/>
            <a:ext cx="1664208"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list 10, 20, 30, 40</a:t>
            </a:r>
            <a:endParaRPr lang="en-US" sz="1300" dirty="0"/>
          </a:p>
        </p:txBody>
      </p:sp>
      <p:sp>
        <p:nvSpPr>
          <p:cNvPr id="10" name="Shape 6"/>
          <p:cNvSpPr/>
          <p:nvPr/>
        </p:nvSpPr>
        <p:spPr>
          <a:xfrm>
            <a:off x="2633472" y="3360420"/>
            <a:ext cx="256032" cy="0"/>
          </a:xfrm>
          <a:prstGeom prst="line">
            <a:avLst/>
          </a:prstGeom>
          <a:noFill/>
          <a:ln w="31750">
            <a:solidFill>
              <a:srgbClr val="8B5CF6"/>
            </a:solidFill>
            <a:prstDash val="solid"/>
            <a:tailEnd type="triangle"/>
          </a:ln>
        </p:spPr>
      </p:sp>
      <p:sp>
        <p:nvSpPr>
          <p:cNvPr id="11" name="Shape 7"/>
          <p:cNvSpPr/>
          <p:nvPr/>
        </p:nvSpPr>
        <p:spPr>
          <a:xfrm>
            <a:off x="2944368" y="2468880"/>
            <a:ext cx="1847088" cy="1783080"/>
          </a:xfrm>
          <a:prstGeom prst="roundRect">
            <a:avLst>
              <a:gd name="adj" fmla="val 5128"/>
            </a:avLst>
          </a:prstGeom>
          <a:solidFill>
            <a:srgbClr val="F0FDFA"/>
          </a:solidFill>
          <a:ln w="19050">
            <a:solidFill>
              <a:srgbClr val="14B8A6"/>
            </a:solidFill>
            <a:prstDash val="solid"/>
          </a:ln>
        </p:spPr>
      </p:sp>
      <p:pic>
        <p:nvPicPr>
          <p:cNvPr id="12" name="Image 2" descr="assets/icon2_calc_navy.png">    </p:cNvPr>
          <p:cNvPicPr>
            <a:picLocks noChangeAspect="1"/>
          </p:cNvPicPr>
          <p:nvPr/>
        </p:nvPicPr>
        <p:blipFill>
          <a:blip r:embed="rId3"/>
          <a:stretch>
            <a:fillRect/>
          </a:stretch>
        </p:blipFill>
        <p:spPr>
          <a:xfrm>
            <a:off x="3616452" y="2578608"/>
            <a:ext cx="502920" cy="502920"/>
          </a:xfrm>
          <a:prstGeom prst="rect">
            <a:avLst/>
          </a:prstGeom>
        </p:spPr>
      </p:pic>
      <p:sp>
        <p:nvSpPr>
          <p:cNvPr id="13" name="Text 8"/>
          <p:cNvSpPr txBox="1"/>
          <p:nvPr/>
        </p:nvSpPr>
        <p:spPr>
          <a:xfrm>
            <a:off x="3017520" y="3145536"/>
            <a:ext cx="1700784"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Step 1</a:t>
            </a:r>
            <a:endParaRPr lang="en-US" sz="1600" dirty="0"/>
          </a:p>
        </p:txBody>
      </p:sp>
      <p:sp>
        <p:nvSpPr>
          <p:cNvPr id="14" name="Text 9"/>
          <p:cNvSpPr txBox="1"/>
          <p:nvPr/>
        </p:nvSpPr>
        <p:spPr>
          <a:xfrm>
            <a:off x="3035808" y="3511296"/>
            <a:ext cx="1664208"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10 plus 20 gives 30</a:t>
            </a:r>
            <a:endParaRPr lang="en-US" sz="1300" dirty="0"/>
          </a:p>
        </p:txBody>
      </p:sp>
      <p:sp>
        <p:nvSpPr>
          <p:cNvPr id="15" name="Shape 10"/>
          <p:cNvSpPr/>
          <p:nvPr/>
        </p:nvSpPr>
        <p:spPr>
          <a:xfrm>
            <a:off x="4846320" y="3360420"/>
            <a:ext cx="256032" cy="0"/>
          </a:xfrm>
          <a:prstGeom prst="line">
            <a:avLst/>
          </a:prstGeom>
          <a:noFill/>
          <a:ln w="31750">
            <a:solidFill>
              <a:srgbClr val="8B5CF6"/>
            </a:solidFill>
            <a:prstDash val="solid"/>
            <a:tailEnd type="triangle"/>
          </a:ln>
        </p:spPr>
      </p:sp>
      <p:sp>
        <p:nvSpPr>
          <p:cNvPr id="16" name="Shape 11"/>
          <p:cNvSpPr/>
          <p:nvPr/>
        </p:nvSpPr>
        <p:spPr>
          <a:xfrm>
            <a:off x="5157216" y="2468880"/>
            <a:ext cx="1847088" cy="1783080"/>
          </a:xfrm>
          <a:prstGeom prst="roundRect">
            <a:avLst>
              <a:gd name="adj" fmla="val 5128"/>
            </a:avLst>
          </a:prstGeom>
          <a:solidFill>
            <a:srgbClr val="F5F3FF"/>
          </a:solidFill>
          <a:ln w="19050">
            <a:solidFill>
              <a:srgbClr val="8B5CF6"/>
            </a:solidFill>
            <a:prstDash val="solid"/>
          </a:ln>
        </p:spPr>
      </p:sp>
      <p:pic>
        <p:nvPicPr>
          <p:cNvPr id="17" name="Image 3" descr="assets/icon2_calc_navy.png">    </p:cNvPr>
          <p:cNvPicPr>
            <a:picLocks noChangeAspect="1"/>
          </p:cNvPicPr>
          <p:nvPr/>
        </p:nvPicPr>
        <p:blipFill>
          <a:blip r:embed="rId4"/>
          <a:stretch>
            <a:fillRect/>
          </a:stretch>
        </p:blipFill>
        <p:spPr>
          <a:xfrm>
            <a:off x="5829300" y="2578608"/>
            <a:ext cx="502920" cy="502920"/>
          </a:xfrm>
          <a:prstGeom prst="rect">
            <a:avLst/>
          </a:prstGeom>
        </p:spPr>
      </p:pic>
      <p:sp>
        <p:nvSpPr>
          <p:cNvPr id="18" name="Text 12"/>
          <p:cNvSpPr txBox="1"/>
          <p:nvPr/>
        </p:nvSpPr>
        <p:spPr>
          <a:xfrm>
            <a:off x="5230368" y="3145536"/>
            <a:ext cx="1700784"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Step 2</a:t>
            </a:r>
            <a:endParaRPr lang="en-US" sz="1600" dirty="0"/>
          </a:p>
        </p:txBody>
      </p:sp>
      <p:sp>
        <p:nvSpPr>
          <p:cNvPr id="19" name="Text 13"/>
          <p:cNvSpPr txBox="1"/>
          <p:nvPr/>
        </p:nvSpPr>
        <p:spPr>
          <a:xfrm>
            <a:off x="5248656" y="3511296"/>
            <a:ext cx="1664208"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30 plus 30 gives 60</a:t>
            </a:r>
            <a:endParaRPr lang="en-US" sz="1300" dirty="0"/>
          </a:p>
        </p:txBody>
      </p:sp>
      <p:sp>
        <p:nvSpPr>
          <p:cNvPr id="20" name="Shape 14"/>
          <p:cNvSpPr/>
          <p:nvPr/>
        </p:nvSpPr>
        <p:spPr>
          <a:xfrm>
            <a:off x="7059168" y="3360420"/>
            <a:ext cx="256032" cy="0"/>
          </a:xfrm>
          <a:prstGeom prst="line">
            <a:avLst/>
          </a:prstGeom>
          <a:noFill/>
          <a:ln w="31750">
            <a:solidFill>
              <a:srgbClr val="8B5CF6"/>
            </a:solidFill>
            <a:prstDash val="solid"/>
            <a:tailEnd type="triangle"/>
          </a:ln>
        </p:spPr>
      </p:sp>
      <p:sp>
        <p:nvSpPr>
          <p:cNvPr id="21" name="Shape 15"/>
          <p:cNvSpPr/>
          <p:nvPr/>
        </p:nvSpPr>
        <p:spPr>
          <a:xfrm>
            <a:off x="7370064" y="2468880"/>
            <a:ext cx="1847088" cy="1783080"/>
          </a:xfrm>
          <a:prstGeom prst="roundRect">
            <a:avLst>
              <a:gd name="adj" fmla="val 5128"/>
            </a:avLst>
          </a:prstGeom>
          <a:solidFill>
            <a:srgbClr val="FFF7ED"/>
          </a:solidFill>
          <a:ln w="19050">
            <a:solidFill>
              <a:srgbClr val="F97316"/>
            </a:solidFill>
            <a:prstDash val="solid"/>
          </a:ln>
        </p:spPr>
      </p:sp>
      <p:pic>
        <p:nvPicPr>
          <p:cNvPr id="22" name="Image 4" descr="assets/icon2_calc_navy.png">    </p:cNvPr>
          <p:cNvPicPr>
            <a:picLocks noChangeAspect="1"/>
          </p:cNvPicPr>
          <p:nvPr/>
        </p:nvPicPr>
        <p:blipFill>
          <a:blip r:embed="rId5"/>
          <a:stretch>
            <a:fillRect/>
          </a:stretch>
        </p:blipFill>
        <p:spPr>
          <a:xfrm>
            <a:off x="8042148" y="2578608"/>
            <a:ext cx="502920" cy="502920"/>
          </a:xfrm>
          <a:prstGeom prst="rect">
            <a:avLst/>
          </a:prstGeom>
        </p:spPr>
      </p:pic>
      <p:sp>
        <p:nvSpPr>
          <p:cNvPr id="23" name="Text 16"/>
          <p:cNvSpPr txBox="1"/>
          <p:nvPr/>
        </p:nvSpPr>
        <p:spPr>
          <a:xfrm>
            <a:off x="7443216" y="3145536"/>
            <a:ext cx="1700784"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Step 3</a:t>
            </a:r>
            <a:endParaRPr lang="en-US" sz="1600" dirty="0"/>
          </a:p>
        </p:txBody>
      </p:sp>
      <p:sp>
        <p:nvSpPr>
          <p:cNvPr id="24" name="Text 17"/>
          <p:cNvSpPr txBox="1"/>
          <p:nvPr/>
        </p:nvSpPr>
        <p:spPr>
          <a:xfrm>
            <a:off x="7461504" y="3511296"/>
            <a:ext cx="1664208"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60 plus 40 gives 100</a:t>
            </a:r>
            <a:endParaRPr lang="en-US" sz="1300" dirty="0"/>
          </a:p>
        </p:txBody>
      </p:sp>
      <p:sp>
        <p:nvSpPr>
          <p:cNvPr id="25" name="Shape 18"/>
          <p:cNvSpPr/>
          <p:nvPr/>
        </p:nvSpPr>
        <p:spPr>
          <a:xfrm>
            <a:off x="9272016" y="3360420"/>
            <a:ext cx="256032" cy="0"/>
          </a:xfrm>
          <a:prstGeom prst="line">
            <a:avLst/>
          </a:prstGeom>
          <a:noFill/>
          <a:ln w="31750">
            <a:solidFill>
              <a:srgbClr val="8B5CF6"/>
            </a:solidFill>
            <a:prstDash val="solid"/>
            <a:tailEnd type="triangle"/>
          </a:ln>
        </p:spPr>
      </p:sp>
      <p:sp>
        <p:nvSpPr>
          <p:cNvPr id="26" name="Shape 19"/>
          <p:cNvSpPr/>
          <p:nvPr/>
        </p:nvSpPr>
        <p:spPr>
          <a:xfrm>
            <a:off x="9582912" y="2468880"/>
            <a:ext cx="1847088" cy="1783080"/>
          </a:xfrm>
          <a:prstGeom prst="roundRect">
            <a:avLst>
              <a:gd name="adj" fmla="val 5128"/>
            </a:avLst>
          </a:prstGeom>
          <a:solidFill>
            <a:srgbClr val="F0FDF4"/>
          </a:solidFill>
          <a:ln w="19050">
            <a:solidFill>
              <a:srgbClr val="10B981"/>
            </a:solidFill>
            <a:prstDash val="solid"/>
          </a:ln>
        </p:spPr>
      </p:sp>
      <p:pic>
        <p:nvPicPr>
          <p:cNvPr id="27" name="Image 5" descr="assets/icon2_check_green.png">    </p:cNvPr>
          <p:cNvPicPr>
            <a:picLocks noChangeAspect="1"/>
          </p:cNvPicPr>
          <p:nvPr/>
        </p:nvPicPr>
        <p:blipFill>
          <a:blip r:embed="rId6"/>
          <a:stretch>
            <a:fillRect/>
          </a:stretch>
        </p:blipFill>
        <p:spPr>
          <a:xfrm>
            <a:off x="10254996" y="2578608"/>
            <a:ext cx="502920" cy="502920"/>
          </a:xfrm>
          <a:prstGeom prst="rect">
            <a:avLst/>
          </a:prstGeom>
        </p:spPr>
      </p:pic>
      <p:sp>
        <p:nvSpPr>
          <p:cNvPr id="28" name="Text 20"/>
          <p:cNvSpPr txBox="1"/>
          <p:nvPr/>
        </p:nvSpPr>
        <p:spPr>
          <a:xfrm>
            <a:off x="9656064" y="3145536"/>
            <a:ext cx="1700784"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Result</a:t>
            </a:r>
            <a:endParaRPr lang="en-US" sz="1600" dirty="0"/>
          </a:p>
        </p:txBody>
      </p:sp>
      <p:sp>
        <p:nvSpPr>
          <p:cNvPr id="29" name="Text 21"/>
          <p:cNvSpPr txBox="1"/>
          <p:nvPr/>
        </p:nvSpPr>
        <p:spPr>
          <a:xfrm>
            <a:off x="9674352" y="3511296"/>
            <a:ext cx="1664208"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one value: 100</a:t>
            </a:r>
            <a:endParaRPr lang="en-US" sz="1300" dirty="0"/>
          </a:p>
        </p:txBody>
      </p:sp>
      <p:sp>
        <p:nvSpPr>
          <p:cNvPr id="30" name="Shape 22"/>
          <p:cNvSpPr/>
          <p:nvPr/>
        </p:nvSpPr>
        <p:spPr>
          <a:xfrm>
            <a:off x="731520" y="4480560"/>
            <a:ext cx="5212080" cy="868680"/>
          </a:xfrm>
          <a:prstGeom prst="roundRect">
            <a:avLst>
              <a:gd name="adj" fmla="val 10526"/>
            </a:avLst>
          </a:prstGeom>
          <a:solidFill>
            <a:srgbClr val="F8FAFC"/>
          </a:solidFill>
          <a:ln w="19050">
            <a:solidFill>
              <a:srgbClr val="CBD5E1"/>
            </a:solidFill>
            <a:prstDash val="solid"/>
          </a:ln>
        </p:spPr>
      </p:sp>
      <p:sp>
        <p:nvSpPr>
          <p:cNvPr id="31" name="Text 23"/>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Same idea for a product</a:t>
            </a:r>
            <a:endParaRPr lang="en-US" sz="1550" dirty="0"/>
          </a:p>
        </p:txBody>
      </p:sp>
      <p:sp>
        <p:nvSpPr>
          <p:cNvPr id="32" name="Text 24"/>
          <p:cNvSpPr txBox="1"/>
          <p:nvPr/>
        </p:nvSpPr>
        <p:spPr>
          <a:xfrm>
            <a:off x="8229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1 to 5 multiplied together gives 120</a:t>
            </a:r>
            <a:endParaRPr lang="en-US" sz="1350" dirty="0"/>
          </a:p>
        </p:txBody>
      </p:sp>
      <p:sp>
        <p:nvSpPr>
          <p:cNvPr id="33" name="Shape 25"/>
          <p:cNvSpPr/>
          <p:nvPr/>
        </p:nvSpPr>
        <p:spPr>
          <a:xfrm>
            <a:off x="6217920" y="4480560"/>
            <a:ext cx="5212080" cy="868680"/>
          </a:xfrm>
          <a:prstGeom prst="roundRect">
            <a:avLst>
              <a:gd name="adj" fmla="val 10526"/>
            </a:avLst>
          </a:prstGeom>
          <a:solidFill>
            <a:srgbClr val="F8FAFC"/>
          </a:solidFill>
          <a:ln w="19050">
            <a:solidFill>
              <a:srgbClr val="CBD5E1"/>
            </a:solidFill>
            <a:prstDash val="solid"/>
          </a:ln>
        </p:spPr>
      </p:sp>
      <p:sp>
        <p:nvSpPr>
          <p:cNvPr id="34" name="Text 26"/>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Comes from functools</a:t>
            </a:r>
            <a:endParaRPr lang="en-US" sz="1550" dirty="0"/>
          </a:p>
        </p:txBody>
      </p:sp>
      <p:sp>
        <p:nvSpPr>
          <p:cNvPr id="35" name="Text 27"/>
          <p:cNvSpPr txBox="1"/>
          <p:nvPr/>
        </p:nvSpPr>
        <p:spPr>
          <a:xfrm>
            <a:off x="63093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bring it in with an import before use</a:t>
            </a:r>
            <a:endParaRPr lang="en-US" sz="1350" dirty="0"/>
          </a:p>
        </p:txBody>
      </p:sp>
      <p:sp>
        <p:nvSpPr>
          <p:cNvPr id="36" name="Shape 28"/>
          <p:cNvSpPr/>
          <p:nvPr/>
        </p:nvSpPr>
        <p:spPr>
          <a:xfrm>
            <a:off x="731520" y="5559552"/>
            <a:ext cx="10698480" cy="0"/>
          </a:xfrm>
          <a:prstGeom prst="line">
            <a:avLst/>
          </a:prstGeom>
          <a:noFill/>
          <a:ln w="12700">
            <a:solidFill>
              <a:srgbClr val="E2E8F0"/>
            </a:solidFill>
            <a:prstDash val="solid"/>
          </a:ln>
        </p:spPr>
      </p:sp>
      <p:sp>
        <p:nvSpPr>
          <p:cNvPr id="37" name="Shape 29"/>
          <p:cNvSpPr/>
          <p:nvPr/>
        </p:nvSpPr>
        <p:spPr>
          <a:xfrm>
            <a:off x="777240" y="5650992"/>
            <a:ext cx="475488" cy="475488"/>
          </a:xfrm>
          <a:prstGeom prst="ellipse">
            <a:avLst/>
          </a:prstGeom>
          <a:solidFill>
            <a:srgbClr val="FCE7F3"/>
          </a:solidFill>
          <a:ln w="19050">
            <a:solidFill>
              <a:srgbClr val="EC4899"/>
            </a:solidFill>
            <a:prstDash val="solid"/>
          </a:ln>
        </p:spPr>
      </p:sp>
      <p:pic>
        <p:nvPicPr>
          <p:cNvPr id="38" name="Image 6" descr="assets/icon2_user_pink.png">    </p:cNvPr>
          <p:cNvPicPr>
            <a:picLocks noChangeAspect="1"/>
          </p:cNvPicPr>
          <p:nvPr/>
        </p:nvPicPr>
        <p:blipFill>
          <a:blip r:embed="rId7"/>
          <a:stretch>
            <a:fillRect/>
          </a:stretch>
        </p:blipFill>
        <p:spPr>
          <a:xfrm>
            <a:off x="872338" y="5746090"/>
            <a:ext cx="285293" cy="285293"/>
          </a:xfrm>
          <a:prstGeom prst="rect">
            <a:avLst/>
          </a:prstGeom>
        </p:spPr>
      </p:pic>
      <p:sp>
        <p:nvSpPr>
          <p:cNvPr id="39" name="Shape 3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40" name="Shape 3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41" name="Text 3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reduce keeps carrying the answer so far into the next step.</a:t>
            </a:r>
            <a:endParaRPr lang="en-US" sz="1400" dirty="0"/>
          </a:p>
        </p:txBody>
      </p:sp>
      <p:sp>
        <p:nvSpPr>
          <p:cNvPr id="42" name="Text 3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3" name="Text 3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MAP, FILTER AND REDUCE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Same List 1 to 5, Three Different Jobs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13760" cy="3108960"/>
          </a:xfrm>
          <a:prstGeom prst="roundRect">
            <a:avLst>
              <a:gd name="adj" fmla="val 2941"/>
            </a:avLst>
          </a:prstGeom>
          <a:solidFill>
            <a:srgbClr val="F5F3FF"/>
          </a:solidFill>
          <a:ln w="19050">
            <a:solidFill>
              <a:srgbClr val="8B5CF6"/>
            </a:solidFill>
            <a:prstDash val="solid"/>
          </a:ln>
        </p:spPr>
      </p:sp>
      <p:pic>
        <p:nvPicPr>
          <p:cNvPr id="7" name="Image 1" descr="assets/icon2_shuffle_purple.png">    </p:cNvPr>
          <p:cNvPicPr>
            <a:picLocks noChangeAspect="1"/>
          </p:cNvPicPr>
          <p:nvPr/>
        </p:nvPicPr>
        <p:blipFill>
          <a:blip r:embed="rId2"/>
          <a:stretch>
            <a:fillRect/>
          </a:stretch>
        </p:blipFill>
        <p:spPr>
          <a:xfrm>
            <a:off x="2186940" y="2505456"/>
            <a:ext cx="502920" cy="502920"/>
          </a:xfrm>
          <a:prstGeom prst="rect">
            <a:avLst/>
          </a:prstGeom>
        </p:spPr>
      </p:pic>
      <p:sp>
        <p:nvSpPr>
          <p:cNvPr id="8" name="Text 4"/>
          <p:cNvSpPr txBox="1"/>
          <p:nvPr/>
        </p:nvSpPr>
        <p:spPr>
          <a:xfrm>
            <a:off x="80467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map</a:t>
            </a:r>
            <a:endParaRPr lang="en-US" sz="1900" dirty="0"/>
          </a:p>
        </p:txBody>
      </p:sp>
      <p:sp>
        <p:nvSpPr>
          <p:cNvPr id="9" name="Text 5"/>
          <p:cNvSpPr txBox="1"/>
          <p:nvPr/>
        </p:nvSpPr>
        <p:spPr>
          <a:xfrm>
            <a:off x="82296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Changes every item. Same number of items come out.</a:t>
            </a:r>
            <a:endParaRPr lang="en-US" sz="1450" dirty="0"/>
          </a:p>
        </p:txBody>
      </p:sp>
      <p:sp>
        <p:nvSpPr>
          <p:cNvPr id="10" name="Shape 6"/>
          <p:cNvSpPr/>
          <p:nvPr/>
        </p:nvSpPr>
        <p:spPr>
          <a:xfrm>
            <a:off x="960120" y="5001768"/>
            <a:ext cx="2956560" cy="384048"/>
          </a:xfrm>
          <a:prstGeom prst="roundRect">
            <a:avLst>
              <a:gd name="adj" fmla="val 14286"/>
            </a:avLst>
          </a:prstGeom>
          <a:solidFill>
            <a:srgbClr val="F5F3FF"/>
          </a:solidFill>
          <a:ln w="19050">
            <a:solidFill>
              <a:srgbClr val="8B5CF6"/>
            </a:solidFill>
            <a:prstDash val="solid"/>
          </a:ln>
        </p:spPr>
      </p:sp>
      <p:sp>
        <p:nvSpPr>
          <p:cNvPr id="11" name="Text 7"/>
          <p:cNvSpPr txBox="1"/>
          <p:nvPr/>
        </p:nvSpPr>
        <p:spPr>
          <a:xfrm>
            <a:off x="96012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double each: 2 4 6 8 10</a:t>
            </a:r>
            <a:endParaRPr lang="en-US" sz="1250" dirty="0"/>
          </a:p>
        </p:txBody>
      </p:sp>
      <p:sp>
        <p:nvSpPr>
          <p:cNvPr id="12" name="Shape 8"/>
          <p:cNvSpPr/>
          <p:nvPr/>
        </p:nvSpPr>
        <p:spPr>
          <a:xfrm>
            <a:off x="4373880" y="2395728"/>
            <a:ext cx="3413760" cy="3108960"/>
          </a:xfrm>
          <a:prstGeom prst="roundRect">
            <a:avLst>
              <a:gd name="adj" fmla="val 2941"/>
            </a:avLst>
          </a:prstGeom>
          <a:solidFill>
            <a:srgbClr val="FFF7ED"/>
          </a:solidFill>
          <a:ln w="19050">
            <a:solidFill>
              <a:srgbClr val="F97316"/>
            </a:solidFill>
            <a:prstDash val="solid"/>
          </a:ln>
        </p:spPr>
      </p:sp>
      <p:pic>
        <p:nvPicPr>
          <p:cNvPr id="13" name="Image 2" descr="assets/icon2_filter_orange.png">    </p:cNvPr>
          <p:cNvPicPr>
            <a:picLocks noChangeAspect="1"/>
          </p:cNvPicPr>
          <p:nvPr/>
        </p:nvPicPr>
        <p:blipFill>
          <a:blip r:embed="rId3"/>
          <a:stretch>
            <a:fillRect/>
          </a:stretch>
        </p:blipFill>
        <p:spPr>
          <a:xfrm>
            <a:off x="5829300" y="2505456"/>
            <a:ext cx="502920" cy="502920"/>
          </a:xfrm>
          <a:prstGeom prst="rect">
            <a:avLst/>
          </a:prstGeom>
        </p:spPr>
      </p:pic>
      <p:sp>
        <p:nvSpPr>
          <p:cNvPr id="14" name="Text 9"/>
          <p:cNvSpPr txBox="1"/>
          <p:nvPr/>
        </p:nvSpPr>
        <p:spPr>
          <a:xfrm>
            <a:off x="444703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filter</a:t>
            </a:r>
            <a:endParaRPr lang="en-US" sz="1900" dirty="0"/>
          </a:p>
        </p:txBody>
      </p:sp>
      <p:sp>
        <p:nvSpPr>
          <p:cNvPr id="15" name="Text 10"/>
          <p:cNvSpPr txBox="1"/>
          <p:nvPr/>
        </p:nvSpPr>
        <p:spPr>
          <a:xfrm>
            <a:off x="446532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Keeps only some items. Values are not changed.</a:t>
            </a:r>
            <a:endParaRPr lang="en-US" sz="1450" dirty="0"/>
          </a:p>
        </p:txBody>
      </p:sp>
      <p:sp>
        <p:nvSpPr>
          <p:cNvPr id="16" name="Shape 11"/>
          <p:cNvSpPr/>
          <p:nvPr/>
        </p:nvSpPr>
        <p:spPr>
          <a:xfrm>
            <a:off x="4602480" y="5001768"/>
            <a:ext cx="2956560" cy="384048"/>
          </a:xfrm>
          <a:prstGeom prst="roundRect">
            <a:avLst>
              <a:gd name="adj" fmla="val 14286"/>
            </a:avLst>
          </a:prstGeom>
          <a:solidFill>
            <a:srgbClr val="FFEDD5"/>
          </a:solidFill>
          <a:ln w="25400">
            <a:solidFill>
              <a:srgbClr val="F97316"/>
            </a:solidFill>
            <a:prstDash val="solid"/>
          </a:ln>
        </p:spPr>
      </p:sp>
      <p:sp>
        <p:nvSpPr>
          <p:cNvPr id="17" name="Text 12"/>
          <p:cNvSpPr txBox="1"/>
          <p:nvPr/>
        </p:nvSpPr>
        <p:spPr>
          <a:xfrm>
            <a:off x="460248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even only: 2 4</a:t>
            </a:r>
            <a:endParaRPr lang="en-US" sz="1250" dirty="0"/>
          </a:p>
        </p:txBody>
      </p:sp>
      <p:sp>
        <p:nvSpPr>
          <p:cNvPr id="18" name="Shape 13"/>
          <p:cNvSpPr/>
          <p:nvPr/>
        </p:nvSpPr>
        <p:spPr>
          <a:xfrm>
            <a:off x="8016240" y="2395728"/>
            <a:ext cx="3413760" cy="3108960"/>
          </a:xfrm>
          <a:prstGeom prst="roundRect">
            <a:avLst>
              <a:gd name="adj" fmla="val 2941"/>
            </a:avLst>
          </a:prstGeom>
          <a:solidFill>
            <a:srgbClr val="F0FDFA"/>
          </a:solidFill>
          <a:ln w="19050">
            <a:solidFill>
              <a:srgbClr val="14B8A6"/>
            </a:solidFill>
            <a:prstDash val="solid"/>
          </a:ln>
        </p:spPr>
      </p:sp>
      <p:pic>
        <p:nvPicPr>
          <p:cNvPr id="19" name="Image 3" descr="assets/icon2_sigma_navy.png">    </p:cNvPr>
          <p:cNvPicPr>
            <a:picLocks noChangeAspect="1"/>
          </p:cNvPicPr>
          <p:nvPr/>
        </p:nvPicPr>
        <p:blipFill>
          <a:blip r:embed="rId4"/>
          <a:stretch>
            <a:fillRect/>
          </a:stretch>
        </p:blipFill>
        <p:spPr>
          <a:xfrm>
            <a:off x="9471660" y="2505456"/>
            <a:ext cx="502920" cy="502920"/>
          </a:xfrm>
          <a:prstGeom prst="rect">
            <a:avLst/>
          </a:prstGeom>
        </p:spPr>
      </p:pic>
      <p:sp>
        <p:nvSpPr>
          <p:cNvPr id="20" name="Text 14"/>
          <p:cNvSpPr txBox="1"/>
          <p:nvPr/>
        </p:nvSpPr>
        <p:spPr>
          <a:xfrm>
            <a:off x="808939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reduce</a:t>
            </a:r>
            <a:endParaRPr lang="en-US" sz="1900" dirty="0"/>
          </a:p>
        </p:txBody>
      </p:sp>
      <p:sp>
        <p:nvSpPr>
          <p:cNvPr id="21" name="Text 15"/>
          <p:cNvSpPr txBox="1"/>
          <p:nvPr/>
        </p:nvSpPr>
        <p:spPr>
          <a:xfrm>
            <a:off x="810768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Combines everything into one single value.</a:t>
            </a:r>
            <a:endParaRPr lang="en-US" sz="1450" dirty="0"/>
          </a:p>
        </p:txBody>
      </p:sp>
      <p:sp>
        <p:nvSpPr>
          <p:cNvPr id="22" name="Shape 16"/>
          <p:cNvSpPr/>
          <p:nvPr/>
        </p:nvSpPr>
        <p:spPr>
          <a:xfrm>
            <a:off x="8244840" y="5001768"/>
            <a:ext cx="2956560" cy="384048"/>
          </a:xfrm>
          <a:prstGeom prst="roundRect">
            <a:avLst>
              <a:gd name="adj" fmla="val 14286"/>
            </a:avLst>
          </a:prstGeom>
          <a:solidFill>
            <a:srgbClr val="CCFBF1"/>
          </a:solidFill>
          <a:ln w="25400">
            <a:solidFill>
              <a:srgbClr val="14B8A6"/>
            </a:solidFill>
            <a:prstDash val="solid"/>
          </a:ln>
        </p:spPr>
      </p:sp>
      <p:sp>
        <p:nvSpPr>
          <p:cNvPr id="23" name="Text 17"/>
          <p:cNvSpPr txBox="1"/>
          <p:nvPr/>
        </p:nvSpPr>
        <p:spPr>
          <a:xfrm>
            <a:off x="824484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total: 15</a:t>
            </a:r>
            <a:endParaRPr lang="en-US" sz="1250" dirty="0"/>
          </a:p>
        </p:txBody>
      </p:sp>
      <p:sp>
        <p:nvSpPr>
          <p:cNvPr id="24" name="Shape 18"/>
          <p:cNvSpPr/>
          <p:nvPr/>
        </p:nvSpPr>
        <p:spPr>
          <a:xfrm>
            <a:off x="731520" y="5559552"/>
            <a:ext cx="10698480" cy="0"/>
          </a:xfrm>
          <a:prstGeom prst="line">
            <a:avLst/>
          </a:prstGeom>
          <a:noFill/>
          <a:ln w="12700">
            <a:solidFill>
              <a:srgbClr val="E2E8F0"/>
            </a:solidFill>
            <a:prstDash val="solid"/>
          </a:ln>
        </p:spPr>
      </p:sp>
      <p:sp>
        <p:nvSpPr>
          <p:cNvPr id="25" name="Shape 19"/>
          <p:cNvSpPr/>
          <p:nvPr/>
        </p:nvSpPr>
        <p:spPr>
          <a:xfrm>
            <a:off x="777240" y="5650992"/>
            <a:ext cx="475488" cy="475488"/>
          </a:xfrm>
          <a:prstGeom prst="ellipse">
            <a:avLst/>
          </a:prstGeom>
          <a:solidFill>
            <a:srgbClr val="FCE7F3"/>
          </a:solidFill>
          <a:ln w="19050">
            <a:solidFill>
              <a:srgbClr val="EC4899"/>
            </a:solidFill>
            <a:prstDash val="solid"/>
          </a:ln>
        </p:spPr>
      </p:sp>
      <p:pic>
        <p:nvPicPr>
          <p:cNvPr id="26"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7" name="Shape 2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8" name="Shape 2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9" name="Text 2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Ask yourself: change all, keep some, or combine into one?</a:t>
            </a:r>
            <a:endParaRPr lang="en-US" sz="1400" dirty="0"/>
          </a:p>
        </p:txBody>
      </p:sp>
      <p:sp>
        <p:nvSpPr>
          <p:cNvPr id="30" name="Text 2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1" name="Text 2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6</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len, sum, min, max and sorted</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shop manager looks at the day's sales sheet and quickly asks how many bills, what is the total, which was smallest, which was biggest, and what is the order from low to high.</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These built in functions answer common questions about a collection. len counts, sum adds, min and max find the smallest and largest, and sorted gives a new ordered list.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Reports, dashboards and data checks. Almost every data program uses them in its first few lines.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BUILT IN HELPERS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Quick Answers About a List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31720"/>
            <a:ext cx="4206240" cy="502920"/>
          </a:xfrm>
          <a:prstGeom prst="roundRect">
            <a:avLst>
              <a:gd name="adj" fmla="val 10909"/>
            </a:avLst>
          </a:prstGeom>
          <a:solidFill>
            <a:srgbClr val="F1F5F9"/>
          </a:solidFill>
          <a:ln w="12700">
            <a:solidFill>
              <a:srgbClr val="CBD5E1"/>
            </a:solidFill>
            <a:prstDash val="solid"/>
          </a:ln>
        </p:spPr>
      </p:sp>
      <p:sp>
        <p:nvSpPr>
          <p:cNvPr id="7" name="Text 4"/>
          <p:cNvSpPr txBox="1"/>
          <p:nvPr/>
        </p:nvSpPr>
        <p:spPr>
          <a:xfrm>
            <a:off x="731520" y="2331720"/>
            <a:ext cx="4206240" cy="50292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marks: 72, 45, 88, 60</a:t>
            </a:r>
            <a:endParaRPr lang="en-US" sz="1400" dirty="0"/>
          </a:p>
        </p:txBody>
      </p:sp>
      <p:sp>
        <p:nvSpPr>
          <p:cNvPr id="8" name="Shape 5"/>
          <p:cNvSpPr/>
          <p:nvPr/>
        </p:nvSpPr>
        <p:spPr>
          <a:xfrm>
            <a:off x="731520" y="3063240"/>
            <a:ext cx="3474720" cy="1051560"/>
          </a:xfrm>
          <a:prstGeom prst="roundRect">
            <a:avLst>
              <a:gd name="adj" fmla="val 8696"/>
            </a:avLst>
          </a:prstGeom>
          <a:solidFill>
            <a:srgbClr val="F0FDFA"/>
          </a:solidFill>
          <a:ln w="19050">
            <a:solidFill>
              <a:srgbClr val="14B8A6"/>
            </a:solidFill>
            <a:prstDash val="solid"/>
          </a:ln>
        </p:spPr>
      </p:sp>
      <p:sp>
        <p:nvSpPr>
          <p:cNvPr id="9" name="Text 6"/>
          <p:cNvSpPr txBox="1"/>
          <p:nvPr/>
        </p:nvSpPr>
        <p:spPr>
          <a:xfrm>
            <a:off x="777240" y="3063240"/>
            <a:ext cx="914400" cy="1051560"/>
          </a:xfrm>
          <a:prstGeom prst="rect">
            <a:avLst/>
          </a:prstGeom>
          <a:noFill/>
          <a:ln/>
        </p:spPr>
        <p:txBody>
          <a:bodyPr wrap="square" rtlCol="0" anchor="ctr"/>
          <a:lstStyle/>
          <a:p>
            <a:pPr algn="ctr" indent="0" marL="0">
              <a:buNone/>
            </a:pPr>
            <a:r>
              <a:rPr lang="en-US" sz="1800" b="1" dirty="0">
                <a:solidFill>
                  <a:srgbClr val="14B8A6"/>
                </a:solidFill>
                <a:latin typeface="Consolas" pitchFamily="34" charset="0"/>
                <a:ea typeface="Consolas" pitchFamily="34" charset="-122"/>
                <a:cs typeface="Consolas" pitchFamily="34" charset="-120"/>
              </a:rPr>
              <a:t>len</a:t>
            </a:r>
            <a:endParaRPr lang="en-US" sz="1800" dirty="0"/>
          </a:p>
        </p:txBody>
      </p:sp>
      <p:sp>
        <p:nvSpPr>
          <p:cNvPr id="10" name="Text 7"/>
          <p:cNvSpPr txBox="1"/>
          <p:nvPr/>
        </p:nvSpPr>
        <p:spPr>
          <a:xfrm>
            <a:off x="1691640" y="3063240"/>
            <a:ext cx="2423160" cy="1051560"/>
          </a:xfrm>
          <a:prstGeom prst="rect">
            <a:avLst/>
          </a:prstGeom>
          <a:noFill/>
          <a:ln/>
        </p:spPr>
        <p:txBody>
          <a:bodyPr wrap="square"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Count of items</a:t>
            </a:r>
            <a:endParaRPr lang="en-US" sz="1450" dirty="0"/>
          </a:p>
          <a:p>
            <a:pPr indent="0" marL="0">
              <a:buNone/>
            </a:pPr>
            <a:r>
              <a:rPr lang="en-US" sz="1300" dirty="0">
                <a:solidFill>
                  <a:srgbClr val="64748B"/>
                </a:solidFill>
                <a:latin typeface="Calibri" pitchFamily="34" charset="0"/>
                <a:ea typeface="Calibri" pitchFamily="34" charset="-122"/>
                <a:cs typeface="Calibri" pitchFamily="34" charset="-120"/>
              </a:rPr>
              <a:t>4</a:t>
            </a:r>
            <a:endParaRPr lang="en-US" sz="1450" dirty="0"/>
          </a:p>
        </p:txBody>
      </p:sp>
      <p:sp>
        <p:nvSpPr>
          <p:cNvPr id="11" name="Shape 8"/>
          <p:cNvSpPr/>
          <p:nvPr/>
        </p:nvSpPr>
        <p:spPr>
          <a:xfrm>
            <a:off x="4343400" y="3063240"/>
            <a:ext cx="3474720" cy="1051560"/>
          </a:xfrm>
          <a:prstGeom prst="roundRect">
            <a:avLst>
              <a:gd name="adj" fmla="val 8696"/>
            </a:avLst>
          </a:prstGeom>
          <a:solidFill>
            <a:srgbClr val="F5F3FF"/>
          </a:solidFill>
          <a:ln w="19050">
            <a:solidFill>
              <a:srgbClr val="8B5CF6"/>
            </a:solidFill>
            <a:prstDash val="solid"/>
          </a:ln>
        </p:spPr>
      </p:sp>
      <p:sp>
        <p:nvSpPr>
          <p:cNvPr id="12" name="Text 9"/>
          <p:cNvSpPr txBox="1"/>
          <p:nvPr/>
        </p:nvSpPr>
        <p:spPr>
          <a:xfrm>
            <a:off x="4389120" y="3063240"/>
            <a:ext cx="914400" cy="1051560"/>
          </a:xfrm>
          <a:prstGeom prst="rect">
            <a:avLst/>
          </a:prstGeom>
          <a:noFill/>
          <a:ln/>
        </p:spPr>
        <p:txBody>
          <a:bodyPr wrap="square" rtlCol="0" anchor="ctr"/>
          <a:lstStyle/>
          <a:p>
            <a:pPr algn="ctr" indent="0" marL="0">
              <a:buNone/>
            </a:pPr>
            <a:r>
              <a:rPr lang="en-US" sz="1800" b="1" dirty="0">
                <a:solidFill>
                  <a:srgbClr val="8B5CF6"/>
                </a:solidFill>
                <a:latin typeface="Consolas" pitchFamily="34" charset="0"/>
                <a:ea typeface="Consolas" pitchFamily="34" charset="-122"/>
                <a:cs typeface="Consolas" pitchFamily="34" charset="-120"/>
              </a:rPr>
              <a:t>sum</a:t>
            </a:r>
            <a:endParaRPr lang="en-US" sz="1800" dirty="0"/>
          </a:p>
        </p:txBody>
      </p:sp>
      <p:sp>
        <p:nvSpPr>
          <p:cNvPr id="13" name="Text 10"/>
          <p:cNvSpPr txBox="1"/>
          <p:nvPr/>
        </p:nvSpPr>
        <p:spPr>
          <a:xfrm>
            <a:off x="5303520" y="3063240"/>
            <a:ext cx="2423160" cy="1051560"/>
          </a:xfrm>
          <a:prstGeom prst="rect">
            <a:avLst/>
          </a:prstGeom>
          <a:noFill/>
          <a:ln/>
        </p:spPr>
        <p:txBody>
          <a:bodyPr wrap="square"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Total of items</a:t>
            </a:r>
            <a:endParaRPr lang="en-US" sz="1450" dirty="0"/>
          </a:p>
          <a:p>
            <a:pPr indent="0" marL="0">
              <a:buNone/>
            </a:pPr>
            <a:r>
              <a:rPr lang="en-US" sz="1300" dirty="0">
                <a:solidFill>
                  <a:srgbClr val="64748B"/>
                </a:solidFill>
                <a:latin typeface="Calibri" pitchFamily="34" charset="0"/>
                <a:ea typeface="Calibri" pitchFamily="34" charset="-122"/>
                <a:cs typeface="Calibri" pitchFamily="34" charset="-120"/>
              </a:rPr>
              <a:t>265</a:t>
            </a:r>
            <a:endParaRPr lang="en-US" sz="1450" dirty="0"/>
          </a:p>
        </p:txBody>
      </p:sp>
      <p:sp>
        <p:nvSpPr>
          <p:cNvPr id="14" name="Shape 11"/>
          <p:cNvSpPr/>
          <p:nvPr/>
        </p:nvSpPr>
        <p:spPr>
          <a:xfrm>
            <a:off x="7955280" y="3063240"/>
            <a:ext cx="3474720" cy="1051560"/>
          </a:xfrm>
          <a:prstGeom prst="roundRect">
            <a:avLst>
              <a:gd name="adj" fmla="val 8696"/>
            </a:avLst>
          </a:prstGeom>
          <a:solidFill>
            <a:srgbClr val="FFF7ED"/>
          </a:solidFill>
          <a:ln w="19050">
            <a:solidFill>
              <a:srgbClr val="F97316"/>
            </a:solidFill>
            <a:prstDash val="solid"/>
          </a:ln>
        </p:spPr>
      </p:sp>
      <p:sp>
        <p:nvSpPr>
          <p:cNvPr id="15" name="Text 12"/>
          <p:cNvSpPr txBox="1"/>
          <p:nvPr/>
        </p:nvSpPr>
        <p:spPr>
          <a:xfrm>
            <a:off x="8001000" y="3063240"/>
            <a:ext cx="914400" cy="1051560"/>
          </a:xfrm>
          <a:prstGeom prst="rect">
            <a:avLst/>
          </a:prstGeom>
          <a:noFill/>
          <a:ln/>
        </p:spPr>
        <p:txBody>
          <a:bodyPr wrap="square" rtlCol="0" anchor="ctr"/>
          <a:lstStyle/>
          <a:p>
            <a:pPr algn="ctr" indent="0" marL="0">
              <a:buNone/>
            </a:pPr>
            <a:r>
              <a:rPr lang="en-US" sz="1800" b="1" dirty="0">
                <a:solidFill>
                  <a:srgbClr val="F97316"/>
                </a:solidFill>
                <a:latin typeface="Consolas" pitchFamily="34" charset="0"/>
                <a:ea typeface="Consolas" pitchFamily="34" charset="-122"/>
                <a:cs typeface="Consolas" pitchFamily="34" charset="-120"/>
              </a:rPr>
              <a:t>min</a:t>
            </a:r>
            <a:endParaRPr lang="en-US" sz="1800" dirty="0"/>
          </a:p>
        </p:txBody>
      </p:sp>
      <p:sp>
        <p:nvSpPr>
          <p:cNvPr id="16" name="Text 13"/>
          <p:cNvSpPr txBox="1"/>
          <p:nvPr/>
        </p:nvSpPr>
        <p:spPr>
          <a:xfrm>
            <a:off x="8915400" y="3063240"/>
            <a:ext cx="2423160" cy="1051560"/>
          </a:xfrm>
          <a:prstGeom prst="rect">
            <a:avLst/>
          </a:prstGeom>
          <a:noFill/>
          <a:ln/>
        </p:spPr>
        <p:txBody>
          <a:bodyPr wrap="square"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Smallest item</a:t>
            </a:r>
            <a:endParaRPr lang="en-US" sz="1450" dirty="0"/>
          </a:p>
          <a:p>
            <a:pPr indent="0" marL="0">
              <a:buNone/>
            </a:pPr>
            <a:r>
              <a:rPr lang="en-US" sz="1300" dirty="0">
                <a:solidFill>
                  <a:srgbClr val="64748B"/>
                </a:solidFill>
                <a:latin typeface="Calibri" pitchFamily="34" charset="0"/>
                <a:ea typeface="Calibri" pitchFamily="34" charset="-122"/>
                <a:cs typeface="Calibri" pitchFamily="34" charset="-120"/>
              </a:rPr>
              <a:t>45</a:t>
            </a:r>
            <a:endParaRPr lang="en-US" sz="1450" dirty="0"/>
          </a:p>
        </p:txBody>
      </p:sp>
      <p:sp>
        <p:nvSpPr>
          <p:cNvPr id="17" name="Shape 14"/>
          <p:cNvSpPr/>
          <p:nvPr/>
        </p:nvSpPr>
        <p:spPr>
          <a:xfrm>
            <a:off x="731520" y="4251960"/>
            <a:ext cx="3474720" cy="1051560"/>
          </a:xfrm>
          <a:prstGeom prst="roundRect">
            <a:avLst>
              <a:gd name="adj" fmla="val 8696"/>
            </a:avLst>
          </a:prstGeom>
          <a:solidFill>
            <a:srgbClr val="F0FDF4"/>
          </a:solidFill>
          <a:ln w="19050">
            <a:solidFill>
              <a:srgbClr val="10B981"/>
            </a:solidFill>
            <a:prstDash val="solid"/>
          </a:ln>
        </p:spPr>
      </p:sp>
      <p:sp>
        <p:nvSpPr>
          <p:cNvPr id="18" name="Text 15"/>
          <p:cNvSpPr txBox="1"/>
          <p:nvPr/>
        </p:nvSpPr>
        <p:spPr>
          <a:xfrm>
            <a:off x="777240" y="4251960"/>
            <a:ext cx="914400" cy="1051560"/>
          </a:xfrm>
          <a:prstGeom prst="rect">
            <a:avLst/>
          </a:prstGeom>
          <a:noFill/>
          <a:ln/>
        </p:spPr>
        <p:txBody>
          <a:bodyPr wrap="square" rtlCol="0" anchor="ctr"/>
          <a:lstStyle/>
          <a:p>
            <a:pPr algn="ctr" indent="0" marL="0">
              <a:buNone/>
            </a:pPr>
            <a:r>
              <a:rPr lang="en-US" sz="1800" b="1" dirty="0">
                <a:solidFill>
                  <a:srgbClr val="10B981"/>
                </a:solidFill>
                <a:latin typeface="Consolas" pitchFamily="34" charset="0"/>
                <a:ea typeface="Consolas" pitchFamily="34" charset="-122"/>
                <a:cs typeface="Consolas" pitchFamily="34" charset="-120"/>
              </a:rPr>
              <a:t>max</a:t>
            </a:r>
            <a:endParaRPr lang="en-US" sz="1800" dirty="0"/>
          </a:p>
        </p:txBody>
      </p:sp>
      <p:sp>
        <p:nvSpPr>
          <p:cNvPr id="19" name="Text 16"/>
          <p:cNvSpPr txBox="1"/>
          <p:nvPr/>
        </p:nvSpPr>
        <p:spPr>
          <a:xfrm>
            <a:off x="1691640" y="4251960"/>
            <a:ext cx="2423160" cy="1051560"/>
          </a:xfrm>
          <a:prstGeom prst="rect">
            <a:avLst/>
          </a:prstGeom>
          <a:noFill/>
          <a:ln/>
        </p:spPr>
        <p:txBody>
          <a:bodyPr wrap="square"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Largest item</a:t>
            </a:r>
            <a:endParaRPr lang="en-US" sz="1450" dirty="0"/>
          </a:p>
          <a:p>
            <a:pPr indent="0" marL="0">
              <a:buNone/>
            </a:pPr>
            <a:r>
              <a:rPr lang="en-US" sz="1300" dirty="0">
                <a:solidFill>
                  <a:srgbClr val="64748B"/>
                </a:solidFill>
                <a:latin typeface="Calibri" pitchFamily="34" charset="0"/>
                <a:ea typeface="Calibri" pitchFamily="34" charset="-122"/>
                <a:cs typeface="Calibri" pitchFamily="34" charset="-120"/>
              </a:rPr>
              <a:t>88</a:t>
            </a:r>
            <a:endParaRPr lang="en-US" sz="1450" dirty="0"/>
          </a:p>
        </p:txBody>
      </p:sp>
      <p:sp>
        <p:nvSpPr>
          <p:cNvPr id="20" name="Shape 17"/>
          <p:cNvSpPr/>
          <p:nvPr/>
        </p:nvSpPr>
        <p:spPr>
          <a:xfrm>
            <a:off x="4343400" y="4251960"/>
            <a:ext cx="3474720" cy="1051560"/>
          </a:xfrm>
          <a:prstGeom prst="roundRect">
            <a:avLst>
              <a:gd name="adj" fmla="val 8696"/>
            </a:avLst>
          </a:prstGeom>
          <a:solidFill>
            <a:srgbClr val="F0FDFA"/>
          </a:solidFill>
          <a:ln w="19050">
            <a:solidFill>
              <a:srgbClr val="14B8A6"/>
            </a:solidFill>
            <a:prstDash val="solid"/>
          </a:ln>
        </p:spPr>
      </p:sp>
      <p:sp>
        <p:nvSpPr>
          <p:cNvPr id="21" name="Text 18"/>
          <p:cNvSpPr txBox="1"/>
          <p:nvPr/>
        </p:nvSpPr>
        <p:spPr>
          <a:xfrm>
            <a:off x="4389120" y="4251960"/>
            <a:ext cx="914400" cy="1051560"/>
          </a:xfrm>
          <a:prstGeom prst="rect">
            <a:avLst/>
          </a:prstGeom>
          <a:noFill/>
          <a:ln/>
        </p:spPr>
        <p:txBody>
          <a:bodyPr wrap="square" rtlCol="0" anchor="ctr"/>
          <a:lstStyle/>
          <a:p>
            <a:pPr algn="ctr" indent="0" marL="0">
              <a:buNone/>
            </a:pPr>
            <a:r>
              <a:rPr lang="en-US" sz="1800" b="1" dirty="0">
                <a:solidFill>
                  <a:srgbClr val="14B8A6"/>
                </a:solidFill>
                <a:latin typeface="Consolas" pitchFamily="34" charset="0"/>
                <a:ea typeface="Consolas" pitchFamily="34" charset="-122"/>
                <a:cs typeface="Consolas" pitchFamily="34" charset="-120"/>
              </a:rPr>
              <a:t>sort</a:t>
            </a:r>
            <a:endParaRPr lang="en-US" sz="1800" dirty="0"/>
          </a:p>
        </p:txBody>
      </p:sp>
      <p:sp>
        <p:nvSpPr>
          <p:cNvPr id="22" name="Text 19"/>
          <p:cNvSpPr txBox="1"/>
          <p:nvPr/>
        </p:nvSpPr>
        <p:spPr>
          <a:xfrm>
            <a:off x="5303520" y="4251960"/>
            <a:ext cx="2423160" cy="1051560"/>
          </a:xfrm>
          <a:prstGeom prst="rect">
            <a:avLst/>
          </a:prstGeom>
          <a:noFill/>
          <a:ln/>
        </p:spPr>
        <p:txBody>
          <a:bodyPr wrap="square"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Sorted, low to high</a:t>
            </a:r>
            <a:endParaRPr lang="en-US" sz="1450" dirty="0"/>
          </a:p>
          <a:p>
            <a:pPr indent="0" marL="0">
              <a:buNone/>
            </a:pPr>
            <a:r>
              <a:rPr lang="en-US" sz="1300" dirty="0">
                <a:solidFill>
                  <a:srgbClr val="64748B"/>
                </a:solidFill>
                <a:latin typeface="Calibri" pitchFamily="34" charset="0"/>
                <a:ea typeface="Calibri" pitchFamily="34" charset="-122"/>
                <a:cs typeface="Calibri" pitchFamily="34" charset="-120"/>
              </a:rPr>
              <a:t>45, 60, 72, 88</a:t>
            </a:r>
            <a:endParaRPr lang="en-US" sz="1450" dirty="0"/>
          </a:p>
        </p:txBody>
      </p:sp>
      <p:sp>
        <p:nvSpPr>
          <p:cNvPr id="23" name="Shape 20"/>
          <p:cNvSpPr/>
          <p:nvPr/>
        </p:nvSpPr>
        <p:spPr>
          <a:xfrm>
            <a:off x="7955280" y="4251960"/>
            <a:ext cx="3474720" cy="1051560"/>
          </a:xfrm>
          <a:prstGeom prst="roundRect">
            <a:avLst>
              <a:gd name="adj" fmla="val 8696"/>
            </a:avLst>
          </a:prstGeom>
          <a:solidFill>
            <a:srgbClr val="F5F3FF"/>
          </a:solidFill>
          <a:ln w="19050">
            <a:solidFill>
              <a:srgbClr val="8B5CF6"/>
            </a:solidFill>
            <a:prstDash val="solid"/>
          </a:ln>
        </p:spPr>
      </p:sp>
      <p:sp>
        <p:nvSpPr>
          <p:cNvPr id="24" name="Text 21"/>
          <p:cNvSpPr txBox="1"/>
          <p:nvPr/>
        </p:nvSpPr>
        <p:spPr>
          <a:xfrm>
            <a:off x="8001000" y="4251960"/>
            <a:ext cx="914400" cy="1051560"/>
          </a:xfrm>
          <a:prstGeom prst="rect">
            <a:avLst/>
          </a:prstGeom>
          <a:noFill/>
          <a:ln/>
        </p:spPr>
        <p:txBody>
          <a:bodyPr wrap="square" rtlCol="0" anchor="ctr"/>
          <a:lstStyle/>
          <a:p>
            <a:pPr algn="ctr" indent="0" marL="0">
              <a:buNone/>
            </a:pPr>
            <a:r>
              <a:rPr lang="en-US" sz="1800" b="1" dirty="0">
                <a:solidFill>
                  <a:srgbClr val="8B5CF6"/>
                </a:solidFill>
                <a:latin typeface="Consolas" pitchFamily="34" charset="0"/>
                <a:ea typeface="Consolas" pitchFamily="34" charset="-122"/>
                <a:cs typeface="Consolas" pitchFamily="34" charset="-120"/>
              </a:rPr>
              <a:t>sort</a:t>
            </a:r>
            <a:endParaRPr lang="en-US" sz="1800" dirty="0"/>
          </a:p>
        </p:txBody>
      </p:sp>
      <p:sp>
        <p:nvSpPr>
          <p:cNvPr id="25" name="Text 22"/>
          <p:cNvSpPr txBox="1"/>
          <p:nvPr/>
        </p:nvSpPr>
        <p:spPr>
          <a:xfrm>
            <a:off x="8915400" y="4251960"/>
            <a:ext cx="2423160" cy="1051560"/>
          </a:xfrm>
          <a:prstGeom prst="rect">
            <a:avLst/>
          </a:prstGeom>
          <a:noFill/>
          <a:ln/>
        </p:spPr>
        <p:txBody>
          <a:bodyPr wrap="square"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Sorted, high to low</a:t>
            </a:r>
            <a:endParaRPr lang="en-US" sz="1450" dirty="0"/>
          </a:p>
          <a:p>
            <a:pPr indent="0" marL="0">
              <a:buNone/>
            </a:pPr>
            <a:r>
              <a:rPr lang="en-US" sz="1300" dirty="0">
                <a:solidFill>
                  <a:srgbClr val="64748B"/>
                </a:solidFill>
                <a:latin typeface="Calibri" pitchFamily="34" charset="0"/>
                <a:ea typeface="Calibri" pitchFamily="34" charset="-122"/>
                <a:cs typeface="Calibri" pitchFamily="34" charset="-120"/>
              </a:rPr>
              <a:t>88, 72, 60, 45</a:t>
            </a:r>
            <a:endParaRPr lang="en-US" sz="1450" dirty="0"/>
          </a:p>
        </p:txBody>
      </p:sp>
      <p:sp>
        <p:nvSpPr>
          <p:cNvPr id="26" name="Shape 23"/>
          <p:cNvSpPr/>
          <p:nvPr/>
        </p:nvSpPr>
        <p:spPr>
          <a:xfrm>
            <a:off x="731520" y="5559552"/>
            <a:ext cx="10698480" cy="0"/>
          </a:xfrm>
          <a:prstGeom prst="line">
            <a:avLst/>
          </a:prstGeom>
          <a:noFill/>
          <a:ln w="12700">
            <a:solidFill>
              <a:srgbClr val="E2E8F0"/>
            </a:solidFill>
            <a:prstDash val="solid"/>
          </a:ln>
        </p:spPr>
      </p:sp>
      <p:sp>
        <p:nvSpPr>
          <p:cNvPr id="27" name="Shape 24"/>
          <p:cNvSpPr/>
          <p:nvPr/>
        </p:nvSpPr>
        <p:spPr>
          <a:xfrm>
            <a:off x="777240" y="5650992"/>
            <a:ext cx="475488" cy="475488"/>
          </a:xfrm>
          <a:prstGeom prst="ellipse">
            <a:avLst/>
          </a:prstGeom>
          <a:solidFill>
            <a:srgbClr val="FCE7F3"/>
          </a:solidFill>
          <a:ln w="19050">
            <a:solidFill>
              <a:srgbClr val="EC4899"/>
            </a:solidFill>
            <a:prstDash val="solid"/>
          </a:ln>
        </p:spPr>
      </p:sp>
      <p:pic>
        <p:nvPicPr>
          <p:cNvPr id="28"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9" name="Shape 25"/>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0" name="Shape 26"/>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1" name="Text 27"/>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sorted gives a new list. The original marks stay exactly as they were.</a:t>
            </a:r>
            <a:endParaRPr lang="en-US" sz="1400" dirty="0"/>
          </a:p>
        </p:txBody>
      </p:sp>
      <p:sp>
        <p:nvSpPr>
          <p:cNvPr id="32" name="Text 28"/>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3" name="Text 29"/>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7</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zip()</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jacket zip joins two sides, tooth by tooth, in matching positions. The first tooth meets the first tooth and the second meets the second.</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zip() pairs up the items of two or more lists by position. It stops when the shortest list runs out.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Joining names with marks, products with prices, or column headings with values.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ZIP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Matching Items by Position</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5486400" cy="256032"/>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NAMES AND MARKS</a:t>
            </a:r>
            <a:endParaRPr lang="en-US" sz="1100" dirty="0"/>
          </a:p>
        </p:txBody>
      </p:sp>
      <p:sp>
        <p:nvSpPr>
          <p:cNvPr id="7" name="Shape 4"/>
          <p:cNvSpPr/>
          <p:nvPr/>
        </p:nvSpPr>
        <p:spPr>
          <a:xfrm>
            <a:off x="731520" y="2651760"/>
            <a:ext cx="1097280" cy="548640"/>
          </a:xfrm>
          <a:prstGeom prst="roundRect">
            <a:avLst>
              <a:gd name="adj" fmla="val 10000"/>
            </a:avLst>
          </a:prstGeom>
          <a:solidFill>
            <a:srgbClr val="F1F5F9"/>
          </a:solidFill>
          <a:ln w="12700">
            <a:solidFill>
              <a:srgbClr val="CBD5E1"/>
            </a:solidFill>
            <a:prstDash val="solid"/>
          </a:ln>
        </p:spPr>
      </p:sp>
      <p:sp>
        <p:nvSpPr>
          <p:cNvPr id="8" name="Text 5"/>
          <p:cNvSpPr txBox="1"/>
          <p:nvPr/>
        </p:nvSpPr>
        <p:spPr>
          <a:xfrm>
            <a:off x="731520" y="2651760"/>
            <a:ext cx="109728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Arun</a:t>
            </a:r>
            <a:endParaRPr lang="en-US" sz="1300" dirty="0"/>
          </a:p>
        </p:txBody>
      </p:sp>
      <p:sp>
        <p:nvSpPr>
          <p:cNvPr id="9" name="Shape 6"/>
          <p:cNvSpPr/>
          <p:nvPr/>
        </p:nvSpPr>
        <p:spPr>
          <a:xfrm>
            <a:off x="1920240" y="2651760"/>
            <a:ext cx="1097280" cy="548640"/>
          </a:xfrm>
          <a:prstGeom prst="roundRect">
            <a:avLst>
              <a:gd name="adj" fmla="val 10000"/>
            </a:avLst>
          </a:prstGeom>
          <a:solidFill>
            <a:srgbClr val="F1F5F9"/>
          </a:solidFill>
          <a:ln w="12700">
            <a:solidFill>
              <a:srgbClr val="CBD5E1"/>
            </a:solidFill>
            <a:prstDash val="solid"/>
          </a:ln>
        </p:spPr>
      </p:sp>
      <p:sp>
        <p:nvSpPr>
          <p:cNvPr id="10" name="Text 7"/>
          <p:cNvSpPr txBox="1"/>
          <p:nvPr/>
        </p:nvSpPr>
        <p:spPr>
          <a:xfrm>
            <a:off x="1920240" y="2651760"/>
            <a:ext cx="109728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Priya</a:t>
            </a:r>
            <a:endParaRPr lang="en-US" sz="1300" dirty="0"/>
          </a:p>
        </p:txBody>
      </p:sp>
      <p:sp>
        <p:nvSpPr>
          <p:cNvPr id="11" name="Shape 8"/>
          <p:cNvSpPr/>
          <p:nvPr/>
        </p:nvSpPr>
        <p:spPr>
          <a:xfrm>
            <a:off x="3108960" y="2651760"/>
            <a:ext cx="1097280" cy="548640"/>
          </a:xfrm>
          <a:prstGeom prst="roundRect">
            <a:avLst>
              <a:gd name="adj" fmla="val 10000"/>
            </a:avLst>
          </a:prstGeom>
          <a:solidFill>
            <a:srgbClr val="F1F5F9"/>
          </a:solidFill>
          <a:ln w="12700">
            <a:solidFill>
              <a:srgbClr val="CBD5E1"/>
            </a:solidFill>
            <a:prstDash val="solid"/>
          </a:ln>
        </p:spPr>
      </p:sp>
      <p:sp>
        <p:nvSpPr>
          <p:cNvPr id="12" name="Text 9"/>
          <p:cNvSpPr txBox="1"/>
          <p:nvPr/>
        </p:nvSpPr>
        <p:spPr>
          <a:xfrm>
            <a:off x="3108960" y="2651760"/>
            <a:ext cx="109728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Kiran</a:t>
            </a:r>
            <a:endParaRPr lang="en-US" sz="1300" dirty="0"/>
          </a:p>
        </p:txBody>
      </p:sp>
      <p:sp>
        <p:nvSpPr>
          <p:cNvPr id="13" name="Shape 10"/>
          <p:cNvSpPr/>
          <p:nvPr/>
        </p:nvSpPr>
        <p:spPr>
          <a:xfrm>
            <a:off x="731520" y="3291840"/>
            <a:ext cx="1097280" cy="548640"/>
          </a:xfrm>
          <a:prstGeom prst="roundRect">
            <a:avLst>
              <a:gd name="adj" fmla="val 10000"/>
            </a:avLst>
          </a:prstGeom>
          <a:solidFill>
            <a:srgbClr val="F1F5F9"/>
          </a:solidFill>
          <a:ln w="12700">
            <a:solidFill>
              <a:srgbClr val="CBD5E1"/>
            </a:solidFill>
            <a:prstDash val="solid"/>
          </a:ln>
        </p:spPr>
      </p:sp>
      <p:sp>
        <p:nvSpPr>
          <p:cNvPr id="14" name="Text 11"/>
          <p:cNvSpPr txBox="1"/>
          <p:nvPr/>
        </p:nvSpPr>
        <p:spPr>
          <a:xfrm>
            <a:off x="731520" y="3291840"/>
            <a:ext cx="109728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80</a:t>
            </a:r>
            <a:endParaRPr lang="en-US" sz="1300" dirty="0"/>
          </a:p>
        </p:txBody>
      </p:sp>
      <p:sp>
        <p:nvSpPr>
          <p:cNvPr id="15" name="Shape 12"/>
          <p:cNvSpPr/>
          <p:nvPr/>
        </p:nvSpPr>
        <p:spPr>
          <a:xfrm>
            <a:off x="1920240" y="3291840"/>
            <a:ext cx="1097280" cy="548640"/>
          </a:xfrm>
          <a:prstGeom prst="roundRect">
            <a:avLst>
              <a:gd name="adj" fmla="val 10000"/>
            </a:avLst>
          </a:prstGeom>
          <a:solidFill>
            <a:srgbClr val="F1F5F9"/>
          </a:solidFill>
          <a:ln w="12700">
            <a:solidFill>
              <a:srgbClr val="CBD5E1"/>
            </a:solidFill>
            <a:prstDash val="solid"/>
          </a:ln>
        </p:spPr>
      </p:sp>
      <p:sp>
        <p:nvSpPr>
          <p:cNvPr id="16" name="Text 13"/>
          <p:cNvSpPr txBox="1"/>
          <p:nvPr/>
        </p:nvSpPr>
        <p:spPr>
          <a:xfrm>
            <a:off x="1920240" y="3291840"/>
            <a:ext cx="109728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90</a:t>
            </a:r>
            <a:endParaRPr lang="en-US" sz="1300" dirty="0"/>
          </a:p>
        </p:txBody>
      </p:sp>
      <p:sp>
        <p:nvSpPr>
          <p:cNvPr id="17" name="Shape 14"/>
          <p:cNvSpPr/>
          <p:nvPr/>
        </p:nvSpPr>
        <p:spPr>
          <a:xfrm>
            <a:off x="3108960" y="3291840"/>
            <a:ext cx="1097280" cy="548640"/>
          </a:xfrm>
          <a:prstGeom prst="roundRect">
            <a:avLst>
              <a:gd name="adj" fmla="val 10000"/>
            </a:avLst>
          </a:prstGeom>
          <a:solidFill>
            <a:srgbClr val="F1F5F9"/>
          </a:solidFill>
          <a:ln w="12700">
            <a:solidFill>
              <a:srgbClr val="CBD5E1"/>
            </a:solidFill>
            <a:prstDash val="solid"/>
          </a:ln>
        </p:spPr>
      </p:sp>
      <p:sp>
        <p:nvSpPr>
          <p:cNvPr id="18" name="Text 15"/>
          <p:cNvSpPr txBox="1"/>
          <p:nvPr/>
        </p:nvSpPr>
        <p:spPr>
          <a:xfrm>
            <a:off x="3108960" y="3291840"/>
            <a:ext cx="109728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70</a:t>
            </a:r>
            <a:endParaRPr lang="en-US" sz="1300" dirty="0"/>
          </a:p>
        </p:txBody>
      </p:sp>
      <p:sp>
        <p:nvSpPr>
          <p:cNvPr id="19" name="Shape 16"/>
          <p:cNvSpPr/>
          <p:nvPr/>
        </p:nvSpPr>
        <p:spPr>
          <a:xfrm>
            <a:off x="4389120" y="3246120"/>
            <a:ext cx="365760" cy="0"/>
          </a:xfrm>
          <a:prstGeom prst="line">
            <a:avLst/>
          </a:prstGeom>
          <a:noFill/>
          <a:ln w="31750">
            <a:solidFill>
              <a:srgbClr val="64748B"/>
            </a:solidFill>
            <a:prstDash val="solid"/>
            <a:tailEnd type="triangle"/>
          </a:ln>
        </p:spPr>
      </p:sp>
      <p:sp>
        <p:nvSpPr>
          <p:cNvPr id="20" name="Shape 17"/>
          <p:cNvSpPr/>
          <p:nvPr/>
        </p:nvSpPr>
        <p:spPr>
          <a:xfrm>
            <a:off x="4800600" y="2834640"/>
            <a:ext cx="1371600" cy="822960"/>
          </a:xfrm>
          <a:prstGeom prst="roundRect">
            <a:avLst>
              <a:gd name="adj" fmla="val 11111"/>
            </a:avLst>
          </a:prstGeom>
          <a:solidFill>
            <a:srgbClr val="FFF7ED"/>
          </a:solidFill>
          <a:ln w="19050">
            <a:solidFill>
              <a:srgbClr val="F97316"/>
            </a:solidFill>
            <a:prstDash val="solid"/>
          </a:ln>
        </p:spPr>
      </p:sp>
      <p:sp>
        <p:nvSpPr>
          <p:cNvPr id="21" name="Text 18"/>
          <p:cNvSpPr txBox="1"/>
          <p:nvPr/>
        </p:nvSpPr>
        <p:spPr>
          <a:xfrm>
            <a:off x="4873752" y="2944368"/>
            <a:ext cx="1225296" cy="621792"/>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zip</a:t>
            </a:r>
            <a:endParaRPr lang="en-US" sz="1600" dirty="0"/>
          </a:p>
        </p:txBody>
      </p:sp>
      <p:sp>
        <p:nvSpPr>
          <p:cNvPr id="22" name="Shape 19"/>
          <p:cNvSpPr/>
          <p:nvPr/>
        </p:nvSpPr>
        <p:spPr>
          <a:xfrm>
            <a:off x="6217920" y="3246120"/>
            <a:ext cx="365760" cy="0"/>
          </a:xfrm>
          <a:prstGeom prst="line">
            <a:avLst/>
          </a:prstGeom>
          <a:noFill/>
          <a:ln w="31750">
            <a:solidFill>
              <a:srgbClr val="64748B"/>
            </a:solidFill>
            <a:prstDash val="solid"/>
            <a:tailEnd type="triangle"/>
          </a:ln>
        </p:spPr>
      </p:sp>
      <p:sp>
        <p:nvSpPr>
          <p:cNvPr id="23" name="Shape 20"/>
          <p:cNvSpPr/>
          <p:nvPr/>
        </p:nvSpPr>
        <p:spPr>
          <a:xfrm>
            <a:off x="6629400" y="2971800"/>
            <a:ext cx="1508760" cy="548640"/>
          </a:xfrm>
          <a:prstGeom prst="roundRect">
            <a:avLst>
              <a:gd name="adj" fmla="val 10000"/>
            </a:avLst>
          </a:prstGeom>
          <a:solidFill>
            <a:srgbClr val="DCFCE7"/>
          </a:solidFill>
          <a:ln w="25400">
            <a:solidFill>
              <a:srgbClr val="10B981"/>
            </a:solidFill>
            <a:prstDash val="solid"/>
          </a:ln>
        </p:spPr>
      </p:sp>
      <p:sp>
        <p:nvSpPr>
          <p:cNvPr id="24" name="Text 21"/>
          <p:cNvSpPr txBox="1"/>
          <p:nvPr/>
        </p:nvSpPr>
        <p:spPr>
          <a:xfrm>
            <a:off x="6629400" y="2971800"/>
            <a:ext cx="150876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Arun, 80</a:t>
            </a:r>
            <a:endParaRPr lang="en-US" sz="1300" dirty="0"/>
          </a:p>
        </p:txBody>
      </p:sp>
      <p:sp>
        <p:nvSpPr>
          <p:cNvPr id="25" name="Shape 22"/>
          <p:cNvSpPr/>
          <p:nvPr/>
        </p:nvSpPr>
        <p:spPr>
          <a:xfrm>
            <a:off x="8229600" y="2971800"/>
            <a:ext cx="1508760" cy="548640"/>
          </a:xfrm>
          <a:prstGeom prst="roundRect">
            <a:avLst>
              <a:gd name="adj" fmla="val 10000"/>
            </a:avLst>
          </a:prstGeom>
          <a:solidFill>
            <a:srgbClr val="DCFCE7"/>
          </a:solidFill>
          <a:ln w="25400">
            <a:solidFill>
              <a:srgbClr val="10B981"/>
            </a:solidFill>
            <a:prstDash val="solid"/>
          </a:ln>
        </p:spPr>
      </p:sp>
      <p:sp>
        <p:nvSpPr>
          <p:cNvPr id="26" name="Text 23"/>
          <p:cNvSpPr txBox="1"/>
          <p:nvPr/>
        </p:nvSpPr>
        <p:spPr>
          <a:xfrm>
            <a:off x="8229600" y="2971800"/>
            <a:ext cx="150876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Priya, 90</a:t>
            </a:r>
            <a:endParaRPr lang="en-US" sz="1300" dirty="0"/>
          </a:p>
        </p:txBody>
      </p:sp>
      <p:sp>
        <p:nvSpPr>
          <p:cNvPr id="27" name="Shape 24"/>
          <p:cNvSpPr/>
          <p:nvPr/>
        </p:nvSpPr>
        <p:spPr>
          <a:xfrm>
            <a:off x="9829800" y="2971800"/>
            <a:ext cx="1508760" cy="548640"/>
          </a:xfrm>
          <a:prstGeom prst="roundRect">
            <a:avLst>
              <a:gd name="adj" fmla="val 10000"/>
            </a:avLst>
          </a:prstGeom>
          <a:solidFill>
            <a:srgbClr val="DCFCE7"/>
          </a:solidFill>
          <a:ln w="25400">
            <a:solidFill>
              <a:srgbClr val="10B981"/>
            </a:solidFill>
            <a:prstDash val="solid"/>
          </a:ln>
        </p:spPr>
      </p:sp>
      <p:sp>
        <p:nvSpPr>
          <p:cNvPr id="28" name="Text 25"/>
          <p:cNvSpPr txBox="1"/>
          <p:nvPr/>
        </p:nvSpPr>
        <p:spPr>
          <a:xfrm>
            <a:off x="9829800" y="2971800"/>
            <a:ext cx="150876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Kiran, 70</a:t>
            </a:r>
            <a:endParaRPr lang="en-US" sz="1300" dirty="0"/>
          </a:p>
        </p:txBody>
      </p:sp>
      <p:sp>
        <p:nvSpPr>
          <p:cNvPr id="29" name="Shape 26"/>
          <p:cNvSpPr/>
          <p:nvPr/>
        </p:nvSpPr>
        <p:spPr>
          <a:xfrm>
            <a:off x="731520" y="4023360"/>
            <a:ext cx="10698480" cy="1371600"/>
          </a:xfrm>
          <a:prstGeom prst="roundRect">
            <a:avLst>
              <a:gd name="adj" fmla="val 6667"/>
            </a:avLst>
          </a:prstGeom>
          <a:solidFill>
            <a:srgbClr val="FFF7ED"/>
          </a:solidFill>
          <a:ln w="19050">
            <a:solidFill>
              <a:srgbClr val="F97316"/>
            </a:solidFill>
            <a:prstDash val="solid"/>
          </a:ln>
        </p:spPr>
      </p:sp>
      <p:pic>
        <p:nvPicPr>
          <p:cNvPr id="30" name="Image 1" descr="assets/icon2_circlex_orange.png">    </p:cNvPr>
          <p:cNvPicPr>
            <a:picLocks noChangeAspect="1"/>
          </p:cNvPicPr>
          <p:nvPr/>
        </p:nvPicPr>
        <p:blipFill>
          <a:blip r:embed="rId2"/>
          <a:stretch>
            <a:fillRect/>
          </a:stretch>
        </p:blipFill>
        <p:spPr>
          <a:xfrm>
            <a:off x="5829300" y="4133088"/>
            <a:ext cx="502920" cy="502920"/>
          </a:xfrm>
          <a:prstGeom prst="rect">
            <a:avLst/>
          </a:prstGeom>
        </p:spPr>
      </p:pic>
      <p:sp>
        <p:nvSpPr>
          <p:cNvPr id="31" name="Text 27"/>
          <p:cNvSpPr txBox="1"/>
          <p:nvPr/>
        </p:nvSpPr>
        <p:spPr>
          <a:xfrm>
            <a:off x="804672" y="4700016"/>
            <a:ext cx="1055217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Three names but only two marks gives two pairs</a:t>
            </a:r>
            <a:endParaRPr lang="en-US" sz="1600" dirty="0"/>
          </a:p>
        </p:txBody>
      </p:sp>
      <p:sp>
        <p:nvSpPr>
          <p:cNvPr id="32" name="Text 28"/>
          <p:cNvSpPr txBox="1"/>
          <p:nvPr/>
        </p:nvSpPr>
        <p:spPr>
          <a:xfrm>
            <a:off x="822960" y="5047488"/>
            <a:ext cx="10515600" cy="27432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zip stops at the shorter list, so the last name is left out without any error.</a:t>
            </a:r>
            <a:endParaRPr lang="en-US" sz="1350" dirty="0"/>
          </a:p>
        </p:txBody>
      </p:sp>
      <p:sp>
        <p:nvSpPr>
          <p:cNvPr id="33" name="Shape 29"/>
          <p:cNvSpPr/>
          <p:nvPr/>
        </p:nvSpPr>
        <p:spPr>
          <a:xfrm>
            <a:off x="731520" y="5559552"/>
            <a:ext cx="10698480" cy="0"/>
          </a:xfrm>
          <a:prstGeom prst="line">
            <a:avLst/>
          </a:prstGeom>
          <a:noFill/>
          <a:ln w="12700">
            <a:solidFill>
              <a:srgbClr val="E2E8F0"/>
            </a:solidFill>
            <a:prstDash val="solid"/>
          </a:ln>
        </p:spPr>
      </p:sp>
      <p:sp>
        <p:nvSpPr>
          <p:cNvPr id="34" name="Shape 30"/>
          <p:cNvSpPr/>
          <p:nvPr/>
        </p:nvSpPr>
        <p:spPr>
          <a:xfrm>
            <a:off x="777240" y="5650992"/>
            <a:ext cx="475488" cy="475488"/>
          </a:xfrm>
          <a:prstGeom prst="ellipse">
            <a:avLst/>
          </a:prstGeom>
          <a:solidFill>
            <a:srgbClr val="FCE7F3"/>
          </a:solidFill>
          <a:ln w="19050">
            <a:solidFill>
              <a:srgbClr val="EC4899"/>
            </a:solidFill>
            <a:prstDash val="solid"/>
          </a:ln>
        </p:spPr>
      </p:sp>
      <p:pic>
        <p:nvPicPr>
          <p:cNvPr id="35" name="Image 2" descr="assets/icon2_user_pink.png">    </p:cNvPr>
          <p:cNvPicPr>
            <a:picLocks noChangeAspect="1"/>
          </p:cNvPicPr>
          <p:nvPr/>
        </p:nvPicPr>
        <p:blipFill>
          <a:blip r:embed="rId3"/>
          <a:stretch>
            <a:fillRect/>
          </a:stretch>
        </p:blipFill>
        <p:spPr>
          <a:xfrm>
            <a:off x="872338" y="5746090"/>
            <a:ext cx="285293" cy="285293"/>
          </a:xfrm>
          <a:prstGeom prst="rect">
            <a:avLst/>
          </a:prstGeom>
        </p:spPr>
      </p:pic>
      <p:sp>
        <p:nvSpPr>
          <p:cNvPr id="36" name="Shape 31"/>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7" name="Shape 32"/>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8" name="Text 33"/>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Make sure both lists are in the same order before you zip them.</a:t>
            </a:r>
            <a:endParaRPr lang="en-US" sz="1400" dirty="0"/>
          </a:p>
        </p:txBody>
      </p:sp>
      <p:sp>
        <p:nvSpPr>
          <p:cNvPr id="39" name="Text 34"/>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0" name="Text 35"/>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8</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enumerate()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queue at a ticket counter gives every person a token number as they arrive. Each person keeps their name and also carries a position number.</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enumerate() gives a counter along with every item of a list, so you get the position and the item together. The counter starts at 0 unless you choose another start.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Numbered menus, row numbers in reports, and finding where an item sits in a list.</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ENUMERATE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Position and Item Together</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5486400" cy="256032"/>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DEFAULT COUNTER STARTS AT 0</a:t>
            </a:r>
            <a:endParaRPr lang="en-US" sz="1100" dirty="0"/>
          </a:p>
        </p:txBody>
      </p:sp>
      <p:sp>
        <p:nvSpPr>
          <p:cNvPr id="7" name="Shape 4"/>
          <p:cNvSpPr/>
          <p:nvPr/>
        </p:nvSpPr>
        <p:spPr>
          <a:xfrm>
            <a:off x="731520" y="2651760"/>
            <a:ext cx="1280160" cy="548640"/>
          </a:xfrm>
          <a:prstGeom prst="roundRect">
            <a:avLst>
              <a:gd name="adj" fmla="val 10000"/>
            </a:avLst>
          </a:prstGeom>
          <a:solidFill>
            <a:srgbClr val="F1F5F9"/>
          </a:solidFill>
          <a:ln w="12700">
            <a:solidFill>
              <a:srgbClr val="CBD5E1"/>
            </a:solidFill>
            <a:prstDash val="solid"/>
          </a:ln>
        </p:spPr>
      </p:sp>
      <p:sp>
        <p:nvSpPr>
          <p:cNvPr id="8" name="Text 5"/>
          <p:cNvSpPr txBox="1"/>
          <p:nvPr/>
        </p:nvSpPr>
        <p:spPr>
          <a:xfrm>
            <a:off x="731520" y="2651760"/>
            <a:ext cx="12801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apple</a:t>
            </a:r>
            <a:endParaRPr lang="en-US" sz="1300" dirty="0"/>
          </a:p>
        </p:txBody>
      </p:sp>
      <p:sp>
        <p:nvSpPr>
          <p:cNvPr id="9" name="Shape 6"/>
          <p:cNvSpPr/>
          <p:nvPr/>
        </p:nvSpPr>
        <p:spPr>
          <a:xfrm>
            <a:off x="2103120" y="2651760"/>
            <a:ext cx="1280160" cy="548640"/>
          </a:xfrm>
          <a:prstGeom prst="roundRect">
            <a:avLst>
              <a:gd name="adj" fmla="val 10000"/>
            </a:avLst>
          </a:prstGeom>
          <a:solidFill>
            <a:srgbClr val="F1F5F9"/>
          </a:solidFill>
          <a:ln w="12700">
            <a:solidFill>
              <a:srgbClr val="CBD5E1"/>
            </a:solidFill>
            <a:prstDash val="solid"/>
          </a:ln>
        </p:spPr>
      </p:sp>
      <p:sp>
        <p:nvSpPr>
          <p:cNvPr id="10" name="Text 7"/>
          <p:cNvSpPr txBox="1"/>
          <p:nvPr/>
        </p:nvSpPr>
        <p:spPr>
          <a:xfrm>
            <a:off x="2103120" y="2651760"/>
            <a:ext cx="12801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mango</a:t>
            </a:r>
            <a:endParaRPr lang="en-US" sz="1300" dirty="0"/>
          </a:p>
        </p:txBody>
      </p:sp>
      <p:sp>
        <p:nvSpPr>
          <p:cNvPr id="11" name="Shape 8"/>
          <p:cNvSpPr/>
          <p:nvPr/>
        </p:nvSpPr>
        <p:spPr>
          <a:xfrm>
            <a:off x="3474720" y="2651760"/>
            <a:ext cx="1280160" cy="548640"/>
          </a:xfrm>
          <a:prstGeom prst="roundRect">
            <a:avLst>
              <a:gd name="adj" fmla="val 10000"/>
            </a:avLst>
          </a:prstGeom>
          <a:solidFill>
            <a:srgbClr val="F1F5F9"/>
          </a:solidFill>
          <a:ln w="12700">
            <a:solidFill>
              <a:srgbClr val="CBD5E1"/>
            </a:solidFill>
            <a:prstDash val="solid"/>
          </a:ln>
        </p:spPr>
      </p:sp>
      <p:sp>
        <p:nvSpPr>
          <p:cNvPr id="12" name="Text 9"/>
          <p:cNvSpPr txBox="1"/>
          <p:nvPr/>
        </p:nvSpPr>
        <p:spPr>
          <a:xfrm>
            <a:off x="3474720" y="2651760"/>
            <a:ext cx="12801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banana</a:t>
            </a:r>
            <a:endParaRPr lang="en-US" sz="1300" dirty="0"/>
          </a:p>
        </p:txBody>
      </p:sp>
      <p:sp>
        <p:nvSpPr>
          <p:cNvPr id="13" name="Shape 10"/>
          <p:cNvSpPr/>
          <p:nvPr/>
        </p:nvSpPr>
        <p:spPr>
          <a:xfrm>
            <a:off x="4937760" y="2926080"/>
            <a:ext cx="274320" cy="0"/>
          </a:xfrm>
          <a:prstGeom prst="line">
            <a:avLst/>
          </a:prstGeom>
          <a:noFill/>
          <a:ln w="31750">
            <a:solidFill>
              <a:srgbClr val="64748B"/>
            </a:solidFill>
            <a:prstDash val="solid"/>
            <a:tailEnd type="triangle"/>
          </a:ln>
        </p:spPr>
      </p:sp>
      <p:sp>
        <p:nvSpPr>
          <p:cNvPr id="14" name="Shape 11"/>
          <p:cNvSpPr/>
          <p:nvPr/>
        </p:nvSpPr>
        <p:spPr>
          <a:xfrm>
            <a:off x="5257800" y="2651760"/>
            <a:ext cx="1828800" cy="548640"/>
          </a:xfrm>
          <a:prstGeom prst="roundRect">
            <a:avLst>
              <a:gd name="adj" fmla="val 16667"/>
            </a:avLst>
          </a:prstGeom>
          <a:solidFill>
            <a:srgbClr val="FFF7ED"/>
          </a:solidFill>
          <a:ln w="19050">
            <a:solidFill>
              <a:srgbClr val="F97316"/>
            </a:solidFill>
            <a:prstDash val="solid"/>
          </a:ln>
        </p:spPr>
      </p:sp>
      <p:sp>
        <p:nvSpPr>
          <p:cNvPr id="15" name="Text 12"/>
          <p:cNvSpPr txBox="1"/>
          <p:nvPr/>
        </p:nvSpPr>
        <p:spPr>
          <a:xfrm>
            <a:off x="5330952" y="2761488"/>
            <a:ext cx="1682496" cy="347472"/>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enumerate</a:t>
            </a:r>
            <a:endParaRPr lang="en-US" sz="1250" dirty="0"/>
          </a:p>
        </p:txBody>
      </p:sp>
      <p:sp>
        <p:nvSpPr>
          <p:cNvPr id="16" name="Shape 13"/>
          <p:cNvSpPr/>
          <p:nvPr/>
        </p:nvSpPr>
        <p:spPr>
          <a:xfrm>
            <a:off x="7132320" y="2926080"/>
            <a:ext cx="274320" cy="0"/>
          </a:xfrm>
          <a:prstGeom prst="line">
            <a:avLst/>
          </a:prstGeom>
          <a:noFill/>
          <a:ln w="31750">
            <a:solidFill>
              <a:srgbClr val="64748B"/>
            </a:solidFill>
            <a:prstDash val="solid"/>
            <a:tailEnd type="triangle"/>
          </a:ln>
        </p:spPr>
      </p:sp>
      <p:sp>
        <p:nvSpPr>
          <p:cNvPr id="17" name="Shape 14"/>
          <p:cNvSpPr/>
          <p:nvPr/>
        </p:nvSpPr>
        <p:spPr>
          <a:xfrm>
            <a:off x="7452360" y="2651760"/>
            <a:ext cx="1298448" cy="548640"/>
          </a:xfrm>
          <a:prstGeom prst="roundRect">
            <a:avLst>
              <a:gd name="adj" fmla="val 10000"/>
            </a:avLst>
          </a:prstGeom>
          <a:solidFill>
            <a:srgbClr val="DCFCE7"/>
          </a:solidFill>
          <a:ln w="25400">
            <a:solidFill>
              <a:srgbClr val="10B981"/>
            </a:solidFill>
            <a:prstDash val="solid"/>
          </a:ln>
        </p:spPr>
      </p:sp>
      <p:sp>
        <p:nvSpPr>
          <p:cNvPr id="18" name="Text 15"/>
          <p:cNvSpPr txBox="1"/>
          <p:nvPr/>
        </p:nvSpPr>
        <p:spPr>
          <a:xfrm>
            <a:off x="7452360" y="265176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0 apple</a:t>
            </a:r>
            <a:endParaRPr lang="en-US" sz="1250" dirty="0"/>
          </a:p>
        </p:txBody>
      </p:sp>
      <p:sp>
        <p:nvSpPr>
          <p:cNvPr id="19" name="Shape 16"/>
          <p:cNvSpPr/>
          <p:nvPr/>
        </p:nvSpPr>
        <p:spPr>
          <a:xfrm>
            <a:off x="8823960" y="2651760"/>
            <a:ext cx="1298448" cy="548640"/>
          </a:xfrm>
          <a:prstGeom prst="roundRect">
            <a:avLst>
              <a:gd name="adj" fmla="val 10000"/>
            </a:avLst>
          </a:prstGeom>
          <a:solidFill>
            <a:srgbClr val="DCFCE7"/>
          </a:solidFill>
          <a:ln w="25400">
            <a:solidFill>
              <a:srgbClr val="10B981"/>
            </a:solidFill>
            <a:prstDash val="solid"/>
          </a:ln>
        </p:spPr>
      </p:sp>
      <p:sp>
        <p:nvSpPr>
          <p:cNvPr id="20" name="Text 17"/>
          <p:cNvSpPr txBox="1"/>
          <p:nvPr/>
        </p:nvSpPr>
        <p:spPr>
          <a:xfrm>
            <a:off x="8823960" y="265176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1 mango</a:t>
            </a:r>
            <a:endParaRPr lang="en-US" sz="1250" dirty="0"/>
          </a:p>
        </p:txBody>
      </p:sp>
      <p:sp>
        <p:nvSpPr>
          <p:cNvPr id="21" name="Shape 18"/>
          <p:cNvSpPr/>
          <p:nvPr/>
        </p:nvSpPr>
        <p:spPr>
          <a:xfrm>
            <a:off x="10195560" y="2651760"/>
            <a:ext cx="1298448" cy="548640"/>
          </a:xfrm>
          <a:prstGeom prst="roundRect">
            <a:avLst>
              <a:gd name="adj" fmla="val 10000"/>
            </a:avLst>
          </a:prstGeom>
          <a:solidFill>
            <a:srgbClr val="DCFCE7"/>
          </a:solidFill>
          <a:ln w="25400">
            <a:solidFill>
              <a:srgbClr val="10B981"/>
            </a:solidFill>
            <a:prstDash val="solid"/>
          </a:ln>
        </p:spPr>
      </p:sp>
      <p:sp>
        <p:nvSpPr>
          <p:cNvPr id="22" name="Text 19"/>
          <p:cNvSpPr txBox="1"/>
          <p:nvPr/>
        </p:nvSpPr>
        <p:spPr>
          <a:xfrm>
            <a:off x="10195560" y="265176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2 banana</a:t>
            </a:r>
            <a:endParaRPr lang="en-US" sz="1250" dirty="0"/>
          </a:p>
        </p:txBody>
      </p:sp>
      <p:sp>
        <p:nvSpPr>
          <p:cNvPr id="23" name="Text 20"/>
          <p:cNvSpPr txBox="1"/>
          <p:nvPr/>
        </p:nvSpPr>
        <p:spPr>
          <a:xfrm>
            <a:off x="731520" y="3657600"/>
            <a:ext cx="548640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CHOOSING TO START AT 1</a:t>
            </a:r>
            <a:endParaRPr lang="en-US" sz="1100" dirty="0"/>
          </a:p>
        </p:txBody>
      </p:sp>
      <p:sp>
        <p:nvSpPr>
          <p:cNvPr id="24" name="Shape 21"/>
          <p:cNvSpPr/>
          <p:nvPr/>
        </p:nvSpPr>
        <p:spPr>
          <a:xfrm>
            <a:off x="731520" y="3977640"/>
            <a:ext cx="1280160" cy="548640"/>
          </a:xfrm>
          <a:prstGeom prst="roundRect">
            <a:avLst>
              <a:gd name="adj" fmla="val 10000"/>
            </a:avLst>
          </a:prstGeom>
          <a:solidFill>
            <a:srgbClr val="F1F5F9"/>
          </a:solidFill>
          <a:ln w="12700">
            <a:solidFill>
              <a:srgbClr val="CBD5E1"/>
            </a:solidFill>
            <a:prstDash val="solid"/>
          </a:ln>
        </p:spPr>
      </p:sp>
      <p:sp>
        <p:nvSpPr>
          <p:cNvPr id="25" name="Text 22"/>
          <p:cNvSpPr txBox="1"/>
          <p:nvPr/>
        </p:nvSpPr>
        <p:spPr>
          <a:xfrm>
            <a:off x="731520" y="3977640"/>
            <a:ext cx="12801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apple</a:t>
            </a:r>
            <a:endParaRPr lang="en-US" sz="1300" dirty="0"/>
          </a:p>
        </p:txBody>
      </p:sp>
      <p:sp>
        <p:nvSpPr>
          <p:cNvPr id="26" name="Shape 23"/>
          <p:cNvSpPr/>
          <p:nvPr/>
        </p:nvSpPr>
        <p:spPr>
          <a:xfrm>
            <a:off x="2103120" y="3977640"/>
            <a:ext cx="1280160" cy="548640"/>
          </a:xfrm>
          <a:prstGeom prst="roundRect">
            <a:avLst>
              <a:gd name="adj" fmla="val 10000"/>
            </a:avLst>
          </a:prstGeom>
          <a:solidFill>
            <a:srgbClr val="F1F5F9"/>
          </a:solidFill>
          <a:ln w="12700">
            <a:solidFill>
              <a:srgbClr val="CBD5E1"/>
            </a:solidFill>
            <a:prstDash val="solid"/>
          </a:ln>
        </p:spPr>
      </p:sp>
      <p:sp>
        <p:nvSpPr>
          <p:cNvPr id="27" name="Text 24"/>
          <p:cNvSpPr txBox="1"/>
          <p:nvPr/>
        </p:nvSpPr>
        <p:spPr>
          <a:xfrm>
            <a:off x="2103120" y="3977640"/>
            <a:ext cx="12801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mango</a:t>
            </a:r>
            <a:endParaRPr lang="en-US" sz="1300" dirty="0"/>
          </a:p>
        </p:txBody>
      </p:sp>
      <p:sp>
        <p:nvSpPr>
          <p:cNvPr id="28" name="Shape 25"/>
          <p:cNvSpPr/>
          <p:nvPr/>
        </p:nvSpPr>
        <p:spPr>
          <a:xfrm>
            <a:off x="3474720" y="3977640"/>
            <a:ext cx="1280160" cy="548640"/>
          </a:xfrm>
          <a:prstGeom prst="roundRect">
            <a:avLst>
              <a:gd name="adj" fmla="val 10000"/>
            </a:avLst>
          </a:prstGeom>
          <a:solidFill>
            <a:srgbClr val="F1F5F9"/>
          </a:solidFill>
          <a:ln w="12700">
            <a:solidFill>
              <a:srgbClr val="CBD5E1"/>
            </a:solidFill>
            <a:prstDash val="solid"/>
          </a:ln>
        </p:spPr>
      </p:sp>
      <p:sp>
        <p:nvSpPr>
          <p:cNvPr id="29" name="Text 26"/>
          <p:cNvSpPr txBox="1"/>
          <p:nvPr/>
        </p:nvSpPr>
        <p:spPr>
          <a:xfrm>
            <a:off x="3474720" y="3977640"/>
            <a:ext cx="12801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banana</a:t>
            </a:r>
            <a:endParaRPr lang="en-US" sz="1300" dirty="0"/>
          </a:p>
        </p:txBody>
      </p:sp>
      <p:sp>
        <p:nvSpPr>
          <p:cNvPr id="30" name="Shape 27"/>
          <p:cNvSpPr/>
          <p:nvPr/>
        </p:nvSpPr>
        <p:spPr>
          <a:xfrm>
            <a:off x="4937760" y="4251960"/>
            <a:ext cx="274320" cy="0"/>
          </a:xfrm>
          <a:prstGeom prst="line">
            <a:avLst/>
          </a:prstGeom>
          <a:noFill/>
          <a:ln w="31750">
            <a:solidFill>
              <a:srgbClr val="64748B"/>
            </a:solidFill>
            <a:prstDash val="solid"/>
            <a:tailEnd type="triangle"/>
          </a:ln>
        </p:spPr>
      </p:sp>
      <p:sp>
        <p:nvSpPr>
          <p:cNvPr id="31" name="Shape 28"/>
          <p:cNvSpPr/>
          <p:nvPr/>
        </p:nvSpPr>
        <p:spPr>
          <a:xfrm>
            <a:off x="5257800" y="3977640"/>
            <a:ext cx="1828800" cy="548640"/>
          </a:xfrm>
          <a:prstGeom prst="roundRect">
            <a:avLst>
              <a:gd name="adj" fmla="val 16667"/>
            </a:avLst>
          </a:prstGeom>
          <a:solidFill>
            <a:srgbClr val="FFF7ED"/>
          </a:solidFill>
          <a:ln w="19050">
            <a:solidFill>
              <a:srgbClr val="F97316"/>
            </a:solidFill>
            <a:prstDash val="solid"/>
          </a:ln>
        </p:spPr>
      </p:sp>
      <p:sp>
        <p:nvSpPr>
          <p:cNvPr id="32" name="Text 29"/>
          <p:cNvSpPr txBox="1"/>
          <p:nvPr/>
        </p:nvSpPr>
        <p:spPr>
          <a:xfrm>
            <a:off x="5330952" y="4087368"/>
            <a:ext cx="1682496" cy="347472"/>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enumerate</a:t>
            </a:r>
            <a:endParaRPr lang="en-US" sz="1250" dirty="0"/>
          </a:p>
        </p:txBody>
      </p:sp>
      <p:sp>
        <p:nvSpPr>
          <p:cNvPr id="33" name="Shape 30"/>
          <p:cNvSpPr/>
          <p:nvPr/>
        </p:nvSpPr>
        <p:spPr>
          <a:xfrm>
            <a:off x="7132320" y="4251960"/>
            <a:ext cx="274320" cy="0"/>
          </a:xfrm>
          <a:prstGeom prst="line">
            <a:avLst/>
          </a:prstGeom>
          <a:noFill/>
          <a:ln w="31750">
            <a:solidFill>
              <a:srgbClr val="64748B"/>
            </a:solidFill>
            <a:prstDash val="solid"/>
            <a:tailEnd type="triangle"/>
          </a:ln>
        </p:spPr>
      </p:sp>
      <p:sp>
        <p:nvSpPr>
          <p:cNvPr id="34" name="Shape 31"/>
          <p:cNvSpPr/>
          <p:nvPr/>
        </p:nvSpPr>
        <p:spPr>
          <a:xfrm>
            <a:off x="7452360" y="3977640"/>
            <a:ext cx="1298448" cy="548640"/>
          </a:xfrm>
          <a:prstGeom prst="roundRect">
            <a:avLst>
              <a:gd name="adj" fmla="val 10000"/>
            </a:avLst>
          </a:prstGeom>
          <a:solidFill>
            <a:srgbClr val="DCFCE7"/>
          </a:solidFill>
          <a:ln w="25400">
            <a:solidFill>
              <a:srgbClr val="10B981"/>
            </a:solidFill>
            <a:prstDash val="solid"/>
          </a:ln>
        </p:spPr>
      </p:sp>
      <p:sp>
        <p:nvSpPr>
          <p:cNvPr id="35" name="Text 32"/>
          <p:cNvSpPr txBox="1"/>
          <p:nvPr/>
        </p:nvSpPr>
        <p:spPr>
          <a:xfrm>
            <a:off x="7452360" y="397764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1 apple</a:t>
            </a:r>
            <a:endParaRPr lang="en-US" sz="1250" dirty="0"/>
          </a:p>
        </p:txBody>
      </p:sp>
      <p:sp>
        <p:nvSpPr>
          <p:cNvPr id="36" name="Shape 33"/>
          <p:cNvSpPr/>
          <p:nvPr/>
        </p:nvSpPr>
        <p:spPr>
          <a:xfrm>
            <a:off x="8823960" y="3977640"/>
            <a:ext cx="1298448" cy="548640"/>
          </a:xfrm>
          <a:prstGeom prst="roundRect">
            <a:avLst>
              <a:gd name="adj" fmla="val 10000"/>
            </a:avLst>
          </a:prstGeom>
          <a:solidFill>
            <a:srgbClr val="DCFCE7"/>
          </a:solidFill>
          <a:ln w="25400">
            <a:solidFill>
              <a:srgbClr val="10B981"/>
            </a:solidFill>
            <a:prstDash val="solid"/>
          </a:ln>
        </p:spPr>
      </p:sp>
      <p:sp>
        <p:nvSpPr>
          <p:cNvPr id="37" name="Text 34"/>
          <p:cNvSpPr txBox="1"/>
          <p:nvPr/>
        </p:nvSpPr>
        <p:spPr>
          <a:xfrm>
            <a:off x="8823960" y="397764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2 mango</a:t>
            </a:r>
            <a:endParaRPr lang="en-US" sz="1250" dirty="0"/>
          </a:p>
        </p:txBody>
      </p:sp>
      <p:sp>
        <p:nvSpPr>
          <p:cNvPr id="38" name="Shape 35"/>
          <p:cNvSpPr/>
          <p:nvPr/>
        </p:nvSpPr>
        <p:spPr>
          <a:xfrm>
            <a:off x="10195560" y="3977640"/>
            <a:ext cx="1298448" cy="548640"/>
          </a:xfrm>
          <a:prstGeom prst="roundRect">
            <a:avLst>
              <a:gd name="adj" fmla="val 10000"/>
            </a:avLst>
          </a:prstGeom>
          <a:solidFill>
            <a:srgbClr val="DCFCE7"/>
          </a:solidFill>
          <a:ln w="25400">
            <a:solidFill>
              <a:srgbClr val="10B981"/>
            </a:solidFill>
            <a:prstDash val="solid"/>
          </a:ln>
        </p:spPr>
      </p:sp>
      <p:sp>
        <p:nvSpPr>
          <p:cNvPr id="39" name="Text 36"/>
          <p:cNvSpPr txBox="1"/>
          <p:nvPr/>
        </p:nvSpPr>
        <p:spPr>
          <a:xfrm>
            <a:off x="10195560" y="3977640"/>
            <a:ext cx="1298448"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3 banana</a:t>
            </a:r>
            <a:endParaRPr lang="en-US" sz="1250" dirty="0"/>
          </a:p>
        </p:txBody>
      </p:sp>
      <p:sp>
        <p:nvSpPr>
          <p:cNvPr id="40" name="Text 37"/>
          <p:cNvSpPr txBox="1"/>
          <p:nvPr/>
        </p:nvSpPr>
        <p:spPr>
          <a:xfrm>
            <a:off x="731520" y="4800600"/>
            <a:ext cx="10698480" cy="45720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Humans like counting from 1, so a numbered menu usually starts there.</a:t>
            </a:r>
            <a:endParaRPr lang="en-US" sz="1400" dirty="0"/>
          </a:p>
        </p:txBody>
      </p:sp>
      <p:sp>
        <p:nvSpPr>
          <p:cNvPr id="41" name="Shape 38"/>
          <p:cNvSpPr/>
          <p:nvPr/>
        </p:nvSpPr>
        <p:spPr>
          <a:xfrm>
            <a:off x="731520" y="5559552"/>
            <a:ext cx="10698480" cy="0"/>
          </a:xfrm>
          <a:prstGeom prst="line">
            <a:avLst/>
          </a:prstGeom>
          <a:noFill/>
          <a:ln w="12700">
            <a:solidFill>
              <a:srgbClr val="E2E8F0"/>
            </a:solidFill>
            <a:prstDash val="solid"/>
          </a:ln>
        </p:spPr>
      </p:sp>
      <p:sp>
        <p:nvSpPr>
          <p:cNvPr id="42" name="Shape 39"/>
          <p:cNvSpPr/>
          <p:nvPr/>
        </p:nvSpPr>
        <p:spPr>
          <a:xfrm>
            <a:off x="777240" y="5650992"/>
            <a:ext cx="475488" cy="475488"/>
          </a:xfrm>
          <a:prstGeom prst="ellipse">
            <a:avLst/>
          </a:prstGeom>
          <a:solidFill>
            <a:srgbClr val="FCE7F3"/>
          </a:solidFill>
          <a:ln w="19050">
            <a:solidFill>
              <a:srgbClr val="EC4899"/>
            </a:solidFill>
            <a:prstDash val="solid"/>
          </a:ln>
        </p:spPr>
      </p:sp>
      <p:pic>
        <p:nvPicPr>
          <p:cNvPr id="43"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44" name="Shape 4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45" name="Shape 4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46" name="Text 4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No need to keep your own counter variable. enumerate keeps it for you.</a:t>
            </a:r>
            <a:endParaRPr lang="en-US" sz="1400" dirty="0"/>
          </a:p>
        </p:txBody>
      </p:sp>
      <p:sp>
        <p:nvSpPr>
          <p:cNvPr id="47" name="Text 4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8" name="Text 4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9</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Modules and Packages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library does not keep every book in one pile. Books sit on shelves by subject, and you borrow only the ones you need instead of writing them yourself.</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module is a Python file full of ready made code. A package is a folder of modules. The import statement brings that code into your program.</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Every real project. Teams split code into modules, and nobody writes common tools like date handling again.</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THREE WAYS TO IMPORT</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Bring in Exactly What You Need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13760" cy="3108960"/>
          </a:xfrm>
          <a:prstGeom prst="roundRect">
            <a:avLst>
              <a:gd name="adj" fmla="val 2941"/>
            </a:avLst>
          </a:prstGeom>
          <a:solidFill>
            <a:srgbClr val="F5F3FF"/>
          </a:solidFill>
          <a:ln w="19050">
            <a:solidFill>
              <a:srgbClr val="8B5CF6"/>
            </a:solidFill>
            <a:prstDash val="solid"/>
          </a:ln>
        </p:spPr>
      </p:sp>
      <p:pic>
        <p:nvPicPr>
          <p:cNvPr id="7" name="Image 1" descr="assets/icon2_package_purple.png">    </p:cNvPr>
          <p:cNvPicPr>
            <a:picLocks noChangeAspect="1"/>
          </p:cNvPicPr>
          <p:nvPr/>
        </p:nvPicPr>
        <p:blipFill>
          <a:blip r:embed="rId2"/>
          <a:stretch>
            <a:fillRect/>
          </a:stretch>
        </p:blipFill>
        <p:spPr>
          <a:xfrm>
            <a:off x="2186940" y="2505456"/>
            <a:ext cx="502920" cy="502920"/>
          </a:xfrm>
          <a:prstGeom prst="rect">
            <a:avLst/>
          </a:prstGeom>
        </p:spPr>
      </p:pic>
      <p:sp>
        <p:nvSpPr>
          <p:cNvPr id="8" name="Text 4"/>
          <p:cNvSpPr txBox="1"/>
          <p:nvPr/>
        </p:nvSpPr>
        <p:spPr>
          <a:xfrm>
            <a:off x="804672" y="3072384"/>
            <a:ext cx="3267456" cy="365760"/>
          </a:xfrm>
          <a:prstGeom prst="rect">
            <a:avLst/>
          </a:prstGeom>
          <a:noFill/>
          <a:ln/>
        </p:spPr>
        <p:txBody>
          <a:bodyPr wrap="square" rtlCol="0" anchor="t"/>
          <a:lstStyle/>
          <a:p>
            <a:pPr algn="ctr" indent="0" marL="0">
              <a:buNone/>
            </a:pPr>
            <a:r>
              <a:rPr lang="en-US" sz="1800" b="1" dirty="0">
                <a:solidFill>
                  <a:srgbClr val="1E293B"/>
                </a:solidFill>
                <a:latin typeface="Calibri" pitchFamily="34" charset="0"/>
                <a:ea typeface="Calibri" pitchFamily="34" charset="-122"/>
                <a:cs typeface="Calibri" pitchFamily="34" charset="-120"/>
              </a:rPr>
              <a:t>The whole module</a:t>
            </a:r>
            <a:endParaRPr lang="en-US" sz="1800" dirty="0"/>
          </a:p>
        </p:txBody>
      </p:sp>
      <p:sp>
        <p:nvSpPr>
          <p:cNvPr id="9" name="Text 5"/>
          <p:cNvSpPr txBox="1"/>
          <p:nvPr/>
        </p:nvSpPr>
        <p:spPr>
          <a:xfrm>
            <a:off x="822960" y="3438144"/>
            <a:ext cx="3230880" cy="1993392"/>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Bring the whole toolbox and name the tool each time.</a:t>
            </a:r>
            <a:endParaRPr lang="en-US" sz="1400" dirty="0"/>
          </a:p>
        </p:txBody>
      </p:sp>
      <p:sp>
        <p:nvSpPr>
          <p:cNvPr id="10" name="Shape 6"/>
          <p:cNvSpPr/>
          <p:nvPr/>
        </p:nvSpPr>
        <p:spPr>
          <a:xfrm>
            <a:off x="960120" y="4544568"/>
            <a:ext cx="2956560" cy="384048"/>
          </a:xfrm>
          <a:prstGeom prst="roundRect">
            <a:avLst>
              <a:gd name="adj" fmla="val 14286"/>
            </a:avLst>
          </a:prstGeom>
          <a:solidFill>
            <a:srgbClr val="F5F3FF"/>
          </a:solidFill>
          <a:ln w="19050">
            <a:solidFill>
              <a:srgbClr val="8B5CF6"/>
            </a:solidFill>
            <a:prstDash val="solid"/>
          </a:ln>
        </p:spPr>
      </p:sp>
      <p:sp>
        <p:nvSpPr>
          <p:cNvPr id="11" name="Text 7"/>
          <p:cNvSpPr txBox="1"/>
          <p:nvPr/>
        </p:nvSpPr>
        <p:spPr>
          <a:xfrm>
            <a:off x="960120" y="45445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import math</a:t>
            </a:r>
            <a:endParaRPr lang="en-US" sz="1200" dirty="0"/>
          </a:p>
        </p:txBody>
      </p:sp>
      <p:sp>
        <p:nvSpPr>
          <p:cNvPr id="12" name="Shape 8"/>
          <p:cNvSpPr/>
          <p:nvPr/>
        </p:nvSpPr>
        <p:spPr>
          <a:xfrm>
            <a:off x="960120" y="5001768"/>
            <a:ext cx="2956560" cy="384048"/>
          </a:xfrm>
          <a:prstGeom prst="roundRect">
            <a:avLst>
              <a:gd name="adj" fmla="val 14286"/>
            </a:avLst>
          </a:prstGeom>
          <a:solidFill>
            <a:srgbClr val="CCFBF1"/>
          </a:solidFill>
          <a:ln w="25400">
            <a:solidFill>
              <a:srgbClr val="14B8A6"/>
            </a:solidFill>
            <a:prstDash val="solid"/>
          </a:ln>
        </p:spPr>
      </p:sp>
      <p:sp>
        <p:nvSpPr>
          <p:cNvPr id="13" name="Text 9"/>
          <p:cNvSpPr txBox="1"/>
          <p:nvPr/>
        </p:nvSpPr>
        <p:spPr>
          <a:xfrm>
            <a:off x="960120" y="5001768"/>
            <a:ext cx="2956560" cy="384048"/>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math.sqrt(25) gives 5.0</a:t>
            </a:r>
            <a:endParaRPr lang="en-US" sz="1200" dirty="0"/>
          </a:p>
        </p:txBody>
      </p:sp>
      <p:sp>
        <p:nvSpPr>
          <p:cNvPr id="14" name="Shape 10"/>
          <p:cNvSpPr/>
          <p:nvPr/>
        </p:nvSpPr>
        <p:spPr>
          <a:xfrm>
            <a:off x="4373880" y="2395728"/>
            <a:ext cx="3413760" cy="3108960"/>
          </a:xfrm>
          <a:prstGeom prst="roundRect">
            <a:avLst>
              <a:gd name="adj" fmla="val 2941"/>
            </a:avLst>
          </a:prstGeom>
          <a:solidFill>
            <a:srgbClr val="F0FDFA"/>
          </a:solidFill>
          <a:ln w="19050">
            <a:solidFill>
              <a:srgbClr val="14B8A6"/>
            </a:solidFill>
            <a:prstDash val="solid"/>
          </a:ln>
        </p:spPr>
      </p:sp>
      <p:pic>
        <p:nvPicPr>
          <p:cNvPr id="15" name="Image 2" descr="assets/icon2_wrench_navy.png">    </p:cNvPr>
          <p:cNvPicPr>
            <a:picLocks noChangeAspect="1"/>
          </p:cNvPicPr>
          <p:nvPr/>
        </p:nvPicPr>
        <p:blipFill>
          <a:blip r:embed="rId3"/>
          <a:stretch>
            <a:fillRect/>
          </a:stretch>
        </p:blipFill>
        <p:spPr>
          <a:xfrm>
            <a:off x="5829300" y="2505456"/>
            <a:ext cx="502920" cy="502920"/>
          </a:xfrm>
          <a:prstGeom prst="rect">
            <a:avLst/>
          </a:prstGeom>
        </p:spPr>
      </p:pic>
      <p:sp>
        <p:nvSpPr>
          <p:cNvPr id="16" name="Text 11"/>
          <p:cNvSpPr txBox="1"/>
          <p:nvPr/>
        </p:nvSpPr>
        <p:spPr>
          <a:xfrm>
            <a:off x="4447032" y="3072384"/>
            <a:ext cx="3267456" cy="365760"/>
          </a:xfrm>
          <a:prstGeom prst="rect">
            <a:avLst/>
          </a:prstGeom>
          <a:noFill/>
          <a:ln/>
        </p:spPr>
        <p:txBody>
          <a:bodyPr wrap="square" rtlCol="0" anchor="t"/>
          <a:lstStyle/>
          <a:p>
            <a:pPr algn="ctr" indent="0" marL="0">
              <a:buNone/>
            </a:pPr>
            <a:r>
              <a:rPr lang="en-US" sz="1800" b="1" dirty="0">
                <a:solidFill>
                  <a:srgbClr val="1E293B"/>
                </a:solidFill>
                <a:latin typeface="Calibri" pitchFamily="34" charset="0"/>
                <a:ea typeface="Calibri" pitchFamily="34" charset="-122"/>
                <a:cs typeface="Calibri" pitchFamily="34" charset="-120"/>
              </a:rPr>
              <a:t>One tool only</a:t>
            </a:r>
            <a:endParaRPr lang="en-US" sz="1800" dirty="0"/>
          </a:p>
        </p:txBody>
      </p:sp>
      <p:sp>
        <p:nvSpPr>
          <p:cNvPr id="17" name="Text 12"/>
          <p:cNvSpPr txBox="1"/>
          <p:nvPr/>
        </p:nvSpPr>
        <p:spPr>
          <a:xfrm>
            <a:off x="4465320" y="3438144"/>
            <a:ext cx="3230880" cy="1993392"/>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Bring just the tool you need and use it directly.</a:t>
            </a:r>
            <a:endParaRPr lang="en-US" sz="1400" dirty="0"/>
          </a:p>
        </p:txBody>
      </p:sp>
      <p:sp>
        <p:nvSpPr>
          <p:cNvPr id="18" name="Shape 13"/>
          <p:cNvSpPr/>
          <p:nvPr/>
        </p:nvSpPr>
        <p:spPr>
          <a:xfrm>
            <a:off x="4602480" y="4544568"/>
            <a:ext cx="2956560" cy="384048"/>
          </a:xfrm>
          <a:prstGeom prst="roundRect">
            <a:avLst>
              <a:gd name="adj" fmla="val 14286"/>
            </a:avLst>
          </a:prstGeom>
          <a:solidFill>
            <a:srgbClr val="CCFBF1"/>
          </a:solidFill>
          <a:ln w="25400">
            <a:solidFill>
              <a:srgbClr val="14B8A6"/>
            </a:solidFill>
            <a:prstDash val="solid"/>
          </a:ln>
        </p:spPr>
      </p:sp>
      <p:sp>
        <p:nvSpPr>
          <p:cNvPr id="19" name="Text 14"/>
          <p:cNvSpPr txBox="1"/>
          <p:nvPr/>
        </p:nvSpPr>
        <p:spPr>
          <a:xfrm>
            <a:off x="4602480" y="45445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from math import sqrt</a:t>
            </a:r>
            <a:endParaRPr lang="en-US" sz="1200" dirty="0"/>
          </a:p>
        </p:txBody>
      </p:sp>
      <p:sp>
        <p:nvSpPr>
          <p:cNvPr id="20" name="Shape 15"/>
          <p:cNvSpPr/>
          <p:nvPr/>
        </p:nvSpPr>
        <p:spPr>
          <a:xfrm>
            <a:off x="4602480" y="5001768"/>
            <a:ext cx="2956560" cy="384048"/>
          </a:xfrm>
          <a:prstGeom prst="roundRect">
            <a:avLst>
              <a:gd name="adj" fmla="val 14286"/>
            </a:avLst>
          </a:prstGeom>
          <a:solidFill>
            <a:srgbClr val="DCFCE7"/>
          </a:solidFill>
          <a:ln w="25400">
            <a:solidFill>
              <a:srgbClr val="10B981"/>
            </a:solidFill>
            <a:prstDash val="solid"/>
          </a:ln>
        </p:spPr>
      </p:sp>
      <p:sp>
        <p:nvSpPr>
          <p:cNvPr id="21" name="Text 16"/>
          <p:cNvSpPr txBox="1"/>
          <p:nvPr/>
        </p:nvSpPr>
        <p:spPr>
          <a:xfrm>
            <a:off x="4602480" y="5001768"/>
            <a:ext cx="2956560" cy="384048"/>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sqrt(9) gives 3.0</a:t>
            </a:r>
            <a:endParaRPr lang="en-US" sz="1200" dirty="0"/>
          </a:p>
        </p:txBody>
      </p:sp>
      <p:sp>
        <p:nvSpPr>
          <p:cNvPr id="22" name="Shape 17"/>
          <p:cNvSpPr/>
          <p:nvPr/>
        </p:nvSpPr>
        <p:spPr>
          <a:xfrm>
            <a:off x="8016240" y="2395728"/>
            <a:ext cx="3413760" cy="3108960"/>
          </a:xfrm>
          <a:prstGeom prst="roundRect">
            <a:avLst>
              <a:gd name="adj" fmla="val 2941"/>
            </a:avLst>
          </a:prstGeom>
          <a:solidFill>
            <a:srgbClr val="FFF7ED"/>
          </a:solidFill>
          <a:ln w="19050">
            <a:solidFill>
              <a:srgbClr val="F97316"/>
            </a:solidFill>
            <a:prstDash val="solid"/>
          </a:ln>
        </p:spPr>
      </p:sp>
      <p:pic>
        <p:nvPicPr>
          <p:cNvPr id="23" name="Image 3" descr="assets/icon2_tag_purple.png">    </p:cNvPr>
          <p:cNvPicPr>
            <a:picLocks noChangeAspect="1"/>
          </p:cNvPicPr>
          <p:nvPr/>
        </p:nvPicPr>
        <p:blipFill>
          <a:blip r:embed="rId4"/>
          <a:stretch>
            <a:fillRect/>
          </a:stretch>
        </p:blipFill>
        <p:spPr>
          <a:xfrm>
            <a:off x="9471660" y="2505456"/>
            <a:ext cx="502920" cy="502920"/>
          </a:xfrm>
          <a:prstGeom prst="rect">
            <a:avLst/>
          </a:prstGeom>
        </p:spPr>
      </p:pic>
      <p:sp>
        <p:nvSpPr>
          <p:cNvPr id="24" name="Text 18"/>
          <p:cNvSpPr txBox="1"/>
          <p:nvPr/>
        </p:nvSpPr>
        <p:spPr>
          <a:xfrm>
            <a:off x="8089392" y="3072384"/>
            <a:ext cx="3267456" cy="365760"/>
          </a:xfrm>
          <a:prstGeom prst="rect">
            <a:avLst/>
          </a:prstGeom>
          <a:noFill/>
          <a:ln/>
        </p:spPr>
        <p:txBody>
          <a:bodyPr wrap="square" rtlCol="0" anchor="t"/>
          <a:lstStyle/>
          <a:p>
            <a:pPr algn="ctr" indent="0" marL="0">
              <a:buNone/>
            </a:pPr>
            <a:r>
              <a:rPr lang="en-US" sz="1800" b="1" dirty="0">
                <a:solidFill>
                  <a:srgbClr val="1E293B"/>
                </a:solidFill>
                <a:latin typeface="Calibri" pitchFamily="34" charset="0"/>
                <a:ea typeface="Calibri" pitchFamily="34" charset="-122"/>
                <a:cs typeface="Calibri" pitchFamily="34" charset="-120"/>
              </a:rPr>
              <a:t>A short nickname</a:t>
            </a:r>
            <a:endParaRPr lang="en-US" sz="1800" dirty="0"/>
          </a:p>
        </p:txBody>
      </p:sp>
      <p:sp>
        <p:nvSpPr>
          <p:cNvPr id="25" name="Text 19"/>
          <p:cNvSpPr txBox="1"/>
          <p:nvPr/>
        </p:nvSpPr>
        <p:spPr>
          <a:xfrm>
            <a:off x="8107680" y="3438144"/>
            <a:ext cx="3230880" cy="1993392"/>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Give the module a short name to save typing.</a:t>
            </a:r>
            <a:endParaRPr lang="en-US" sz="1400" dirty="0"/>
          </a:p>
        </p:txBody>
      </p:sp>
      <p:sp>
        <p:nvSpPr>
          <p:cNvPr id="26" name="Shape 20"/>
          <p:cNvSpPr/>
          <p:nvPr/>
        </p:nvSpPr>
        <p:spPr>
          <a:xfrm>
            <a:off x="8244840" y="4544568"/>
            <a:ext cx="2956560" cy="384048"/>
          </a:xfrm>
          <a:prstGeom prst="roundRect">
            <a:avLst>
              <a:gd name="adj" fmla="val 14286"/>
            </a:avLst>
          </a:prstGeom>
          <a:solidFill>
            <a:srgbClr val="FFEDD5"/>
          </a:solidFill>
          <a:ln w="25400">
            <a:solidFill>
              <a:srgbClr val="F97316"/>
            </a:solidFill>
            <a:prstDash val="solid"/>
          </a:ln>
        </p:spPr>
      </p:sp>
      <p:sp>
        <p:nvSpPr>
          <p:cNvPr id="27" name="Text 21"/>
          <p:cNvSpPr txBox="1"/>
          <p:nvPr/>
        </p:nvSpPr>
        <p:spPr>
          <a:xfrm>
            <a:off x="8244840" y="45445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import math as m</a:t>
            </a:r>
            <a:endParaRPr lang="en-US" sz="1200" dirty="0"/>
          </a:p>
        </p:txBody>
      </p:sp>
      <p:sp>
        <p:nvSpPr>
          <p:cNvPr id="28" name="Shape 22"/>
          <p:cNvSpPr/>
          <p:nvPr/>
        </p:nvSpPr>
        <p:spPr>
          <a:xfrm>
            <a:off x="8244840" y="5001768"/>
            <a:ext cx="2956560" cy="384048"/>
          </a:xfrm>
          <a:prstGeom prst="roundRect">
            <a:avLst>
              <a:gd name="adj" fmla="val 14286"/>
            </a:avLst>
          </a:prstGeom>
          <a:solidFill>
            <a:srgbClr val="DCFCE7"/>
          </a:solidFill>
          <a:ln w="25400">
            <a:solidFill>
              <a:srgbClr val="10B981"/>
            </a:solidFill>
            <a:prstDash val="solid"/>
          </a:ln>
        </p:spPr>
      </p:sp>
      <p:sp>
        <p:nvSpPr>
          <p:cNvPr id="29" name="Text 23"/>
          <p:cNvSpPr txBox="1"/>
          <p:nvPr/>
        </p:nvSpPr>
        <p:spPr>
          <a:xfrm>
            <a:off x="8244840" y="5001768"/>
            <a:ext cx="2956560" cy="384048"/>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m.sqrt(25) gives 5.0</a:t>
            </a:r>
            <a:endParaRPr lang="en-US" sz="1200" dirty="0"/>
          </a:p>
        </p:txBody>
      </p:sp>
      <p:sp>
        <p:nvSpPr>
          <p:cNvPr id="30" name="Shape 24"/>
          <p:cNvSpPr/>
          <p:nvPr/>
        </p:nvSpPr>
        <p:spPr>
          <a:xfrm>
            <a:off x="731520" y="5559552"/>
            <a:ext cx="10698480" cy="0"/>
          </a:xfrm>
          <a:prstGeom prst="line">
            <a:avLst/>
          </a:prstGeom>
          <a:noFill/>
          <a:ln w="12700">
            <a:solidFill>
              <a:srgbClr val="E2E8F0"/>
            </a:solidFill>
            <a:prstDash val="solid"/>
          </a:ln>
        </p:spPr>
      </p:sp>
      <p:sp>
        <p:nvSpPr>
          <p:cNvPr id="31"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2"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33" name="Shape 26"/>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4"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5"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Importing is like borrowing. The module stays where it is and you use what you need.</a:t>
            </a:r>
            <a:endParaRPr lang="en-US" sz="1400" dirty="0"/>
          </a:p>
        </p:txBody>
      </p:sp>
      <p:sp>
        <p:nvSpPr>
          <p:cNvPr id="36"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7"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10</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math, random and datetime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Swiss army knife has a blade, a scissor and a screwdriver in one handle. These three modules are like three tools for numbers, chance and dates.</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math handles number work such as roots and rounding. random picks unpredictable values. datetime works with dates, times and the gap between them.</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Finance calculations, games and quizzes, report dates, expiry checks and scheduling.</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STANDARD MODULES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Three Modules Ready in Every Python</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13760" cy="3108960"/>
          </a:xfrm>
          <a:prstGeom prst="roundRect">
            <a:avLst>
              <a:gd name="adj" fmla="val 2941"/>
            </a:avLst>
          </a:prstGeom>
          <a:solidFill>
            <a:srgbClr val="F0FDFA"/>
          </a:solidFill>
          <a:ln w="19050">
            <a:solidFill>
              <a:srgbClr val="14B8A6"/>
            </a:solidFill>
            <a:prstDash val="solid"/>
          </a:ln>
        </p:spPr>
      </p:sp>
      <p:pic>
        <p:nvPicPr>
          <p:cNvPr id="7" name="Image 1" descr="assets/icon2_sigma_navy.png">    </p:cNvPr>
          <p:cNvPicPr>
            <a:picLocks noChangeAspect="1"/>
          </p:cNvPicPr>
          <p:nvPr/>
        </p:nvPicPr>
        <p:blipFill>
          <a:blip r:embed="rId2"/>
          <a:stretch>
            <a:fillRect/>
          </a:stretch>
        </p:blipFill>
        <p:spPr>
          <a:xfrm>
            <a:off x="2186940" y="2505456"/>
            <a:ext cx="502920" cy="502920"/>
          </a:xfrm>
          <a:prstGeom prst="rect">
            <a:avLst/>
          </a:prstGeom>
        </p:spPr>
      </p:pic>
      <p:sp>
        <p:nvSpPr>
          <p:cNvPr id="8" name="Text 4"/>
          <p:cNvSpPr txBox="1"/>
          <p:nvPr/>
        </p:nvSpPr>
        <p:spPr>
          <a:xfrm>
            <a:off x="80467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math</a:t>
            </a:r>
            <a:endParaRPr lang="en-US" sz="1900" dirty="0"/>
          </a:p>
        </p:txBody>
      </p:sp>
      <p:sp>
        <p:nvSpPr>
          <p:cNvPr id="9" name="Text 5"/>
          <p:cNvSpPr txBox="1"/>
          <p:nvPr/>
        </p:nvSpPr>
        <p:spPr>
          <a:xfrm>
            <a:off x="822960" y="3438144"/>
            <a:ext cx="3230880" cy="1993392"/>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Number work and constants like pi.</a:t>
            </a:r>
            <a:endParaRPr lang="en-US" sz="1400" dirty="0"/>
          </a:p>
        </p:txBody>
      </p:sp>
      <p:sp>
        <p:nvSpPr>
          <p:cNvPr id="10" name="Shape 6"/>
          <p:cNvSpPr/>
          <p:nvPr/>
        </p:nvSpPr>
        <p:spPr>
          <a:xfrm>
            <a:off x="960120" y="4087368"/>
            <a:ext cx="2956560" cy="384048"/>
          </a:xfrm>
          <a:prstGeom prst="roundRect">
            <a:avLst>
              <a:gd name="adj" fmla="val 14286"/>
            </a:avLst>
          </a:prstGeom>
          <a:solidFill>
            <a:srgbClr val="CCFBF1"/>
          </a:solidFill>
          <a:ln w="25400">
            <a:solidFill>
              <a:srgbClr val="14B8A6"/>
            </a:solidFill>
            <a:prstDash val="solid"/>
          </a:ln>
        </p:spPr>
      </p:sp>
      <p:sp>
        <p:nvSpPr>
          <p:cNvPr id="11" name="Text 7"/>
          <p:cNvSpPr txBox="1"/>
          <p:nvPr/>
        </p:nvSpPr>
        <p:spPr>
          <a:xfrm>
            <a:off x="960120" y="40873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sqrt(16) gives 4.0</a:t>
            </a:r>
            <a:endParaRPr lang="en-US" sz="1200" dirty="0"/>
          </a:p>
        </p:txBody>
      </p:sp>
      <p:sp>
        <p:nvSpPr>
          <p:cNvPr id="12" name="Shape 8"/>
          <p:cNvSpPr/>
          <p:nvPr/>
        </p:nvSpPr>
        <p:spPr>
          <a:xfrm>
            <a:off x="960120" y="4544568"/>
            <a:ext cx="2956560" cy="384048"/>
          </a:xfrm>
          <a:prstGeom prst="roundRect">
            <a:avLst>
              <a:gd name="adj" fmla="val 14286"/>
            </a:avLst>
          </a:prstGeom>
          <a:solidFill>
            <a:srgbClr val="CCFBF1"/>
          </a:solidFill>
          <a:ln w="25400">
            <a:solidFill>
              <a:srgbClr val="14B8A6"/>
            </a:solidFill>
            <a:prstDash val="solid"/>
          </a:ln>
        </p:spPr>
      </p:sp>
      <p:sp>
        <p:nvSpPr>
          <p:cNvPr id="13" name="Text 9"/>
          <p:cNvSpPr txBox="1"/>
          <p:nvPr/>
        </p:nvSpPr>
        <p:spPr>
          <a:xfrm>
            <a:off x="960120" y="45445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ceil(4.2) gives 5</a:t>
            </a:r>
            <a:endParaRPr lang="en-US" sz="1200" dirty="0"/>
          </a:p>
        </p:txBody>
      </p:sp>
      <p:sp>
        <p:nvSpPr>
          <p:cNvPr id="14" name="Shape 10"/>
          <p:cNvSpPr/>
          <p:nvPr/>
        </p:nvSpPr>
        <p:spPr>
          <a:xfrm>
            <a:off x="960120" y="5001768"/>
            <a:ext cx="2956560" cy="384048"/>
          </a:xfrm>
          <a:prstGeom prst="roundRect">
            <a:avLst>
              <a:gd name="adj" fmla="val 14286"/>
            </a:avLst>
          </a:prstGeom>
          <a:solidFill>
            <a:srgbClr val="CCFBF1"/>
          </a:solidFill>
          <a:ln w="25400">
            <a:solidFill>
              <a:srgbClr val="14B8A6"/>
            </a:solidFill>
            <a:prstDash val="solid"/>
          </a:ln>
        </p:spPr>
      </p:sp>
      <p:sp>
        <p:nvSpPr>
          <p:cNvPr id="15" name="Text 11"/>
          <p:cNvSpPr txBox="1"/>
          <p:nvPr/>
        </p:nvSpPr>
        <p:spPr>
          <a:xfrm>
            <a:off x="960120" y="50017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floor(4.8) gives 4</a:t>
            </a:r>
            <a:endParaRPr lang="en-US" sz="1200" dirty="0"/>
          </a:p>
        </p:txBody>
      </p:sp>
      <p:sp>
        <p:nvSpPr>
          <p:cNvPr id="16" name="Shape 12"/>
          <p:cNvSpPr/>
          <p:nvPr/>
        </p:nvSpPr>
        <p:spPr>
          <a:xfrm>
            <a:off x="4373880" y="2395728"/>
            <a:ext cx="3413760" cy="3108960"/>
          </a:xfrm>
          <a:prstGeom prst="roundRect">
            <a:avLst>
              <a:gd name="adj" fmla="val 2941"/>
            </a:avLst>
          </a:prstGeom>
          <a:solidFill>
            <a:srgbClr val="FFF7ED"/>
          </a:solidFill>
          <a:ln w="19050">
            <a:solidFill>
              <a:srgbClr val="F97316"/>
            </a:solidFill>
            <a:prstDash val="solid"/>
          </a:ln>
        </p:spPr>
      </p:sp>
      <p:pic>
        <p:nvPicPr>
          <p:cNvPr id="17" name="Image 2" descr="assets/icon2_dices_orange.png">    </p:cNvPr>
          <p:cNvPicPr>
            <a:picLocks noChangeAspect="1"/>
          </p:cNvPicPr>
          <p:nvPr/>
        </p:nvPicPr>
        <p:blipFill>
          <a:blip r:embed="rId3"/>
          <a:stretch>
            <a:fillRect/>
          </a:stretch>
        </p:blipFill>
        <p:spPr>
          <a:xfrm>
            <a:off x="5829300" y="2505456"/>
            <a:ext cx="502920" cy="502920"/>
          </a:xfrm>
          <a:prstGeom prst="rect">
            <a:avLst/>
          </a:prstGeom>
        </p:spPr>
      </p:pic>
      <p:sp>
        <p:nvSpPr>
          <p:cNvPr id="18" name="Text 13"/>
          <p:cNvSpPr txBox="1"/>
          <p:nvPr/>
        </p:nvSpPr>
        <p:spPr>
          <a:xfrm>
            <a:off x="444703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random</a:t>
            </a:r>
            <a:endParaRPr lang="en-US" sz="1900" dirty="0"/>
          </a:p>
        </p:txBody>
      </p:sp>
      <p:sp>
        <p:nvSpPr>
          <p:cNvPr id="19" name="Text 14"/>
          <p:cNvSpPr txBox="1"/>
          <p:nvPr/>
        </p:nvSpPr>
        <p:spPr>
          <a:xfrm>
            <a:off x="4465320" y="3438144"/>
            <a:ext cx="3230880" cy="1993392"/>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Unpredictable picks. The answer changes every run.</a:t>
            </a:r>
            <a:endParaRPr lang="en-US" sz="1400" dirty="0"/>
          </a:p>
        </p:txBody>
      </p:sp>
      <p:sp>
        <p:nvSpPr>
          <p:cNvPr id="20" name="Shape 15"/>
          <p:cNvSpPr/>
          <p:nvPr/>
        </p:nvSpPr>
        <p:spPr>
          <a:xfrm>
            <a:off x="4602480" y="4544568"/>
            <a:ext cx="2956560" cy="384048"/>
          </a:xfrm>
          <a:prstGeom prst="roundRect">
            <a:avLst>
              <a:gd name="adj" fmla="val 14286"/>
            </a:avLst>
          </a:prstGeom>
          <a:solidFill>
            <a:srgbClr val="FFEDD5"/>
          </a:solidFill>
          <a:ln w="25400">
            <a:solidFill>
              <a:srgbClr val="F97316"/>
            </a:solidFill>
            <a:prstDash val="solid"/>
          </a:ln>
        </p:spPr>
      </p:sp>
      <p:sp>
        <p:nvSpPr>
          <p:cNvPr id="21" name="Text 16"/>
          <p:cNvSpPr txBox="1"/>
          <p:nvPr/>
        </p:nvSpPr>
        <p:spPr>
          <a:xfrm>
            <a:off x="4602480" y="45445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randint(1, 6): 1 to 6</a:t>
            </a:r>
            <a:endParaRPr lang="en-US" sz="1200" dirty="0"/>
          </a:p>
        </p:txBody>
      </p:sp>
      <p:sp>
        <p:nvSpPr>
          <p:cNvPr id="22" name="Shape 17"/>
          <p:cNvSpPr/>
          <p:nvPr/>
        </p:nvSpPr>
        <p:spPr>
          <a:xfrm>
            <a:off x="4602480" y="5001768"/>
            <a:ext cx="2956560" cy="384048"/>
          </a:xfrm>
          <a:prstGeom prst="roundRect">
            <a:avLst>
              <a:gd name="adj" fmla="val 14286"/>
            </a:avLst>
          </a:prstGeom>
          <a:solidFill>
            <a:srgbClr val="FFEDD5"/>
          </a:solidFill>
          <a:ln w="25400">
            <a:solidFill>
              <a:srgbClr val="F97316"/>
            </a:solidFill>
            <a:prstDash val="solid"/>
          </a:ln>
        </p:spPr>
      </p:sp>
      <p:sp>
        <p:nvSpPr>
          <p:cNvPr id="23" name="Text 18"/>
          <p:cNvSpPr txBox="1"/>
          <p:nvPr/>
        </p:nvSpPr>
        <p:spPr>
          <a:xfrm>
            <a:off x="4602480" y="50017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choice: one random item</a:t>
            </a:r>
            <a:endParaRPr lang="en-US" sz="1200" dirty="0"/>
          </a:p>
        </p:txBody>
      </p:sp>
      <p:sp>
        <p:nvSpPr>
          <p:cNvPr id="24" name="Shape 19"/>
          <p:cNvSpPr/>
          <p:nvPr/>
        </p:nvSpPr>
        <p:spPr>
          <a:xfrm>
            <a:off x="8016240" y="2395728"/>
            <a:ext cx="3413760" cy="3108960"/>
          </a:xfrm>
          <a:prstGeom prst="roundRect">
            <a:avLst>
              <a:gd name="adj" fmla="val 2941"/>
            </a:avLst>
          </a:prstGeom>
          <a:solidFill>
            <a:srgbClr val="F5F3FF"/>
          </a:solidFill>
          <a:ln w="19050">
            <a:solidFill>
              <a:srgbClr val="8B5CF6"/>
            </a:solidFill>
            <a:prstDash val="solid"/>
          </a:ln>
        </p:spPr>
      </p:sp>
      <p:pic>
        <p:nvPicPr>
          <p:cNvPr id="25" name="Image 3" descr="assets/icon2_calendar_teal.png">    </p:cNvPr>
          <p:cNvPicPr>
            <a:picLocks noChangeAspect="1"/>
          </p:cNvPicPr>
          <p:nvPr/>
        </p:nvPicPr>
        <p:blipFill>
          <a:blip r:embed="rId4"/>
          <a:stretch>
            <a:fillRect/>
          </a:stretch>
        </p:blipFill>
        <p:spPr>
          <a:xfrm>
            <a:off x="9471660" y="2505456"/>
            <a:ext cx="502920" cy="502920"/>
          </a:xfrm>
          <a:prstGeom prst="rect">
            <a:avLst/>
          </a:prstGeom>
        </p:spPr>
      </p:pic>
      <p:sp>
        <p:nvSpPr>
          <p:cNvPr id="26" name="Text 20"/>
          <p:cNvSpPr txBox="1"/>
          <p:nvPr/>
        </p:nvSpPr>
        <p:spPr>
          <a:xfrm>
            <a:off x="808939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datetime</a:t>
            </a:r>
            <a:endParaRPr lang="en-US" sz="1900" dirty="0"/>
          </a:p>
        </p:txBody>
      </p:sp>
      <p:sp>
        <p:nvSpPr>
          <p:cNvPr id="27" name="Text 21"/>
          <p:cNvSpPr txBox="1"/>
          <p:nvPr/>
        </p:nvSpPr>
        <p:spPr>
          <a:xfrm>
            <a:off x="8107680" y="3438144"/>
            <a:ext cx="3230880" cy="1993392"/>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Dates, times and the gap between them.</a:t>
            </a:r>
            <a:endParaRPr lang="en-US" sz="1400" dirty="0"/>
          </a:p>
        </p:txBody>
      </p:sp>
      <p:sp>
        <p:nvSpPr>
          <p:cNvPr id="28" name="Shape 22"/>
          <p:cNvSpPr/>
          <p:nvPr/>
        </p:nvSpPr>
        <p:spPr>
          <a:xfrm>
            <a:off x="8244840" y="4544568"/>
            <a:ext cx="2956560" cy="384048"/>
          </a:xfrm>
          <a:prstGeom prst="roundRect">
            <a:avLst>
              <a:gd name="adj" fmla="val 14286"/>
            </a:avLst>
          </a:prstGeom>
          <a:solidFill>
            <a:srgbClr val="F5F3FF"/>
          </a:solidFill>
          <a:ln w="19050">
            <a:solidFill>
              <a:srgbClr val="8B5CF6"/>
            </a:solidFill>
            <a:prstDash val="solid"/>
          </a:ln>
        </p:spPr>
      </p:sp>
      <p:sp>
        <p:nvSpPr>
          <p:cNvPr id="29" name="Text 23"/>
          <p:cNvSpPr txBox="1"/>
          <p:nvPr/>
        </p:nvSpPr>
        <p:spPr>
          <a:xfrm>
            <a:off x="8244840" y="45445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26 Oct 2026: Monday</a:t>
            </a:r>
            <a:endParaRPr lang="en-US" sz="1200" dirty="0"/>
          </a:p>
        </p:txBody>
      </p:sp>
      <p:sp>
        <p:nvSpPr>
          <p:cNvPr id="30" name="Shape 24"/>
          <p:cNvSpPr/>
          <p:nvPr/>
        </p:nvSpPr>
        <p:spPr>
          <a:xfrm>
            <a:off x="8244840" y="5001768"/>
            <a:ext cx="2956560" cy="384048"/>
          </a:xfrm>
          <a:prstGeom prst="roundRect">
            <a:avLst>
              <a:gd name="adj" fmla="val 14286"/>
            </a:avLst>
          </a:prstGeom>
          <a:solidFill>
            <a:srgbClr val="F5F3FF"/>
          </a:solidFill>
          <a:ln w="19050">
            <a:solidFill>
              <a:srgbClr val="8B5CF6"/>
            </a:solidFill>
            <a:prstDash val="solid"/>
          </a:ln>
        </p:spPr>
      </p:sp>
      <p:sp>
        <p:nvSpPr>
          <p:cNvPr id="31" name="Text 25"/>
          <p:cNvSpPr txBox="1"/>
          <p:nvPr/>
        </p:nvSpPr>
        <p:spPr>
          <a:xfrm>
            <a:off x="8244840" y="5001768"/>
            <a:ext cx="2956560" cy="384048"/>
          </a:xfrm>
          <a:prstGeom prst="rect">
            <a:avLst/>
          </a:prstGeom>
          <a:noFill/>
          <a:ln/>
        </p:spPr>
        <p:txBody>
          <a:bodyPr wrap="square" rtlCol="0" anchor="ctr"/>
          <a:lstStyle/>
          <a:p>
            <a:pPr algn="ctr" indent="0" marL="0">
              <a:buNone/>
            </a:pPr>
            <a:r>
              <a:rPr lang="en-US" sz="1200" b="1" dirty="0">
                <a:solidFill>
                  <a:srgbClr val="1E293B"/>
                </a:solidFill>
                <a:latin typeface="Consolas" pitchFamily="34" charset="0"/>
                <a:ea typeface="Consolas" pitchFamily="34" charset="-122"/>
                <a:cs typeface="Consolas" pitchFamily="34" charset="-120"/>
              </a:rPr>
              <a:t>to 25 Dec: 60 days</a:t>
            </a:r>
            <a:endParaRPr lang="en-US" sz="1200" dirty="0"/>
          </a:p>
        </p:txBody>
      </p:sp>
      <p:sp>
        <p:nvSpPr>
          <p:cNvPr id="32" name="Shape 26"/>
          <p:cNvSpPr/>
          <p:nvPr/>
        </p:nvSpPr>
        <p:spPr>
          <a:xfrm>
            <a:off x="731520" y="5559552"/>
            <a:ext cx="10698480" cy="0"/>
          </a:xfrm>
          <a:prstGeom prst="line">
            <a:avLst/>
          </a:prstGeom>
          <a:noFill/>
          <a:ln w="12700">
            <a:solidFill>
              <a:srgbClr val="E2E8F0"/>
            </a:solidFill>
            <a:prstDash val="solid"/>
          </a:ln>
        </p:spPr>
      </p:sp>
      <p:sp>
        <p:nvSpPr>
          <p:cNvPr id="33" name="Shape 27"/>
          <p:cNvSpPr/>
          <p:nvPr/>
        </p:nvSpPr>
        <p:spPr>
          <a:xfrm>
            <a:off x="777240" y="5650992"/>
            <a:ext cx="475488" cy="475488"/>
          </a:xfrm>
          <a:prstGeom prst="ellipse">
            <a:avLst/>
          </a:prstGeom>
          <a:solidFill>
            <a:srgbClr val="FCE7F3"/>
          </a:solidFill>
          <a:ln w="19050">
            <a:solidFill>
              <a:srgbClr val="EC4899"/>
            </a:solidFill>
            <a:prstDash val="solid"/>
          </a:ln>
        </p:spPr>
      </p:sp>
      <p:pic>
        <p:nvPicPr>
          <p:cNvPr id="34"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35" name="Shape 28"/>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6" name="Shape 29"/>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7" name="Text 30"/>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random gives different answers each time, so never expect the same output twice.</a:t>
            </a:r>
            <a:endParaRPr lang="en-US" sz="1400" dirty="0"/>
          </a:p>
        </p:txBody>
      </p:sp>
      <p:sp>
        <p:nvSpPr>
          <p:cNvPr id="38" name="Text 3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9" name="Text 3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11</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Creating Your Own Module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company keeps its standard forms in one shared folder. Every department picks up the same form instead of drawing its own.</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custom module is your own Python file with functions you want to reuse. Any other file in the same folder can import it and call those functions.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Shared helper files in every team project, such as billing rules, date helpers and validation checks.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YOUR OWN MODULE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Write Once, Import Anywhere</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3200400" cy="1783080"/>
          </a:xfrm>
          <a:prstGeom prst="roundRect">
            <a:avLst>
              <a:gd name="adj" fmla="val 5128"/>
            </a:avLst>
          </a:prstGeom>
          <a:solidFill>
            <a:srgbClr val="F5F3FF"/>
          </a:solidFill>
          <a:ln w="19050">
            <a:solidFill>
              <a:srgbClr val="8B5CF6"/>
            </a:solidFill>
            <a:prstDash val="solid"/>
          </a:ln>
        </p:spPr>
      </p:sp>
      <p:pic>
        <p:nvPicPr>
          <p:cNvPr id="7" name="Image 1" descr="assets/icon2_filetext_teal.png">    </p:cNvPr>
          <p:cNvPicPr>
            <a:picLocks noChangeAspect="1"/>
          </p:cNvPicPr>
          <p:nvPr/>
        </p:nvPicPr>
        <p:blipFill>
          <a:blip r:embed="rId2"/>
          <a:stretch>
            <a:fillRect/>
          </a:stretch>
        </p:blipFill>
        <p:spPr>
          <a:xfrm>
            <a:off x="2080260" y="2578608"/>
            <a:ext cx="502920" cy="502920"/>
          </a:xfrm>
          <a:prstGeom prst="rect">
            <a:avLst/>
          </a:prstGeom>
        </p:spPr>
      </p:pic>
      <p:sp>
        <p:nvSpPr>
          <p:cNvPr id="8" name="Text 4"/>
          <p:cNvSpPr txBox="1"/>
          <p:nvPr/>
        </p:nvSpPr>
        <p:spPr>
          <a:xfrm>
            <a:off x="80467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billing.py</a:t>
            </a:r>
            <a:endParaRPr lang="en-US" sz="1600" dirty="0"/>
          </a:p>
        </p:txBody>
      </p:sp>
      <p:sp>
        <p:nvSpPr>
          <p:cNvPr id="9" name="Text 5"/>
          <p:cNvSpPr txBox="1"/>
          <p:nvPr/>
        </p:nvSpPr>
        <p:spPr>
          <a:xfrm>
            <a:off x="822960" y="3511296"/>
            <a:ext cx="301752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your own module holding calculate_total</a:t>
            </a:r>
            <a:endParaRPr lang="en-US" sz="1300" dirty="0"/>
          </a:p>
        </p:txBody>
      </p:sp>
      <p:sp>
        <p:nvSpPr>
          <p:cNvPr id="10" name="Shape 6"/>
          <p:cNvSpPr/>
          <p:nvPr/>
        </p:nvSpPr>
        <p:spPr>
          <a:xfrm>
            <a:off x="3986784" y="3360420"/>
            <a:ext cx="438912" cy="0"/>
          </a:xfrm>
          <a:prstGeom prst="line">
            <a:avLst/>
          </a:prstGeom>
          <a:noFill/>
          <a:ln w="31750">
            <a:solidFill>
              <a:srgbClr val="8B5CF6"/>
            </a:solidFill>
            <a:prstDash val="solid"/>
            <a:tailEnd type="triangle"/>
          </a:ln>
        </p:spPr>
      </p:sp>
      <p:sp>
        <p:nvSpPr>
          <p:cNvPr id="11" name="Shape 7"/>
          <p:cNvSpPr/>
          <p:nvPr/>
        </p:nvSpPr>
        <p:spPr>
          <a:xfrm>
            <a:off x="4480560" y="2468880"/>
            <a:ext cx="3200400" cy="1783080"/>
          </a:xfrm>
          <a:prstGeom prst="roundRect">
            <a:avLst>
              <a:gd name="adj" fmla="val 5128"/>
            </a:avLst>
          </a:prstGeom>
          <a:solidFill>
            <a:srgbClr val="F0FDFA"/>
          </a:solidFill>
          <a:ln w="19050">
            <a:solidFill>
              <a:srgbClr val="14B8A6"/>
            </a:solidFill>
            <a:prstDash val="solid"/>
          </a:ln>
        </p:spPr>
      </p:sp>
      <p:pic>
        <p:nvPicPr>
          <p:cNvPr id="12" name="Image 2" descr="assets/icon2_code_purple.png">    </p:cNvPr>
          <p:cNvPicPr>
            <a:picLocks noChangeAspect="1"/>
          </p:cNvPicPr>
          <p:nvPr/>
        </p:nvPicPr>
        <p:blipFill>
          <a:blip r:embed="rId3"/>
          <a:stretch>
            <a:fillRect/>
          </a:stretch>
        </p:blipFill>
        <p:spPr>
          <a:xfrm>
            <a:off x="5829300" y="2578608"/>
            <a:ext cx="502920" cy="502920"/>
          </a:xfrm>
          <a:prstGeom prst="rect">
            <a:avLst/>
          </a:prstGeom>
        </p:spPr>
      </p:pic>
      <p:sp>
        <p:nvSpPr>
          <p:cNvPr id="13" name="Text 8"/>
          <p:cNvSpPr txBox="1"/>
          <p:nvPr/>
        </p:nvSpPr>
        <p:spPr>
          <a:xfrm>
            <a:off x="455371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main.py</a:t>
            </a:r>
            <a:endParaRPr lang="en-US" sz="1600" dirty="0"/>
          </a:p>
        </p:txBody>
      </p:sp>
      <p:sp>
        <p:nvSpPr>
          <p:cNvPr id="14" name="Text 9"/>
          <p:cNvSpPr txBox="1"/>
          <p:nvPr/>
        </p:nvSpPr>
        <p:spPr>
          <a:xfrm>
            <a:off x="4572000" y="3511296"/>
            <a:ext cx="301752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imports billing and calls calculate_total</a:t>
            </a:r>
            <a:endParaRPr lang="en-US" sz="1300" dirty="0"/>
          </a:p>
        </p:txBody>
      </p:sp>
      <p:sp>
        <p:nvSpPr>
          <p:cNvPr id="15" name="Shape 10"/>
          <p:cNvSpPr/>
          <p:nvPr/>
        </p:nvSpPr>
        <p:spPr>
          <a:xfrm>
            <a:off x="7735824" y="3360420"/>
            <a:ext cx="438912" cy="0"/>
          </a:xfrm>
          <a:prstGeom prst="line">
            <a:avLst/>
          </a:prstGeom>
          <a:noFill/>
          <a:ln w="31750">
            <a:solidFill>
              <a:srgbClr val="8B5CF6"/>
            </a:solidFill>
            <a:prstDash val="solid"/>
            <a:tailEnd type="triangle"/>
          </a:ln>
        </p:spPr>
      </p:sp>
      <p:sp>
        <p:nvSpPr>
          <p:cNvPr id="16" name="Shape 11"/>
          <p:cNvSpPr/>
          <p:nvPr/>
        </p:nvSpPr>
        <p:spPr>
          <a:xfrm>
            <a:off x="8229600" y="2468880"/>
            <a:ext cx="3200400" cy="1783080"/>
          </a:xfrm>
          <a:prstGeom prst="roundRect">
            <a:avLst>
              <a:gd name="adj" fmla="val 5128"/>
            </a:avLst>
          </a:prstGeom>
          <a:solidFill>
            <a:srgbClr val="F0FDF4"/>
          </a:solidFill>
          <a:ln w="19050">
            <a:solidFill>
              <a:srgbClr val="10B981"/>
            </a:solidFill>
            <a:prstDash val="solid"/>
          </a:ln>
        </p:spPr>
      </p:sp>
      <p:pic>
        <p:nvPicPr>
          <p:cNvPr id="17" name="Image 3" descr="assets/icon2_check_green.png">    </p:cNvPr>
          <p:cNvPicPr>
            <a:picLocks noChangeAspect="1"/>
          </p:cNvPicPr>
          <p:nvPr/>
        </p:nvPicPr>
        <p:blipFill>
          <a:blip r:embed="rId4"/>
          <a:stretch>
            <a:fillRect/>
          </a:stretch>
        </p:blipFill>
        <p:spPr>
          <a:xfrm>
            <a:off x="9578340" y="2578608"/>
            <a:ext cx="502920" cy="502920"/>
          </a:xfrm>
          <a:prstGeom prst="rect">
            <a:avLst/>
          </a:prstGeom>
        </p:spPr>
      </p:pic>
      <p:sp>
        <p:nvSpPr>
          <p:cNvPr id="18" name="Text 12"/>
          <p:cNvSpPr txBox="1"/>
          <p:nvPr/>
        </p:nvSpPr>
        <p:spPr>
          <a:xfrm>
            <a:off x="830275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Result 2000</a:t>
            </a:r>
            <a:endParaRPr lang="en-US" sz="1600" dirty="0"/>
          </a:p>
        </p:txBody>
      </p:sp>
      <p:sp>
        <p:nvSpPr>
          <p:cNvPr id="19" name="Text 13"/>
          <p:cNvSpPr txBox="1"/>
          <p:nvPr/>
        </p:nvSpPr>
        <p:spPr>
          <a:xfrm>
            <a:off x="8321040" y="3511296"/>
            <a:ext cx="301752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price 1000 and quantity 2</a:t>
            </a:r>
            <a:endParaRPr lang="en-US" sz="1300" dirty="0"/>
          </a:p>
        </p:txBody>
      </p:sp>
      <p:sp>
        <p:nvSpPr>
          <p:cNvPr id="20" name="Shape 14"/>
          <p:cNvSpPr/>
          <p:nvPr/>
        </p:nvSpPr>
        <p:spPr>
          <a:xfrm>
            <a:off x="731520" y="4480560"/>
            <a:ext cx="5212080" cy="868680"/>
          </a:xfrm>
          <a:prstGeom prst="roundRect">
            <a:avLst>
              <a:gd name="adj" fmla="val 10526"/>
            </a:avLst>
          </a:prstGeom>
          <a:solidFill>
            <a:srgbClr val="F8FAFC"/>
          </a:solidFill>
          <a:ln w="19050">
            <a:solidFill>
              <a:srgbClr val="CBD5E1"/>
            </a:solidFill>
            <a:prstDash val="solid"/>
          </a:ln>
        </p:spPr>
      </p:sp>
      <p:sp>
        <p:nvSpPr>
          <p:cNvPr id="21" name="Text 15"/>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Same folder</a:t>
            </a:r>
            <a:endParaRPr lang="en-US" sz="1550" dirty="0"/>
          </a:p>
        </p:txBody>
      </p:sp>
      <p:sp>
        <p:nvSpPr>
          <p:cNvPr id="22" name="Text 16"/>
          <p:cNvSpPr txBox="1"/>
          <p:nvPr/>
        </p:nvSpPr>
        <p:spPr>
          <a:xfrm>
            <a:off x="822960" y="4919472"/>
            <a:ext cx="5029200" cy="35661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keep both files together so Python can find the module</a:t>
            </a:r>
            <a:endParaRPr lang="en-US" sz="1300" dirty="0"/>
          </a:p>
        </p:txBody>
      </p:sp>
      <p:sp>
        <p:nvSpPr>
          <p:cNvPr id="23" name="Shape 17"/>
          <p:cNvSpPr/>
          <p:nvPr/>
        </p:nvSpPr>
        <p:spPr>
          <a:xfrm>
            <a:off x="6217920" y="4480560"/>
            <a:ext cx="5212080" cy="868680"/>
          </a:xfrm>
          <a:prstGeom prst="roundRect">
            <a:avLst>
              <a:gd name="adj" fmla="val 10526"/>
            </a:avLst>
          </a:prstGeom>
          <a:solidFill>
            <a:srgbClr val="F8FAFC"/>
          </a:solidFill>
          <a:ln w="19050">
            <a:solidFill>
              <a:srgbClr val="CBD5E1"/>
            </a:solidFill>
            <a:prstDash val="solid"/>
          </a:ln>
        </p:spPr>
      </p:sp>
      <p:sp>
        <p:nvSpPr>
          <p:cNvPr id="24" name="Text 18"/>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Name without .py</a:t>
            </a:r>
            <a:endParaRPr lang="en-US" sz="1550" dirty="0"/>
          </a:p>
        </p:txBody>
      </p:sp>
      <p:sp>
        <p:nvSpPr>
          <p:cNvPr id="25" name="Text 19"/>
          <p:cNvSpPr txBox="1"/>
          <p:nvPr/>
        </p:nvSpPr>
        <p:spPr>
          <a:xfrm>
            <a:off x="6309360" y="4919472"/>
            <a:ext cx="5029200" cy="35661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file billing.py is imported as billing</a:t>
            </a:r>
            <a:endParaRPr lang="en-US" sz="1300" dirty="0"/>
          </a:p>
        </p:txBody>
      </p:sp>
      <p:sp>
        <p:nvSpPr>
          <p:cNvPr id="26" name="Shape 20"/>
          <p:cNvSpPr/>
          <p:nvPr/>
        </p:nvSpPr>
        <p:spPr>
          <a:xfrm>
            <a:off x="731520" y="5559552"/>
            <a:ext cx="10698480" cy="0"/>
          </a:xfrm>
          <a:prstGeom prst="line">
            <a:avLst/>
          </a:prstGeom>
          <a:noFill/>
          <a:ln w="12700">
            <a:solidFill>
              <a:srgbClr val="E2E8F0"/>
            </a:solidFill>
            <a:prstDash val="solid"/>
          </a:ln>
        </p:spPr>
      </p:sp>
      <p:sp>
        <p:nvSpPr>
          <p:cNvPr id="27" name="Shape 21"/>
          <p:cNvSpPr/>
          <p:nvPr/>
        </p:nvSpPr>
        <p:spPr>
          <a:xfrm>
            <a:off x="777240" y="5650992"/>
            <a:ext cx="475488" cy="475488"/>
          </a:xfrm>
          <a:prstGeom prst="ellipse">
            <a:avLst/>
          </a:prstGeom>
          <a:solidFill>
            <a:srgbClr val="FCE7F3"/>
          </a:solidFill>
          <a:ln w="19050">
            <a:solidFill>
              <a:srgbClr val="EC4899"/>
            </a:solidFill>
            <a:prstDash val="solid"/>
          </a:ln>
        </p:spPr>
      </p:sp>
      <p:pic>
        <p:nvPicPr>
          <p:cNvPr id="28"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9" name="Shape 22"/>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0" name="Shape 23"/>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1" name="Text 24"/>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Fix a rule in billing.py once and every program that imports it gets the fix.</a:t>
            </a:r>
            <a:endParaRPr lang="en-US" sz="1400" dirty="0"/>
          </a:p>
        </p:txBody>
      </p:sp>
      <p:sp>
        <p:nvSpPr>
          <p:cNvPr id="32" name="Text 2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3" name="Text 2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12</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pip and Installing Packages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phone's app store lets you search for an app and install it with one tap. You do not build the app yourself and updates are handled for you.</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pip is Python's package installer. It downloads packages from PyPI, the online collection of Python packages, so you can import them in your programs.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Data work with pandas and numpy, web calls with requests, and almost every professional Python project.</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PIP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From Command to Working Package</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8FAFC"/>
          </a:solidFill>
          <a:ln w="19050">
            <a:solidFill>
              <a:srgbClr val="CBD5E1"/>
            </a:solidFill>
            <a:prstDash val="solid"/>
          </a:ln>
        </p:spPr>
      </p:sp>
      <p:pic>
        <p:nvPicPr>
          <p:cNvPr id="7" name="Image 1" descr="assets/icon2_terminal_navy.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Type the command</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ask pip for a package</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0FDFA"/>
          </a:solidFill>
          <a:ln w="19050">
            <a:solidFill>
              <a:srgbClr val="14B8A6"/>
            </a:solidFill>
            <a:prstDash val="solid"/>
          </a:ln>
        </p:spPr>
      </p:sp>
      <p:pic>
        <p:nvPicPr>
          <p:cNvPr id="12" name="Image 2" descr="assets/icon2_globe_teal.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PyPI</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online store of Python packages</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5F3FF"/>
          </a:solidFill>
          <a:ln w="19050">
            <a:solidFill>
              <a:srgbClr val="8B5CF6"/>
            </a:solidFill>
            <a:prstDash val="solid"/>
          </a:ln>
        </p:spPr>
      </p:sp>
      <p:pic>
        <p:nvPicPr>
          <p:cNvPr id="17" name="Image 3" descr="assets/icon2_download_teal.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Download</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pip saves it on your computer</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0FDF4"/>
          </a:solidFill>
          <a:ln w="19050">
            <a:solidFill>
              <a:srgbClr val="10B981"/>
            </a:solidFill>
            <a:prstDash val="solid"/>
          </a:ln>
        </p:spPr>
      </p:sp>
      <p:pic>
        <p:nvPicPr>
          <p:cNvPr id="22" name="Image 4" descr="assets/icon2_check_green.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Import and use</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now your program can import it</a:t>
            </a:r>
            <a:endParaRPr lang="en-US" sz="1300" dirty="0"/>
          </a:p>
        </p:txBody>
      </p:sp>
      <p:sp>
        <p:nvSpPr>
          <p:cNvPr id="25" name="Shape 18"/>
          <p:cNvSpPr/>
          <p:nvPr/>
        </p:nvSpPr>
        <p:spPr>
          <a:xfrm>
            <a:off x="731520" y="4480560"/>
            <a:ext cx="3474720" cy="868680"/>
          </a:xfrm>
          <a:prstGeom prst="roundRect">
            <a:avLst>
              <a:gd name="adj" fmla="val 10526"/>
            </a:avLst>
          </a:prstGeom>
          <a:solidFill>
            <a:srgbClr val="F0FDFA"/>
          </a:solidFill>
          <a:ln w="19050">
            <a:solidFill>
              <a:srgbClr val="14B8A6"/>
            </a:solidFill>
            <a:prstDash val="solid"/>
          </a:ln>
        </p:spPr>
      </p:sp>
      <p:sp>
        <p:nvSpPr>
          <p:cNvPr id="26" name="Text 19"/>
          <p:cNvSpPr txBox="1"/>
          <p:nvPr/>
        </p:nvSpPr>
        <p:spPr>
          <a:xfrm>
            <a:off x="804672" y="4590288"/>
            <a:ext cx="3328416" cy="329184"/>
          </a:xfrm>
          <a:prstGeom prst="rect">
            <a:avLst/>
          </a:prstGeom>
          <a:noFill/>
          <a:ln/>
        </p:spPr>
        <p:txBody>
          <a:bodyPr wrap="square" rtlCol="0" anchor="t"/>
          <a:lstStyle/>
          <a:p>
            <a:pPr algn="ctr" indent="0" marL="0">
              <a:buNone/>
            </a:pPr>
            <a:r>
              <a:rPr lang="en-US" sz="1400" b="1" dirty="0">
                <a:solidFill>
                  <a:srgbClr val="1E293B"/>
                </a:solidFill>
                <a:latin typeface="Consolas" pitchFamily="34" charset="0"/>
                <a:ea typeface="Consolas" pitchFamily="34" charset="-122"/>
                <a:cs typeface="Consolas" pitchFamily="34" charset="-120"/>
              </a:rPr>
              <a:t>pip install requests</a:t>
            </a:r>
            <a:endParaRPr lang="en-US" sz="1400" dirty="0"/>
          </a:p>
        </p:txBody>
      </p:sp>
      <p:sp>
        <p:nvSpPr>
          <p:cNvPr id="27" name="Text 20"/>
          <p:cNvSpPr txBox="1"/>
          <p:nvPr/>
        </p:nvSpPr>
        <p:spPr>
          <a:xfrm>
            <a:off x="822960" y="4919472"/>
            <a:ext cx="3291840" cy="35661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adds a package</a:t>
            </a:r>
            <a:endParaRPr lang="en-US" sz="1300" dirty="0"/>
          </a:p>
        </p:txBody>
      </p:sp>
      <p:sp>
        <p:nvSpPr>
          <p:cNvPr id="28" name="Shape 21"/>
          <p:cNvSpPr/>
          <p:nvPr/>
        </p:nvSpPr>
        <p:spPr>
          <a:xfrm>
            <a:off x="4343400" y="4480560"/>
            <a:ext cx="3474720" cy="868680"/>
          </a:xfrm>
          <a:prstGeom prst="roundRect">
            <a:avLst>
              <a:gd name="adj" fmla="val 10526"/>
            </a:avLst>
          </a:prstGeom>
          <a:solidFill>
            <a:srgbClr val="F5F3FF"/>
          </a:solidFill>
          <a:ln w="19050">
            <a:solidFill>
              <a:srgbClr val="8B5CF6"/>
            </a:solidFill>
            <a:prstDash val="solid"/>
          </a:ln>
        </p:spPr>
      </p:sp>
      <p:sp>
        <p:nvSpPr>
          <p:cNvPr id="29" name="Text 22"/>
          <p:cNvSpPr txBox="1"/>
          <p:nvPr/>
        </p:nvSpPr>
        <p:spPr>
          <a:xfrm>
            <a:off x="4416552" y="4590288"/>
            <a:ext cx="3328416" cy="329184"/>
          </a:xfrm>
          <a:prstGeom prst="rect">
            <a:avLst/>
          </a:prstGeom>
          <a:noFill/>
          <a:ln/>
        </p:spPr>
        <p:txBody>
          <a:bodyPr wrap="square" rtlCol="0" anchor="t"/>
          <a:lstStyle/>
          <a:p>
            <a:pPr algn="ctr" indent="0" marL="0">
              <a:buNone/>
            </a:pPr>
            <a:r>
              <a:rPr lang="en-US" sz="1400" b="1" dirty="0">
                <a:solidFill>
                  <a:srgbClr val="1E293B"/>
                </a:solidFill>
                <a:latin typeface="Consolas" pitchFamily="34" charset="0"/>
                <a:ea typeface="Consolas" pitchFamily="34" charset="-122"/>
                <a:cs typeface="Consolas" pitchFamily="34" charset="-120"/>
              </a:rPr>
              <a:t>pip list</a:t>
            </a:r>
            <a:endParaRPr lang="en-US" sz="1400" dirty="0"/>
          </a:p>
        </p:txBody>
      </p:sp>
      <p:sp>
        <p:nvSpPr>
          <p:cNvPr id="30" name="Text 23"/>
          <p:cNvSpPr txBox="1"/>
          <p:nvPr/>
        </p:nvSpPr>
        <p:spPr>
          <a:xfrm>
            <a:off x="4434840" y="4919472"/>
            <a:ext cx="3291840" cy="35661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shows installed packages</a:t>
            </a:r>
            <a:endParaRPr lang="en-US" sz="1300" dirty="0"/>
          </a:p>
        </p:txBody>
      </p:sp>
      <p:sp>
        <p:nvSpPr>
          <p:cNvPr id="31" name="Shape 24"/>
          <p:cNvSpPr/>
          <p:nvPr/>
        </p:nvSpPr>
        <p:spPr>
          <a:xfrm>
            <a:off x="7955280" y="4480560"/>
            <a:ext cx="3474720" cy="868680"/>
          </a:xfrm>
          <a:prstGeom prst="roundRect">
            <a:avLst>
              <a:gd name="adj" fmla="val 10526"/>
            </a:avLst>
          </a:prstGeom>
          <a:solidFill>
            <a:srgbClr val="FFF7ED"/>
          </a:solidFill>
          <a:ln w="19050">
            <a:solidFill>
              <a:srgbClr val="F97316"/>
            </a:solidFill>
            <a:prstDash val="solid"/>
          </a:ln>
        </p:spPr>
      </p:sp>
      <p:sp>
        <p:nvSpPr>
          <p:cNvPr id="32" name="Text 25"/>
          <p:cNvSpPr txBox="1"/>
          <p:nvPr/>
        </p:nvSpPr>
        <p:spPr>
          <a:xfrm>
            <a:off x="8028432" y="4590288"/>
            <a:ext cx="3328416" cy="329184"/>
          </a:xfrm>
          <a:prstGeom prst="rect">
            <a:avLst/>
          </a:prstGeom>
          <a:noFill/>
          <a:ln/>
        </p:spPr>
        <p:txBody>
          <a:bodyPr wrap="square" rtlCol="0" anchor="t"/>
          <a:lstStyle/>
          <a:p>
            <a:pPr algn="ctr" indent="0" marL="0">
              <a:buNone/>
            </a:pPr>
            <a:r>
              <a:rPr lang="en-US" sz="1400" b="1" dirty="0">
                <a:solidFill>
                  <a:srgbClr val="1E293B"/>
                </a:solidFill>
                <a:latin typeface="Consolas" pitchFamily="34" charset="0"/>
                <a:ea typeface="Consolas" pitchFamily="34" charset="-122"/>
                <a:cs typeface="Consolas" pitchFamily="34" charset="-120"/>
              </a:rPr>
              <a:t>pip uninstall requests</a:t>
            </a:r>
            <a:endParaRPr lang="en-US" sz="1400" dirty="0"/>
          </a:p>
        </p:txBody>
      </p:sp>
      <p:sp>
        <p:nvSpPr>
          <p:cNvPr id="33" name="Text 26"/>
          <p:cNvSpPr txBox="1"/>
          <p:nvPr/>
        </p:nvSpPr>
        <p:spPr>
          <a:xfrm>
            <a:off x="8046720" y="4919472"/>
            <a:ext cx="3291840" cy="356616"/>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removes a package</a:t>
            </a:r>
            <a:endParaRPr lang="en-US" sz="1300" dirty="0"/>
          </a:p>
        </p:txBody>
      </p:sp>
      <p:sp>
        <p:nvSpPr>
          <p:cNvPr id="34" name="Shape 27"/>
          <p:cNvSpPr/>
          <p:nvPr/>
        </p:nvSpPr>
        <p:spPr>
          <a:xfrm>
            <a:off x="731520" y="5559552"/>
            <a:ext cx="10698480" cy="0"/>
          </a:xfrm>
          <a:prstGeom prst="line">
            <a:avLst/>
          </a:prstGeom>
          <a:noFill/>
          <a:ln w="12700">
            <a:solidFill>
              <a:srgbClr val="E2E8F0"/>
            </a:solidFill>
            <a:prstDash val="solid"/>
          </a:ln>
        </p:spPr>
      </p:sp>
      <p:sp>
        <p:nvSpPr>
          <p:cNvPr id="35" name="Shape 28"/>
          <p:cNvSpPr/>
          <p:nvPr/>
        </p:nvSpPr>
        <p:spPr>
          <a:xfrm>
            <a:off x="777240" y="5650992"/>
            <a:ext cx="475488" cy="475488"/>
          </a:xfrm>
          <a:prstGeom prst="ellipse">
            <a:avLst/>
          </a:prstGeom>
          <a:solidFill>
            <a:srgbClr val="FCE7F3"/>
          </a:solidFill>
          <a:ln w="19050">
            <a:solidFill>
              <a:srgbClr val="EC4899"/>
            </a:solidFill>
            <a:prstDash val="solid"/>
          </a:ln>
        </p:spPr>
      </p:sp>
      <p:pic>
        <p:nvPicPr>
          <p:cNvPr id="36"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7" name="Shape 29"/>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8" name="Shape 30"/>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9" name="Text 31"/>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Run pip commands in the terminal, not inside a Python program.</a:t>
            </a:r>
            <a:endParaRPr lang="en-US" sz="1400" dirty="0"/>
          </a:p>
        </p:txBody>
      </p:sp>
      <p:sp>
        <p:nvSpPr>
          <p:cNvPr id="40" name="Text 32"/>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41" name="Text 33"/>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13</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Virtual Environments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Each recipe gets its own kitchen counter with its own set of ingredients. Nothing from one dish ends up in another, so the flavours never clash.</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virtual environment is a separate folder with its own Python packages for one project. Each project keeps the versions it needs without disturbing the others.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Every professional project. Teams create one environment per project so the code runs the same on every machine.</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VIRTUAL ENVIRONMENT STEPS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Private Room for Each Project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FF7ED"/>
          </a:solidFill>
          <a:ln w="19050">
            <a:solidFill>
              <a:srgbClr val="F97316"/>
            </a:solidFill>
            <a:prstDash val="solid"/>
          </a:ln>
        </p:spPr>
      </p:sp>
      <p:pic>
        <p:nvPicPr>
          <p:cNvPr id="7" name="Image 1" descr="assets/icon2_folder_orange.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Create</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run the venv module and name the folder env</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0FDF4"/>
          </a:solidFill>
          <a:ln w="19050">
            <a:solidFill>
              <a:srgbClr val="10B981"/>
            </a:solidFill>
            <a:prstDash val="solid"/>
          </a:ln>
        </p:spPr>
      </p:sp>
      <p:pic>
        <p:nvPicPr>
          <p:cNvPr id="12" name="Image 2" descr="assets/icon2_play_green.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Activate</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Windows: env\Scripts\activate</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0FDFA"/>
          </a:solidFill>
          <a:ln w="19050">
            <a:solidFill>
              <a:srgbClr val="14B8A6"/>
            </a:solidFill>
            <a:prstDash val="solid"/>
          </a:ln>
        </p:spPr>
      </p:sp>
      <p:pic>
        <p:nvPicPr>
          <p:cNvPr id="17" name="Image 3" descr="assets/icon2_download_teal.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Install</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pip adds packages into env only</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8FAFC"/>
          </a:solidFill>
          <a:ln w="19050">
            <a:solidFill>
              <a:srgbClr val="CBD5E1"/>
            </a:solidFill>
            <a:prstDash val="solid"/>
          </a:ln>
        </p:spPr>
      </p:sp>
      <p:pic>
        <p:nvPicPr>
          <p:cNvPr id="22" name="Image 4" descr="assets/icon2_lock_navy.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Deactivate</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type deactivate to leave</a:t>
            </a:r>
            <a:endParaRPr lang="en-US" sz="1300" dirty="0"/>
          </a:p>
        </p:txBody>
      </p:sp>
      <p:sp>
        <p:nvSpPr>
          <p:cNvPr id="25" name="Shape 18"/>
          <p:cNvSpPr/>
          <p:nvPr/>
        </p:nvSpPr>
        <p:spPr>
          <a:xfrm>
            <a:off x="731520" y="4480560"/>
            <a:ext cx="5212080" cy="868680"/>
          </a:xfrm>
          <a:prstGeom prst="roundRect">
            <a:avLst>
              <a:gd name="adj" fmla="val 10526"/>
            </a:avLst>
          </a:prstGeom>
          <a:solidFill>
            <a:srgbClr val="F5F3FF"/>
          </a:solidFill>
          <a:ln w="19050">
            <a:solidFill>
              <a:srgbClr val="8B5CF6"/>
            </a:solidFill>
            <a:prstDash val="solid"/>
          </a:ln>
        </p:spPr>
      </p:sp>
      <p:sp>
        <p:nvSpPr>
          <p:cNvPr id="26" name="Text 19"/>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Project A room</a:t>
            </a:r>
            <a:endParaRPr lang="en-US" sz="1550" dirty="0"/>
          </a:p>
        </p:txBody>
      </p:sp>
      <p:sp>
        <p:nvSpPr>
          <p:cNvPr id="27" name="Text 20"/>
          <p:cNvSpPr txBox="1"/>
          <p:nvPr/>
        </p:nvSpPr>
        <p:spPr>
          <a:xfrm>
            <a:off x="8229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its own packages and versions</a:t>
            </a:r>
            <a:endParaRPr lang="en-US" sz="1350" dirty="0"/>
          </a:p>
        </p:txBody>
      </p:sp>
      <p:sp>
        <p:nvSpPr>
          <p:cNvPr id="28" name="Shape 21"/>
          <p:cNvSpPr/>
          <p:nvPr/>
        </p:nvSpPr>
        <p:spPr>
          <a:xfrm>
            <a:off x="6217920" y="4480560"/>
            <a:ext cx="5212080" cy="868680"/>
          </a:xfrm>
          <a:prstGeom prst="roundRect">
            <a:avLst>
              <a:gd name="adj" fmla="val 10526"/>
            </a:avLst>
          </a:prstGeom>
          <a:solidFill>
            <a:srgbClr val="F0FDFA"/>
          </a:solidFill>
          <a:ln w="19050">
            <a:solidFill>
              <a:srgbClr val="14B8A6"/>
            </a:solidFill>
            <a:prstDash val="solid"/>
          </a:ln>
        </p:spPr>
      </p:sp>
      <p:sp>
        <p:nvSpPr>
          <p:cNvPr id="29" name="Text 22"/>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Project B room</a:t>
            </a:r>
            <a:endParaRPr lang="en-US" sz="1550" dirty="0"/>
          </a:p>
        </p:txBody>
      </p:sp>
      <p:sp>
        <p:nvSpPr>
          <p:cNvPr id="30" name="Text 23"/>
          <p:cNvSpPr txBox="1"/>
          <p:nvPr/>
        </p:nvSpPr>
        <p:spPr>
          <a:xfrm>
            <a:off x="63093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different packages, no clashes</a:t>
            </a:r>
            <a:endParaRPr lang="en-US" sz="1350" dirty="0"/>
          </a:p>
        </p:txBody>
      </p:sp>
      <p:sp>
        <p:nvSpPr>
          <p:cNvPr id="31" name="Shape 24"/>
          <p:cNvSpPr/>
          <p:nvPr/>
        </p:nvSpPr>
        <p:spPr>
          <a:xfrm>
            <a:off x="731520" y="5559552"/>
            <a:ext cx="10698480" cy="0"/>
          </a:xfrm>
          <a:prstGeom prst="line">
            <a:avLst/>
          </a:prstGeom>
          <a:noFill/>
          <a:ln w="12700">
            <a:solidFill>
              <a:srgbClr val="E2E8F0"/>
            </a:solidFill>
            <a:prstDash val="solid"/>
          </a:ln>
        </p:spPr>
      </p:sp>
      <p:sp>
        <p:nvSpPr>
          <p:cNvPr id="32"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4" name="Shape 26"/>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5"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On Mac and Linux, activation uses the file env/bin/activate instead.</a:t>
            </a:r>
            <a:endParaRPr lang="en-US" sz="1400" dirty="0"/>
          </a:p>
        </p:txBody>
      </p:sp>
      <p:sp>
        <p:nvSpPr>
          <p:cNvPr id="37"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8"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WHERE IT IS USED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Shortcuts and Modules in the Real World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59152"/>
            <a:ext cx="5120640" cy="320040"/>
          </a:xfrm>
          <a:prstGeom prst="rect">
            <a:avLst/>
          </a:prstGeom>
          <a:noFill/>
          <a:ln/>
        </p:spPr>
        <p:txBody>
          <a:bodyPr wrap="square" rtlCol="0" anchor="ctr"/>
          <a:lstStyle/>
          <a:p>
            <a:pPr indent="0" marL="0">
              <a:buNone/>
            </a:pPr>
            <a:r>
              <a:rPr lang="en-US" sz="1400" b="1" spc="100" kern="0" dirty="0">
                <a:solidFill>
                  <a:srgbClr val="14B8A6"/>
                </a:solidFill>
                <a:latin typeface="Calibri" pitchFamily="34" charset="0"/>
                <a:ea typeface="Calibri" pitchFamily="34" charset="-122"/>
                <a:cs typeface="Calibri" pitchFamily="34" charset="-120"/>
              </a:rPr>
              <a:t>Industries</a:t>
            </a:r>
            <a:endParaRPr lang="en-US" sz="1400" dirty="0"/>
          </a:p>
        </p:txBody>
      </p:sp>
      <p:sp>
        <p:nvSpPr>
          <p:cNvPr id="7" name="Shape 4"/>
          <p:cNvSpPr/>
          <p:nvPr/>
        </p:nvSpPr>
        <p:spPr>
          <a:xfrm>
            <a:off x="731520" y="2743200"/>
            <a:ext cx="5212080" cy="749808"/>
          </a:xfrm>
          <a:prstGeom prst="roundRect">
            <a:avLst>
              <a:gd name="adj" fmla="val 9756"/>
            </a:avLst>
          </a:prstGeom>
          <a:solidFill>
            <a:srgbClr val="FFFFFF"/>
          </a:solidFill>
          <a:ln w="15875">
            <a:solidFill>
              <a:srgbClr val="14B8A6"/>
            </a:solidFill>
            <a:prstDash val="solid"/>
          </a:ln>
        </p:spPr>
      </p:sp>
      <p:pic>
        <p:nvPicPr>
          <p:cNvPr id="8" name="Image 1" descr="assets/icon2_chartbar_teal.png">    </p:cNvPr>
          <p:cNvPicPr>
            <a:picLocks noChangeAspect="1"/>
          </p:cNvPicPr>
          <p:nvPr/>
        </p:nvPicPr>
        <p:blipFill>
          <a:blip r:embed="rId2"/>
          <a:stretch>
            <a:fillRect/>
          </a:stretch>
        </p:blipFill>
        <p:spPr>
          <a:xfrm>
            <a:off x="896112" y="2916936"/>
            <a:ext cx="402336" cy="402336"/>
          </a:xfrm>
          <a:prstGeom prst="rect">
            <a:avLst/>
          </a:prstGeom>
        </p:spPr>
      </p:pic>
      <p:sp>
        <p:nvSpPr>
          <p:cNvPr id="9" name="Text 5"/>
          <p:cNvSpPr txBox="1"/>
          <p:nvPr/>
        </p:nvSpPr>
        <p:spPr>
          <a:xfrm>
            <a:off x="14630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Data and Analytics</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comprehensions and sorted clean and rank data</a:t>
            </a:r>
            <a:endParaRPr lang="en-US" sz="1500" dirty="0"/>
          </a:p>
        </p:txBody>
      </p:sp>
      <p:sp>
        <p:nvSpPr>
          <p:cNvPr id="10" name="Shape 6"/>
          <p:cNvSpPr/>
          <p:nvPr/>
        </p:nvSpPr>
        <p:spPr>
          <a:xfrm>
            <a:off x="731520" y="3611880"/>
            <a:ext cx="5212080" cy="749808"/>
          </a:xfrm>
          <a:prstGeom prst="roundRect">
            <a:avLst>
              <a:gd name="adj" fmla="val 9756"/>
            </a:avLst>
          </a:prstGeom>
          <a:solidFill>
            <a:srgbClr val="FFFFFF"/>
          </a:solidFill>
          <a:ln w="15875">
            <a:solidFill>
              <a:srgbClr val="14B8A6"/>
            </a:solidFill>
            <a:prstDash val="solid"/>
          </a:ln>
        </p:spPr>
      </p:sp>
      <p:pic>
        <p:nvPicPr>
          <p:cNvPr id="11" name="Image 2" descr="assets/icon2_bank_navy.png">    </p:cNvPr>
          <p:cNvPicPr>
            <a:picLocks noChangeAspect="1"/>
          </p:cNvPicPr>
          <p:nvPr/>
        </p:nvPicPr>
        <p:blipFill>
          <a:blip r:embed="rId3"/>
          <a:stretch>
            <a:fillRect/>
          </a:stretch>
        </p:blipFill>
        <p:spPr>
          <a:xfrm>
            <a:off x="896112" y="3785616"/>
            <a:ext cx="402336" cy="402336"/>
          </a:xfrm>
          <a:prstGeom prst="rect">
            <a:avLst/>
          </a:prstGeom>
        </p:spPr>
      </p:pic>
      <p:sp>
        <p:nvSpPr>
          <p:cNvPr id="12" name="Text 7"/>
          <p:cNvSpPr txBox="1"/>
          <p:nvPr/>
        </p:nvSpPr>
        <p:spPr>
          <a:xfrm>
            <a:off x="14630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Banking and Finance</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math and datetime for interest and due dates</a:t>
            </a:r>
            <a:endParaRPr lang="en-US" sz="1500" dirty="0"/>
          </a:p>
        </p:txBody>
      </p:sp>
      <p:sp>
        <p:nvSpPr>
          <p:cNvPr id="13" name="Shape 8"/>
          <p:cNvSpPr/>
          <p:nvPr/>
        </p:nvSpPr>
        <p:spPr>
          <a:xfrm>
            <a:off x="731520" y="4480560"/>
            <a:ext cx="5212080" cy="749808"/>
          </a:xfrm>
          <a:prstGeom prst="roundRect">
            <a:avLst>
              <a:gd name="adj" fmla="val 9756"/>
            </a:avLst>
          </a:prstGeom>
          <a:solidFill>
            <a:srgbClr val="FFFFFF"/>
          </a:solidFill>
          <a:ln w="15875">
            <a:solidFill>
              <a:srgbClr val="14B8A6"/>
            </a:solidFill>
            <a:prstDash val="solid"/>
          </a:ln>
        </p:spPr>
      </p:sp>
      <p:pic>
        <p:nvPicPr>
          <p:cNvPr id="14" name="Image 3" descr="assets/icon2_code_purple.png">    </p:cNvPr>
          <p:cNvPicPr>
            <a:picLocks noChangeAspect="1"/>
          </p:cNvPicPr>
          <p:nvPr/>
        </p:nvPicPr>
        <p:blipFill>
          <a:blip r:embed="rId4"/>
          <a:stretch>
            <a:fillRect/>
          </a:stretch>
        </p:blipFill>
        <p:spPr>
          <a:xfrm>
            <a:off x="896112" y="4654296"/>
            <a:ext cx="402336" cy="402336"/>
          </a:xfrm>
          <a:prstGeom prst="rect">
            <a:avLst/>
          </a:prstGeom>
        </p:spPr>
      </p:pic>
      <p:sp>
        <p:nvSpPr>
          <p:cNvPr id="15" name="Text 9"/>
          <p:cNvSpPr txBox="1"/>
          <p:nvPr/>
        </p:nvSpPr>
        <p:spPr>
          <a:xfrm>
            <a:off x="14630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Software Companies</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shared modules reused across projects</a:t>
            </a:r>
            <a:endParaRPr lang="en-US" sz="1500" dirty="0"/>
          </a:p>
        </p:txBody>
      </p:sp>
      <p:sp>
        <p:nvSpPr>
          <p:cNvPr id="16" name="Shape 10"/>
          <p:cNvSpPr/>
          <p:nvPr/>
        </p:nvSpPr>
        <p:spPr>
          <a:xfrm>
            <a:off x="731520" y="5349240"/>
            <a:ext cx="5212080" cy="749808"/>
          </a:xfrm>
          <a:prstGeom prst="roundRect">
            <a:avLst>
              <a:gd name="adj" fmla="val 9756"/>
            </a:avLst>
          </a:prstGeom>
          <a:solidFill>
            <a:srgbClr val="FFFFFF"/>
          </a:solidFill>
          <a:ln w="15875">
            <a:solidFill>
              <a:srgbClr val="14B8A6"/>
            </a:solidFill>
            <a:prstDash val="solid"/>
          </a:ln>
        </p:spPr>
      </p:sp>
      <p:pic>
        <p:nvPicPr>
          <p:cNvPr id="17" name="Image 4" descr="assets/icon2_monitor_navy.png">    </p:cNvPr>
          <p:cNvPicPr>
            <a:picLocks noChangeAspect="1"/>
          </p:cNvPicPr>
          <p:nvPr/>
        </p:nvPicPr>
        <p:blipFill>
          <a:blip r:embed="rId5"/>
          <a:stretch>
            <a:fillRect/>
          </a:stretch>
        </p:blipFill>
        <p:spPr>
          <a:xfrm>
            <a:off x="896112" y="5522976"/>
            <a:ext cx="402336" cy="402336"/>
          </a:xfrm>
          <a:prstGeom prst="rect">
            <a:avLst/>
          </a:prstGeom>
        </p:spPr>
      </p:pic>
      <p:sp>
        <p:nvSpPr>
          <p:cNvPr id="18" name="Text 11"/>
          <p:cNvSpPr txBox="1"/>
          <p:nvPr/>
        </p:nvSpPr>
        <p:spPr>
          <a:xfrm>
            <a:off x="14630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Web and App Teams</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virtual environments per project</a:t>
            </a:r>
            <a:endParaRPr lang="en-US" sz="1500" dirty="0"/>
          </a:p>
        </p:txBody>
      </p:sp>
      <p:sp>
        <p:nvSpPr>
          <p:cNvPr id="19" name="Text 12"/>
          <p:cNvSpPr txBox="1"/>
          <p:nvPr/>
        </p:nvSpPr>
        <p:spPr>
          <a:xfrm>
            <a:off x="6217920" y="2359152"/>
            <a:ext cx="5120640" cy="320040"/>
          </a:xfrm>
          <a:prstGeom prst="rect">
            <a:avLst/>
          </a:prstGeom>
          <a:noFill/>
          <a:ln/>
        </p:spPr>
        <p:txBody>
          <a:bodyPr wrap="square" rtlCol="0" anchor="ctr"/>
          <a:lstStyle/>
          <a:p>
            <a:pPr indent="0" marL="0">
              <a:buNone/>
            </a:pPr>
            <a:r>
              <a:rPr lang="en-US" sz="1400" b="1" spc="100" kern="0" dirty="0">
                <a:solidFill>
                  <a:srgbClr val="8B5CF6"/>
                </a:solidFill>
                <a:latin typeface="Calibri" pitchFamily="34" charset="0"/>
                <a:ea typeface="Calibri" pitchFamily="34" charset="-122"/>
                <a:cs typeface="Calibri" pitchFamily="34" charset="-120"/>
              </a:rPr>
              <a:t>Real time projects</a:t>
            </a:r>
            <a:endParaRPr lang="en-US" sz="1400" dirty="0"/>
          </a:p>
        </p:txBody>
      </p:sp>
      <p:sp>
        <p:nvSpPr>
          <p:cNvPr id="20" name="Shape 13"/>
          <p:cNvSpPr/>
          <p:nvPr/>
        </p:nvSpPr>
        <p:spPr>
          <a:xfrm>
            <a:off x="6217920" y="2743200"/>
            <a:ext cx="5212080" cy="749808"/>
          </a:xfrm>
          <a:prstGeom prst="roundRect">
            <a:avLst>
              <a:gd name="adj" fmla="val 9756"/>
            </a:avLst>
          </a:prstGeom>
          <a:solidFill>
            <a:srgbClr val="FFFFFF"/>
          </a:solidFill>
          <a:ln w="15875">
            <a:solidFill>
              <a:srgbClr val="8B5CF6"/>
            </a:solidFill>
            <a:prstDash val="solid"/>
          </a:ln>
        </p:spPr>
      </p:sp>
      <p:pic>
        <p:nvPicPr>
          <p:cNvPr id="21" name="Image 5" descr="assets/icon2_users_pink.png">    </p:cNvPr>
          <p:cNvPicPr>
            <a:picLocks noChangeAspect="1"/>
          </p:cNvPicPr>
          <p:nvPr/>
        </p:nvPicPr>
        <p:blipFill>
          <a:blip r:embed="rId6"/>
          <a:stretch>
            <a:fillRect/>
          </a:stretch>
        </p:blipFill>
        <p:spPr>
          <a:xfrm>
            <a:off x="6382512" y="2916936"/>
            <a:ext cx="402336" cy="402336"/>
          </a:xfrm>
          <a:prstGeom prst="rect">
            <a:avLst/>
          </a:prstGeom>
        </p:spPr>
      </p:pic>
      <p:sp>
        <p:nvSpPr>
          <p:cNvPr id="22" name="Text 14"/>
          <p:cNvSpPr txBox="1"/>
          <p:nvPr/>
        </p:nvSpPr>
        <p:spPr>
          <a:xfrm>
            <a:off x="69494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Student Marks Analyser</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filter, sorted and zip on marks</a:t>
            </a:r>
            <a:endParaRPr lang="en-US" sz="1500" dirty="0"/>
          </a:p>
        </p:txBody>
      </p:sp>
      <p:sp>
        <p:nvSpPr>
          <p:cNvPr id="23" name="Shape 15"/>
          <p:cNvSpPr/>
          <p:nvPr/>
        </p:nvSpPr>
        <p:spPr>
          <a:xfrm>
            <a:off x="6217920" y="3611880"/>
            <a:ext cx="5212080" cy="749808"/>
          </a:xfrm>
          <a:prstGeom prst="roundRect">
            <a:avLst>
              <a:gd name="adj" fmla="val 9756"/>
            </a:avLst>
          </a:prstGeom>
          <a:solidFill>
            <a:srgbClr val="FFFFFF"/>
          </a:solidFill>
          <a:ln w="15875">
            <a:solidFill>
              <a:srgbClr val="8B5CF6"/>
            </a:solidFill>
            <a:prstDash val="solid"/>
          </a:ln>
        </p:spPr>
      </p:sp>
      <p:pic>
        <p:nvPicPr>
          <p:cNvPr id="24" name="Image 6" descr="assets/icon2_wallet_green.png">    </p:cNvPr>
          <p:cNvPicPr>
            <a:picLocks noChangeAspect="1"/>
          </p:cNvPicPr>
          <p:nvPr/>
        </p:nvPicPr>
        <p:blipFill>
          <a:blip r:embed="rId7"/>
          <a:stretch>
            <a:fillRect/>
          </a:stretch>
        </p:blipFill>
        <p:spPr>
          <a:xfrm>
            <a:off x="6382512" y="3785616"/>
            <a:ext cx="402336" cy="402336"/>
          </a:xfrm>
          <a:prstGeom prst="rect">
            <a:avLst/>
          </a:prstGeom>
        </p:spPr>
      </p:pic>
      <p:sp>
        <p:nvSpPr>
          <p:cNvPr id="25" name="Text 16"/>
          <p:cNvSpPr txBox="1"/>
          <p:nvPr/>
        </p:nvSpPr>
        <p:spPr>
          <a:xfrm>
            <a:off x="69494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Expense Tracker</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dates, totals and monthly summaries</a:t>
            </a:r>
            <a:endParaRPr lang="en-US" sz="1500" dirty="0"/>
          </a:p>
        </p:txBody>
      </p:sp>
      <p:sp>
        <p:nvSpPr>
          <p:cNvPr id="26" name="Shape 17"/>
          <p:cNvSpPr/>
          <p:nvPr/>
        </p:nvSpPr>
        <p:spPr>
          <a:xfrm>
            <a:off x="6217920" y="4480560"/>
            <a:ext cx="5212080" cy="749808"/>
          </a:xfrm>
          <a:prstGeom prst="roundRect">
            <a:avLst>
              <a:gd name="adj" fmla="val 9756"/>
            </a:avLst>
          </a:prstGeom>
          <a:solidFill>
            <a:srgbClr val="FFFFFF"/>
          </a:solidFill>
          <a:ln w="15875">
            <a:solidFill>
              <a:srgbClr val="8B5CF6"/>
            </a:solidFill>
            <a:prstDash val="solid"/>
          </a:ln>
        </p:spPr>
      </p:sp>
      <p:pic>
        <p:nvPicPr>
          <p:cNvPr id="27" name="Image 7" descr="assets/icon2_dices_orange.png">    </p:cNvPr>
          <p:cNvPicPr>
            <a:picLocks noChangeAspect="1"/>
          </p:cNvPicPr>
          <p:nvPr/>
        </p:nvPicPr>
        <p:blipFill>
          <a:blip r:embed="rId8"/>
          <a:stretch>
            <a:fillRect/>
          </a:stretch>
        </p:blipFill>
        <p:spPr>
          <a:xfrm>
            <a:off x="6382512" y="4654296"/>
            <a:ext cx="402336" cy="402336"/>
          </a:xfrm>
          <a:prstGeom prst="rect">
            <a:avLst/>
          </a:prstGeom>
        </p:spPr>
      </p:pic>
      <p:sp>
        <p:nvSpPr>
          <p:cNvPr id="28" name="Text 18"/>
          <p:cNvSpPr txBox="1"/>
          <p:nvPr/>
        </p:nvSpPr>
        <p:spPr>
          <a:xfrm>
            <a:off x="69494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Quiz Game</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random questions and score keeping</a:t>
            </a:r>
            <a:endParaRPr lang="en-US" sz="1500" dirty="0"/>
          </a:p>
        </p:txBody>
      </p:sp>
      <p:sp>
        <p:nvSpPr>
          <p:cNvPr id="29" name="Shape 19"/>
          <p:cNvSpPr/>
          <p:nvPr/>
        </p:nvSpPr>
        <p:spPr>
          <a:xfrm>
            <a:off x="6217920" y="5349240"/>
            <a:ext cx="5212080" cy="749808"/>
          </a:xfrm>
          <a:prstGeom prst="roundRect">
            <a:avLst>
              <a:gd name="adj" fmla="val 9756"/>
            </a:avLst>
          </a:prstGeom>
          <a:solidFill>
            <a:srgbClr val="FFFFFF"/>
          </a:solidFill>
          <a:ln w="15875">
            <a:solidFill>
              <a:srgbClr val="8B5CF6"/>
            </a:solidFill>
            <a:prstDash val="solid"/>
          </a:ln>
        </p:spPr>
      </p:sp>
      <p:pic>
        <p:nvPicPr>
          <p:cNvPr id="30" name="Image 8" descr="assets/icon2_library_navy.png">    </p:cNvPr>
          <p:cNvPicPr>
            <a:picLocks noChangeAspect="1"/>
          </p:cNvPicPr>
          <p:nvPr/>
        </p:nvPicPr>
        <p:blipFill>
          <a:blip r:embed="rId9"/>
          <a:stretch>
            <a:fillRect/>
          </a:stretch>
        </p:blipFill>
        <p:spPr>
          <a:xfrm>
            <a:off x="6382512" y="5522976"/>
            <a:ext cx="402336" cy="402336"/>
          </a:xfrm>
          <a:prstGeom prst="rect">
            <a:avLst/>
          </a:prstGeom>
        </p:spPr>
      </p:pic>
      <p:sp>
        <p:nvSpPr>
          <p:cNvPr id="31" name="Text 20"/>
          <p:cNvSpPr txBox="1"/>
          <p:nvPr/>
        </p:nvSpPr>
        <p:spPr>
          <a:xfrm>
            <a:off x="69494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Reusable Utility Library</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own module imported into every project</a:t>
            </a:r>
            <a:endParaRPr lang="en-US" sz="1500" dirty="0"/>
          </a:p>
        </p:txBody>
      </p:sp>
      <p:sp>
        <p:nvSpPr>
          <p:cNvPr id="32" name="Text 2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33" name="Text 2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PRACTICE TIME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Ravi's Practice Challenges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685800" y="2395728"/>
            <a:ext cx="2560320" cy="3749040"/>
          </a:xfrm>
          <a:prstGeom prst="roundRect">
            <a:avLst>
              <a:gd name="adj" fmla="val 3571"/>
            </a:avLst>
          </a:prstGeom>
          <a:solidFill>
            <a:srgbClr val="FFFFFF"/>
          </a:solidFill>
          <a:ln w="19050">
            <a:solidFill>
              <a:srgbClr val="8B5CF6"/>
            </a:solidFill>
            <a:prstDash val="solid"/>
          </a:ln>
        </p:spPr>
      </p:sp>
      <p:sp>
        <p:nvSpPr>
          <p:cNvPr id="7" name="Shape 4"/>
          <p:cNvSpPr/>
          <p:nvPr/>
        </p:nvSpPr>
        <p:spPr>
          <a:xfrm>
            <a:off x="868680" y="2560320"/>
            <a:ext cx="457200" cy="457200"/>
          </a:xfrm>
          <a:prstGeom prst="ellipse">
            <a:avLst/>
          </a:prstGeom>
          <a:solidFill>
            <a:srgbClr val="8B5CF6"/>
          </a:solidFill>
          <a:ln w="12700">
            <a:solidFill>
              <a:srgbClr val="FFFFFF"/>
            </a:solidFill>
            <a:prstDash val="solid"/>
          </a:ln>
        </p:spPr>
      </p:sp>
      <p:sp>
        <p:nvSpPr>
          <p:cNvPr id="8" name="Text 5"/>
          <p:cNvSpPr txBox="1"/>
          <p:nvPr/>
        </p:nvSpPr>
        <p:spPr>
          <a:xfrm>
            <a:off x="8686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630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Squares of Evens</a:t>
            </a:r>
            <a:endParaRPr lang="en-US" sz="1600" dirty="0"/>
          </a:p>
        </p:txBody>
      </p:sp>
      <p:sp>
        <p:nvSpPr>
          <p:cNvPr id="10" name="Text 7"/>
          <p:cNvSpPr txBox="1"/>
          <p:nvPr/>
        </p:nvSpPr>
        <p:spPr>
          <a:xfrm>
            <a:off x="9144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Use a comprehension for squares of the even numbers 1 to 10.</a:t>
            </a:r>
            <a:endParaRPr lang="en-US" sz="1350" dirty="0"/>
          </a:p>
        </p:txBody>
      </p:sp>
      <p:sp>
        <p:nvSpPr>
          <p:cNvPr id="11" name="Text 8"/>
          <p:cNvSpPr txBox="1"/>
          <p:nvPr/>
        </p:nvSpPr>
        <p:spPr>
          <a:xfrm>
            <a:off x="9144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12" name="Shape 9"/>
          <p:cNvSpPr/>
          <p:nvPr/>
        </p:nvSpPr>
        <p:spPr>
          <a:xfrm>
            <a:off x="914400" y="4453128"/>
            <a:ext cx="2103120" cy="411480"/>
          </a:xfrm>
          <a:prstGeom prst="roundRect">
            <a:avLst>
              <a:gd name="adj" fmla="val 13333"/>
            </a:avLst>
          </a:prstGeom>
          <a:solidFill>
            <a:srgbClr val="F1F5F9"/>
          </a:solidFill>
          <a:ln w="12700">
            <a:solidFill>
              <a:srgbClr val="CBD5E1"/>
            </a:solidFill>
            <a:prstDash val="solid"/>
          </a:ln>
        </p:spPr>
      </p:sp>
      <p:sp>
        <p:nvSpPr>
          <p:cNvPr id="13" name="Text 10"/>
          <p:cNvSpPr txBox="1"/>
          <p:nvPr/>
        </p:nvSpPr>
        <p:spPr>
          <a:xfrm>
            <a:off x="9144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1 to 10</a:t>
            </a:r>
            <a:endParaRPr lang="en-US" sz="1300" dirty="0"/>
          </a:p>
        </p:txBody>
      </p:sp>
      <p:sp>
        <p:nvSpPr>
          <p:cNvPr id="14" name="Text 11"/>
          <p:cNvSpPr txBox="1"/>
          <p:nvPr/>
        </p:nvSpPr>
        <p:spPr>
          <a:xfrm>
            <a:off x="9144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15" name="Shape 12"/>
          <p:cNvSpPr/>
          <p:nvPr/>
        </p:nvSpPr>
        <p:spPr>
          <a:xfrm>
            <a:off x="914400" y="5230368"/>
            <a:ext cx="2103120" cy="640080"/>
          </a:xfrm>
          <a:prstGeom prst="roundRect">
            <a:avLst>
              <a:gd name="adj" fmla="val 8571"/>
            </a:avLst>
          </a:prstGeom>
          <a:solidFill>
            <a:srgbClr val="FFEDD5"/>
          </a:solidFill>
          <a:ln w="25400">
            <a:solidFill>
              <a:srgbClr val="F97316"/>
            </a:solidFill>
            <a:prstDash val="solid"/>
          </a:ln>
        </p:spPr>
      </p:sp>
      <p:sp>
        <p:nvSpPr>
          <p:cNvPr id="16" name="Text 13"/>
          <p:cNvSpPr txBox="1"/>
          <p:nvPr/>
        </p:nvSpPr>
        <p:spPr>
          <a:xfrm>
            <a:off x="9144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4 16 36 64 100</a:t>
            </a:r>
            <a:endParaRPr lang="en-US" sz="1300" dirty="0"/>
          </a:p>
        </p:txBody>
      </p:sp>
      <p:sp>
        <p:nvSpPr>
          <p:cNvPr id="17" name="Shape 14"/>
          <p:cNvSpPr/>
          <p:nvPr/>
        </p:nvSpPr>
        <p:spPr>
          <a:xfrm>
            <a:off x="3429000" y="2395728"/>
            <a:ext cx="2560320" cy="3749040"/>
          </a:xfrm>
          <a:prstGeom prst="roundRect">
            <a:avLst>
              <a:gd name="adj" fmla="val 3571"/>
            </a:avLst>
          </a:prstGeom>
          <a:solidFill>
            <a:srgbClr val="FFFFFF"/>
          </a:solidFill>
          <a:ln w="19050">
            <a:solidFill>
              <a:srgbClr val="14B8A6"/>
            </a:solidFill>
            <a:prstDash val="solid"/>
          </a:ln>
        </p:spPr>
      </p:sp>
      <p:sp>
        <p:nvSpPr>
          <p:cNvPr id="18" name="Shape 15"/>
          <p:cNvSpPr/>
          <p:nvPr/>
        </p:nvSpPr>
        <p:spPr>
          <a:xfrm>
            <a:off x="3611880" y="2560320"/>
            <a:ext cx="457200" cy="457200"/>
          </a:xfrm>
          <a:prstGeom prst="ellipse">
            <a:avLst/>
          </a:prstGeom>
          <a:solidFill>
            <a:srgbClr val="14B8A6"/>
          </a:solidFill>
          <a:ln w="12700">
            <a:solidFill>
              <a:srgbClr val="FFFFFF"/>
            </a:solidFill>
            <a:prstDash val="solid"/>
          </a:ln>
        </p:spPr>
      </p:sp>
      <p:sp>
        <p:nvSpPr>
          <p:cNvPr id="19" name="Text 16"/>
          <p:cNvSpPr txBox="1"/>
          <p:nvPr/>
        </p:nvSpPr>
        <p:spPr>
          <a:xfrm>
            <a:off x="36118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7"/>
          <p:cNvSpPr txBox="1"/>
          <p:nvPr/>
        </p:nvSpPr>
        <p:spPr>
          <a:xfrm>
            <a:off x="42062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Passing Marks</a:t>
            </a:r>
            <a:endParaRPr lang="en-US" sz="1600" dirty="0"/>
          </a:p>
        </p:txBody>
      </p:sp>
      <p:sp>
        <p:nvSpPr>
          <p:cNvPr id="21" name="Text 18"/>
          <p:cNvSpPr txBox="1"/>
          <p:nvPr/>
        </p:nvSpPr>
        <p:spPr>
          <a:xfrm>
            <a:off x="36576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Use filter to keep only the marks that are 50 or more.</a:t>
            </a:r>
            <a:endParaRPr lang="en-US" sz="1350" dirty="0"/>
          </a:p>
        </p:txBody>
      </p:sp>
      <p:sp>
        <p:nvSpPr>
          <p:cNvPr id="22" name="Text 19"/>
          <p:cNvSpPr txBox="1"/>
          <p:nvPr/>
        </p:nvSpPr>
        <p:spPr>
          <a:xfrm>
            <a:off x="36576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23" name="Shape 20"/>
          <p:cNvSpPr/>
          <p:nvPr/>
        </p:nvSpPr>
        <p:spPr>
          <a:xfrm>
            <a:off x="3657600" y="4453128"/>
            <a:ext cx="2103120" cy="411480"/>
          </a:xfrm>
          <a:prstGeom prst="roundRect">
            <a:avLst>
              <a:gd name="adj" fmla="val 13333"/>
            </a:avLst>
          </a:prstGeom>
          <a:solidFill>
            <a:srgbClr val="F1F5F9"/>
          </a:solidFill>
          <a:ln w="12700">
            <a:solidFill>
              <a:srgbClr val="CBD5E1"/>
            </a:solidFill>
            <a:prstDash val="solid"/>
          </a:ln>
        </p:spPr>
      </p:sp>
      <p:sp>
        <p:nvSpPr>
          <p:cNvPr id="24" name="Text 21"/>
          <p:cNvSpPr txBox="1"/>
          <p:nvPr/>
        </p:nvSpPr>
        <p:spPr>
          <a:xfrm>
            <a:off x="36576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35 82 47 91 60</a:t>
            </a:r>
            <a:endParaRPr lang="en-US" sz="1300" dirty="0"/>
          </a:p>
        </p:txBody>
      </p:sp>
      <p:sp>
        <p:nvSpPr>
          <p:cNvPr id="25" name="Text 22"/>
          <p:cNvSpPr txBox="1"/>
          <p:nvPr/>
        </p:nvSpPr>
        <p:spPr>
          <a:xfrm>
            <a:off x="36576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26" name="Shape 23"/>
          <p:cNvSpPr/>
          <p:nvPr/>
        </p:nvSpPr>
        <p:spPr>
          <a:xfrm>
            <a:off x="3657600" y="5230368"/>
            <a:ext cx="2103120" cy="640080"/>
          </a:xfrm>
          <a:prstGeom prst="roundRect">
            <a:avLst>
              <a:gd name="adj" fmla="val 8571"/>
            </a:avLst>
          </a:prstGeom>
          <a:solidFill>
            <a:srgbClr val="FFEDD5"/>
          </a:solidFill>
          <a:ln w="25400">
            <a:solidFill>
              <a:srgbClr val="F97316"/>
            </a:solidFill>
            <a:prstDash val="solid"/>
          </a:ln>
        </p:spPr>
      </p:sp>
      <p:sp>
        <p:nvSpPr>
          <p:cNvPr id="27" name="Text 24"/>
          <p:cNvSpPr txBox="1"/>
          <p:nvPr/>
        </p:nvSpPr>
        <p:spPr>
          <a:xfrm>
            <a:off x="36576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82 91 60</a:t>
            </a:r>
            <a:endParaRPr lang="en-US" sz="1300" dirty="0"/>
          </a:p>
        </p:txBody>
      </p:sp>
      <p:sp>
        <p:nvSpPr>
          <p:cNvPr id="28" name="Shape 25"/>
          <p:cNvSpPr/>
          <p:nvPr/>
        </p:nvSpPr>
        <p:spPr>
          <a:xfrm>
            <a:off x="6172200" y="2395728"/>
            <a:ext cx="2560320" cy="3749040"/>
          </a:xfrm>
          <a:prstGeom prst="roundRect">
            <a:avLst>
              <a:gd name="adj" fmla="val 3571"/>
            </a:avLst>
          </a:prstGeom>
          <a:solidFill>
            <a:srgbClr val="FFFFFF"/>
          </a:solidFill>
          <a:ln w="19050">
            <a:solidFill>
              <a:srgbClr val="8B5CF6"/>
            </a:solidFill>
            <a:prstDash val="solid"/>
          </a:ln>
        </p:spPr>
      </p:sp>
      <p:sp>
        <p:nvSpPr>
          <p:cNvPr id="29" name="Shape 26"/>
          <p:cNvSpPr/>
          <p:nvPr/>
        </p:nvSpPr>
        <p:spPr>
          <a:xfrm>
            <a:off x="6355080" y="2560320"/>
            <a:ext cx="457200" cy="457200"/>
          </a:xfrm>
          <a:prstGeom prst="ellipse">
            <a:avLst/>
          </a:prstGeom>
          <a:solidFill>
            <a:srgbClr val="8B5CF6"/>
          </a:solidFill>
          <a:ln w="12700">
            <a:solidFill>
              <a:srgbClr val="FFFFFF"/>
            </a:solidFill>
            <a:prstDash val="solid"/>
          </a:ln>
        </p:spPr>
      </p:sp>
      <p:sp>
        <p:nvSpPr>
          <p:cNvPr id="30" name="Text 27"/>
          <p:cNvSpPr txBox="1"/>
          <p:nvPr/>
        </p:nvSpPr>
        <p:spPr>
          <a:xfrm>
            <a:off x="63550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8"/>
          <p:cNvSpPr txBox="1"/>
          <p:nvPr/>
        </p:nvSpPr>
        <p:spPr>
          <a:xfrm>
            <a:off x="69494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Pair Names and Marks</a:t>
            </a:r>
            <a:endParaRPr lang="en-US" sz="1600" dirty="0"/>
          </a:p>
        </p:txBody>
      </p:sp>
      <p:sp>
        <p:nvSpPr>
          <p:cNvPr id="32" name="Text 29"/>
          <p:cNvSpPr txBox="1"/>
          <p:nvPr/>
        </p:nvSpPr>
        <p:spPr>
          <a:xfrm>
            <a:off x="64008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Pair Arun and Priya with marks 80 and 90, one pair per line.</a:t>
            </a:r>
            <a:endParaRPr lang="en-US" sz="1350" dirty="0"/>
          </a:p>
        </p:txBody>
      </p:sp>
      <p:sp>
        <p:nvSpPr>
          <p:cNvPr id="33" name="Text 30"/>
          <p:cNvSpPr txBox="1"/>
          <p:nvPr/>
        </p:nvSpPr>
        <p:spPr>
          <a:xfrm>
            <a:off x="64008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34" name="Shape 31"/>
          <p:cNvSpPr/>
          <p:nvPr/>
        </p:nvSpPr>
        <p:spPr>
          <a:xfrm>
            <a:off x="6400800" y="4453128"/>
            <a:ext cx="2103120" cy="411480"/>
          </a:xfrm>
          <a:prstGeom prst="roundRect">
            <a:avLst>
              <a:gd name="adj" fmla="val 13333"/>
            </a:avLst>
          </a:prstGeom>
          <a:solidFill>
            <a:srgbClr val="F1F5F9"/>
          </a:solidFill>
          <a:ln w="12700">
            <a:solidFill>
              <a:srgbClr val="CBD5E1"/>
            </a:solidFill>
            <a:prstDash val="solid"/>
          </a:ln>
        </p:spPr>
      </p:sp>
      <p:sp>
        <p:nvSpPr>
          <p:cNvPr id="35" name="Text 32"/>
          <p:cNvSpPr txBox="1"/>
          <p:nvPr/>
        </p:nvSpPr>
        <p:spPr>
          <a:xfrm>
            <a:off x="64008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2 names, 2 marks</a:t>
            </a:r>
            <a:endParaRPr lang="en-US" sz="1300" dirty="0"/>
          </a:p>
        </p:txBody>
      </p:sp>
      <p:sp>
        <p:nvSpPr>
          <p:cNvPr id="36" name="Text 33"/>
          <p:cNvSpPr txBox="1"/>
          <p:nvPr/>
        </p:nvSpPr>
        <p:spPr>
          <a:xfrm>
            <a:off x="64008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37" name="Shape 34"/>
          <p:cNvSpPr/>
          <p:nvPr/>
        </p:nvSpPr>
        <p:spPr>
          <a:xfrm>
            <a:off x="6400800" y="5230368"/>
            <a:ext cx="2103120" cy="822960"/>
          </a:xfrm>
          <a:prstGeom prst="roundRect">
            <a:avLst>
              <a:gd name="adj" fmla="val 6667"/>
            </a:avLst>
          </a:prstGeom>
          <a:solidFill>
            <a:srgbClr val="FFEDD5"/>
          </a:solidFill>
          <a:ln w="25400">
            <a:solidFill>
              <a:srgbClr val="F97316"/>
            </a:solidFill>
            <a:prstDash val="solid"/>
          </a:ln>
        </p:spPr>
      </p:sp>
      <p:sp>
        <p:nvSpPr>
          <p:cNvPr id="38" name="Text 35"/>
          <p:cNvSpPr txBox="1"/>
          <p:nvPr/>
        </p:nvSpPr>
        <p:spPr>
          <a:xfrm>
            <a:off x="6400800" y="5230368"/>
            <a:ext cx="2103120" cy="822960"/>
          </a:xfrm>
          <a:prstGeom prst="rect">
            <a:avLst/>
          </a:prstGeom>
          <a:noFill/>
          <a:ln/>
        </p:spPr>
        <p:txBody>
          <a:bodyPr wrap="square" rtlCol="0" anchor="ctr"/>
          <a:lstStyle/>
          <a:p>
            <a:pPr algn="ctr" indent="0" marL="0">
              <a:buNone/>
            </a:pPr>
            <a:endParaRPr lang="en-US" sz="1300" dirty="0"/>
          </a:p>
        </p:txBody>
      </p:sp>
      <p:sp>
        <p:nvSpPr>
          <p:cNvPr id="39" name="Text 36"/>
          <p:cNvSpPr txBox="1"/>
          <p:nvPr/>
        </p:nvSpPr>
        <p:spPr>
          <a:xfrm>
            <a:off x="6720840" y="5230368"/>
            <a:ext cx="1463040" cy="822960"/>
          </a:xfrm>
          <a:prstGeom prst="rect">
            <a:avLst/>
          </a:prstGeom>
          <a:noFill/>
          <a:ln/>
        </p:spPr>
        <p:txBody>
          <a:bodyPr wrap="square" rtlCol="0" anchor="ctr"/>
          <a:lstStyle/>
          <a:p>
            <a:pPr algn="l" indent="0" marL="0">
              <a:buNone/>
            </a:pPr>
            <a:r>
              <a:rPr lang="en-US" sz="1300" b="1" dirty="0">
                <a:solidFill>
                  <a:srgbClr val="1E293B"/>
                </a:solidFill>
                <a:latin typeface="Consolas" pitchFamily="34" charset="0"/>
                <a:ea typeface="Consolas" pitchFamily="34" charset="-122"/>
                <a:cs typeface="Consolas" pitchFamily="34" charset="-120"/>
              </a:rPr>
              <a:t>Arun 80</a:t>
            </a:r>
            <a:endParaRPr lang="en-US" sz="1300" dirty="0"/>
          </a:p>
          <a:p>
            <a:pPr algn="l" indent="0" marL="0">
              <a:buNone/>
            </a:pPr>
            <a:r>
              <a:rPr lang="en-US" sz="1300" b="1" dirty="0">
                <a:solidFill>
                  <a:srgbClr val="1E293B"/>
                </a:solidFill>
                <a:latin typeface="Consolas" pitchFamily="34" charset="0"/>
                <a:ea typeface="Consolas" pitchFamily="34" charset="-122"/>
                <a:cs typeface="Consolas" pitchFamily="34" charset="-120"/>
              </a:rPr>
              <a:t>Priya 90</a:t>
            </a:r>
            <a:endParaRPr lang="en-US" sz="1300" dirty="0"/>
          </a:p>
        </p:txBody>
      </p:sp>
      <p:sp>
        <p:nvSpPr>
          <p:cNvPr id="40" name="Shape 37"/>
          <p:cNvSpPr/>
          <p:nvPr/>
        </p:nvSpPr>
        <p:spPr>
          <a:xfrm>
            <a:off x="8915400" y="2395728"/>
            <a:ext cx="2560320" cy="3749040"/>
          </a:xfrm>
          <a:prstGeom prst="roundRect">
            <a:avLst>
              <a:gd name="adj" fmla="val 3571"/>
            </a:avLst>
          </a:prstGeom>
          <a:solidFill>
            <a:srgbClr val="FFFFFF"/>
          </a:solidFill>
          <a:ln w="19050">
            <a:solidFill>
              <a:srgbClr val="14B8A6"/>
            </a:solidFill>
            <a:prstDash val="solid"/>
          </a:ln>
        </p:spPr>
      </p:sp>
      <p:sp>
        <p:nvSpPr>
          <p:cNvPr id="41" name="Shape 38"/>
          <p:cNvSpPr/>
          <p:nvPr/>
        </p:nvSpPr>
        <p:spPr>
          <a:xfrm>
            <a:off x="9098280" y="2560320"/>
            <a:ext cx="457200" cy="457200"/>
          </a:xfrm>
          <a:prstGeom prst="ellipse">
            <a:avLst/>
          </a:prstGeom>
          <a:solidFill>
            <a:srgbClr val="14B8A6"/>
          </a:solidFill>
          <a:ln w="12700">
            <a:solidFill>
              <a:srgbClr val="FFFFFF"/>
            </a:solidFill>
            <a:prstDash val="solid"/>
          </a:ln>
        </p:spPr>
      </p:sp>
      <p:sp>
        <p:nvSpPr>
          <p:cNvPr id="42" name="Text 39"/>
          <p:cNvSpPr txBox="1"/>
          <p:nvPr/>
        </p:nvSpPr>
        <p:spPr>
          <a:xfrm>
            <a:off x="90982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3" name="Text 40"/>
          <p:cNvSpPr txBox="1"/>
          <p:nvPr/>
        </p:nvSpPr>
        <p:spPr>
          <a:xfrm>
            <a:off x="96926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Days Between Dates</a:t>
            </a:r>
            <a:endParaRPr lang="en-US" sz="1600" dirty="0"/>
          </a:p>
        </p:txBody>
      </p:sp>
      <p:sp>
        <p:nvSpPr>
          <p:cNvPr id="44" name="Text 41"/>
          <p:cNvSpPr txBox="1"/>
          <p:nvPr/>
        </p:nvSpPr>
        <p:spPr>
          <a:xfrm>
            <a:off x="91440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Find the days from 26 Oct 2026 to 25 Dec 2026 using datetime.</a:t>
            </a:r>
            <a:endParaRPr lang="en-US" sz="1350" dirty="0"/>
          </a:p>
        </p:txBody>
      </p:sp>
      <p:sp>
        <p:nvSpPr>
          <p:cNvPr id="45" name="Text 42"/>
          <p:cNvSpPr txBox="1"/>
          <p:nvPr/>
        </p:nvSpPr>
        <p:spPr>
          <a:xfrm>
            <a:off x="91440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46" name="Shape 43"/>
          <p:cNvSpPr/>
          <p:nvPr/>
        </p:nvSpPr>
        <p:spPr>
          <a:xfrm>
            <a:off x="9144000" y="4453128"/>
            <a:ext cx="2103120" cy="411480"/>
          </a:xfrm>
          <a:prstGeom prst="roundRect">
            <a:avLst>
              <a:gd name="adj" fmla="val 13333"/>
            </a:avLst>
          </a:prstGeom>
          <a:solidFill>
            <a:srgbClr val="F1F5F9"/>
          </a:solidFill>
          <a:ln w="12700">
            <a:solidFill>
              <a:srgbClr val="CBD5E1"/>
            </a:solidFill>
            <a:prstDash val="solid"/>
          </a:ln>
        </p:spPr>
      </p:sp>
      <p:sp>
        <p:nvSpPr>
          <p:cNvPr id="47" name="Text 44"/>
          <p:cNvSpPr txBox="1"/>
          <p:nvPr/>
        </p:nvSpPr>
        <p:spPr>
          <a:xfrm>
            <a:off x="91440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two dates</a:t>
            </a:r>
            <a:endParaRPr lang="en-US" sz="1300" dirty="0"/>
          </a:p>
        </p:txBody>
      </p:sp>
      <p:sp>
        <p:nvSpPr>
          <p:cNvPr id="48" name="Text 45"/>
          <p:cNvSpPr txBox="1"/>
          <p:nvPr/>
        </p:nvSpPr>
        <p:spPr>
          <a:xfrm>
            <a:off x="91440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49" name="Shape 46"/>
          <p:cNvSpPr/>
          <p:nvPr/>
        </p:nvSpPr>
        <p:spPr>
          <a:xfrm>
            <a:off x="9144000" y="5230368"/>
            <a:ext cx="2103120" cy="640080"/>
          </a:xfrm>
          <a:prstGeom prst="roundRect">
            <a:avLst>
              <a:gd name="adj" fmla="val 8571"/>
            </a:avLst>
          </a:prstGeom>
          <a:solidFill>
            <a:srgbClr val="FFEDD5"/>
          </a:solidFill>
          <a:ln w="25400">
            <a:solidFill>
              <a:srgbClr val="F97316"/>
            </a:solidFill>
            <a:prstDash val="solid"/>
          </a:ln>
        </p:spPr>
      </p:sp>
      <p:sp>
        <p:nvSpPr>
          <p:cNvPr id="50" name="Text 47"/>
          <p:cNvSpPr txBox="1"/>
          <p:nvPr/>
        </p:nvSpPr>
        <p:spPr>
          <a:xfrm>
            <a:off x="91440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60</a:t>
            </a:r>
            <a:endParaRPr lang="en-US" sz="1300" dirty="0"/>
          </a:p>
        </p:txBody>
      </p:sp>
      <p:sp>
        <p:nvSpPr>
          <p:cNvPr id="51" name="Text 48"/>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52" name="Text 49"/>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QUICK RECAP</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What Ravi Learned Today</a:t>
            </a:r>
            <a:endParaRPr lang="en-US" sz="3200" dirty="0"/>
          </a:p>
        </p:txBody>
      </p:sp>
      <p:sp>
        <p:nvSpPr>
          <p:cNvPr id="5" name="Text 2"/>
          <p:cNvSpPr txBox="1"/>
          <p:nvPr/>
        </p:nvSpPr>
        <p:spPr>
          <a:xfrm>
            <a:off x="457200" y="2286000"/>
            <a:ext cx="105156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Click to reveal each one.</a:t>
            </a:r>
            <a:endParaRPr lang="en-US" sz="1400" dirty="0"/>
          </a:p>
        </p:txBody>
      </p:sp>
      <p:sp>
        <p:nvSpPr>
          <p:cNvPr id="6" name="rc_8"/>
          <p:cNvSpPr/>
          <p:nvPr/>
        </p:nvSpPr>
        <p:spPr>
          <a:xfrm>
            <a:off x="457200" y="2834640"/>
            <a:ext cx="3566160" cy="2468880"/>
          </a:xfrm>
          <a:prstGeom prst="roundRect">
            <a:avLst>
              <a:gd name="adj" fmla="val 3704"/>
            </a:avLst>
          </a:prstGeom>
          <a:solidFill>
            <a:srgbClr val="F0FDFA"/>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7" name="Image 1" descr="assets/icon2_list_teal.png">    </p:cNvPr>
          <p:cNvPicPr>
            <a:picLocks noChangeAspect="1"/>
          </p:cNvPicPr>
          <p:nvPr/>
        </p:nvPicPr>
        <p:blipFill>
          <a:blip r:embed="rId2"/>
          <a:stretch>
            <a:fillRect/>
          </a:stretch>
        </p:blipFill>
        <p:spPr>
          <a:xfrm>
            <a:off x="777240" y="3154680"/>
            <a:ext cx="548640" cy="548640"/>
          </a:xfrm>
          <a:prstGeom prst="rect">
            <a:avLst/>
          </a:prstGeom>
        </p:spPr>
      </p:pic>
      <p:sp>
        <p:nvSpPr>
          <p:cNvPr id="8" name="Text 4"/>
          <p:cNvSpPr txBox="1"/>
          <p:nvPr/>
        </p:nvSpPr>
        <p:spPr>
          <a:xfrm>
            <a:off x="73152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 comprehension builds a list or dictionary in one line. map changes, filter keeps, reduce combines</a:t>
            </a:r>
            <a:endParaRPr lang="en-US" sz="1600" dirty="0"/>
          </a:p>
        </p:txBody>
      </p:sp>
      <p:sp>
        <p:nvSpPr>
          <p:cNvPr id="9" name="rc_9"/>
          <p:cNvSpPr/>
          <p:nvPr/>
        </p:nvSpPr>
        <p:spPr>
          <a:xfrm>
            <a:off x="4297680" y="2834640"/>
            <a:ext cx="3566160" cy="2468880"/>
          </a:xfrm>
          <a:prstGeom prst="roundRect">
            <a:avLst>
              <a:gd name="adj" fmla="val 3704"/>
            </a:avLst>
          </a:prstGeom>
          <a:solidFill>
            <a:srgbClr val="F5F3FF"/>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0" name="Image 2" descr="assets/icon2_sigma_navy.png">    </p:cNvPr>
          <p:cNvPicPr>
            <a:picLocks noChangeAspect="1"/>
          </p:cNvPicPr>
          <p:nvPr/>
        </p:nvPicPr>
        <p:blipFill>
          <a:blip r:embed="rId3"/>
          <a:stretch>
            <a:fillRect/>
          </a:stretch>
        </p:blipFill>
        <p:spPr>
          <a:xfrm>
            <a:off x="4617720" y="3154680"/>
            <a:ext cx="548640" cy="548640"/>
          </a:xfrm>
          <a:prstGeom prst="rect">
            <a:avLst/>
          </a:prstGeom>
        </p:spPr>
      </p:pic>
      <p:sp>
        <p:nvSpPr>
          <p:cNvPr id="11" name="Text 6"/>
          <p:cNvSpPr txBox="1"/>
          <p:nvPr/>
        </p:nvSpPr>
        <p:spPr>
          <a:xfrm>
            <a:off x="457200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len, sum, min, max, sorted, zip and enumerate answer everyday data questions quickly</a:t>
            </a:r>
            <a:endParaRPr lang="en-US" sz="1600" dirty="0"/>
          </a:p>
        </p:txBody>
      </p:sp>
      <p:sp>
        <p:nvSpPr>
          <p:cNvPr id="12" name="rc_10"/>
          <p:cNvSpPr/>
          <p:nvPr/>
        </p:nvSpPr>
        <p:spPr>
          <a:xfrm>
            <a:off x="8138160" y="2834640"/>
            <a:ext cx="3566160" cy="2468880"/>
          </a:xfrm>
          <a:prstGeom prst="roundRect">
            <a:avLst>
              <a:gd name="adj" fmla="val 3704"/>
            </a:avLst>
          </a:prstGeom>
          <a:solidFill>
            <a:srgbClr val="FFF7ED"/>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3" name="Image 3" descr="assets/icon2_package_purple.png">    </p:cNvPr>
          <p:cNvPicPr>
            <a:picLocks noChangeAspect="1"/>
          </p:cNvPicPr>
          <p:nvPr/>
        </p:nvPicPr>
        <p:blipFill>
          <a:blip r:embed="rId4"/>
          <a:stretch>
            <a:fillRect/>
          </a:stretch>
        </p:blipFill>
        <p:spPr>
          <a:xfrm>
            <a:off x="8458200" y="3154680"/>
            <a:ext cx="548640" cy="548640"/>
          </a:xfrm>
          <a:prstGeom prst="rect">
            <a:avLst/>
          </a:prstGeom>
        </p:spPr>
      </p:pic>
      <p:sp>
        <p:nvSpPr>
          <p:cNvPr id="14" name="Text 8"/>
          <p:cNvSpPr txBox="1"/>
          <p:nvPr/>
        </p:nvSpPr>
        <p:spPr>
          <a:xfrm>
            <a:off x="841248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import brings in modules. pip adds packages and a virtual environment keeps each project separate</a:t>
            </a:r>
            <a:endParaRPr lang="en-US" sz="1600" dirty="0"/>
          </a:p>
        </p:txBody>
      </p:sp>
      <p:sp>
        <p:nvSpPr>
          <p:cNvPr id="15" name="Text 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6" name="Text 1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00" presetID="1" presetClass="entr" presetSubtype="0" fill="hold" nodeType="clickEffect">
                      <p:stCondLst>
                        <p:cond delay="0"/>
                      </p:stCondLst>
                      <p:childTnLst>
                        <p:set>
                          <p:cBhvr>
                            <p:cTn id="101" dur="1" fill="hold">
                              <p:stCondLst>
                                <p:cond delay="0"/>
                              </p:stCondLst>
                            </p:cTn>
                            <p:tgtEl>
                              <p:spTgt spid="6"/>
                            </p:tgtEl>
                            <p:attrNameLst>
                              <p:attrName>style.visibility</p:attrName>
                            </p:attrNameLst>
                          </p:cBhvr>
                          <p:to>
                            <p:strVal val="visible"/>
                          </p:to>
                        </p:set>
                        <p:anim calcmode="lin" valueType="num">
                          <p:cBhvr>
                            <p:cTn id="102" dur="500" fill="hold"/>
                            <p:tgtEl>
                              <p:spTgt spid="6"/>
                            </p:tgtEl>
                            <p:attrNameLst>
                              <p:attrName>ppt_opacity</p:attrName>
                            </p:attrNameLst>
                          </p:cBhvr>
                          <p:tavLst>
                            <p:tav tm="0">
                              <p:val>
                                <p:fltVal val="0"/>
                              </p:val>
                            </p:tav>
                            <p:tav tm="100000">
                              <p:val>
                                <p:fltVal val="1"/>
                              </p:val>
                            </p:tav>
                          </p:tavLst>
                        </p:anim>
                      </p:childTnLst>
                    </p:cTn>
                  </p:par>
                  <p:par>
                    <p:cTn id="110" presetID="1" presetClass="entr" presetSubtype="0" fill="hold" nodeType="clickEffect">
                      <p:stCondLst>
                        <p:cond delay="0"/>
                      </p:stCondLst>
                      <p:childTnLst>
                        <p:set>
                          <p:cBhvr>
                            <p:cTn id="111" dur="1" fill="hold">
                              <p:stCondLst>
                                <p:cond delay="0"/>
                              </p:stCondLst>
                            </p:cTn>
                            <p:tgtEl>
                              <p:spTgt spid="9"/>
                            </p:tgtEl>
                            <p:attrNameLst>
                              <p:attrName>style.visibility</p:attrName>
                            </p:attrNameLst>
                          </p:cBhvr>
                          <p:to>
                            <p:strVal val="visible"/>
                          </p:to>
                        </p:set>
                        <p:anim calcmode="lin" valueType="num">
                          <p:cBhvr>
                            <p:cTn id="112" dur="500" fill="hold"/>
                            <p:tgtEl>
                              <p:spTgt spid="9"/>
                            </p:tgtEl>
                            <p:attrNameLst>
                              <p:attrName>ppt_opacity</p:attrName>
                            </p:attrNameLst>
                          </p:cBhvr>
                          <p:tavLst>
                            <p:tav tm="0">
                              <p:val>
                                <p:fltVal val="0"/>
                              </p:val>
                            </p:tav>
                            <p:tav tm="100000">
                              <p:val>
                                <p:fltVal val="1"/>
                              </p:val>
                            </p:tav>
                          </p:tavLst>
                        </p:anim>
                      </p:childTnLst>
                    </p:cTn>
                  </p:par>
                  <p:par>
                    <p:cTn id="120" presetID="1" presetClass="entr" presetSubtype="0" fill="hold" nodeType="clickEffect">
                      <p:stCondLst>
                        <p:cond delay="0"/>
                      </p:stCondLst>
                      <p:childTnLst>
                        <p:set>
                          <p:cBhvr>
                            <p:cTn id="121" dur="1" fill="hold">
                              <p:stCondLst>
                                <p:cond delay="0"/>
                              </p:stCondLst>
                            </p:cTn>
                            <p:tgtEl>
                              <p:spTgt spid="12"/>
                            </p:tgtEl>
                            <p:attrNameLst>
                              <p:attrName>style.visibility</p:attrName>
                            </p:attrNameLst>
                          </p:cBhvr>
                          <p:to>
                            <p:strVal val="visible"/>
                          </p:to>
                        </p:set>
                        <p:anim calcmode="lin" valueType="num">
                          <p:cBhvr>
                            <p:cTn id="122" dur="500" fill="hold"/>
                            <p:tgtEl>
                              <p:spTgt spid="12"/>
                            </p:tgtEl>
                            <p:attrNameLst>
                              <p:attrName>ppt_opacity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371600"/>
            <a:ext cx="100584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WEEK 2  ·  DAY 9 COMPLETE</a:t>
            </a:r>
            <a:endParaRPr lang="en-US" sz="1400" dirty="0"/>
          </a:p>
        </p:txBody>
      </p:sp>
      <p:sp>
        <p:nvSpPr>
          <p:cNvPr id="6" name="Text 2"/>
          <p:cNvSpPr txBox="1"/>
          <p:nvPr/>
        </p:nvSpPr>
        <p:spPr>
          <a:xfrm>
            <a:off x="457200" y="1737360"/>
            <a:ext cx="10515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Great Work Today</a:t>
            </a:r>
            <a:endParaRPr lang="en-US" sz="3600" dirty="0"/>
          </a:p>
        </p:txBody>
      </p:sp>
      <p:sp>
        <p:nvSpPr>
          <p:cNvPr id="7" name="Text 3"/>
          <p:cNvSpPr txBox="1"/>
          <p:nvPr/>
        </p:nvSpPr>
        <p:spPr>
          <a:xfrm>
            <a:off x="457200" y="2651760"/>
            <a:ext cx="10515600" cy="731520"/>
          </a:xfrm>
          <a:prstGeom prst="rect">
            <a:avLst/>
          </a:prstGeom>
          <a:noFill/>
          <a:ln/>
        </p:spPr>
        <p:txBody>
          <a:bodyPr wrap="square" rtlCol="0" anchor="ctr"/>
          <a:lstStyle/>
          <a:p>
            <a:pPr indent="0" marL="0">
              <a:buNone/>
            </a:pPr>
            <a:r>
              <a:rPr lang="en-US" sz="1700" dirty="0">
                <a:solidFill>
                  <a:srgbClr val="CBD5E1"/>
                </a:solidFill>
                <a:latin typeface="Calibri" pitchFamily="34" charset="0"/>
                <a:ea typeface="Calibri" pitchFamily="34" charset="-122"/>
                <a:cs typeface="Calibri" pitchFamily="34" charset="-120"/>
              </a:rPr>
              <a:t>Ravi can now shorten his code, use ready made helpers, import modules and keep each project clean.</a:t>
            </a:r>
            <a:endParaRPr lang="en-US" sz="1700" dirty="0"/>
          </a:p>
        </p:txBody>
      </p:sp>
      <p:sp>
        <p:nvSpPr>
          <p:cNvPr id="8" name="rc_next"/>
          <p:cNvSpPr/>
          <p:nvPr/>
        </p:nvSpPr>
        <p:spPr>
          <a:xfrm>
            <a:off x="457200" y="3657600"/>
            <a:ext cx="11247120" cy="2377440"/>
          </a:xfrm>
          <a:prstGeom prst="roundRect">
            <a:avLst>
              <a:gd name="adj" fmla="val 3846"/>
            </a:avLst>
          </a:prstGeom>
          <a:solidFill>
            <a:srgbClr val="1E1B4B"/>
          </a:solidFill>
          <a:ln w="12700">
            <a:solidFill>
              <a:srgbClr val="6D28D9"/>
            </a:solidFill>
            <a:prstDash val="solid"/>
          </a:ln>
          <a:effectLst>
            <a:outerShdw sx="100000" sy="100000" kx="0" ky="0" algn="bl" rotWithShape="0" blurRad="76200" dist="25400" dir="5400000">
              <a:srgbClr val="000000">
                <a:alpha val="8000"/>
              </a:srgbClr>
            </a:outerShdw>
          </a:effectLst>
        </p:spPr>
      </p:sp>
      <p:sp>
        <p:nvSpPr>
          <p:cNvPr id="9" name="Text 5"/>
          <p:cNvSpPr txBox="1"/>
          <p:nvPr/>
        </p:nvSpPr>
        <p:spPr>
          <a:xfrm>
            <a:off x="914400" y="3931920"/>
            <a:ext cx="9601200" cy="365760"/>
          </a:xfrm>
          <a:prstGeom prst="rect">
            <a:avLst/>
          </a:prstGeom>
          <a:noFill/>
          <a:ln/>
        </p:spPr>
        <p:txBody>
          <a:bodyPr wrap="square" rtlCol="0" anchor="ctr"/>
          <a:lstStyle/>
          <a:p>
            <a:pPr indent="0" marL="0">
              <a:buNone/>
            </a:pPr>
            <a:r>
              <a:rPr lang="en-US" sz="1300" b="1" spc="200" kern="0" dirty="0">
                <a:solidFill>
                  <a:srgbClr val="8B5CF6"/>
                </a:solidFill>
                <a:latin typeface="Calibri" pitchFamily="34" charset="0"/>
                <a:ea typeface="Calibri" pitchFamily="34" charset="-122"/>
                <a:cs typeface="Calibri" pitchFamily="34" charset="-120"/>
              </a:rPr>
              <a:t>COMING UP NEXT, DAY 10</a:t>
            </a:r>
            <a:endParaRPr lang="en-US" sz="1300" dirty="0"/>
          </a:p>
        </p:txBody>
      </p:sp>
      <p:sp>
        <p:nvSpPr>
          <p:cNvPr id="10" name="Text 6"/>
          <p:cNvSpPr txBox="1"/>
          <p:nvPr/>
        </p:nvSpPr>
        <p:spPr>
          <a:xfrm>
            <a:off x="914400" y="4297680"/>
            <a:ext cx="1033272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File Handling</a:t>
            </a:r>
            <a:endParaRPr lang="en-US" sz="2800" dirty="0"/>
          </a:p>
        </p:txBody>
      </p:sp>
      <p:sp>
        <p:nvSpPr>
          <p:cNvPr id="11" name="Text 7"/>
          <p:cNvSpPr txBox="1"/>
          <p:nvPr/>
        </p:nvSpPr>
        <p:spPr>
          <a:xfrm>
            <a:off x="914400" y="5074920"/>
            <a:ext cx="9875520" cy="731520"/>
          </a:xfrm>
          <a:prstGeom prst="rect">
            <a:avLst/>
          </a:prstGeom>
          <a:noFill/>
          <a:ln/>
        </p:spPr>
        <p:txBody>
          <a:bodyPr wrap="square" rtlCol="0" anchor="ctr"/>
          <a:lstStyle/>
          <a:p>
            <a:pPr indent="0" marL="0">
              <a:buNone/>
            </a:pPr>
            <a:r>
              <a:rPr lang="en-US" sz="1600" dirty="0">
                <a:solidFill>
                  <a:srgbClr val="CBD5E1"/>
                </a:solidFill>
                <a:latin typeface="Calibri" pitchFamily="34" charset="0"/>
                <a:ea typeface="Calibri" pitchFamily="34" charset="-122"/>
                <a:cs typeface="Calibri" pitchFamily="34" charset="-120"/>
              </a:rPr>
              <a:t>Tomorrow, Ravi learns to open, read, write and append files, and to work with CSV and JSON data.</a:t>
            </a:r>
            <a:endParaRPr lang="en-US" sz="1600" dirty="0"/>
          </a:p>
        </p:txBody>
      </p:sp>
      <p:sp>
        <p:nvSpPr>
          <p:cNvPr id="12" name="Text 8"/>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Comprehensions and Modules  ·  Week 2  ·  Day 9</a:t>
            </a:r>
            <a:endParaRPr lang="en-US" sz="1000" dirty="0"/>
          </a:p>
        </p:txBody>
      </p:sp>
      <p:sp>
        <p:nvSpPr>
          <p:cNvPr id="13" name="Text 9"/>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2026-10-26T09:26:20Z</dcterms:created>
  <dcterms:modified xsi:type="dcterms:W3CDTF">2026-10-26T09:26:20Z</dcterms:modified>
</cp:coreProperties>
</file>