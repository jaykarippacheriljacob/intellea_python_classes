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6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by name, keep values unique and compare groups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Class  ·  Theory and concept support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RAVI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5" name="rc_road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521208" cy="521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700000">
            <a:off x="1920240" y="3131820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011680" y="2560320"/>
            <a:ext cx="9418320" cy="1325880"/>
          </a:xfrm>
          <a:prstGeom prst="roundRect">
            <a:avLst>
              <a:gd name="adj" fmla="val 8276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94560" y="2560320"/>
            <a:ext cx="9052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company app has to store employee records and count unique customers.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not enough for that. Today he learns two new collections made for exactly these jobs.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188720" y="4846320"/>
            <a:ext cx="97840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13" name="Image 2" descr="assets/icon2_idcard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45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191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4536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17" name="Image 3" descr="assets/icon2_search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32" y="46451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365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0497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and change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08432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1" name="Image 4" descr="assets/icon2_wrench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912" y="46451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6720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68046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and loops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71500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25" name="Image 5" descr="assets/icon2_layers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64515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31114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dictionaries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34568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9" name="Image 6" descr="assets/icon2_sparkles_p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272" y="4645152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2856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94182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763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33" name="Image 7" descr="assets/icon2_split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952" y="4645152"/>
            <a:ext cx="402336" cy="40233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592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5725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106070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37" name="Image 8" descr="assets/icon2_badge_gree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4645152"/>
            <a:ext cx="402336" cy="40233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7899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02031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and disjoint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Dictionary?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ID card has fields: name, department and salary. You read a field by its label, not by counting its position. A dictionary stores information in the same way.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data as key and value pairs, written inside curly brackets. You find a value by asking for its key.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and student records, product details and stock, API and JSON data, app settings and customer profiles.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DICTIONARY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Employee, Four Pairs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286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2286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578608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57860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88920" y="2834640"/>
            <a:ext cx="27432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108960" y="2578608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0" y="257860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1520" y="3218688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186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788920" y="3474720"/>
            <a:ext cx="27432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108960" y="3218688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08960" y="32186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Arun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31520" y="3858768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85876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788920" y="4114800"/>
            <a:ext cx="27432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108960" y="3858768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08960" y="385876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1520" y="4498848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49884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788920" y="4754880"/>
            <a:ext cx="27432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108960" y="4498848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108960" y="449884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35000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760720" y="2468880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33872" y="2578608"/>
            <a:ext cx="5522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brackets hold all the pairs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5760720" y="3182112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33872" y="3291840"/>
            <a:ext cx="5522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is unique</a:t>
            </a:r>
            <a:endParaRPr lang="en-US" sz="1450" dirty="0"/>
          </a:p>
        </p:txBody>
      </p:sp>
      <p:sp>
        <p:nvSpPr>
          <p:cNvPr id="32" name="Shape 29"/>
          <p:cNvSpPr/>
          <p:nvPr/>
        </p:nvSpPr>
        <p:spPr>
          <a:xfrm>
            <a:off x="5760720" y="3895344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833872" y="4005072"/>
            <a:ext cx="5522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text, numbers, lists or dictionaries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5760720" y="4608576"/>
            <a:ext cx="5669280" cy="594360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833872" y="4718304"/>
            <a:ext cx="5522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Changeable, and keeps the order you added</a:t>
            </a:r>
            <a:endParaRPr lang="en-US" sz="1450" dirty="0"/>
          </a:p>
        </p:txBody>
      </p:sp>
      <p:sp>
        <p:nvSpPr>
          <p:cNvPr id="36" name="Shape 33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8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is a label. Python finds the value through the label, not by counting positions.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VALUES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Key, Get Its Value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606040"/>
            <a:ext cx="1371600" cy="73152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606040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468880" y="2606040"/>
            <a:ext cx="2103120" cy="731520"/>
          </a:xfrm>
          <a:prstGeom prst="flowChartProcess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42032" y="260604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key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937760" y="2331720"/>
            <a:ext cx="2377440" cy="128016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13248" y="2331720"/>
            <a:ext cx="14264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present?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2606040"/>
            <a:ext cx="2194560" cy="73152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9872" y="2606040"/>
            <a:ext cx="20482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back the value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30552" y="2971800"/>
            <a:ext cx="31089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599432" y="2971800"/>
            <a:ext cx="31089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342632" y="2971800"/>
            <a:ext cx="676656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7269480" y="26243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 flipH="1">
            <a:off x="4480560" y="3630168"/>
            <a:ext cx="1645920" cy="530352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126480" y="3630168"/>
            <a:ext cx="1920240" cy="530352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5669280" y="3794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017520" y="4206240"/>
            <a:ext cx="2926080" cy="73152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090672" y="4206240"/>
            <a:ext cx="2779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brackets: KeyError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83680" y="4206240"/>
            <a:ext cx="2926080" cy="731520"/>
          </a:xfrm>
          <a:prstGeom prst="flowChartProcess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56832" y="4206240"/>
            <a:ext cx="2779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get(): None or your default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3017520" y="502920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1752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program stops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83680" y="502920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shows Not Available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1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get() when the key may be missing. Use square brackets when it must be there.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Adding, Updating and Removing Pairs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employee joins, HR adds details to the file. When a salary changes, the entry is corrected. When someone leaves, their entry is taken out.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given to a new key adds a pair. A value given to an existing key updates it. pop(), del and clear() remove one pair or every pair.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systems, inventory updates, user profile edits and shopping cart changes.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CAN CHANGE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Record Change Step by Step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774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with two pairs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241401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00400" y="24140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Arun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0" y="2414016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0" y="24140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department: IT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9992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salary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key adds a pair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303580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0" y="3035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Arun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0" y="303580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03520" y="3035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department: IT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06640" y="303580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640" y="3035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salary: 35000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62102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new key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200400" y="3657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004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Arun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03520" y="3657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0352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department: IT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406640" y="3657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0664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salary: 35000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509760" y="3657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50976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Chennai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424281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department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 key gets a new value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200400" y="427939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00400" y="42793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Arun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303520" y="427939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303520" y="42793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department: HR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406640" y="427939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06640" y="42793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salary: 35000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509760" y="427939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09760" y="42793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Chennai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48646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salary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it, gives back 35000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3200400" y="490118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200400" y="49011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Arun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303520" y="490118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303520" y="49011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department: HR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406640" y="4901184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406640" y="49011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Chennai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5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step adds a key that is new and updates a key that already exists.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Methods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librarian can list all the shelf labels, list all the books, or list both together. She can also fetch a book safely and say politely when it is missing.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keys(), values() and items() read the dictionary. get() reads safely. update() changes many pairs, pop() and clear() remove, and copy() makes a separate copy.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API responses, cleaning records, merging settings and keeping a backup before making changes.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AT WORK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Tools for a Dictionary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46888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keys()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5292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record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6440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keys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45186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89020" y="246888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values()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89020" y="285292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record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589020" y="326440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Arun, IT, 35000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7220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246888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items()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85292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record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26440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and value pairs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892540" y="239572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29700" y="246888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get()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029700" y="285292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that is missing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9029700" y="326440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None, with no error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73152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397764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436168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40000, grade A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77316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changes at once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345186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89020" y="397764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589020" y="436168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salary key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3589020" y="477316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back 35000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617220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09360" y="397764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clear()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436168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dictionary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309360" y="477316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dictionary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8892540" y="3904488"/>
            <a:ext cx="2537460" cy="1371600"/>
          </a:xfrm>
          <a:prstGeom prst="roundRect">
            <a:avLst>
              <a:gd name="adj" fmla="val 6667"/>
            </a:avLst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9700" y="3977640"/>
            <a:ext cx="22631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copy()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9029700" y="436168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copy is changed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9029700" y="4773168"/>
            <a:ext cx="22631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 </a:t>
            </a:r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is untouched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0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copy() makes a separate dictionary, so changing the copy never touches the original.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Through a Dictionary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month end, HR prints every field of an employee file, one line at a time. A loop does the same job automatically.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over a dictionary gives its keys. Use values() to get the values, or items() to get each key and its value together.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records, building reports and invoices, and showing every setting of an app.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Walk Through a Record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5054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directly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712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keys: name, department, salary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2395728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16552" y="25054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values()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28712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values: Arun, IT, 35000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955280" y="2395728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28432" y="2505456"/>
            <a:ext cx="3328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items()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287121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key with its value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31520" y="3977640"/>
            <a:ext cx="1188720" cy="64008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" y="3977640"/>
            <a:ext cx="1042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286000" y="3977640"/>
            <a:ext cx="2011680" cy="640080"/>
          </a:xfrm>
          <a:prstGeom prst="flowChartProcess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359152" y="397764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next pair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63440" y="3977640"/>
            <a:ext cx="2194560" cy="64008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36592" y="3977640"/>
            <a:ext cx="20482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key and value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223760" y="3840480"/>
            <a:ext cx="2377440" cy="91440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99248" y="384048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pair left?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966960" y="3977640"/>
            <a:ext cx="1371600" cy="64008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040112" y="3977640"/>
            <a:ext cx="1225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947672" y="4297680"/>
            <a:ext cx="31089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325112" y="4297680"/>
            <a:ext cx="31089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885432" y="4297680"/>
            <a:ext cx="31089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628632" y="4297680"/>
            <a:ext cx="310896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9509760" y="39776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 flipH="1">
            <a:off x="3291840" y="5029200"/>
            <a:ext cx="512064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12480" y="4773168"/>
            <a:ext cx="0" cy="896112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3291840" y="4645152"/>
            <a:ext cx="0" cy="384048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850392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6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loop over a dictionary gives only the keys. Ask for items() to get both parts.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Keys and Making Decisions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checks whether your name is on the guest list. He does not check whether your phone number appears there. After that, a rule decides whether you may enter.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 operator checks keys, not values. To look at values, use values(). The answer is True or False, so it fits straight into an if decision.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form fields, checking feature switches in settings, and rules such as salary or age eligibility.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DECISIONS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Key There? Then Decide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23160"/>
            <a:ext cx="3108960" cy="137160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53312" y="2423160"/>
            <a:ext cx="18653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key present?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867912" y="3108960"/>
            <a:ext cx="676656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384048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2743200"/>
            <a:ext cx="2560320" cy="73152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45152" y="2743200"/>
            <a:ext cx="2414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is available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286000" y="3822192"/>
            <a:ext cx="0" cy="493776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377440" y="3840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97280" y="4343400"/>
            <a:ext cx="2377440" cy="73152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70432" y="4343400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2468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the record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966960" y="246888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6696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30906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in the record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966960" y="3090672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66960" y="30906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371246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in the values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966960" y="3712464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966960" y="371246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0" y="4343400"/>
            <a:ext cx="6858000" cy="73152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45152" y="4453128"/>
            <a:ext cx="67116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35000 is 30000 or more: Eligible for salary benefit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9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looks at keys only. Ask for values() when you want to look at the values.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Dictionaries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keeps one folder for every employee number, and each folder holds that employee's details. The whole cabinet is a dictionary of dictionaries.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dictionary has dictionaries as its values. To reach a detail, give the outer key first and then the inner key.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many employees, customers or products, and the JSON data that web services send back.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Cabinet of Folders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5943600" cy="3017520"/>
          </a:xfrm>
          <a:prstGeom prst="roundRect">
            <a:avLst>
              <a:gd name="adj" fmla="val 3030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450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1560" y="292608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51560" y="34747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Arun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51560" y="4041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" y="4041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department: IT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51560" y="4608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51560" y="46085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salary: 35000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749040" y="2834640"/>
            <a:ext cx="26517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86200" y="292608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86200" y="2926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886200" y="34747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8620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Priya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886200" y="4041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86200" y="40416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department: HR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886200" y="4608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86200" y="46085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salary: 40000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040880" y="2395728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14032" y="2505456"/>
            <a:ext cx="42428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101, then name</a:t>
            </a:r>
            <a:endParaRPr lang="en-US" sz="1550" dirty="0"/>
          </a:p>
        </p:txBody>
      </p:sp>
      <p:sp>
        <p:nvSpPr>
          <p:cNvPr id="28" name="Text 25"/>
          <p:cNvSpPr txBox="1"/>
          <p:nvPr/>
        </p:nvSpPr>
        <p:spPr>
          <a:xfrm>
            <a:off x="7132320" y="28529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Arun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040880" y="347472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14032" y="3584448"/>
            <a:ext cx="42428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102, then salary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7132320" y="39319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40000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7040880" y="4553712"/>
            <a:ext cx="4389120" cy="859536"/>
          </a:xfrm>
          <a:prstGeom prst="roundRect">
            <a:avLst>
              <a:gd name="adj" fmla="val 10638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14032" y="4663440"/>
            <a:ext cx="424281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101, then salary</a:t>
            </a:r>
            <a:endParaRPr lang="en-US" sz="1550" dirty="0"/>
          </a:p>
        </p:txBody>
      </p:sp>
      <p:sp>
        <p:nvSpPr>
          <p:cNvPr id="34" name="Text 31"/>
          <p:cNvSpPr txBox="1"/>
          <p:nvPr/>
        </p:nvSpPr>
        <p:spPr>
          <a:xfrm>
            <a:off x="7132320" y="50109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updated to 38000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path from the outside in: first the folder number, then the detail inside it.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Set?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records the ID of every visitor all day. The same customer visits many times, but the company wants to count each customer once. A set keeps every ID only once.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is a collection of unique items, written inside curly brackets. It removes duplicates by itself and keeps no order.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 IDs, counting unique users, comparing customer groups and finding missing product codes.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Visits, Five Customers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VISITS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22960" y="26334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536192" y="26334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36192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249424" y="26334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49424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962656" y="26334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62656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75888" y="26334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75888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89120" y="26334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102352" y="26334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02352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15584" y="26334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15584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474720" y="3200400"/>
            <a:ext cx="0" cy="45720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365760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set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3703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KEEPS EACH ID ONCE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" y="40050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005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536192" y="40050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536192" y="4005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249424" y="40050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249424" y="4005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2962656" y="40050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62656" y="4005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675888" y="4005072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675888" y="40050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132320" y="2468880"/>
            <a:ext cx="4297680" cy="1325880"/>
          </a:xfrm>
          <a:prstGeom prst="roundRect">
            <a:avLst>
              <a:gd name="adj" fmla="val 689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37" name="Image 1" descr="assets/icon2_layer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2578608"/>
            <a:ext cx="502920" cy="50292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7205472" y="314553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visits become 5 customers</a:t>
            </a:r>
            <a:endParaRPr lang="en-US" sz="1550" dirty="0"/>
          </a:p>
        </p:txBody>
      </p:sp>
      <p:sp>
        <p:nvSpPr>
          <p:cNvPr id="39" name="Text 35"/>
          <p:cNvSpPr txBox="1"/>
          <p:nvPr/>
        </p:nvSpPr>
        <p:spPr>
          <a:xfrm>
            <a:off x="7223760" y="34930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repeats are dropped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7132320" y="3931920"/>
            <a:ext cx="4297680" cy="1325880"/>
          </a:xfrm>
          <a:prstGeom prst="roundRect">
            <a:avLst>
              <a:gd name="adj" fmla="val 6897"/>
            </a:avLst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1" name="Image 2" descr="assets/icon2_help_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4041648"/>
            <a:ext cx="502920" cy="50292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7205472" y="4608576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on screen may change</a:t>
            </a:r>
            <a:endParaRPr lang="en-US" sz="1550" dirty="0"/>
          </a:p>
        </p:txBody>
      </p:sp>
      <p:sp>
        <p:nvSpPr>
          <p:cNvPr id="43" name="Text 38"/>
          <p:cNvSpPr txBox="1"/>
          <p:nvPr/>
        </p:nvSpPr>
        <p:spPr>
          <a:xfrm>
            <a:off x="7223760" y="49560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has no first or last item</a:t>
            </a:r>
            <a:endParaRPr lang="en-US" sz="1350" dirty="0"/>
          </a:p>
        </p:txBody>
      </p:sp>
      <p:sp>
        <p:nvSpPr>
          <p:cNvPr id="44" name="Shape 3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6" name="Image 3" descr="assets/icon2_user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orange chips are the repeats. A set quietly drops them.</a:t>
            </a:r>
            <a:endParaRPr lang="en-US" sz="1400" dirty="0"/>
          </a:p>
        </p:txBody>
      </p:sp>
      <p:sp>
        <p:nvSpPr>
          <p:cNvPr id="50" name="Text 4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PROPERTIES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Set Different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7" name="Image 1" descr="assets/icon2_layer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45" y="2505456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only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stored one time, however often you add it.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46329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1" name="Image 2" descr="assets/icon2_ban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415" y="2505456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3644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order, no index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5473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positions, so asking for position 0 gives a TypeError.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19506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5" name="Image 3" descr="assets/icon2_pencil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185" y="2505456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6821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Changeable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628650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can be added and removed after the set is created.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92683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19" name="Image 4" descr="assets/icon2_help_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955" y="2505456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9998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trap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901827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curly brackets make a dictionary. Use set() to make an empty set.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9155430" y="45445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155430" y="45445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 is a dict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915543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915543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set() is a set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8" name="Image 5" descr="assets/icon2_user_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items must be fixed values. Numbers, text and tuples work. Lists do not.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and Removing Set Items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adds skills to a profile. Adding Python twice still shows Python once. Removing a skill that was never added is either an error or quietly ignored.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adds one item and update() adds many. remove() deletes an item and gives a KeyError if it is missing. discard() deletes quietly. pop() removes any one item.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lists, skill lists, blocked user lists and tracking which items were already processed.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CAN CHANGE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Skills Set Change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7744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skills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2414016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4140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4960" y="2414016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94960" y="24140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99923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Java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item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31920" y="303580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31920" y="30358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94960" y="303580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30358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303580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30358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62102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Python again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931920" y="36576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94960" y="36576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9496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858000" y="36576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24281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with two more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many at once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931920" y="427939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3192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394960" y="427939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39496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58000" y="427939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321040" y="427939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2104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784080" y="427939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784080" y="42793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486460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SQL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the item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3931920" y="490118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931920" y="49011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394960" y="490118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394960" y="49011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858000" y="490118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58000" y="49011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321040" y="490118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321040" y="49011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 gives a KeyError if the item is missing, discard() stays quiet, and pop() removes any one item.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workshop groups registered separately. The trainer asks: who joined either workshop, who joined both, and who joined only the first one?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combines two sets. Intersection keeps what is in both. Difference keeps what is only in the first. Symmetric difference keeps what is in exactly one.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customers of two campaigns, users who joined different courses, and new or missing product codes.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Workshop Groups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77440"/>
            <a:ext cx="2743200" cy="2743200"/>
          </a:xfrm>
          <a:prstGeom prst="ellipse">
            <a:avLst/>
          </a:prstGeom>
          <a:solidFill>
            <a:srgbClr val="14B8A6">
              <a:alpha val="2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377440" y="2377440"/>
            <a:ext cx="2743200" cy="2743200"/>
          </a:xfrm>
          <a:prstGeom prst="ellipse">
            <a:avLst/>
          </a:prstGeom>
          <a:solidFill>
            <a:srgbClr val="8B5CF6">
              <a:alpha val="2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3383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33832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3383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Meena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138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workshop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51389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workshop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0" y="2395728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239572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39572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everyone, once: all six names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669280" y="315468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0" y="315468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1546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both: Priya and Divya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0" y="3913632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60720" y="391363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391363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only: Arun and Kumar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5669280" y="4672584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760720" y="467258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467258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difference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group only: Arun, Kumar, Ravi, Meena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answer questions like: who is in both lists, and who is missing from one?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AND COMPARISON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In? Is It All In?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7" name="Image 1" descr="assets/icon2_search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45" y="2505456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Registered: Arun, Priya, Kumar. Is Priya registered? Is Ravi?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960120" y="45445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45445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Priya: True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6012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6012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Ravi: False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6329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5" name="Image 2" descr="assets/icon2_circle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415" y="2505456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3644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5473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Python, SQL. Candidate: Python, SQL, Excel, Power BI. Are all required skills present?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369189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69189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issubset: True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9506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1" name="Image 3" descr="assets/icon2_lay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185" y="2505456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6821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28650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candidate set contain every required skill?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2366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2366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issuperset: True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92683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7" name="Image 4" descr="assets/icon2_ban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955" y="2505456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99998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901827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Python, Java. Group B: SQL, Excel. Do they share anything?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915543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915543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isdisjoint: True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4" name="Image 5" descr="assets/icon2_user_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asks if all of A is inside B. Disjoint asks if A and B share nothing.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in Real Software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8" name="Image 1" descr="assets/icon2_users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16936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and payroll data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1" name="Image 2" descr="assets/icon2_car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8561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details, stock and unique customers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315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4" name="Image 3" descr="assets/icon2_ban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54296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APIs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responses and customer profiles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315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7" name="Image 4" descr="assets/icon2_chartbar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22976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common to two campaigns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2179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projects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1" name="Image 5" descr="assets/icon2_idcard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916936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94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 Manager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adds, updates and removes employees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2179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4" name="Image 6" descr="assets/icon2_pkg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785616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494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Inventory App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price and stock by product code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2179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7" name="Image 7" descr="assets/icon2_layers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654296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9494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 ID Cleaner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customer ID only once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2179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" name="Image 8" descr="assets/icon2_split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522976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494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Overlap Finder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who is in both campaigns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Practice Challenges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Lookup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is 10, Book is 50, Bag is 400. Show the price of the product asked for.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290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118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11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Update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has a salary of 35000. Add 5000 to it and show the new salary.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IDs are 101, 102, 103, 101, 102, 104, 105, 103. Count the unique customers.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eight IDs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9154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982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98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96926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Students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Arun, Priya, Kumar. Group B: Priya, Ravi. Show who is in both groups.</a:t>
            </a:r>
            <a:endParaRPr lang="en-US" sz="135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1440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groups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91440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144000" y="5230368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44000" y="523036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Priya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Ravi Learned Today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each one.</a:t>
            </a:r>
            <a:endParaRPr lang="en-US" sz="1400" dirty="0"/>
          </a:p>
        </p:txBody>
      </p:sp>
      <p:sp>
        <p:nvSpPr>
          <p:cNvPr id="6" name="rc_8"/>
          <p:cNvSpPr/>
          <p:nvPr/>
        </p:nvSpPr>
        <p:spPr>
          <a:xfrm>
            <a:off x="45720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assets/icon2_idcard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stores key and value pairs. Read, add, update, remove and loop</a:t>
            </a:r>
            <a:endParaRPr lang="en-US" sz="1600" dirty="0"/>
          </a:p>
        </p:txBody>
      </p:sp>
      <p:sp>
        <p:nvSpPr>
          <p:cNvPr id="9" name="rc_9"/>
          <p:cNvSpPr/>
          <p:nvPr/>
        </p:nvSpPr>
        <p:spPr>
          <a:xfrm>
            <a:off x="429768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2" descr="assets/icon2_lay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154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dictionaries hold records inside records. A set keeps unique items</a:t>
            </a:r>
            <a:endParaRPr lang="en-US" sz="1600" dirty="0"/>
          </a:p>
        </p:txBody>
      </p:sp>
      <p:sp>
        <p:nvSpPr>
          <p:cNvPr id="12" name="rc_10"/>
          <p:cNvSpPr/>
          <p:nvPr/>
        </p:nvSpPr>
        <p:spPr>
          <a:xfrm>
            <a:off x="813816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assets/icon2_spli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15468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compare two groups: union, intersection, difference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02" dur="500" fill="hold"/>
                            <p:tgtEl>
                              <p:spTgt spid="6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12" dur="500" fill="hold"/>
                            <p:tgtEl>
                              <p:spTgt spid="9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22" dur="500" fill="hold"/>
                            <p:tgtEl>
                              <p:spTgt spid="12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6 COMPLETE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can now store records by key, keep unique values and compare two groups of data.</a:t>
            </a:r>
            <a:endParaRPr lang="en-US" sz="1700" dirty="0"/>
          </a:p>
        </p:txBody>
      </p:sp>
      <p:sp>
        <p:nvSpPr>
          <p:cNvPr id="8" name="rc_next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E1B4B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144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NEXT, DAY 7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Fundamentals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5074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Ravi learns to package his steps into reusable blocks he can call again and again.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and Sets  ·  Week 2  ·  Day 6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2026-10-19T09:21:00Z</dcterms:created>
  <dcterms:modified xsi:type="dcterms:W3CDTF">2026-10-19T09:21:00Z</dcterms:modified>
</cp:coreProperties>
</file>