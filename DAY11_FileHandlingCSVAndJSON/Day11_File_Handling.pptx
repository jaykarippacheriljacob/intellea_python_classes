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9396452-f568-e8ce-02df-cd9f80b97332}">
          <p14:sldIdLst>
            <p14:sldId id="256"/>
            <p14:sldId id="257"/>
          </p14:sldIdLst>
        </p14:section>
        <p14:section name="Opening files" id="{4b7b3089-f51c-02cb-8c7a-6765a52d3c87}">
          <p14:sldIdLst>
            <p14:sldId id="258"/>
            <p14:sldId id="259"/>
          </p14:sldIdLst>
        </p14:section>
        <p14:section name="Reading files" id="{5c5b90bf-40b0-c5e7-e314-160cb06007bc}">
          <p14:sldIdLst>
            <p14:sldId id="260"/>
          </p14:sldIdLst>
        </p14:section>
        <p14:section name="Writing and appending" id="{fc6034c4-ca62-1236-c0ed-f7839fcbe3ed}">
          <p14:sldIdLst>
            <p14:sldId id="261"/>
          </p14:sldIdLst>
        </p14:section>
        <p14:section name="with open()" id="{e0e1a696-1a73-1477-5abc-d3a686e35164}">
          <p14:sldIdLst>
            <p14:sldId id="262"/>
          </p14:sldIdLst>
        </p14:section>
        <p14:section name="CSV handling" id="{7d5dfb2b-217a-4c3a-867d-14bb976235f0}">
          <p14:sldIdLst>
            <p14:sldId id="263"/>
            <p14:sldId id="264"/>
          </p14:sldIdLst>
        </p14:section>
        <p14:section name="JSON handling" id="{0b9b5bfb-b9aa-b4e6-a47f-4c40bfaa3a69}">
          <p14:sldIdLst>
            <p14:sldId id="265"/>
          </p14:sldIdLst>
        </p14:section>
        <p14:section name="Closing" id="{c69d5959-8168-296b-9161-001d875b5684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Day 11. Till now, when the program ends, all our data is gone. Today we learn to save data into files and read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topics today. Ask everyone to create a folder named day11 and open it in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file job has three steps: open, use, close. open takes the file name and the mode. Create notes.txt, then run the code. Click to reveal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r, w and a are the three you will use daily. Stress that w wipes the file. a keeps old data. x is a safe create. Binary modes are for images and PDFs.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gives one big string. readline gives one line. readlines gives a list. Looping over f is best for big files. Show the \n in the output and why we use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run the write code, open log.txt, two lines. Run it again, still two lines, because w wipes it. Then run the append code. Meena is added and old lines stay. Real use: app login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old way first and the risk of forgetting close. Click: the with way. The file closes when the indented block ends. From now on we always use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is how apps export data: bank statements, attendance, marks. Click: show it as a table. Python has a built in csv module. DictReader gives each row as a dictionary. Click for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write, open with w and newline equals empty string, otherwise Windows adds blank lines. writerow writes one list, writerows writes a list of lists. Click to show the file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is the format every API uses, for example Swiggy order details. dump writes a dict to a file, indent 4 makes it readable. Click: the file. load reads it back as a dict. Click for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11680" y="-219456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00"/>
            <a:ext cx="4206240" cy="4206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274320"/>
            <a:ext cx="1280160" cy="4233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3C4"/>
                </a:solidFill>
              </a:rPr>
              <a:t>Python Live Class  |  Week 3  |  Day 11: File Handling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-2926080"/>
            <a:ext cx="7315200" cy="731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377440"/>
            <a:ext cx="6400800" cy="6400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440" y="4206240"/>
            <a:ext cx="4572000" cy="457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2920"/>
            <a:ext cx="2286000" cy="75620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A3C4"/>
                </a:solidFill>
              </a:rPr>
              <a:t>WORK  ·  LEARN  ·  IMPACT</a:t>
            </a:r>
            <a:endParaRPr lang="en-US" sz="11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31520" y="2331720"/>
            <a:ext cx="7315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Text 1"/>
          <p:cNvSpPr/>
          <p:nvPr>
            <p:ph idx="106" type="title" hasCustomPrompt="1"/>
          </p:nvPr>
        </p:nvSpPr>
        <p:spPr>
          <a:xfrm>
            <a:off x="731520" y="269748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9" name="Text 1"/>
          <p:cNvSpPr/>
          <p:nvPr>
            <p:ph idx="107" type="body" hasCustomPrompt="1"/>
          </p:nvPr>
        </p:nvSpPr>
        <p:spPr>
          <a:xfrm>
            <a:off x="731520" y="393192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5" type="body" hasCustomPrompt="1"/>
          </p:nvPr>
        </p:nvSpPr>
        <p:spPr>
          <a:xfrm>
            <a:off x="731520" y="2331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PYTHON LIVE CLASS  ·  WEEK 3  ·  DAY 11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6" type="title" hasCustomPrompt="1"/>
          </p:nvPr>
        </p:nvSpPr>
        <p:spPr>
          <a:xfrm>
            <a:off x="731520" y="26974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File Handling</a:t>
            </a:r>
            <a:endParaRPr lang="en-US" sz="5400" dirty="0"/>
          </a:p>
        </p:txBody>
      </p:sp>
      <p:sp>
        <p:nvSpPr>
          <p:cNvPr id="4" name="Text 1"/>
          <p:cNvSpPr/>
          <p:nvPr>
            <p:ph idx="107" type="body" hasCustomPrompt="1"/>
          </p:nvPr>
        </p:nvSpPr>
        <p:spPr>
          <a:xfrm>
            <a:off x="731520" y="3931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Opening, reading, writing and appending files, with open(), file modes, CSV handling and JSON handling.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983480"/>
            <a:ext cx="1060704" cy="420624"/>
          </a:xfrm>
          <a:prstGeom prst="roundRect">
            <a:avLst>
              <a:gd name="adj" fmla="val 50000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98348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56816" y="4983480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6816" y="498348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498348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498348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4983480"/>
            <a:ext cx="676656" cy="420624"/>
          </a:xfrm>
          <a:prstGeom prst="roundRect">
            <a:avLst>
              <a:gd name="adj" fmla="val 50000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4983480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64608" y="4983480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4983480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6760" y="1691640"/>
            <a:ext cx="3108960" cy="3108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231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TODAY'S PLAN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will cover today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Week 3  ·  Day 11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20391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837" y="2155789"/>
            <a:ext cx="296997" cy="2969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Opening files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open() and close()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4136" y="187452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02736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48656" y="20391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333" y="2155789"/>
            <a:ext cx="296997" cy="2969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02736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File modes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02736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r, w, a, x and more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99632" y="187452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428232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074152" y="20391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829" y="2155789"/>
            <a:ext cx="296997" cy="29699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28232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Reading files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428232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read, readline, readlines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25128" y="187452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9253728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10899648" y="203911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325" y="2155789"/>
            <a:ext cx="296997" cy="29699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53728" y="2624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Writing files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9253728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 w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3776472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7724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2423160" y="394106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837" y="4057741"/>
            <a:ext cx="296997" cy="29699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77240" y="4526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Appending files</a:t>
            </a:r>
            <a:endParaRPr lang="en-US" sz="19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 a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3374136" y="3776472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3602736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06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5248656" y="394106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333" y="4057741"/>
            <a:ext cx="296997" cy="29699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602736" y="4526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with open()</a:t>
            </a:r>
            <a:endParaRPr lang="en-US" sz="1900" dirty="0"/>
          </a:p>
        </p:txBody>
      </p:sp>
      <p:sp>
        <p:nvSpPr>
          <p:cNvPr id="40" name="Text 32"/>
          <p:cNvSpPr txBox="1"/>
          <p:nvPr/>
        </p:nvSpPr>
        <p:spPr>
          <a:xfrm>
            <a:off x="3602736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 close the file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6199632" y="3776472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6428232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07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8074152" y="394106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0829" y="4057741"/>
            <a:ext cx="296997" cy="296997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428232" y="4526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CSV handling</a:t>
            </a:r>
            <a:endParaRPr lang="en-US" sz="1900" dirty="0"/>
          </a:p>
        </p:txBody>
      </p:sp>
      <p:sp>
        <p:nvSpPr>
          <p:cNvPr id="46" name="Text 37"/>
          <p:cNvSpPr txBox="1"/>
          <p:nvPr/>
        </p:nvSpPr>
        <p:spPr>
          <a:xfrm>
            <a:off x="6428232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and write tables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9025128" y="3776472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48" name="Text 39"/>
          <p:cNvSpPr txBox="1"/>
          <p:nvPr/>
        </p:nvSpPr>
        <p:spPr>
          <a:xfrm>
            <a:off x="9253728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A3C4"/>
                </a:solidFill>
              </a:rPr>
              <a:t>08</a:t>
            </a:r>
            <a:endParaRPr lang="en-US" sz="1600" dirty="0"/>
          </a:p>
        </p:txBody>
      </p:sp>
      <p:sp>
        <p:nvSpPr>
          <p:cNvPr id="49" name="Shape 40"/>
          <p:cNvSpPr/>
          <p:nvPr/>
        </p:nvSpPr>
        <p:spPr>
          <a:xfrm>
            <a:off x="10899648" y="394106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6325" y="4057741"/>
            <a:ext cx="296997" cy="296997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253728" y="4526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JSON handling</a:t>
            </a:r>
            <a:endParaRPr lang="en-US" sz="1900" dirty="0"/>
          </a:p>
        </p:txBody>
      </p:sp>
      <p:sp>
        <p:nvSpPr>
          <p:cNvPr id="52" name="Text 42"/>
          <p:cNvSpPr txBox="1"/>
          <p:nvPr/>
        </p:nvSpPr>
        <p:spPr>
          <a:xfrm>
            <a:off x="9253728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 Python dicts</a:t>
            </a:r>
            <a:endParaRPr lang="en-US" sz="1400" dirty="0"/>
          </a:p>
        </p:txBody>
      </p:sp>
      <p:sp>
        <p:nvSpPr>
          <p:cNvPr id="53" name="Shape 43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Create a new folder for today. All our files will be saved there.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OPENING FILES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Open, use, close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File handling means saving data into files and reading it back, so it stays after the program ends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 name"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"mode"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open() gives you a file object. You read from it or write to it.</a:t>
            </a:r>
            <a:endParaRPr lang="en-US" sz="1600" dirty="0"/>
          </a:p>
        </p:txBody>
      </p:sp>
      <p:sp>
        <p:nvSpPr>
          <p:cNvPr id="9" name="a1_fl0_bg"/>
          <p:cNvSpPr/>
          <p:nvPr/>
        </p:nvSpPr>
        <p:spPr>
          <a:xfrm>
            <a:off x="548640" y="4023360"/>
            <a:ext cx="1636776" cy="1600200"/>
          </a:xfrm>
          <a:prstGeom prst="roundRect">
            <a:avLst>
              <a:gd name="adj" fmla="val 8000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0" name="a1_fl0_c"/>
          <p:cNvSpPr/>
          <p:nvPr/>
        </p:nvSpPr>
        <p:spPr>
          <a:xfrm>
            <a:off x="749808" y="41879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a1_fl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4298594"/>
            <a:ext cx="281635" cy="281635"/>
          </a:xfrm>
          <a:prstGeom prst="rect">
            <a:avLst/>
          </a:prstGeom>
        </p:spPr>
      </p:pic>
      <p:sp>
        <p:nvSpPr>
          <p:cNvPr id="12" name="a1_fl0_t"/>
          <p:cNvSpPr txBox="1"/>
          <p:nvPr/>
        </p:nvSpPr>
        <p:spPr>
          <a:xfrm>
            <a:off x="749808" y="4754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Open</a:t>
            </a:r>
            <a:endParaRPr lang="en-US" sz="1800" dirty="0"/>
          </a:p>
        </p:txBody>
      </p:sp>
      <p:sp>
        <p:nvSpPr>
          <p:cNvPr id="13" name="a1_fl0_c"/>
          <p:cNvSpPr txBox="1"/>
          <p:nvPr/>
        </p:nvSpPr>
        <p:spPr>
          <a:xfrm>
            <a:off x="749808" y="5120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1300" dirty="0"/>
          </a:p>
        </p:txBody>
      </p:sp>
      <p:sp>
        <p:nvSpPr>
          <p:cNvPr id="14" name="a1_fl0_ar"/>
          <p:cNvSpPr/>
          <p:nvPr/>
        </p:nvSpPr>
        <p:spPr>
          <a:xfrm>
            <a:off x="2203704" y="4818888"/>
            <a:ext cx="137160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5" name="a2_fl1_bg"/>
          <p:cNvSpPr/>
          <p:nvPr/>
        </p:nvSpPr>
        <p:spPr>
          <a:xfrm>
            <a:off x="2359152" y="4023360"/>
            <a:ext cx="1636776" cy="160020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6" name="a2_fl1_c"/>
          <p:cNvSpPr/>
          <p:nvPr/>
        </p:nvSpPr>
        <p:spPr>
          <a:xfrm>
            <a:off x="2560320" y="41879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a2_fl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62" y="4298594"/>
            <a:ext cx="281635" cy="281635"/>
          </a:xfrm>
          <a:prstGeom prst="rect">
            <a:avLst/>
          </a:prstGeom>
        </p:spPr>
      </p:pic>
      <p:sp>
        <p:nvSpPr>
          <p:cNvPr id="18" name="a2_fl1_t"/>
          <p:cNvSpPr txBox="1"/>
          <p:nvPr/>
        </p:nvSpPr>
        <p:spPr>
          <a:xfrm>
            <a:off x="2560320" y="4754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Use</a:t>
            </a:r>
            <a:endParaRPr lang="en-US" sz="1800" dirty="0"/>
          </a:p>
        </p:txBody>
      </p:sp>
      <p:sp>
        <p:nvSpPr>
          <p:cNvPr id="19" name="a2_fl1_c"/>
          <p:cNvSpPr txBox="1"/>
          <p:nvPr/>
        </p:nvSpPr>
        <p:spPr>
          <a:xfrm>
            <a:off x="2560320" y="5120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</a:t>
            </a:r>
            <a:endParaRPr lang="en-US" sz="1300" dirty="0"/>
          </a:p>
        </p:txBody>
      </p:sp>
      <p:sp>
        <p:nvSpPr>
          <p:cNvPr id="20" name="a2_fl1_ar"/>
          <p:cNvSpPr/>
          <p:nvPr/>
        </p:nvSpPr>
        <p:spPr>
          <a:xfrm>
            <a:off x="4014216" y="4818888"/>
            <a:ext cx="137160" cy="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21" name="a3_fl2_bg"/>
          <p:cNvSpPr/>
          <p:nvPr/>
        </p:nvSpPr>
        <p:spPr>
          <a:xfrm>
            <a:off x="4169664" y="4023360"/>
            <a:ext cx="1636776" cy="1600200"/>
          </a:xfrm>
          <a:prstGeom prst="roundRect">
            <a:avLst>
              <a:gd name="adj" fmla="val 8000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2" name="a3_fl2_c"/>
          <p:cNvSpPr/>
          <p:nvPr/>
        </p:nvSpPr>
        <p:spPr>
          <a:xfrm>
            <a:off x="4370832" y="41879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a3_fl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474" y="4298594"/>
            <a:ext cx="281635" cy="281635"/>
          </a:xfrm>
          <a:prstGeom prst="rect">
            <a:avLst/>
          </a:prstGeom>
        </p:spPr>
      </p:pic>
      <p:sp>
        <p:nvSpPr>
          <p:cNvPr id="24" name="a3_fl2_t"/>
          <p:cNvSpPr txBox="1"/>
          <p:nvPr/>
        </p:nvSpPr>
        <p:spPr>
          <a:xfrm>
            <a:off x="4370832" y="4754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Close</a:t>
            </a:r>
            <a:endParaRPr lang="en-US" sz="1800" dirty="0"/>
          </a:p>
        </p:txBody>
      </p:sp>
      <p:sp>
        <p:nvSpPr>
          <p:cNvPr id="25" name="a3_fl2_c"/>
          <p:cNvSpPr txBox="1"/>
          <p:nvPr/>
        </p:nvSpPr>
        <p:spPr>
          <a:xfrm>
            <a:off x="4370832" y="5120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82512" y="1828800"/>
            <a:ext cx="52578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611112" y="1956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notes.txt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611112" y="2304288"/>
            <a:ext cx="4846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class at 10 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Bring your laptop</a:t>
            </a:r>
            <a:endParaRPr lang="en-US" sz="1500" dirty="0"/>
          </a:p>
        </p:txBody>
      </p:sp>
      <p:sp>
        <p:nvSpPr>
          <p:cNvPr id="29" name="a4_code_bg"/>
          <p:cNvSpPr/>
          <p:nvPr/>
        </p:nvSpPr>
        <p:spPr>
          <a:xfrm>
            <a:off x="6382512" y="3401568"/>
            <a:ext cx="5257800" cy="1325880"/>
          </a:xfrm>
          <a:prstGeom prst="roundRect">
            <a:avLst>
              <a:gd name="adj" fmla="val 9655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30" name="a4_code_f"/>
          <p:cNvSpPr txBox="1"/>
          <p:nvPr/>
        </p:nvSpPr>
        <p:spPr>
          <a:xfrm>
            <a:off x="6611112" y="3529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read_notes.py</a:t>
            </a:r>
            <a:endParaRPr lang="en-US" sz="1400" dirty="0"/>
          </a:p>
        </p:txBody>
      </p:sp>
      <p:sp>
        <p:nvSpPr>
          <p:cNvPr id="31" name="a4_code_code"/>
          <p:cNvSpPr txBox="1"/>
          <p:nvPr/>
        </p:nvSpPr>
        <p:spPr>
          <a:xfrm>
            <a:off x="6611112" y="3877056"/>
            <a:ext cx="4846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32" name="a4_out_bg"/>
          <p:cNvSpPr/>
          <p:nvPr/>
        </p:nvSpPr>
        <p:spPr>
          <a:xfrm>
            <a:off x="6382512" y="4818888"/>
            <a:ext cx="5257800" cy="850392"/>
          </a:xfrm>
          <a:prstGeom prst="roundRect">
            <a:avLst>
              <a:gd name="adj" fmla="val 15054"/>
            </a:avLst>
          </a:prstGeom>
          <a:solidFill>
            <a:srgbClr val="F1FBF6"/>
          </a:solidFill>
          <a:ln w="12700">
            <a:solidFill>
              <a:srgbClr val="CDEBDC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33" name="a4_out_l"/>
          <p:cNvSpPr txBox="1"/>
          <p:nvPr/>
        </p:nvSpPr>
        <p:spPr>
          <a:xfrm>
            <a:off x="6611112" y="49286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OUTPUT</a:t>
            </a:r>
            <a:endParaRPr lang="en-US" sz="1200" dirty="0"/>
          </a:p>
        </p:txBody>
      </p:sp>
      <p:sp>
        <p:nvSpPr>
          <p:cNvPr id="34" name="a4_out_o"/>
          <p:cNvSpPr txBox="1"/>
          <p:nvPr/>
        </p:nvSpPr>
        <p:spPr>
          <a:xfrm>
            <a:off x="6611112" y="5202936"/>
            <a:ext cx="4846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class at 10 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Bring your laptop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Keep the .txt file in the same folder as your .py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8" grpId="0" animBg="1"/>
      <p:bldP spid="19" grpId="0" animBg="1"/>
      <p:bldP spid="24" grpId="0" animBg="1"/>
      <p:bldP spid="25" grpId="0" animBg="1"/>
      <p:bldP spid="30" grpId="0" animBg="1"/>
      <p:bldP spid="31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FILE MODES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second value in open() is the mode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mode tells Python what you want to do with the file</a:t>
            </a:r>
            <a:endParaRPr lang="en-US" sz="1700" dirty="0"/>
          </a:p>
        </p:txBody>
      </p:sp>
      <p:sp>
        <p:nvSpPr>
          <p:cNvPr id="5" name="a1_m0_bg"/>
          <p:cNvSpPr/>
          <p:nvPr/>
        </p:nvSpPr>
        <p:spPr>
          <a:xfrm>
            <a:off x="548640" y="182880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6" name="a1_m0_mb"/>
          <p:cNvSpPr/>
          <p:nvPr/>
        </p:nvSpPr>
        <p:spPr>
          <a:xfrm>
            <a:off x="777240" y="205740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7" name="a1_m0_m"/>
          <p:cNvSpPr txBox="1"/>
          <p:nvPr/>
        </p:nvSpPr>
        <p:spPr>
          <a:xfrm>
            <a:off x="777240" y="20574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endParaRPr lang="en-US" sz="2400" dirty="0"/>
          </a:p>
        </p:txBody>
      </p:sp>
      <p:sp>
        <p:nvSpPr>
          <p:cNvPr id="8" name="a1_m0_t"/>
          <p:cNvSpPr txBox="1"/>
          <p:nvPr/>
        </p:nvSpPr>
        <p:spPr>
          <a:xfrm>
            <a:off x="173736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</a:t>
            </a:r>
            <a:endParaRPr lang="en-US" sz="2000" dirty="0"/>
          </a:p>
        </p:txBody>
      </p:sp>
      <p:sp>
        <p:nvSpPr>
          <p:cNvPr id="9" name="a1_m0_d"/>
          <p:cNvSpPr txBox="1"/>
          <p:nvPr/>
        </p:nvSpPr>
        <p:spPr>
          <a:xfrm>
            <a:off x="777240" y="2852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Default mode. Error if the file does not exist.</a:t>
            </a:r>
            <a:endParaRPr lang="en-US" sz="1500" dirty="0"/>
          </a:p>
        </p:txBody>
      </p:sp>
      <p:sp>
        <p:nvSpPr>
          <p:cNvPr id="10" name="a1_m1_bg"/>
          <p:cNvSpPr/>
          <p:nvPr/>
        </p:nvSpPr>
        <p:spPr>
          <a:xfrm>
            <a:off x="4325112" y="182880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1" name="a1_m1_mb"/>
          <p:cNvSpPr/>
          <p:nvPr/>
        </p:nvSpPr>
        <p:spPr>
          <a:xfrm>
            <a:off x="4553712" y="205740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</p:sp>
      <p:sp>
        <p:nvSpPr>
          <p:cNvPr id="12" name="a1_m1_m"/>
          <p:cNvSpPr txBox="1"/>
          <p:nvPr/>
        </p:nvSpPr>
        <p:spPr>
          <a:xfrm>
            <a:off x="4553712" y="20574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endParaRPr lang="en-US" sz="2400" dirty="0"/>
          </a:p>
        </p:txBody>
      </p:sp>
      <p:sp>
        <p:nvSpPr>
          <p:cNvPr id="13" name="a1_m1_t"/>
          <p:cNvSpPr txBox="1"/>
          <p:nvPr/>
        </p:nvSpPr>
        <p:spPr>
          <a:xfrm>
            <a:off x="5513832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Write</a:t>
            </a:r>
            <a:endParaRPr lang="en-US" sz="2000" dirty="0"/>
          </a:p>
        </p:txBody>
      </p:sp>
      <p:sp>
        <p:nvSpPr>
          <p:cNvPr id="14" name="a1_m1_d"/>
          <p:cNvSpPr txBox="1"/>
          <p:nvPr/>
        </p:nvSpPr>
        <p:spPr>
          <a:xfrm>
            <a:off x="4553712" y="2852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Creates the file. Wipes old content if it exists.</a:t>
            </a:r>
            <a:endParaRPr lang="en-US" sz="1500" dirty="0"/>
          </a:p>
        </p:txBody>
      </p:sp>
      <p:sp>
        <p:nvSpPr>
          <p:cNvPr id="15" name="a1_m2_bg"/>
          <p:cNvSpPr/>
          <p:nvPr/>
        </p:nvSpPr>
        <p:spPr>
          <a:xfrm>
            <a:off x="8101584" y="182880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6" name="a1_m2_mb"/>
          <p:cNvSpPr/>
          <p:nvPr/>
        </p:nvSpPr>
        <p:spPr>
          <a:xfrm>
            <a:off x="8330184" y="205740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</p:spPr>
      </p:sp>
      <p:sp>
        <p:nvSpPr>
          <p:cNvPr id="17" name="a1_m2_m"/>
          <p:cNvSpPr txBox="1"/>
          <p:nvPr/>
        </p:nvSpPr>
        <p:spPr>
          <a:xfrm>
            <a:off x="8330184" y="20574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2400" dirty="0"/>
          </a:p>
        </p:txBody>
      </p:sp>
      <p:sp>
        <p:nvSpPr>
          <p:cNvPr id="18" name="a1_m2_t"/>
          <p:cNvSpPr txBox="1"/>
          <p:nvPr/>
        </p:nvSpPr>
        <p:spPr>
          <a:xfrm>
            <a:off x="9290304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Append</a:t>
            </a:r>
            <a:endParaRPr lang="en-US" sz="2000" dirty="0"/>
          </a:p>
        </p:txBody>
      </p:sp>
      <p:sp>
        <p:nvSpPr>
          <p:cNvPr id="19" name="a1_m2_d"/>
          <p:cNvSpPr txBox="1"/>
          <p:nvPr/>
        </p:nvSpPr>
        <p:spPr>
          <a:xfrm>
            <a:off x="8330184" y="2852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Adds to the end. Old content stays safe.</a:t>
            </a:r>
            <a:endParaRPr lang="en-US" sz="1500" dirty="0"/>
          </a:p>
        </p:txBody>
      </p:sp>
      <p:sp>
        <p:nvSpPr>
          <p:cNvPr id="20" name="a2_m3_bg"/>
          <p:cNvSpPr/>
          <p:nvPr/>
        </p:nvSpPr>
        <p:spPr>
          <a:xfrm>
            <a:off x="548640" y="379476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1" name="a2_m3_mb"/>
          <p:cNvSpPr/>
          <p:nvPr/>
        </p:nvSpPr>
        <p:spPr>
          <a:xfrm>
            <a:off x="777240" y="402336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F7F5FE"/>
          </a:solidFill>
          <a:ln w="12700">
            <a:solidFill>
              <a:srgbClr val="F7F5FE"/>
            </a:solidFill>
            <a:prstDash val="solid"/>
          </a:ln>
        </p:spPr>
      </p:sp>
      <p:sp>
        <p:nvSpPr>
          <p:cNvPr id="22" name="a2_m3_m"/>
          <p:cNvSpPr txBox="1"/>
          <p:nvPr/>
        </p:nvSpPr>
        <p:spPr>
          <a:xfrm>
            <a:off x="777240" y="4023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endParaRPr lang="en-US" sz="2400" dirty="0"/>
          </a:p>
        </p:txBody>
      </p:sp>
      <p:sp>
        <p:nvSpPr>
          <p:cNvPr id="23" name="a2_m3_t"/>
          <p:cNvSpPr txBox="1"/>
          <p:nvPr/>
        </p:nvSpPr>
        <p:spPr>
          <a:xfrm>
            <a:off x="1737360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Create</a:t>
            </a:r>
            <a:endParaRPr lang="en-US" sz="2000" dirty="0"/>
          </a:p>
        </p:txBody>
      </p:sp>
      <p:sp>
        <p:nvSpPr>
          <p:cNvPr id="24" name="a2_m3_d"/>
          <p:cNvSpPr txBox="1"/>
          <p:nvPr/>
        </p:nvSpPr>
        <p:spPr>
          <a:xfrm>
            <a:off x="777240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Creates a new file. Error if it already exists.</a:t>
            </a:r>
            <a:endParaRPr lang="en-US" sz="1500" dirty="0"/>
          </a:p>
        </p:txBody>
      </p:sp>
      <p:sp>
        <p:nvSpPr>
          <p:cNvPr id="25" name="a2_m4_bg"/>
          <p:cNvSpPr/>
          <p:nvPr/>
        </p:nvSpPr>
        <p:spPr>
          <a:xfrm>
            <a:off x="4325112" y="379476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6" name="a2_m4_mb"/>
          <p:cNvSpPr/>
          <p:nvPr/>
        </p:nvSpPr>
        <p:spPr>
          <a:xfrm>
            <a:off x="4553712" y="4023360"/>
            <a:ext cx="822960" cy="685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7" name="a2_m4_m"/>
          <p:cNvSpPr txBox="1"/>
          <p:nvPr/>
        </p:nvSpPr>
        <p:spPr>
          <a:xfrm>
            <a:off x="4553712" y="4023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"r+"</a:t>
            </a:r>
            <a:endParaRPr lang="en-US" sz="2400" dirty="0"/>
          </a:p>
        </p:txBody>
      </p:sp>
      <p:sp>
        <p:nvSpPr>
          <p:cNvPr id="28" name="a2_m4_t"/>
          <p:cNvSpPr txBox="1"/>
          <p:nvPr/>
        </p:nvSpPr>
        <p:spPr>
          <a:xfrm>
            <a:off x="5513832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 and write</a:t>
            </a:r>
            <a:endParaRPr lang="en-US" sz="2000" dirty="0"/>
          </a:p>
        </p:txBody>
      </p:sp>
      <p:sp>
        <p:nvSpPr>
          <p:cNvPr id="29" name="a2_m4_d"/>
          <p:cNvSpPr txBox="1"/>
          <p:nvPr/>
        </p:nvSpPr>
        <p:spPr>
          <a:xfrm>
            <a:off x="4553712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File must already exist.</a:t>
            </a:r>
            <a:endParaRPr lang="en-US" sz="1500" dirty="0"/>
          </a:p>
        </p:txBody>
      </p:sp>
      <p:sp>
        <p:nvSpPr>
          <p:cNvPr id="30" name="a2_m5_bg"/>
          <p:cNvSpPr/>
          <p:nvPr/>
        </p:nvSpPr>
        <p:spPr>
          <a:xfrm>
            <a:off x="8101584" y="3794760"/>
            <a:ext cx="3547872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31" name="a2_m5_mb"/>
          <p:cNvSpPr/>
          <p:nvPr/>
        </p:nvSpPr>
        <p:spPr>
          <a:xfrm>
            <a:off x="8330184" y="4023360"/>
            <a:ext cx="1417320" cy="685800"/>
          </a:xfrm>
          <a:prstGeom prst="roundRect">
            <a:avLst>
              <a:gd name="adj" fmla="val 16000"/>
            </a:avLst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32" name="a2_m5_m"/>
          <p:cNvSpPr txBox="1"/>
          <p:nvPr/>
        </p:nvSpPr>
        <p:spPr>
          <a:xfrm>
            <a:off x="8330184" y="40233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"rb / wb"</a:t>
            </a:r>
            <a:endParaRPr lang="en-US" sz="1800" dirty="0"/>
          </a:p>
        </p:txBody>
      </p:sp>
      <p:sp>
        <p:nvSpPr>
          <p:cNvPr id="33" name="a2_m5_t"/>
          <p:cNvSpPr txBox="1"/>
          <p:nvPr/>
        </p:nvSpPr>
        <p:spPr>
          <a:xfrm>
            <a:off x="9884664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Binary</a:t>
            </a:r>
            <a:endParaRPr lang="en-US" sz="2000" dirty="0"/>
          </a:p>
        </p:txBody>
      </p:sp>
      <p:sp>
        <p:nvSpPr>
          <p:cNvPr id="34" name="a2_m5_d"/>
          <p:cNvSpPr txBox="1"/>
          <p:nvPr/>
        </p:nvSpPr>
        <p:spPr>
          <a:xfrm>
            <a:off x="8330184" y="4818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For images, PDFs and other non text files.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Careful with "w". It deletes everything already in the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READING FILES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ways to read a file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Open the file in mode "r", then pick how much to read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students.txt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EFF4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24612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f.read()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32461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Whole file as one string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84962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f.readline()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72968" y="38496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the next 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EFF4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45312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f.readlines()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172968" y="44531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List of all lines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505663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72968" y="50566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line at a 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5696712" cy="2331720"/>
          </a:xfrm>
          <a:prstGeom prst="roundRect">
            <a:avLst>
              <a:gd name="adj" fmla="val 5490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72200" y="195681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read_students.py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04288"/>
            <a:ext cx="52852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"students.txt"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23" name="a1_out_bg"/>
          <p:cNvSpPr/>
          <p:nvPr/>
        </p:nvSpPr>
        <p:spPr>
          <a:xfrm>
            <a:off x="5943600" y="4279392"/>
            <a:ext cx="5696712" cy="1371600"/>
          </a:xfrm>
          <a:prstGeom prst="roundRect">
            <a:avLst>
              <a:gd name="adj" fmla="val 9333"/>
            </a:avLst>
          </a:prstGeom>
          <a:solidFill>
            <a:srgbClr val="F1FBF6"/>
          </a:solidFill>
          <a:ln w="12700">
            <a:solidFill>
              <a:srgbClr val="CDEBDC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4" name="a1_out_l"/>
          <p:cNvSpPr txBox="1"/>
          <p:nvPr/>
        </p:nvSpPr>
        <p:spPr>
          <a:xfrm>
            <a:off x="6172200" y="438912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OUTPUT</a:t>
            </a:r>
            <a:endParaRPr lang="en-US" sz="1200" dirty="0"/>
          </a:p>
        </p:txBody>
      </p:sp>
      <p:sp>
        <p:nvSpPr>
          <p:cNvPr id="25" name="a1_out_o"/>
          <p:cNvSpPr txBox="1"/>
          <p:nvPr/>
        </p:nvSpPr>
        <p:spPr>
          <a:xfrm>
            <a:off x="6172200" y="4663440"/>
            <a:ext cx="5285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['Asha\n', 'Ravi\n', 'Meena\n']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Asha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Ravi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Meena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Each line ends with \n. Use .strip() to remove it before printing.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WRITING AND APPENDING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"w" starts fresh. "a" adds at the end.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Both create the file if it is not there</a:t>
            </a:r>
            <a:endParaRPr lang="en-US" sz="1700" dirty="0"/>
          </a:p>
        </p:txBody>
      </p:sp>
      <p:sp>
        <p:nvSpPr>
          <p:cNvPr id="5" name="a1_c0_t"/>
          <p:cNvSpPr txBox="1"/>
          <p:nvPr/>
        </p:nvSpPr>
        <p:spPr>
          <a:xfrm>
            <a:off x="548640" y="18105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 "w"</a:t>
            </a:r>
            <a:endParaRPr lang="en-US" sz="2000" dirty="0"/>
          </a:p>
        </p:txBody>
      </p:sp>
      <p:sp>
        <p:nvSpPr>
          <p:cNvPr id="6" name="a1_c0_bg"/>
          <p:cNvSpPr/>
          <p:nvPr/>
        </p:nvSpPr>
        <p:spPr>
          <a:xfrm>
            <a:off x="548640" y="2267712"/>
            <a:ext cx="5257800" cy="1783080"/>
          </a:xfrm>
          <a:prstGeom prst="roundRect">
            <a:avLst>
              <a:gd name="adj" fmla="val 7179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7" name="a1_c0_code"/>
          <p:cNvSpPr txBox="1"/>
          <p:nvPr/>
        </p:nvSpPr>
        <p:spPr>
          <a:xfrm>
            <a:off x="777240" y="2432304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"Login: Asha\n"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"Login: Ravi\n"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a2_r0_ar"/>
          <p:cNvSpPr/>
          <p:nvPr/>
        </p:nvSpPr>
        <p:spPr>
          <a:xfrm>
            <a:off x="3172968" y="4096512"/>
            <a:ext cx="0" cy="27432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9" name="a2_r0_bg"/>
          <p:cNvSpPr/>
          <p:nvPr/>
        </p:nvSpPr>
        <p:spPr>
          <a:xfrm>
            <a:off x="548640" y="4407408"/>
            <a:ext cx="5257800" cy="1261872"/>
          </a:xfrm>
          <a:prstGeom prst="roundRect">
            <a:avLst>
              <a:gd name="adj" fmla="val 10145"/>
            </a:avLst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0" name="a2_r0_l"/>
          <p:cNvSpPr txBox="1"/>
          <p:nvPr/>
        </p:nvSpPr>
        <p:spPr>
          <a:xfrm>
            <a:off x="777240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log.txt after running</a:t>
            </a:r>
            <a:endParaRPr lang="en-US" sz="1200" dirty="0"/>
          </a:p>
        </p:txBody>
      </p:sp>
      <p:sp>
        <p:nvSpPr>
          <p:cNvPr id="11" name="a2_r0_c"/>
          <p:cNvSpPr txBox="1"/>
          <p:nvPr/>
        </p:nvSpPr>
        <p:spPr>
          <a:xfrm>
            <a:off x="77724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Asha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Ravi</a:t>
            </a:r>
            <a:endParaRPr lang="en-US" sz="1400" dirty="0"/>
          </a:p>
        </p:txBody>
      </p:sp>
      <p:sp>
        <p:nvSpPr>
          <p:cNvPr id="12" name="a3_c1_t"/>
          <p:cNvSpPr txBox="1"/>
          <p:nvPr/>
        </p:nvSpPr>
        <p:spPr>
          <a:xfrm>
            <a:off x="6382512" y="18105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 "a"</a:t>
            </a:r>
            <a:endParaRPr lang="en-US" sz="2000" dirty="0"/>
          </a:p>
        </p:txBody>
      </p:sp>
      <p:sp>
        <p:nvSpPr>
          <p:cNvPr id="13" name="a3_c1_bg"/>
          <p:cNvSpPr/>
          <p:nvPr/>
        </p:nvSpPr>
        <p:spPr>
          <a:xfrm>
            <a:off x="6382512" y="2267712"/>
            <a:ext cx="5257800" cy="1783080"/>
          </a:xfrm>
          <a:prstGeom prst="roundRect">
            <a:avLst>
              <a:gd name="adj" fmla="val 7179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4" name="a3_c1_code"/>
          <p:cNvSpPr txBox="1"/>
          <p:nvPr/>
        </p:nvSpPr>
        <p:spPr>
          <a:xfrm>
            <a:off x="6611112" y="2432304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"Login: Meena\n"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a4_r1_ar"/>
          <p:cNvSpPr/>
          <p:nvPr/>
        </p:nvSpPr>
        <p:spPr>
          <a:xfrm>
            <a:off x="9006840" y="4096512"/>
            <a:ext cx="0" cy="27432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6" name="a4_r1_bg"/>
          <p:cNvSpPr/>
          <p:nvPr/>
        </p:nvSpPr>
        <p:spPr>
          <a:xfrm>
            <a:off x="6382512" y="4407408"/>
            <a:ext cx="5257800" cy="1261872"/>
          </a:xfrm>
          <a:prstGeom prst="roundRect">
            <a:avLst>
              <a:gd name="adj" fmla="val 10145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7" name="a4_r1_l"/>
          <p:cNvSpPr txBox="1"/>
          <p:nvPr/>
        </p:nvSpPr>
        <p:spPr>
          <a:xfrm>
            <a:off x="6611112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log.txt after running</a:t>
            </a:r>
            <a:endParaRPr lang="en-US" sz="1200" dirty="0"/>
          </a:p>
        </p:txBody>
      </p:sp>
      <p:sp>
        <p:nvSpPr>
          <p:cNvPr id="18" name="a4_r1_c"/>
          <p:cNvSpPr txBox="1"/>
          <p:nvPr/>
        </p:nvSpPr>
        <p:spPr>
          <a:xfrm>
            <a:off x="6611112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Asha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Ravi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Meena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write() does not add a new line. Add \n yourself at the end of each 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  <p:bldP spid="12" grpId="0" animBg="1"/>
      <p:bldP spid="14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WITH OPEN()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Let Python close the file for you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with open() closes the file automatically, even if an error happens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91C1C"/>
                </a:solidFill>
              </a:rPr>
              <a:t>Without with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3230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8A8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easy to forget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069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91C1C"/>
                </a:solidFill>
              </a:rPr>
              <a:t>If you forget close()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file stays locked and new data may not be saved.</a:t>
            </a:r>
            <a:endParaRPr lang="en-US" sz="1700" dirty="0"/>
          </a:p>
        </p:txBody>
      </p:sp>
      <p:sp>
        <p:nvSpPr>
          <p:cNvPr id="10" name="a1_t"/>
          <p:cNvSpPr txBox="1"/>
          <p:nvPr/>
        </p:nvSpPr>
        <p:spPr>
          <a:xfrm>
            <a:off x="6382512" y="18105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With with</a:t>
            </a:r>
            <a:endParaRPr lang="en-US" sz="1900" dirty="0"/>
          </a:p>
        </p:txBody>
      </p:sp>
      <p:sp>
        <p:nvSpPr>
          <p:cNvPr id="11" name="a1_code_bg"/>
          <p:cNvSpPr/>
          <p:nvPr/>
        </p:nvSpPr>
        <p:spPr>
          <a:xfrm>
            <a:off x="6382512" y="2267712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2" name="a1_code_code"/>
          <p:cNvSpPr txBox="1"/>
          <p:nvPr/>
        </p:nvSpPr>
        <p:spPr>
          <a:xfrm>
            <a:off x="6611112" y="243230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"notes.txt"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a2_ok_bg"/>
          <p:cNvSpPr/>
          <p:nvPr/>
        </p:nvSpPr>
        <p:spPr>
          <a:xfrm>
            <a:off x="6382512" y="3913632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1FBF6"/>
          </a:solidFill>
          <a:ln w="12700">
            <a:solidFill>
              <a:srgbClr val="F1FBF6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4" name="a2_ok_t"/>
          <p:cNvSpPr txBox="1"/>
          <p:nvPr/>
        </p:nvSpPr>
        <p:spPr>
          <a:xfrm>
            <a:off x="6611112" y="4069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How it works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Code inside the indented block uses the file. When the block ends, the file closes by itself.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From now on, use with open() for all file work. This is what companies 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CSV HANDLING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CSV: a table saved as plain text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Each line is a row. Commas separate the columns. Excel opens it as a table.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marks.csv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4709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name,course,marks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Asha,Python,88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Ravi,SQL,76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Meena,Python,92</a:t>
            </a:r>
            <a:endParaRPr lang="en-US" sz="1500" dirty="0"/>
          </a:p>
        </p:txBody>
      </p:sp>
      <p:graphicFrame>
        <p:nvGraphicFramePr>
          <p:cNvPr id="9" name="a1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B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C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1_cap"/>
          <p:cNvSpPr txBox="1"/>
          <p:nvPr/>
        </p:nvSpPr>
        <p:spPr>
          <a:xfrm>
            <a:off x="5486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file, opened in Excel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828800"/>
            <a:ext cx="5696712" cy="2377440"/>
          </a:xfrm>
          <a:prstGeom prst="roundRect">
            <a:avLst>
              <a:gd name="adj" fmla="val 5385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95681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read_marks.py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304288"/>
            <a:ext cx="528523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"marks.csv"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a2_out_bg"/>
          <p:cNvSpPr/>
          <p:nvPr/>
        </p:nvSpPr>
        <p:spPr>
          <a:xfrm>
            <a:off x="5943600" y="4343400"/>
            <a:ext cx="5696712" cy="1307592"/>
          </a:xfrm>
          <a:prstGeom prst="roundRect">
            <a:avLst>
              <a:gd name="adj" fmla="val 9790"/>
            </a:avLst>
          </a:prstGeom>
          <a:solidFill>
            <a:srgbClr val="F1FBF6"/>
          </a:solidFill>
          <a:ln w="12700">
            <a:solidFill>
              <a:srgbClr val="CDEBDC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4" name="a2_out_l"/>
          <p:cNvSpPr txBox="1"/>
          <p:nvPr/>
        </p:nvSpPr>
        <p:spPr>
          <a:xfrm>
            <a:off x="6172200" y="445312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OUTPUT</a:t>
            </a:r>
            <a:endParaRPr lang="en-US" sz="1200" dirty="0"/>
          </a:p>
        </p:txBody>
      </p:sp>
      <p:sp>
        <p:nvSpPr>
          <p:cNvPr id="15" name="a2_out_o"/>
          <p:cNvSpPr txBox="1"/>
          <p:nvPr/>
        </p:nvSpPr>
        <p:spPr>
          <a:xfrm>
            <a:off x="6172200" y="4727448"/>
            <a:ext cx="52852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 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76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 92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DictReader uses the first row as column names, so you can write row["marks"].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CSV HANDLING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Write rows into a CSV file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csv.writer turns Python lists into CSV lines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1FBF6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csv.reader(f)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30168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row as a 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csv.DictReader(f)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row as a dict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1FBF6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csv.writer(f)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Get a writer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writer.writerow(row)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Write one row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1FBF6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writer.writerows(rows)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4389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Write many rows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5029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Stops blank rows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1828800"/>
            <a:ext cx="5696712" cy="2560320"/>
          </a:xfrm>
          <a:prstGeom prst="roundRect">
            <a:avLst>
              <a:gd name="adj" fmla="val 5000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72200" y="195681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save_result.py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304288"/>
            <a:ext cx="52852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"Asha"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"Ravi"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"result.csv"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newline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6" name="a1_res_bg"/>
          <p:cNvSpPr/>
          <p:nvPr/>
        </p:nvSpPr>
        <p:spPr>
          <a:xfrm>
            <a:off x="5943600" y="4498848"/>
            <a:ext cx="569671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7" name="a1_res_f"/>
          <p:cNvSpPr txBox="1"/>
          <p:nvPr/>
        </p:nvSpPr>
        <p:spPr>
          <a:xfrm>
            <a:off x="6172200" y="4626864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result.csv</a:t>
            </a:r>
            <a:endParaRPr lang="en-US" sz="1400" dirty="0"/>
          </a:p>
        </p:txBody>
      </p:sp>
      <p:sp>
        <p:nvSpPr>
          <p:cNvPr id="28" name="a1_res_c"/>
          <p:cNvSpPr txBox="1"/>
          <p:nvPr/>
        </p:nvSpPr>
        <p:spPr>
          <a:xfrm>
            <a:off x="6172200" y="4974336"/>
            <a:ext cx="5285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name,marks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Asha,88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Ravi,76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mode "a" instead of "w" to add new rows without deleting old 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body" hasCustomPrompt="1"/>
          </p:nvPr>
        </p:nvSpPr>
        <p:spPr>
          <a:xfrm>
            <a:off x="548640" y="38404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JSON HANDLING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5" type="title" hasCustomPrompt="1"/>
          </p:nvPr>
        </p:nvSpPr>
        <p:spPr>
          <a:xfrm>
            <a:off x="548640" y="6583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JSON: save Python dictionaries in a file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6" type="body" hasCustomPrompt="1"/>
          </p:nvPr>
        </p:nvSpPr>
        <p:spPr>
          <a:xfrm>
            <a:off x="548640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Apps and APIs send data in JSON. It looks almost like a Python dict.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7ED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json.dump(data, f)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18288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Dict to 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4323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4323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File to dict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7ED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035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json.dumps(data)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035808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Dict to 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51206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6393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json.loads(text)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363931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 to dict</a:t>
            </a:r>
            <a:endParaRPr lang="en-US" sz="1400" dirty="0"/>
          </a:p>
        </p:txBody>
      </p:sp>
      <p:sp>
        <p:nvSpPr>
          <p:cNvPr id="17" name="a1_json_bg"/>
          <p:cNvSpPr/>
          <p:nvPr/>
        </p:nvSpPr>
        <p:spPr>
          <a:xfrm>
            <a:off x="548640" y="4279392"/>
            <a:ext cx="5120640" cy="1389888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18" name="a1_json_f"/>
          <p:cNvSpPr txBox="1"/>
          <p:nvPr/>
        </p:nvSpPr>
        <p:spPr>
          <a:xfrm>
            <a:off x="777240" y="44074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student.json</a:t>
            </a:r>
            <a:endParaRPr lang="en-US" sz="1400" dirty="0"/>
          </a:p>
        </p:txBody>
      </p:sp>
      <p:sp>
        <p:nvSpPr>
          <p:cNvPr id="19" name="a1_json_c"/>
          <p:cNvSpPr txBox="1"/>
          <p:nvPr/>
        </p:nvSpPr>
        <p:spPr>
          <a:xfrm>
            <a:off x="777240" y="4754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"Asha",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"marks": 88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5696712" cy="2788920"/>
          </a:xfrm>
          <a:prstGeom prst="roundRect">
            <a:avLst>
              <a:gd name="adj" fmla="val 4590"/>
            </a:avLst>
          </a:prstGeom>
          <a:solidFill>
            <a:srgbClr val="F7F5FE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72200" y="195681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04288"/>
            <a:ext cx="5285232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"Asha"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"student.json"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"student.json"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a2_out_bg"/>
          <p:cNvSpPr/>
          <p:nvPr/>
        </p:nvSpPr>
        <p:spPr>
          <a:xfrm>
            <a:off x="5943600" y="4754880"/>
            <a:ext cx="5696712" cy="896112"/>
          </a:xfrm>
          <a:prstGeom prst="roundRect">
            <a:avLst>
              <a:gd name="adj" fmla="val 14286"/>
            </a:avLst>
          </a:prstGeom>
          <a:solidFill>
            <a:srgbClr val="F1FBF6"/>
          </a:solidFill>
          <a:ln w="12700">
            <a:solidFill>
              <a:srgbClr val="CDEBDC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sp>
        <p:nvSpPr>
          <p:cNvPr id="24" name="a2_out_l"/>
          <p:cNvSpPr txBox="1"/>
          <p:nvPr/>
        </p:nvSpPr>
        <p:spPr>
          <a:xfrm>
            <a:off x="6172200" y="486460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OUTPUT</a:t>
            </a:r>
            <a:endParaRPr lang="en-US" sz="1200" dirty="0"/>
          </a:p>
        </p:txBody>
      </p:sp>
      <p:sp>
        <p:nvSpPr>
          <p:cNvPr id="25" name="a2_out_o"/>
          <p:cNvSpPr txBox="1"/>
          <p:nvPr/>
        </p:nvSpPr>
        <p:spPr>
          <a:xfrm>
            <a:off x="6172200" y="5138928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 88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815584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41C4B"/>
          </a:solidFill>
          <a:ln w="12700">
            <a:solidFill>
              <a:srgbClr val="141C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dump and load work with files. dumps and loads (s for string) work with text.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3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5" type="body" hasCustomPrompt="1"/>
          </p:nvPr>
        </p:nvSpPr>
        <p:spPr>
          <a:xfrm>
            <a:off x="731520" y="2331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>
            <p:ph idx="106" type="title" hasCustomPrompt="1"/>
          </p:nvPr>
        </p:nvSpPr>
        <p:spPr>
          <a:xfrm>
            <a:off x="731520" y="26974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4" name="Text 1"/>
          <p:cNvSpPr/>
          <p:nvPr>
            <p:ph idx="107" type="body" hasCustomPrompt="1"/>
          </p:nvPr>
        </p:nvSpPr>
        <p:spPr>
          <a:xfrm>
            <a:off x="731520" y="3931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Day 11: File Handling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66760" y="1691640"/>
            <a:ext cx="3108960" cy="3108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2F8"/>
            </a:solidFill>
            <a:prstDash val="solid"/>
          </a:ln>
          <a:effectLst>
            <a:outerShdw sx="100000" sy="100000" kx="0" ky="0" algn="bl" rotWithShape="0" blurRad="127000" dist="38100" dir="5400000">
              <a:srgbClr val="6D28D9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231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llea Course">
  <a:themeElements>
    <a:clrScheme name="Intellea Course">
      <a:dk1>
        <a:srgbClr val="141C4B"/>
      </a:dk1>
      <a:lt1>
        <a:srgbClr val="FFFFFF"/>
      </a:lt1>
      <a:dk2>
        <a:srgbClr val="5B6178"/>
      </a:dk2>
      <a:lt2>
        <a:srgbClr val="F7F5FE"/>
      </a:lt2>
      <a:accent1>
        <a:srgbClr val="6D28D9"/>
      </a:accent1>
      <a:accent2>
        <a:srgbClr val="DB2777"/>
      </a:accent2>
      <a:accent3>
        <a:srgbClr val="0F7A4D"/>
      </a:accent3>
      <a:accent4>
        <a:srgbClr val="8B5CF6"/>
      </a:accent4>
      <a:accent5>
        <a:srgbClr val="2563EB"/>
      </a:accent5>
      <a:accent6>
        <a:srgbClr val="B45309"/>
      </a:accent6>
      <a:hlink>
        <a:srgbClr val="6D28D9"/>
      </a:hlink>
      <a:folHlink>
        <a:srgbClr val="8B5CF6"/>
      </a:folHlink>
    </a:clrScheme>
    <a:fontScheme name="Intellea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Intellea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11 - File Handling</dc:title>
  <dc:subject>PptxGenJS Presentation</dc:subject>
  <dc:creator>Intellea</dc:creator>
  <cp:lastModifiedBy>Intellea</cp:lastModifiedBy>
  <cp:revision>1</cp:revision>
  <dcterms:created xsi:type="dcterms:W3CDTF">2026-10-15T06:32:04Z</dcterms:created>
  <dcterms:modified xsi:type="dcterms:W3CDTF">2026-10-15T06:32:04Z</dcterms:modified>
</cp:coreProperties>
</file>