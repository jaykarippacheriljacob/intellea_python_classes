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2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Conditional Statements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Calculate, compare, combine and make decisions in Python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Class  ·  Theory and concept support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RAVI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5" name="rc_road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606040"/>
            <a:ext cx="868680" cy="868680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79776"/>
            <a:ext cx="521208" cy="5212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2700000">
            <a:off x="1920240" y="3131820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011680" y="2560320"/>
            <a:ext cx="9418320" cy="1325880"/>
          </a:xfrm>
          <a:prstGeom prst="roundRect">
            <a:avLst>
              <a:gd name="adj" fmla="val 8276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94560" y="2560320"/>
            <a:ext cx="9052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shop app must now calculate a bill and decide who gets a discount.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that, his program needs to work with numbers, compare them and choose what to do next.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188720" y="4846320"/>
            <a:ext cx="97840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8229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13" name="Image 2" descr="assets/icon2_calc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645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191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4536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17" name="Image 3" descr="assets/icon2_scale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232" y="464515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6365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20497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08432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1" name="Image 4" descr="assets/icon2_split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912" y="464515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6720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68046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71500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25" name="Image 5" descr="assets/icon2_equal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4645152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9788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31114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34568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9" name="Image 6" descr="assets/icon2_search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0272" y="4645152"/>
            <a:ext cx="402336" cy="40233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2856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694182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9763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33" name="Image 7" descr="assets/icon2_gitbranch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0952" y="4645152"/>
            <a:ext cx="402336" cy="40233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592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85725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and else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106070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37" name="Image 8" descr="assets/icon2_route_purp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1632" y="4645152"/>
            <a:ext cx="402336" cy="40233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7899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102031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and nested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Operators: The Action Symbols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calculator, the plus and multiply keys tell the machine what to do with the numbers. Python uses symbols in the same way, and the values they work on are called operands.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is a symbol that performs an action on one or more values. Python has arithmetic, comparison, logical, assignment and membership operators.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tax totals, salary calculations, search filters, login checks and every business rule inside a project.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Calculator: Ten and Three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39572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95728"/>
            <a:ext cx="14859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and 3 gives 13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45186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97580" y="239572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411980" y="2395728"/>
            <a:ext cx="14859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and 3 gives 7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7220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239572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2395728"/>
            <a:ext cx="14859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and 3 gives 30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89254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38260" y="239572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852660" y="2395728"/>
            <a:ext cx="14859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3.33 and more digits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3152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90448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1691640" y="3904488"/>
            <a:ext cx="14859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part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and 3 gives 3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345186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97580" y="390448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4411980" y="3904488"/>
            <a:ext cx="14859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and 3 gives 1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617220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390448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3904488"/>
            <a:ext cx="14859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and 3 gives 1000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889254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938260" y="390448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9852660" y="3904488"/>
            <a:ext cx="14859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first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+ 3 * 4 is 14, with brackets 20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2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that leaves remainder 0 when divided by 2 is even. That is the % operator at work.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Operators: Yes or No Questions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cinema, the guard compares your age with the limit printed on the ticket. The answer is always yes or no, nothing in between.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operator compares two values and gives back True or False.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checks, age and eligibility rules, filtering products by price, and deciding when a price alert should fire.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Is 20. The Age Limit Is 18.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3447288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395728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95728"/>
            <a:ext cx="23957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&gt; 18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172968" y="303580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72968" y="30358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61688" y="2395728"/>
            <a:ext cx="3447288" cy="109728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07408" y="2395728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321808" y="2395728"/>
            <a:ext cx="23957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&lt; 18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803136" y="303580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03136" y="30358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91856" y="2395728"/>
            <a:ext cx="3447288" cy="109728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37576" y="2395728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951976" y="2395728"/>
            <a:ext cx="23957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== 18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10433304" y="303580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433304" y="30358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" y="3630168"/>
            <a:ext cx="3447288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630168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1691640" y="3630168"/>
            <a:ext cx="23957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!= 18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3172968" y="427024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172968" y="427024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61688" y="3630168"/>
            <a:ext cx="3447288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07408" y="3630168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5321808" y="3630168"/>
            <a:ext cx="23957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or equal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&gt;= 18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6803136" y="427024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03136" y="427024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991856" y="3630168"/>
            <a:ext cx="3447288" cy="109728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37576" y="3630168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2600" dirty="0"/>
          </a:p>
        </p:txBody>
      </p:sp>
      <p:sp>
        <p:nvSpPr>
          <p:cNvPr id="33" name="Text 30"/>
          <p:cNvSpPr txBox="1"/>
          <p:nvPr/>
        </p:nvSpPr>
        <p:spPr>
          <a:xfrm>
            <a:off x="8951976" y="3630168"/>
            <a:ext cx="23957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or equal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&lt;= 18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10433304" y="427024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433304" y="427024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31520" y="4937760"/>
            <a:ext cx="1069848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4672" y="5047488"/>
            <a:ext cx="1055217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= stores a value. Two == compares two values. The text 5 and the number 5 are not equal.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0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ends in True or False. That answer decides what the program does next.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Operators: Combining Conditions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enter an exam hall you need a hall ticket AND an ID card. For a student discount you need a student card OR a senior citizen card. A closed door is the NOT of an open door.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 combine or flip True and False answers. and needs both to be True, or needs at least one, and not reverses the answer.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a username and a password, loan checks that need several conditions, search filters and security rules.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Table at a Glance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77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103120" y="2377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2377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2377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 B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74320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7432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103120" y="274320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03120" y="27432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474720" y="274320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74720" y="27432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46320" y="274320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27432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1520" y="329184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2918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103120" y="329184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103120" y="32918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474720" y="329184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74720" y="32918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46320" y="329184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46320" y="32918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31520" y="384048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38404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2103120" y="384048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103120" y="38404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474720" y="384048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474720" y="38404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846320" y="384048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846320" y="38404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31520" y="438912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1520" y="43891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2103120" y="438912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103120" y="43891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3474720" y="438912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474720" y="43891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846320" y="4389120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846320" y="43891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400800" y="242316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2532888"/>
            <a:ext cx="488289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 both must be True</a:t>
            </a:r>
            <a:endParaRPr lang="en-US" sz="1700" dirty="0"/>
          </a:p>
        </p:txBody>
      </p:sp>
      <p:sp>
        <p:nvSpPr>
          <p:cNvPr id="44" name="Shape 41"/>
          <p:cNvSpPr/>
          <p:nvPr/>
        </p:nvSpPr>
        <p:spPr>
          <a:xfrm>
            <a:off x="6400800" y="3447288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73952" y="3557016"/>
            <a:ext cx="488289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 at least one must be True</a:t>
            </a:r>
            <a:endParaRPr lang="en-US" sz="1700" dirty="0"/>
          </a:p>
        </p:txBody>
      </p:sp>
      <p:sp>
        <p:nvSpPr>
          <p:cNvPr id="46" name="Shape 43"/>
          <p:cNvSpPr/>
          <p:nvPr/>
        </p:nvSpPr>
        <p:spPr>
          <a:xfrm>
            <a:off x="6400800" y="4471416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473952" y="4581144"/>
            <a:ext cx="488289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  flips the answer</a:t>
            </a:r>
            <a:endParaRPr lang="en-US" sz="1700" dirty="0"/>
          </a:p>
        </p:txBody>
      </p:sp>
      <p:sp>
        <p:nvSpPr>
          <p:cNvPr id="48" name="Shape 45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50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51" name="Shape 47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has a ticket but no ID card. For entry with and: False. With or: True. With not ticket: False.</a:t>
            </a:r>
            <a:endParaRPr lang="en-US" sz="1400" dirty="0"/>
          </a:p>
        </p:txBody>
      </p:sp>
      <p:sp>
        <p:nvSpPr>
          <p:cNvPr id="54" name="Text 5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OPERATORS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and Membership Operators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5234940" cy="3108960"/>
          </a:xfrm>
          <a:prstGeom prst="roundRect">
            <a:avLst>
              <a:gd name="adj" fmla="val 2941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7" name="Image 1" descr="assets/icon2_walle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2505456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" y="3072384"/>
            <a:ext cx="50886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38144"/>
            <a:ext cx="505206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store a value in a variable. Shortcut forms update it using its old value. Used for totals, counters and scores.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60120" y="4544568"/>
            <a:ext cx="477774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4544568"/>
            <a:ext cx="4777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500, add 100: 600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60120" y="5001768"/>
            <a:ext cx="477774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60120" y="5001768"/>
            <a:ext cx="4777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600, subtract 50: 550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95060" y="2395728"/>
            <a:ext cx="5234940" cy="3108960"/>
          </a:xfrm>
          <a:prstGeom prst="roundRect">
            <a:avLst>
              <a:gd name="adj" fmla="val 2941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15" name="Image 2" descr="assets/icon2_search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070" y="2505456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8212" y="3072384"/>
            <a:ext cx="50886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operators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286500" y="3438144"/>
            <a:ext cx="505206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and not in check whether a value is present inside text or a collection. Used for guest lists, blocked users and allowed file types.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423660" y="4544568"/>
            <a:ext cx="4777740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423660" y="4544568"/>
            <a:ext cx="4777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 list Ravi, Meena. Ravi in list: True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23660" y="5001768"/>
            <a:ext cx="4777740" cy="384048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23660" y="5001768"/>
            <a:ext cx="4777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 in the list: False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4" name="Image 3" descr="assets/icon2_user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is not the same as comparison. One equals sign stores, two equals signs compare.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Statements: Making Decisions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ATM checks your balance before giving cash. If the balance is enough it gives the money, otherwise it shows a message. The ATM decides using a condition.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statement runs a block of code only when a condition is True. Python uses if, elif and else for this.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and offer rules, grade and result systems, loan and eligibility checks, login pages and game rules.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 STATEMENT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Yes, Do Something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697480"/>
            <a:ext cx="1463040" cy="731520"/>
          </a:xfrm>
          <a:prstGeom prst="flowChartTerminator">
            <a:avLst/>
          </a:prstGeom>
          <a:solidFill>
            <a:srgbClr val="F8FAFC"/>
          </a:solidFill>
          <a:ln w="22225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269748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651760" y="2423160"/>
            <a:ext cx="2743200" cy="128016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0" y="24231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18 or more?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2651760"/>
            <a:ext cx="2468880" cy="82296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2651760"/>
            <a:ext cx="23225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Eligible to vote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509760" y="2697480"/>
            <a:ext cx="1463040" cy="731520"/>
          </a:xfrm>
          <a:prstGeom prst="flowChartTerminator">
            <a:avLst/>
          </a:prstGeom>
          <a:solidFill>
            <a:srgbClr val="F8FAFC"/>
          </a:solidFill>
          <a:ln w="22225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82912" y="269748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221992" y="3063240"/>
            <a:ext cx="40233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422392" y="3063240"/>
            <a:ext cx="859536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805672" y="3063240"/>
            <a:ext cx="67665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5440680" y="2743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023360" y="3721608"/>
            <a:ext cx="0" cy="96012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23360" y="4361688"/>
            <a:ext cx="621792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10241280" y="3456432"/>
            <a:ext cx="0" cy="905256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114800" y="3703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" y="461772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4672" y="4727448"/>
            <a:ext cx="506577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Ravi, age 20: the message is shown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17920" y="461772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91072" y="4727448"/>
            <a:ext cx="506577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Meena, age 16: nothing is shown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8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if has no second option. When the answer is No, the program simply moves on.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AND ELSE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Roads, Only One Is Taken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514600"/>
            <a:ext cx="2926080" cy="146304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16736" y="2514600"/>
            <a:ext cx="17556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40 or more?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85032" y="3246120"/>
            <a:ext cx="886968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3703320" y="2880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2880360"/>
            <a:ext cx="2377440" cy="73152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90872" y="2880360"/>
            <a:ext cx="22311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Pass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194560" y="4005072"/>
            <a:ext cx="0" cy="521208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2286000" y="4023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05840" y="4572000"/>
            <a:ext cx="2377440" cy="640080"/>
          </a:xfrm>
          <a:prstGeom prst="flowChartProcess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78992" y="457200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Fail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80960" y="2560320"/>
            <a:ext cx="3749040" cy="82296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54112" y="2670048"/>
            <a:ext cx="36027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72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3017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Pass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680960" y="3611880"/>
            <a:ext cx="3749040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54112" y="3721608"/>
            <a:ext cx="36027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35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4069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Fail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680960" y="4572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of the two blocks runs, never both.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5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is the safety net. It runs when the if condition is False.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ELIF AND ELSE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 Ladder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23160"/>
            <a:ext cx="2286000" cy="128016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242316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90 or more?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44952" y="3063240"/>
            <a:ext cx="539496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3017520" y="27432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874520" y="3721608"/>
            <a:ext cx="0" cy="484632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192024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224528"/>
            <a:ext cx="2011680" cy="64008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41832" y="42245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611880" y="2423160"/>
            <a:ext cx="2286000" cy="128016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69080" y="242316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75 or more?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25312" y="3063240"/>
            <a:ext cx="539496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5897880" y="27432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3721608"/>
            <a:ext cx="0" cy="484632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480060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749040" y="4224528"/>
            <a:ext cx="2011680" cy="64008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22192" y="42245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92240" y="2423160"/>
            <a:ext cx="2286000" cy="128016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49440" y="242316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50 or more?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805672" y="3063240"/>
            <a:ext cx="539496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8778240" y="27432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635240" y="3721608"/>
            <a:ext cx="0" cy="484632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768096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29400" y="4224528"/>
            <a:ext cx="2011680" cy="64008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02552" y="42245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9372600" y="2651760"/>
            <a:ext cx="2057400" cy="822960"/>
          </a:xfrm>
          <a:prstGeom prst="flowChartProcess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445752" y="265176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Fail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82: the first True check is 75 or more, so the grade is B.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5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matters. If the 50 check came first, a student with 95 marks would wrongly get Grade C.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CONDITIONS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Inside a Decision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23160"/>
            <a:ext cx="2651760" cy="137160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61872" y="242316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18 or more?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10712" y="3108960"/>
            <a:ext cx="768096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3429000" y="2743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2423160"/>
            <a:ext cx="2651760" cy="1371600"/>
          </a:xfrm>
          <a:prstGeom prst="flowChartDecision">
            <a:avLst/>
          </a:prstGeom>
          <a:solidFill>
            <a:srgbClr val="F5F3FF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36592" y="242316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voter ID?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85432" y="3108960"/>
            <a:ext cx="768096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6903720" y="2743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80960" y="2743200"/>
            <a:ext cx="2468880" cy="73152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2743200"/>
            <a:ext cx="23225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to vote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057400" y="3822192"/>
            <a:ext cx="0" cy="612648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2148840" y="3840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4480560"/>
            <a:ext cx="2286000" cy="731520"/>
          </a:xfrm>
          <a:prstGeom prst="flowChartProcess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7552" y="4480560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eligible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532120" y="3822192"/>
            <a:ext cx="0" cy="612648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5623560" y="3840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89120" y="4480560"/>
            <a:ext cx="2286000" cy="731520"/>
          </a:xfrm>
          <a:prstGeom prst="flowChartProcess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62272" y="4480560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the ID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589520" y="3840480"/>
            <a:ext cx="3840480" cy="420624"/>
          </a:xfrm>
          <a:prstGeom prst="roundRect">
            <a:avLst>
              <a:gd name="adj" fmla="val 13043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89520" y="38404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20 with ID: Eligible to vote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589520" y="4370832"/>
            <a:ext cx="3840480" cy="420624"/>
          </a:xfrm>
          <a:prstGeom prst="roundRect">
            <a:avLst>
              <a:gd name="adj" fmla="val 13043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9520" y="43708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20 without ID: Apply for the ID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89520" y="4901184"/>
            <a:ext cx="3840480" cy="420624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490118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17: Not eligible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2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question is asked only when the first answer is Yes. That is what nested means.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Power Real Software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8" name="Image 1" descr="assets/icon2_ban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16936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eligibility and interest slabs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315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1" name="Image 2" descr="assets/icon2_car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785616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rules and free delivery limits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315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4" name="Image 3" descr="assets/icon2_heart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54296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a reading crosses a safe limit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315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7" name="Image 4" descr="assets/icon2_plane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22976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630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 fares and ticket class rules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2179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projects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179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1" name="Image 5" descr="assets/icon2_gradcap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916936"/>
            <a:ext cx="402336" cy="4023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494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Calculator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marks into grades and pass or fail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62179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4" name="Image 6" descr="assets/icon2_banknote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785616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494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Simulator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balance before giving cash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2179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7" name="Image 7" descr="assets/icon2_tag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4654296"/>
            <a:ext cx="402336" cy="4023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9494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Calculator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offers based on the bill amount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>
            <a:off x="62179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0" name="Image 8" descr="assets/icon2_lock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5522976"/>
            <a:ext cx="402336" cy="4023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9494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Validator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username and password rules</a:t>
            </a:r>
            <a:endParaRPr lang="en-US" sz="1500" dirty="0"/>
          </a:p>
        </p:txBody>
      </p:sp>
      <p:sp>
        <p:nvSpPr>
          <p:cNvPr id="32" name="Text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Practice Challenges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2395728"/>
            <a:ext cx="3474720" cy="37490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5054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Calculator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729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marks. 90 or more is A, 75 or more is B, 50 or more is C, anything lower is Fail.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1788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4453128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44531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9560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5230368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5230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B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43400" y="2395728"/>
            <a:ext cx="3474720" cy="37490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262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120640" y="25054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Eligibility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1729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age. A person aged 18 or above can vote. Show the result.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41788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0" y="4453128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0" y="44531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49560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0" y="5230368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0" y="5230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eligible to vote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001000" y="2395728"/>
            <a:ext cx="3474720" cy="37490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838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838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778240" y="25054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or Odd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0" y="31729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number. Use the remainder to show whether it is even or odd.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8229600" y="41788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229600" y="4453128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0" y="44531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0" y="49560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229600" y="5230368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0" y="5230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is odd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Ravi Learned Today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86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each one.</a:t>
            </a:r>
            <a:endParaRPr lang="en-US" sz="1400" dirty="0"/>
          </a:p>
        </p:txBody>
      </p:sp>
      <p:sp>
        <p:nvSpPr>
          <p:cNvPr id="6" name="rc_8"/>
          <p:cNvSpPr/>
          <p:nvPr/>
        </p:nvSpPr>
        <p:spPr>
          <a:xfrm>
            <a:off x="45720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1" descr="assets/icon2_calc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do the work: arithmetic, comparison, logical, assignment and membership</a:t>
            </a:r>
            <a:endParaRPr lang="en-US" sz="1600" dirty="0"/>
          </a:p>
        </p:txBody>
      </p:sp>
      <p:sp>
        <p:nvSpPr>
          <p:cNvPr id="9" name="rc_9"/>
          <p:cNvSpPr/>
          <p:nvPr/>
        </p:nvSpPr>
        <p:spPr>
          <a:xfrm>
            <a:off x="429768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2" descr="assets/icon2_scale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1546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and logical operators give back True or False</a:t>
            </a:r>
            <a:endParaRPr lang="en-US" sz="1600" dirty="0"/>
          </a:p>
        </p:txBody>
      </p:sp>
      <p:sp>
        <p:nvSpPr>
          <p:cNvPr id="12" name="rc_10"/>
          <p:cNvSpPr/>
          <p:nvPr/>
        </p:nvSpPr>
        <p:spPr>
          <a:xfrm>
            <a:off x="813816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3" descr="assets/icon2_gitbranch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15468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elif and else choose which block runs, and decisions can be nested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02" dur="500" fill="hold"/>
                            <p:tgtEl>
                              <p:spTgt spid="6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12" dur="500" fill="hold"/>
                            <p:tgtEl>
                              <p:spTgt spid="9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22" dur="500" fill="hold"/>
                            <p:tgtEl>
                              <p:spTgt spid="12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2 COMPLETE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651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can now calculate, compare values, combine conditions and make decisions in his programs.</a:t>
            </a:r>
            <a:endParaRPr lang="en-US" sz="1700" dirty="0"/>
          </a:p>
        </p:txBody>
      </p:sp>
      <p:sp>
        <p:nvSpPr>
          <p:cNvPr id="8" name="rc_next"/>
          <p:cNvSpPr/>
          <p:nvPr/>
        </p:nvSpPr>
        <p:spPr>
          <a:xfrm>
            <a:off x="457200" y="365760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E1B4B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91440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NEXT, DAY 3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50749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Tomorrow, Ravi's programs learn to repeat work again and again without writing it again and again.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Conditions  ·  Week 1  ·  Day 2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2026-10-09T11:03:50Z</dcterms:created>
  <dcterms:modified xsi:type="dcterms:W3CDTF">2026-10-09T11:03:50Z</dcterms:modified>
</cp:coreProperties>
</file>