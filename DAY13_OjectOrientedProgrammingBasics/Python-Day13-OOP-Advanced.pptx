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slideLayout" Target="../slideLayouts/slideLayout1.xml"/><Relationship Id="rId11"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2011680"/>
            <a:ext cx="9144000" cy="457200"/>
          </a:xfrm>
          <a:prstGeom prst="rect">
            <a:avLst/>
          </a:prstGeom>
          <a:noFill/>
          <a:ln/>
        </p:spPr>
        <p:txBody>
          <a:bodyPr wrap="square" rtlCol="0" anchor="ctr"/>
          <a:lstStyle/>
          <a:p>
            <a:pPr indent="0" marL="0">
              <a:buNone/>
            </a:pPr>
            <a:r>
              <a:rPr lang="en-US" sz="1600" b="1" spc="200" kern="0" dirty="0">
                <a:solidFill>
                  <a:srgbClr val="8B5CF6"/>
                </a:solidFill>
                <a:latin typeface="Calibri" pitchFamily="34" charset="0"/>
                <a:ea typeface="Calibri" pitchFamily="34" charset="-122"/>
                <a:cs typeface="Calibri" pitchFamily="34" charset="-120"/>
              </a:rPr>
              <a:t>WEEK 3  ·  DAY 13</a:t>
            </a:r>
            <a:endParaRPr lang="en-US" sz="1600" dirty="0"/>
          </a:p>
        </p:txBody>
      </p:sp>
      <p:sp>
        <p:nvSpPr>
          <p:cNvPr id="6" name="Text 2"/>
          <p:cNvSpPr txBox="1"/>
          <p:nvPr/>
        </p:nvSpPr>
        <p:spPr>
          <a:xfrm>
            <a:off x="457200" y="2514600"/>
            <a:ext cx="10972800" cy="1188720"/>
          </a:xfrm>
          <a:prstGeom prst="rect">
            <a:avLst/>
          </a:prstGeom>
          <a:noFill/>
          <a:ln/>
        </p:spPr>
        <p:txBody>
          <a:bodyPr wrap="square" rtlCol="0" anchor="ctr"/>
          <a:lstStyle/>
          <a:p>
            <a:pPr indent="0" marL="0">
              <a:buNone/>
            </a:pPr>
            <a:r>
              <a:rPr lang="en-US" sz="4600" b="1" dirty="0">
                <a:solidFill>
                  <a:srgbClr val="FFFFFF"/>
                </a:solidFill>
                <a:latin typeface="Calibri" pitchFamily="34" charset="0"/>
                <a:ea typeface="Calibri" pitchFamily="34" charset="-122"/>
                <a:cs typeface="Calibri" pitchFamily="34" charset="-120"/>
              </a:rPr>
              <a:t>OOP Advanced</a:t>
            </a:r>
            <a:endParaRPr lang="en-US" sz="4600" dirty="0"/>
          </a:p>
        </p:txBody>
      </p:sp>
      <p:sp>
        <p:nvSpPr>
          <p:cNvPr id="7" name="Text 3"/>
          <p:cNvSpPr txBox="1"/>
          <p:nvPr/>
        </p:nvSpPr>
        <p:spPr>
          <a:xfrm>
            <a:off x="457200" y="3840480"/>
            <a:ext cx="10515600" cy="731520"/>
          </a:xfrm>
          <a:prstGeom prst="rect">
            <a:avLst/>
          </a:prstGeom>
          <a:noFill/>
          <a:ln/>
        </p:spPr>
        <p:txBody>
          <a:bodyPr wrap="square" rtlCol="0" anchor="ctr"/>
          <a:lstStyle/>
          <a:p>
            <a:pPr indent="0" marL="0">
              <a:buNone/>
            </a:pPr>
            <a:r>
              <a:rPr lang="en-US" sz="2000" dirty="0">
                <a:solidFill>
                  <a:srgbClr val="CBD5E1"/>
                </a:solidFill>
                <a:latin typeface="Calibri" pitchFamily="34" charset="0"/>
                <a:ea typeface="Calibri" pitchFamily="34" charset="-122"/>
                <a:cs typeface="Calibri" pitchFamily="34" charset="-120"/>
              </a:rPr>
              <a:t>Protect data, share one action across classes and print objects clearly</a:t>
            </a:r>
            <a:endParaRPr lang="en-US" sz="2000" dirty="0"/>
          </a:p>
        </p:txBody>
      </p:sp>
      <p:sp>
        <p:nvSpPr>
          <p:cNvPr id="8" name="Text 4"/>
          <p:cNvSpPr txBox="1"/>
          <p:nvPr/>
        </p:nvSpPr>
        <p:spPr>
          <a:xfrm>
            <a:off x="457200" y="4846320"/>
            <a:ext cx="10058400" cy="36576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Python Live Class  ·  Theory and concept support</a:t>
            </a:r>
            <a:endParaRPr lang="en-US" sz="1400" dirty="0"/>
          </a:p>
        </p:txBody>
      </p:sp>
      <p:sp>
        <p:nvSpPr>
          <p:cNvPr id="9" name="Text 5"/>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10" name="Text 6"/>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11887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MEET RAVI</a:t>
            </a:r>
            <a:endParaRPr lang="en-US" sz="1400" dirty="0"/>
          </a:p>
        </p:txBody>
      </p:sp>
      <p:sp>
        <p:nvSpPr>
          <p:cNvPr id="4" name="Text 1"/>
          <p:cNvSpPr txBox="1"/>
          <p:nvPr/>
        </p:nvSpPr>
        <p:spPr>
          <a:xfrm>
            <a:off x="457200" y="1554480"/>
            <a:ext cx="11155680" cy="822960"/>
          </a:xfrm>
          <a:prstGeom prst="rect">
            <a:avLst/>
          </a:prstGeom>
          <a:noFill/>
          <a:ln/>
        </p:spPr>
        <p:txBody>
          <a:bodyPr wrap="square" rtlCol="0" anchor="ctr"/>
          <a:lstStyle/>
          <a:p>
            <a:pPr indent="0" marL="0">
              <a:buNone/>
            </a:pPr>
            <a:r>
              <a:rPr lang="en-US" sz="3200" b="1" dirty="0">
                <a:solidFill>
                  <a:srgbClr val="1E293B"/>
                </a:solidFill>
                <a:latin typeface="Calibri" pitchFamily="34" charset="0"/>
                <a:ea typeface="Calibri" pitchFamily="34" charset="-122"/>
                <a:cs typeface="Calibri" pitchFamily="34" charset="-120"/>
              </a:rPr>
              <a:t>Today's Journey</a:t>
            </a:r>
            <a:endParaRPr lang="en-US" sz="3200" dirty="0"/>
          </a:p>
        </p:txBody>
      </p:sp>
      <p:sp>
        <p:nvSpPr>
          <p:cNvPr id="5" name="rc_road"/>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822960" y="2606040"/>
            <a:ext cx="868680" cy="868680"/>
          </a:xfrm>
          <a:prstGeom prst="ellipse">
            <a:avLst/>
          </a:prstGeom>
          <a:solidFill>
            <a:srgbClr val="FCE7F3"/>
          </a:solidFill>
          <a:ln w="19050">
            <a:solidFill>
              <a:srgbClr val="EC4899"/>
            </a:solidFill>
            <a:prstDash val="solid"/>
          </a:ln>
        </p:spPr>
      </p:sp>
      <p:pic>
        <p:nvPicPr>
          <p:cNvPr id="7" name="Image 1" descr="assets/icon2_user_pink.png">    </p:cNvPr>
          <p:cNvPicPr>
            <a:picLocks noChangeAspect="1"/>
          </p:cNvPicPr>
          <p:nvPr/>
        </p:nvPicPr>
        <p:blipFill>
          <a:blip r:embed="rId2"/>
          <a:stretch>
            <a:fillRect/>
          </a:stretch>
        </p:blipFill>
        <p:spPr>
          <a:xfrm>
            <a:off x="996696" y="2779776"/>
            <a:ext cx="521208" cy="521208"/>
          </a:xfrm>
          <a:prstGeom prst="rect">
            <a:avLst/>
          </a:prstGeom>
        </p:spPr>
      </p:pic>
      <p:sp>
        <p:nvSpPr>
          <p:cNvPr id="8" name="Shape 4"/>
          <p:cNvSpPr/>
          <p:nvPr/>
        </p:nvSpPr>
        <p:spPr>
          <a:xfrm rot="2700000">
            <a:off x="1920240" y="3127248"/>
            <a:ext cx="182880" cy="182880"/>
          </a:xfrm>
          <a:prstGeom prst="rect">
            <a:avLst/>
          </a:prstGeom>
          <a:solidFill>
            <a:srgbClr val="FDF2F8"/>
          </a:solidFill>
          <a:ln w="15875">
            <a:solidFill>
              <a:srgbClr val="EC4899"/>
            </a:solidFill>
            <a:prstDash val="solid"/>
          </a:ln>
        </p:spPr>
      </p:sp>
      <p:sp>
        <p:nvSpPr>
          <p:cNvPr id="9" name="Shape 5"/>
          <p:cNvSpPr/>
          <p:nvPr/>
        </p:nvSpPr>
        <p:spPr>
          <a:xfrm>
            <a:off x="2011680" y="2560320"/>
            <a:ext cx="9418320" cy="1325880"/>
          </a:xfrm>
          <a:prstGeom prst="roundRect">
            <a:avLst>
              <a:gd name="adj" fmla="val 10345"/>
            </a:avLst>
          </a:prstGeom>
          <a:solidFill>
            <a:srgbClr val="FDF2F8"/>
          </a:solidFill>
          <a:ln w="15875">
            <a:solidFill>
              <a:srgbClr val="EC4899"/>
            </a:solidFill>
            <a:prstDash val="solid"/>
          </a:ln>
        </p:spPr>
      </p:sp>
      <p:sp>
        <p:nvSpPr>
          <p:cNvPr id="10" name="Text 6"/>
          <p:cNvSpPr txBox="1"/>
          <p:nvPr/>
        </p:nvSpPr>
        <p:spPr>
          <a:xfrm>
            <a:off x="2194560" y="2560320"/>
            <a:ext cx="9052560" cy="1325880"/>
          </a:xfrm>
          <a:prstGeom prst="rect">
            <a:avLst/>
          </a:prstGeom>
          <a:noFill/>
          <a:ln/>
        </p:spPr>
        <p:txBody>
          <a:bodyPr wrap="square" rtlCol="0" anchor="ctr"/>
          <a:lstStyle/>
          <a:p>
            <a:pPr indent="0" marL="0">
              <a:buNone/>
            </a:pPr>
            <a:r>
              <a:rPr lang="en-US" sz="1900" b="1" dirty="0">
                <a:solidFill>
                  <a:srgbClr val="1E293B"/>
                </a:solidFill>
                <a:latin typeface="Calibri" pitchFamily="34" charset="0"/>
                <a:ea typeface="Calibri" pitchFamily="34" charset="-122"/>
                <a:cs typeface="Calibri" pitchFamily="34" charset="-120"/>
              </a:rPr>
              <a:t>Ravi's bank account app lets anyone set a balance to minus ten thousand.</a:t>
            </a:r>
            <a:endParaRPr lang="en-US" sz="1900" dirty="0"/>
          </a:p>
          <a:p>
            <a:pPr indent="0" marL="0">
              <a:buNone/>
            </a:pPr>
            <a:r>
              <a:rPr lang="en-US" sz="1500" dirty="0">
                <a:solidFill>
                  <a:srgbClr val="64748B"/>
                </a:solidFill>
                <a:latin typeface="Calibri" pitchFamily="34" charset="0"/>
                <a:ea typeface="Calibri" pitchFamily="34" charset="-122"/>
                <a:cs typeface="Calibri" pitchFamily="34" charset="-120"/>
              </a:rPr>
              <a:t>Today he learns to protect data, let different objects share one action name, and print objects in a readable way.</a:t>
            </a:r>
            <a:endParaRPr lang="en-US" sz="1900" dirty="0"/>
          </a:p>
        </p:txBody>
      </p:sp>
      <p:sp>
        <p:nvSpPr>
          <p:cNvPr id="11" name="Shape 7"/>
          <p:cNvSpPr/>
          <p:nvPr/>
        </p:nvSpPr>
        <p:spPr>
          <a:xfrm>
            <a:off x="1188720" y="4846320"/>
            <a:ext cx="9784080" cy="0"/>
          </a:xfrm>
          <a:prstGeom prst="line">
            <a:avLst/>
          </a:prstGeom>
          <a:noFill/>
          <a:ln w="38100">
            <a:solidFill>
              <a:srgbClr val="8B5CF6"/>
            </a:solidFill>
            <a:prstDash val="dash"/>
          </a:ln>
        </p:spPr>
      </p:sp>
      <p:sp>
        <p:nvSpPr>
          <p:cNvPr id="12" name="Shape 8"/>
          <p:cNvSpPr/>
          <p:nvPr/>
        </p:nvSpPr>
        <p:spPr>
          <a:xfrm>
            <a:off x="822960" y="4480560"/>
            <a:ext cx="731520" cy="731520"/>
          </a:xfrm>
          <a:prstGeom prst="ellipse">
            <a:avLst/>
          </a:prstGeom>
          <a:solidFill>
            <a:srgbClr val="FFFFFF"/>
          </a:solidFill>
          <a:ln w="31750">
            <a:solidFill>
              <a:srgbClr val="8B5CF6"/>
            </a:solidFill>
            <a:prstDash val="solid"/>
          </a:ln>
        </p:spPr>
      </p:sp>
      <p:pic>
        <p:nvPicPr>
          <p:cNvPr id="13" name="Image 2" descr="assets/icon2_shield_navy.png">    </p:cNvPr>
          <p:cNvPicPr>
            <a:picLocks noChangeAspect="1"/>
          </p:cNvPicPr>
          <p:nvPr/>
        </p:nvPicPr>
        <p:blipFill>
          <a:blip r:embed="rId3"/>
          <a:stretch>
            <a:fillRect/>
          </a:stretch>
        </p:blipFill>
        <p:spPr>
          <a:xfrm>
            <a:off x="987552" y="4645152"/>
            <a:ext cx="402336" cy="402336"/>
          </a:xfrm>
          <a:prstGeom prst="rect">
            <a:avLst/>
          </a:prstGeom>
        </p:spPr>
      </p:pic>
      <p:sp>
        <p:nvSpPr>
          <p:cNvPr id="14" name="Text 9"/>
          <p:cNvSpPr txBox="1"/>
          <p:nvPr/>
        </p:nvSpPr>
        <p:spPr>
          <a:xfrm>
            <a:off x="100584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1</a:t>
            </a:r>
            <a:endParaRPr lang="en-US" sz="1200" dirty="0"/>
          </a:p>
        </p:txBody>
      </p:sp>
      <p:sp>
        <p:nvSpPr>
          <p:cNvPr id="15" name="Text 10"/>
          <p:cNvSpPr txBox="1"/>
          <p:nvPr/>
        </p:nvSpPr>
        <p:spPr>
          <a:xfrm>
            <a:off x="420624" y="5303520"/>
            <a:ext cx="1536192"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Encapsulation</a:t>
            </a:r>
            <a:endParaRPr lang="en-US" sz="1300" dirty="0"/>
          </a:p>
        </p:txBody>
      </p:sp>
      <p:sp>
        <p:nvSpPr>
          <p:cNvPr id="16" name="Shape 11"/>
          <p:cNvSpPr/>
          <p:nvPr/>
        </p:nvSpPr>
        <p:spPr>
          <a:xfrm>
            <a:off x="2453640" y="4480560"/>
            <a:ext cx="731520" cy="731520"/>
          </a:xfrm>
          <a:prstGeom prst="ellipse">
            <a:avLst/>
          </a:prstGeom>
          <a:solidFill>
            <a:srgbClr val="FFFFFF"/>
          </a:solidFill>
          <a:ln w="31750">
            <a:solidFill>
              <a:srgbClr val="14B8A6"/>
            </a:solidFill>
            <a:prstDash val="solid"/>
          </a:ln>
        </p:spPr>
      </p:sp>
      <p:pic>
        <p:nvPicPr>
          <p:cNvPr id="17" name="Image 3" descr="assets/icon2_lock_navy.png">    </p:cNvPr>
          <p:cNvPicPr>
            <a:picLocks noChangeAspect="1"/>
          </p:cNvPicPr>
          <p:nvPr/>
        </p:nvPicPr>
        <p:blipFill>
          <a:blip r:embed="rId4"/>
          <a:stretch>
            <a:fillRect/>
          </a:stretch>
        </p:blipFill>
        <p:spPr>
          <a:xfrm>
            <a:off x="2618232" y="4645152"/>
            <a:ext cx="402336" cy="402336"/>
          </a:xfrm>
          <a:prstGeom prst="rect">
            <a:avLst/>
          </a:prstGeom>
        </p:spPr>
      </p:pic>
      <p:sp>
        <p:nvSpPr>
          <p:cNvPr id="18" name="Text 12"/>
          <p:cNvSpPr txBox="1"/>
          <p:nvPr/>
        </p:nvSpPr>
        <p:spPr>
          <a:xfrm>
            <a:off x="263652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2</a:t>
            </a:r>
            <a:endParaRPr lang="en-US" sz="1200" dirty="0"/>
          </a:p>
        </p:txBody>
      </p:sp>
      <p:sp>
        <p:nvSpPr>
          <p:cNvPr id="19" name="Text 13"/>
          <p:cNvSpPr txBox="1"/>
          <p:nvPr/>
        </p:nvSpPr>
        <p:spPr>
          <a:xfrm>
            <a:off x="2051304" y="5303520"/>
            <a:ext cx="1536192"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Private data</a:t>
            </a:r>
            <a:endParaRPr lang="en-US" sz="1300" dirty="0"/>
          </a:p>
        </p:txBody>
      </p:sp>
      <p:sp>
        <p:nvSpPr>
          <p:cNvPr id="20" name="Shape 14"/>
          <p:cNvSpPr/>
          <p:nvPr/>
        </p:nvSpPr>
        <p:spPr>
          <a:xfrm>
            <a:off x="4084320" y="4480560"/>
            <a:ext cx="731520" cy="731520"/>
          </a:xfrm>
          <a:prstGeom prst="ellipse">
            <a:avLst/>
          </a:prstGeom>
          <a:solidFill>
            <a:srgbClr val="FFFFFF"/>
          </a:solidFill>
          <a:ln w="31750">
            <a:solidFill>
              <a:srgbClr val="8B5CF6"/>
            </a:solidFill>
            <a:prstDash val="solid"/>
          </a:ln>
        </p:spPr>
      </p:sp>
      <p:pic>
        <p:nvPicPr>
          <p:cNvPr id="21" name="Image 4" descr="assets/icon2_key_orange.png">    </p:cNvPr>
          <p:cNvPicPr>
            <a:picLocks noChangeAspect="1"/>
          </p:cNvPicPr>
          <p:nvPr/>
        </p:nvPicPr>
        <p:blipFill>
          <a:blip r:embed="rId5"/>
          <a:stretch>
            <a:fillRect/>
          </a:stretch>
        </p:blipFill>
        <p:spPr>
          <a:xfrm>
            <a:off x="4248912" y="4645152"/>
            <a:ext cx="402336" cy="402336"/>
          </a:xfrm>
          <a:prstGeom prst="rect">
            <a:avLst/>
          </a:prstGeom>
        </p:spPr>
      </p:pic>
      <p:sp>
        <p:nvSpPr>
          <p:cNvPr id="22" name="Text 15"/>
          <p:cNvSpPr txBox="1"/>
          <p:nvPr/>
        </p:nvSpPr>
        <p:spPr>
          <a:xfrm>
            <a:off x="426720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3</a:t>
            </a:r>
            <a:endParaRPr lang="en-US" sz="1200" dirty="0"/>
          </a:p>
        </p:txBody>
      </p:sp>
      <p:sp>
        <p:nvSpPr>
          <p:cNvPr id="23" name="Text 16"/>
          <p:cNvSpPr txBox="1"/>
          <p:nvPr/>
        </p:nvSpPr>
        <p:spPr>
          <a:xfrm>
            <a:off x="3681984" y="5303520"/>
            <a:ext cx="1536192"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Public and private</a:t>
            </a:r>
            <a:endParaRPr lang="en-US" sz="1300" dirty="0"/>
          </a:p>
        </p:txBody>
      </p:sp>
      <p:sp>
        <p:nvSpPr>
          <p:cNvPr id="24" name="Shape 17"/>
          <p:cNvSpPr/>
          <p:nvPr/>
        </p:nvSpPr>
        <p:spPr>
          <a:xfrm>
            <a:off x="5715000" y="4480560"/>
            <a:ext cx="731520" cy="731520"/>
          </a:xfrm>
          <a:prstGeom prst="ellipse">
            <a:avLst/>
          </a:prstGeom>
          <a:solidFill>
            <a:srgbClr val="FFFFFF"/>
          </a:solidFill>
          <a:ln w="31750">
            <a:solidFill>
              <a:srgbClr val="14B8A6"/>
            </a:solidFill>
            <a:prstDash val="solid"/>
          </a:ln>
        </p:spPr>
      </p:sp>
      <p:pic>
        <p:nvPicPr>
          <p:cNvPr id="25" name="Image 5" descr="assets/icon2_settings_navy.png">    </p:cNvPr>
          <p:cNvPicPr>
            <a:picLocks noChangeAspect="1"/>
          </p:cNvPicPr>
          <p:nvPr/>
        </p:nvPicPr>
        <p:blipFill>
          <a:blip r:embed="rId6"/>
          <a:stretch>
            <a:fillRect/>
          </a:stretch>
        </p:blipFill>
        <p:spPr>
          <a:xfrm>
            <a:off x="5879592" y="4645152"/>
            <a:ext cx="402336" cy="402336"/>
          </a:xfrm>
          <a:prstGeom prst="rect">
            <a:avLst/>
          </a:prstGeom>
        </p:spPr>
      </p:pic>
      <p:sp>
        <p:nvSpPr>
          <p:cNvPr id="26" name="Text 18"/>
          <p:cNvSpPr txBox="1"/>
          <p:nvPr/>
        </p:nvSpPr>
        <p:spPr>
          <a:xfrm>
            <a:off x="589788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4</a:t>
            </a:r>
            <a:endParaRPr lang="en-US" sz="1200" dirty="0"/>
          </a:p>
        </p:txBody>
      </p:sp>
      <p:sp>
        <p:nvSpPr>
          <p:cNvPr id="27" name="Text 19"/>
          <p:cNvSpPr txBox="1"/>
          <p:nvPr/>
        </p:nvSpPr>
        <p:spPr>
          <a:xfrm>
            <a:off x="5312664" y="5303520"/>
            <a:ext cx="1536192"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Property</a:t>
            </a:r>
            <a:endParaRPr lang="en-US" sz="1300" dirty="0"/>
          </a:p>
        </p:txBody>
      </p:sp>
      <p:sp>
        <p:nvSpPr>
          <p:cNvPr id="28" name="Shape 20"/>
          <p:cNvSpPr/>
          <p:nvPr/>
        </p:nvSpPr>
        <p:spPr>
          <a:xfrm>
            <a:off x="7345680" y="4480560"/>
            <a:ext cx="731520" cy="731520"/>
          </a:xfrm>
          <a:prstGeom prst="ellipse">
            <a:avLst/>
          </a:prstGeom>
          <a:solidFill>
            <a:srgbClr val="FFFFFF"/>
          </a:solidFill>
          <a:ln w="31750">
            <a:solidFill>
              <a:srgbClr val="8B5CF6"/>
            </a:solidFill>
            <a:prstDash val="solid"/>
          </a:ln>
        </p:spPr>
      </p:sp>
      <p:pic>
        <p:nvPicPr>
          <p:cNvPr id="29" name="Image 6" descr="assets/icon2_shuffle_purple.png">    </p:cNvPr>
          <p:cNvPicPr>
            <a:picLocks noChangeAspect="1"/>
          </p:cNvPicPr>
          <p:nvPr/>
        </p:nvPicPr>
        <p:blipFill>
          <a:blip r:embed="rId7"/>
          <a:stretch>
            <a:fillRect/>
          </a:stretch>
        </p:blipFill>
        <p:spPr>
          <a:xfrm>
            <a:off x="7510272" y="4645152"/>
            <a:ext cx="402336" cy="402336"/>
          </a:xfrm>
          <a:prstGeom prst="rect">
            <a:avLst/>
          </a:prstGeom>
        </p:spPr>
      </p:pic>
      <p:sp>
        <p:nvSpPr>
          <p:cNvPr id="30" name="Text 21"/>
          <p:cNvSpPr txBox="1"/>
          <p:nvPr/>
        </p:nvSpPr>
        <p:spPr>
          <a:xfrm>
            <a:off x="752856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5</a:t>
            </a:r>
            <a:endParaRPr lang="en-US" sz="1200" dirty="0"/>
          </a:p>
        </p:txBody>
      </p:sp>
      <p:sp>
        <p:nvSpPr>
          <p:cNvPr id="31" name="Text 22"/>
          <p:cNvSpPr txBox="1"/>
          <p:nvPr/>
        </p:nvSpPr>
        <p:spPr>
          <a:xfrm>
            <a:off x="6943344" y="5303520"/>
            <a:ext cx="1536192"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Polymorphism</a:t>
            </a:r>
            <a:endParaRPr lang="en-US" sz="1300" dirty="0"/>
          </a:p>
        </p:txBody>
      </p:sp>
      <p:sp>
        <p:nvSpPr>
          <p:cNvPr id="32" name="Shape 23"/>
          <p:cNvSpPr/>
          <p:nvPr/>
        </p:nvSpPr>
        <p:spPr>
          <a:xfrm>
            <a:off x="8976360" y="4480560"/>
            <a:ext cx="731520" cy="731520"/>
          </a:xfrm>
          <a:prstGeom prst="ellipse">
            <a:avLst/>
          </a:prstGeom>
          <a:solidFill>
            <a:srgbClr val="FFFFFF"/>
          </a:solidFill>
          <a:ln w="31750">
            <a:solidFill>
              <a:srgbClr val="14B8A6"/>
            </a:solidFill>
            <a:prstDash val="solid"/>
          </a:ln>
        </p:spPr>
      </p:sp>
      <p:pic>
        <p:nvPicPr>
          <p:cNvPr id="33" name="Image 7" descr="assets/icon2_repeat_purple.png">    </p:cNvPr>
          <p:cNvPicPr>
            <a:picLocks noChangeAspect="1"/>
          </p:cNvPicPr>
          <p:nvPr/>
        </p:nvPicPr>
        <p:blipFill>
          <a:blip r:embed="rId8"/>
          <a:stretch>
            <a:fillRect/>
          </a:stretch>
        </p:blipFill>
        <p:spPr>
          <a:xfrm>
            <a:off x="9140952" y="4645152"/>
            <a:ext cx="402336" cy="402336"/>
          </a:xfrm>
          <a:prstGeom prst="rect">
            <a:avLst/>
          </a:prstGeom>
        </p:spPr>
      </p:pic>
      <p:sp>
        <p:nvSpPr>
          <p:cNvPr id="34" name="Text 24"/>
          <p:cNvSpPr txBox="1"/>
          <p:nvPr/>
        </p:nvSpPr>
        <p:spPr>
          <a:xfrm>
            <a:off x="915924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6</a:t>
            </a:r>
            <a:endParaRPr lang="en-US" sz="1200" dirty="0"/>
          </a:p>
        </p:txBody>
      </p:sp>
      <p:sp>
        <p:nvSpPr>
          <p:cNvPr id="35" name="Text 25"/>
          <p:cNvSpPr txBox="1"/>
          <p:nvPr/>
        </p:nvSpPr>
        <p:spPr>
          <a:xfrm>
            <a:off x="8574024" y="5303520"/>
            <a:ext cx="1536192"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Overloading</a:t>
            </a:r>
            <a:endParaRPr lang="en-US" sz="1300" dirty="0"/>
          </a:p>
        </p:txBody>
      </p:sp>
      <p:sp>
        <p:nvSpPr>
          <p:cNvPr id="36" name="Shape 26"/>
          <p:cNvSpPr/>
          <p:nvPr/>
        </p:nvSpPr>
        <p:spPr>
          <a:xfrm>
            <a:off x="10607040" y="4480560"/>
            <a:ext cx="731520" cy="731520"/>
          </a:xfrm>
          <a:prstGeom prst="ellipse">
            <a:avLst/>
          </a:prstGeom>
          <a:solidFill>
            <a:srgbClr val="FFFFFF"/>
          </a:solidFill>
          <a:ln w="31750">
            <a:solidFill>
              <a:srgbClr val="8B5CF6"/>
            </a:solidFill>
            <a:prstDash val="solid"/>
          </a:ln>
        </p:spPr>
      </p:sp>
      <p:pic>
        <p:nvPicPr>
          <p:cNvPr id="37" name="Image 8" descr="assets/icon2_printer_teal.png">    </p:cNvPr>
          <p:cNvPicPr>
            <a:picLocks noChangeAspect="1"/>
          </p:cNvPicPr>
          <p:nvPr/>
        </p:nvPicPr>
        <p:blipFill>
          <a:blip r:embed="rId9"/>
          <a:stretch>
            <a:fillRect/>
          </a:stretch>
        </p:blipFill>
        <p:spPr>
          <a:xfrm>
            <a:off x="10771632" y="4645152"/>
            <a:ext cx="402336" cy="402336"/>
          </a:xfrm>
          <a:prstGeom prst="rect">
            <a:avLst/>
          </a:prstGeom>
        </p:spPr>
      </p:pic>
      <p:sp>
        <p:nvSpPr>
          <p:cNvPr id="38" name="Text 27"/>
          <p:cNvSpPr txBox="1"/>
          <p:nvPr/>
        </p:nvSpPr>
        <p:spPr>
          <a:xfrm>
            <a:off x="10789920" y="4133088"/>
            <a:ext cx="365760" cy="274320"/>
          </a:xfrm>
          <a:prstGeom prst="rect">
            <a:avLst/>
          </a:prstGeom>
          <a:noFill/>
          <a:ln/>
        </p:spPr>
        <p:txBody>
          <a:bodyPr wrap="square" rtlCol="0" anchor="ctr"/>
          <a:lstStyle/>
          <a:p>
            <a:pPr algn="ctr" indent="0" marL="0">
              <a:buNone/>
            </a:pPr>
            <a:r>
              <a:rPr lang="en-US" sz="1200" b="1" dirty="0">
                <a:solidFill>
                  <a:srgbClr val="64748B"/>
                </a:solidFill>
                <a:latin typeface="Calibri" pitchFamily="34" charset="0"/>
                <a:ea typeface="Calibri" pitchFamily="34" charset="-122"/>
                <a:cs typeface="Calibri" pitchFamily="34" charset="-120"/>
              </a:rPr>
              <a:t>7</a:t>
            </a:r>
            <a:endParaRPr lang="en-US" sz="1200" dirty="0"/>
          </a:p>
        </p:txBody>
      </p:sp>
      <p:sp>
        <p:nvSpPr>
          <p:cNvPr id="39" name="Text 28"/>
          <p:cNvSpPr txBox="1"/>
          <p:nvPr/>
        </p:nvSpPr>
        <p:spPr>
          <a:xfrm>
            <a:off x="10204704" y="5303520"/>
            <a:ext cx="1536192" cy="822960"/>
          </a:xfrm>
          <a:prstGeom prst="rect">
            <a:avLst/>
          </a:prstGeom>
          <a:noFill/>
          <a:ln/>
        </p:spPr>
        <p:txBody>
          <a:bodyPr wrap="square" rtlCol="0" anchor="t"/>
          <a:lstStyle/>
          <a:p>
            <a:pPr algn="ctr" indent="0" marL="0">
              <a:buNone/>
            </a:pPr>
            <a:r>
              <a:rPr lang="en-US" sz="1300" b="1" dirty="0">
                <a:solidFill>
                  <a:srgbClr val="1E293B"/>
                </a:solidFill>
                <a:latin typeface="Calibri" pitchFamily="34" charset="0"/>
                <a:ea typeface="Calibri" pitchFamily="34" charset="-122"/>
                <a:cs typeface="Calibri" pitchFamily="34" charset="-120"/>
              </a:rPr>
              <a:t>__str__</a:t>
            </a:r>
            <a:endParaRPr lang="en-US" sz="1300" dirty="0"/>
          </a:p>
        </p:txBody>
      </p:sp>
      <p:sp>
        <p:nvSpPr>
          <p:cNvPr id="40" name="Text 2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41" name="Text 3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1</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Encapsulation</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At an ATM you cannot reach into the cash box. You press buttons, and the machine checks your PIN and your balance before it gives any money. The cash stays safe because access is controlled.</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Encapsulation keeps data and the methods that work on it together, and gives a controlled way to access that data. Other code goes through the methods instead of touching the data directly.</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Bank balances, salaries, passwords and any data where a wrong value could cause real damage.</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ENCAPSULATION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Open Data Versus Controlled Data</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5029200" cy="2148840"/>
          </a:xfrm>
          <a:prstGeom prst="roundRect">
            <a:avLst>
              <a:gd name="adj" fmla="val 4255"/>
            </a:avLst>
          </a:prstGeom>
          <a:solidFill>
            <a:srgbClr val="FFF7ED"/>
          </a:solidFill>
          <a:ln w="19050">
            <a:solidFill>
              <a:srgbClr val="F97316"/>
            </a:solidFill>
            <a:prstDash val="solid"/>
          </a:ln>
        </p:spPr>
      </p:sp>
      <p:sp>
        <p:nvSpPr>
          <p:cNvPr id="7" name="Text 4"/>
          <p:cNvSpPr txBox="1"/>
          <p:nvPr/>
        </p:nvSpPr>
        <p:spPr>
          <a:xfrm>
            <a:off x="914400" y="2468880"/>
            <a:ext cx="4572000" cy="274320"/>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WITHOUT ENCAPSULATION</a:t>
            </a:r>
            <a:endParaRPr lang="en-US" sz="1100" dirty="0"/>
          </a:p>
        </p:txBody>
      </p:sp>
      <p:sp>
        <p:nvSpPr>
          <p:cNvPr id="8" name="Shape 5"/>
          <p:cNvSpPr/>
          <p:nvPr/>
        </p:nvSpPr>
        <p:spPr>
          <a:xfrm>
            <a:off x="914400" y="2926080"/>
            <a:ext cx="2011680" cy="594360"/>
          </a:xfrm>
          <a:prstGeom prst="roundRect">
            <a:avLst>
              <a:gd name="adj" fmla="val 12308"/>
            </a:avLst>
          </a:prstGeom>
          <a:solidFill>
            <a:srgbClr val="F1F5F9"/>
          </a:solidFill>
          <a:ln w="15875">
            <a:solidFill>
              <a:srgbClr val="CBD5E1"/>
            </a:solidFill>
            <a:prstDash val="solid"/>
          </a:ln>
        </p:spPr>
      </p:sp>
      <p:sp>
        <p:nvSpPr>
          <p:cNvPr id="9" name="Text 6"/>
          <p:cNvSpPr txBox="1"/>
          <p:nvPr/>
        </p:nvSpPr>
        <p:spPr>
          <a:xfrm>
            <a:off x="914400" y="2926080"/>
            <a:ext cx="2011680" cy="59436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balance 5000</a:t>
            </a:r>
            <a:endParaRPr lang="en-US" sz="1400" dirty="0"/>
          </a:p>
        </p:txBody>
      </p:sp>
      <p:sp>
        <p:nvSpPr>
          <p:cNvPr id="10" name="Shape 7"/>
          <p:cNvSpPr/>
          <p:nvPr/>
        </p:nvSpPr>
        <p:spPr>
          <a:xfrm>
            <a:off x="2971800" y="3218688"/>
            <a:ext cx="365760" cy="0"/>
          </a:xfrm>
          <a:prstGeom prst="line">
            <a:avLst/>
          </a:prstGeom>
          <a:noFill/>
          <a:ln w="31750">
            <a:solidFill>
              <a:srgbClr val="F97316"/>
            </a:solidFill>
            <a:prstDash val="solid"/>
            <a:tailEnd type="triangle"/>
          </a:ln>
        </p:spPr>
      </p:sp>
      <p:sp>
        <p:nvSpPr>
          <p:cNvPr id="11" name="Shape 8"/>
          <p:cNvSpPr/>
          <p:nvPr/>
        </p:nvSpPr>
        <p:spPr>
          <a:xfrm>
            <a:off x="3383280" y="2926080"/>
            <a:ext cx="2194560" cy="594360"/>
          </a:xfrm>
          <a:prstGeom prst="roundRect">
            <a:avLst>
              <a:gd name="adj" fmla="val 12308"/>
            </a:avLst>
          </a:prstGeom>
          <a:solidFill>
            <a:srgbClr val="FFEDD5"/>
          </a:solidFill>
          <a:ln w="25400">
            <a:solidFill>
              <a:srgbClr val="F97316"/>
            </a:solidFill>
            <a:prstDash val="solid"/>
          </a:ln>
        </p:spPr>
      </p:sp>
      <p:sp>
        <p:nvSpPr>
          <p:cNvPr id="12" name="Text 9"/>
          <p:cNvSpPr txBox="1"/>
          <p:nvPr/>
        </p:nvSpPr>
        <p:spPr>
          <a:xfrm>
            <a:off x="3383280" y="2926080"/>
            <a:ext cx="2194560" cy="59436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set to -10000</a:t>
            </a:r>
            <a:endParaRPr lang="en-US" sz="1400" dirty="0"/>
          </a:p>
        </p:txBody>
      </p:sp>
      <p:sp>
        <p:nvSpPr>
          <p:cNvPr id="13" name="Text 10"/>
          <p:cNvSpPr txBox="1"/>
          <p:nvPr/>
        </p:nvSpPr>
        <p:spPr>
          <a:xfrm>
            <a:off x="914400" y="3703320"/>
            <a:ext cx="4663440" cy="731520"/>
          </a:xfrm>
          <a:prstGeom prst="rect">
            <a:avLst/>
          </a:prstGeom>
          <a:noFill/>
          <a:ln/>
        </p:spPr>
        <p:txBody>
          <a:bodyPr wrap="square" rtlCol="0" anchor="t"/>
          <a:lstStyle/>
          <a:p>
            <a:pPr indent="0" marL="0">
              <a:buNone/>
            </a:pPr>
            <a:r>
              <a:rPr lang="en-US" sz="1400" dirty="0">
                <a:solidFill>
                  <a:srgbClr val="64748B"/>
                </a:solidFill>
                <a:latin typeface="Calibri" pitchFamily="34" charset="0"/>
                <a:ea typeface="Calibri" pitchFamily="34" charset="-122"/>
                <a:cs typeface="Calibri" pitchFamily="34" charset="-120"/>
              </a:rPr>
              <a:t>Anyone can write any value straight into the balance. Nothing checks it.</a:t>
            </a:r>
            <a:endParaRPr lang="en-US" sz="1400" dirty="0"/>
          </a:p>
        </p:txBody>
      </p:sp>
      <p:sp>
        <p:nvSpPr>
          <p:cNvPr id="14" name="Shape 11"/>
          <p:cNvSpPr/>
          <p:nvPr/>
        </p:nvSpPr>
        <p:spPr>
          <a:xfrm>
            <a:off x="6400800" y="2395728"/>
            <a:ext cx="5029200" cy="2148840"/>
          </a:xfrm>
          <a:prstGeom prst="roundRect">
            <a:avLst>
              <a:gd name="adj" fmla="val 4255"/>
            </a:avLst>
          </a:prstGeom>
          <a:solidFill>
            <a:srgbClr val="F0FDF4"/>
          </a:solidFill>
          <a:ln w="19050">
            <a:solidFill>
              <a:srgbClr val="10B981"/>
            </a:solidFill>
            <a:prstDash val="solid"/>
          </a:ln>
        </p:spPr>
      </p:sp>
      <p:sp>
        <p:nvSpPr>
          <p:cNvPr id="15" name="Text 12"/>
          <p:cNvSpPr txBox="1"/>
          <p:nvPr/>
        </p:nvSpPr>
        <p:spPr>
          <a:xfrm>
            <a:off x="6583680" y="2468880"/>
            <a:ext cx="4572000" cy="274320"/>
          </a:xfrm>
          <a:prstGeom prst="rect">
            <a:avLst/>
          </a:prstGeom>
          <a:noFill/>
          <a:ln/>
        </p:spPr>
        <p:txBody>
          <a:bodyPr wrap="square" rtlCol="0" anchor="ctr"/>
          <a:lstStyle/>
          <a:p>
            <a:pPr indent="0" marL="0">
              <a:buNone/>
            </a:pPr>
            <a:r>
              <a:rPr lang="en-US" sz="1100" b="1" spc="100" kern="0" dirty="0">
                <a:solidFill>
                  <a:srgbClr val="10B981"/>
                </a:solidFill>
                <a:latin typeface="Calibri" pitchFamily="34" charset="0"/>
                <a:ea typeface="Calibri" pitchFamily="34" charset="-122"/>
                <a:cs typeface="Calibri" pitchFamily="34" charset="-120"/>
              </a:rPr>
              <a:t>WITH ENCAPSULATION</a:t>
            </a:r>
            <a:endParaRPr lang="en-US" sz="1100" dirty="0"/>
          </a:p>
        </p:txBody>
      </p:sp>
      <p:sp>
        <p:nvSpPr>
          <p:cNvPr id="16" name="Shape 13"/>
          <p:cNvSpPr/>
          <p:nvPr/>
        </p:nvSpPr>
        <p:spPr>
          <a:xfrm>
            <a:off x="6583680" y="2926080"/>
            <a:ext cx="2011680" cy="594360"/>
          </a:xfrm>
          <a:prstGeom prst="roundRect">
            <a:avLst>
              <a:gd name="adj" fmla="val 12308"/>
            </a:avLst>
          </a:prstGeom>
          <a:solidFill>
            <a:srgbClr val="F1F5F9"/>
          </a:solidFill>
          <a:ln w="15875">
            <a:solidFill>
              <a:srgbClr val="CBD5E1"/>
            </a:solidFill>
            <a:prstDash val="solid"/>
          </a:ln>
        </p:spPr>
      </p:sp>
      <p:sp>
        <p:nvSpPr>
          <p:cNvPr id="17" name="Text 14"/>
          <p:cNvSpPr txBox="1"/>
          <p:nvPr/>
        </p:nvSpPr>
        <p:spPr>
          <a:xfrm>
            <a:off x="6583680" y="2926080"/>
            <a:ext cx="2011680" cy="59436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balance 5000</a:t>
            </a:r>
            <a:endParaRPr lang="en-US" sz="1400" dirty="0"/>
          </a:p>
        </p:txBody>
      </p:sp>
      <p:sp>
        <p:nvSpPr>
          <p:cNvPr id="18" name="Shape 15"/>
          <p:cNvSpPr/>
          <p:nvPr/>
        </p:nvSpPr>
        <p:spPr>
          <a:xfrm>
            <a:off x="8641080" y="3218688"/>
            <a:ext cx="365760" cy="0"/>
          </a:xfrm>
          <a:prstGeom prst="line">
            <a:avLst/>
          </a:prstGeom>
          <a:noFill/>
          <a:ln w="31750">
            <a:solidFill>
              <a:srgbClr val="10B981"/>
            </a:solidFill>
            <a:prstDash val="solid"/>
            <a:tailEnd type="triangle"/>
          </a:ln>
        </p:spPr>
      </p:sp>
      <p:sp>
        <p:nvSpPr>
          <p:cNvPr id="19" name="Shape 16"/>
          <p:cNvSpPr/>
          <p:nvPr/>
        </p:nvSpPr>
        <p:spPr>
          <a:xfrm>
            <a:off x="9052560" y="2926080"/>
            <a:ext cx="2194560" cy="594360"/>
          </a:xfrm>
          <a:prstGeom prst="roundRect">
            <a:avLst>
              <a:gd name="adj" fmla="val 12308"/>
            </a:avLst>
          </a:prstGeom>
          <a:solidFill>
            <a:srgbClr val="D1FAE5"/>
          </a:solidFill>
          <a:ln w="25400">
            <a:solidFill>
              <a:srgbClr val="10B981"/>
            </a:solidFill>
            <a:prstDash val="solid"/>
          </a:ln>
        </p:spPr>
      </p:sp>
      <p:sp>
        <p:nvSpPr>
          <p:cNvPr id="20" name="Text 17"/>
          <p:cNvSpPr txBox="1"/>
          <p:nvPr/>
        </p:nvSpPr>
        <p:spPr>
          <a:xfrm>
            <a:off x="9052560" y="2926080"/>
            <a:ext cx="2194560" cy="594360"/>
          </a:xfrm>
          <a:prstGeom prst="rect">
            <a:avLst/>
          </a:prstGeom>
          <a:noFill/>
          <a:ln/>
        </p:spPr>
        <p:txBody>
          <a:bodyPr wrap="square" rtlCol="0" anchor="ctr"/>
          <a:lstStyle/>
          <a:p>
            <a:pPr algn="ctr" indent="0" marL="0">
              <a:buNone/>
            </a:pPr>
            <a:r>
              <a:rPr lang="en-US" sz="1400" b="1" dirty="0">
                <a:solidFill>
                  <a:srgbClr val="1E293B"/>
                </a:solidFill>
                <a:latin typeface="Consolas" pitchFamily="34" charset="0"/>
                <a:ea typeface="Consolas" pitchFamily="34" charset="-122"/>
                <a:cs typeface="Consolas" pitchFamily="34" charset="-120"/>
              </a:rPr>
              <a:t>methods check</a:t>
            </a:r>
            <a:endParaRPr lang="en-US" sz="1400" dirty="0"/>
          </a:p>
        </p:txBody>
      </p:sp>
      <p:sp>
        <p:nvSpPr>
          <p:cNvPr id="21" name="Text 18"/>
          <p:cNvSpPr txBox="1"/>
          <p:nvPr/>
        </p:nvSpPr>
        <p:spPr>
          <a:xfrm>
            <a:off x="6583680" y="3703320"/>
            <a:ext cx="4663440" cy="731520"/>
          </a:xfrm>
          <a:prstGeom prst="rect">
            <a:avLst/>
          </a:prstGeom>
          <a:noFill/>
          <a:ln/>
        </p:spPr>
        <p:txBody>
          <a:bodyPr wrap="square" rtlCol="0" anchor="t"/>
          <a:lstStyle/>
          <a:p>
            <a:pPr indent="0" marL="0">
              <a:buNone/>
            </a:pPr>
            <a:r>
              <a:rPr lang="en-US" sz="1400" dirty="0">
                <a:solidFill>
                  <a:srgbClr val="64748B"/>
                </a:solidFill>
                <a:latin typeface="Calibri" pitchFamily="34" charset="0"/>
                <a:ea typeface="Calibri" pitchFamily="34" charset="-122"/>
                <a:cs typeface="Calibri" pitchFamily="34" charset="-120"/>
              </a:rPr>
              <a:t>Every change goes through a method that checks the rule first.</a:t>
            </a:r>
            <a:endParaRPr lang="en-US" sz="1400" dirty="0"/>
          </a:p>
        </p:txBody>
      </p:sp>
      <p:sp>
        <p:nvSpPr>
          <p:cNvPr id="22" name="Shape 19"/>
          <p:cNvSpPr/>
          <p:nvPr/>
        </p:nvSpPr>
        <p:spPr>
          <a:xfrm>
            <a:off x="731520" y="4709160"/>
            <a:ext cx="10698480" cy="685800"/>
          </a:xfrm>
          <a:prstGeom prst="roundRect">
            <a:avLst>
              <a:gd name="adj" fmla="val 13333"/>
            </a:avLst>
          </a:prstGeom>
          <a:solidFill>
            <a:srgbClr val="F8FAFC"/>
          </a:solidFill>
          <a:ln w="19050">
            <a:solidFill>
              <a:srgbClr val="CBD5E1"/>
            </a:solidFill>
            <a:prstDash val="solid"/>
          </a:ln>
        </p:spPr>
      </p:sp>
      <p:sp>
        <p:nvSpPr>
          <p:cNvPr id="23" name="Text 20"/>
          <p:cNvSpPr txBox="1"/>
          <p:nvPr/>
        </p:nvSpPr>
        <p:spPr>
          <a:xfrm>
            <a:off x="804672" y="4818888"/>
            <a:ext cx="10552176" cy="466344"/>
          </a:xfrm>
          <a:prstGeom prst="rect">
            <a:avLst/>
          </a:prstGeom>
          <a:noFill/>
          <a:ln/>
        </p:spPr>
        <p:txBody>
          <a:bodyPr wrap="square"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Data and its rules stay together inside the class</a:t>
            </a:r>
            <a:endParaRPr lang="en-US" sz="1600" dirty="0"/>
          </a:p>
        </p:txBody>
      </p:sp>
      <p:sp>
        <p:nvSpPr>
          <p:cNvPr id="24" name="Shape 21"/>
          <p:cNvSpPr/>
          <p:nvPr/>
        </p:nvSpPr>
        <p:spPr>
          <a:xfrm>
            <a:off x="731520" y="5559552"/>
            <a:ext cx="10698480" cy="0"/>
          </a:xfrm>
          <a:prstGeom prst="line">
            <a:avLst/>
          </a:prstGeom>
          <a:noFill/>
          <a:ln w="12700">
            <a:solidFill>
              <a:srgbClr val="E2E8F0"/>
            </a:solidFill>
            <a:prstDash val="solid"/>
          </a:ln>
        </p:spPr>
      </p:sp>
      <p:sp>
        <p:nvSpPr>
          <p:cNvPr id="25" name="Shape 22"/>
          <p:cNvSpPr/>
          <p:nvPr/>
        </p:nvSpPr>
        <p:spPr>
          <a:xfrm>
            <a:off x="777240" y="5650992"/>
            <a:ext cx="475488" cy="475488"/>
          </a:xfrm>
          <a:prstGeom prst="ellipse">
            <a:avLst/>
          </a:prstGeom>
          <a:solidFill>
            <a:srgbClr val="FCE7F3"/>
          </a:solidFill>
          <a:ln w="19050">
            <a:solidFill>
              <a:srgbClr val="EC4899"/>
            </a:solidFill>
            <a:prstDash val="solid"/>
          </a:ln>
        </p:spPr>
      </p:sp>
      <p:pic>
        <p:nvPicPr>
          <p:cNvPr id="26"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27" name="Shape 23"/>
          <p:cNvSpPr/>
          <p:nvPr/>
        </p:nvSpPr>
        <p:spPr>
          <a:xfrm rot="2700000">
            <a:off x="1508760" y="5797296"/>
            <a:ext cx="182880" cy="182880"/>
          </a:xfrm>
          <a:prstGeom prst="rect">
            <a:avLst/>
          </a:prstGeom>
          <a:solidFill>
            <a:srgbClr val="FDF2F8"/>
          </a:solidFill>
          <a:ln w="15875">
            <a:solidFill>
              <a:srgbClr val="EC4899"/>
            </a:solidFill>
            <a:prstDash val="solid"/>
          </a:ln>
        </p:spPr>
      </p:sp>
      <p:sp>
        <p:nvSpPr>
          <p:cNvPr id="28" name="Shape 24"/>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9" name="Text 25"/>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Without protection, the balance really does become -10000.</a:t>
            </a:r>
            <a:endParaRPr lang="en-US" sz="1400" dirty="0"/>
          </a:p>
        </p:txBody>
      </p:sp>
      <p:sp>
        <p:nvSpPr>
          <p:cNvPr id="30" name="Text 26"/>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31" name="Text 27"/>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2</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Private Attributes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A bank keeps its cash in a vault. Customers never walk into the vault. They go to the counter, and the cashier opens it for them after the right checks.</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A name that starts with two underscores is private. Code outside the class cannot read or change it directly. Methods inside the class can, so the class stays in control.</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Account balances, salary fields, tokens and any value that must only change through checked methods.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PRIVATE BALANCE FLOW</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Every Change Goes Through a Method</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68880"/>
            <a:ext cx="2331720" cy="1783080"/>
          </a:xfrm>
          <a:prstGeom prst="roundRect">
            <a:avLst>
              <a:gd name="adj" fmla="val 5128"/>
            </a:avLst>
          </a:prstGeom>
          <a:solidFill>
            <a:srgbClr val="F0FDFA"/>
          </a:solidFill>
          <a:ln w="19050">
            <a:solidFill>
              <a:srgbClr val="14B8A6"/>
            </a:solidFill>
            <a:prstDash val="solid"/>
          </a:ln>
        </p:spPr>
      </p:sp>
      <p:pic>
        <p:nvPicPr>
          <p:cNvPr id="7" name="Image 1" descr="assets/icon2_bank_navy.png">    </p:cNvPr>
          <p:cNvPicPr>
            <a:picLocks noChangeAspect="1"/>
          </p:cNvPicPr>
          <p:nvPr/>
        </p:nvPicPr>
        <p:blipFill>
          <a:blip r:embed="rId2"/>
          <a:stretch>
            <a:fillRect/>
          </a:stretch>
        </p:blipFill>
        <p:spPr>
          <a:xfrm>
            <a:off x="1645920" y="2578608"/>
            <a:ext cx="502920" cy="502920"/>
          </a:xfrm>
          <a:prstGeom prst="rect">
            <a:avLst/>
          </a:prstGeom>
        </p:spPr>
      </p:pic>
      <p:sp>
        <p:nvSpPr>
          <p:cNvPr id="8" name="Text 4"/>
          <p:cNvSpPr txBox="1"/>
          <p:nvPr/>
        </p:nvSpPr>
        <p:spPr>
          <a:xfrm>
            <a:off x="80467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Create account</a:t>
            </a:r>
            <a:endParaRPr lang="en-US" sz="1600" dirty="0"/>
          </a:p>
        </p:txBody>
      </p:sp>
      <p:sp>
        <p:nvSpPr>
          <p:cNvPr id="9" name="Text 5"/>
          <p:cNvSpPr txBox="1"/>
          <p:nvPr/>
        </p:nvSpPr>
        <p:spPr>
          <a:xfrm>
            <a:off x="82296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private balance starts at 5000</a:t>
            </a:r>
            <a:endParaRPr lang="en-US" sz="1300" dirty="0"/>
          </a:p>
        </p:txBody>
      </p:sp>
      <p:sp>
        <p:nvSpPr>
          <p:cNvPr id="10" name="Shape 6"/>
          <p:cNvSpPr/>
          <p:nvPr/>
        </p:nvSpPr>
        <p:spPr>
          <a:xfrm>
            <a:off x="3118104" y="3360420"/>
            <a:ext cx="347472" cy="0"/>
          </a:xfrm>
          <a:prstGeom prst="line">
            <a:avLst/>
          </a:prstGeom>
          <a:noFill/>
          <a:ln w="31750">
            <a:solidFill>
              <a:srgbClr val="8B5CF6"/>
            </a:solidFill>
            <a:prstDash val="solid"/>
            <a:tailEnd type="triangle"/>
          </a:ln>
        </p:spPr>
      </p:sp>
      <p:sp>
        <p:nvSpPr>
          <p:cNvPr id="11" name="Shape 7"/>
          <p:cNvSpPr/>
          <p:nvPr/>
        </p:nvSpPr>
        <p:spPr>
          <a:xfrm>
            <a:off x="3520440" y="2468880"/>
            <a:ext cx="2331720" cy="1783080"/>
          </a:xfrm>
          <a:prstGeom prst="roundRect">
            <a:avLst>
              <a:gd name="adj" fmla="val 5128"/>
            </a:avLst>
          </a:prstGeom>
          <a:solidFill>
            <a:srgbClr val="F5F3FF"/>
          </a:solidFill>
          <a:ln w="19050">
            <a:solidFill>
              <a:srgbClr val="8B5CF6"/>
            </a:solidFill>
            <a:prstDash val="solid"/>
          </a:ln>
        </p:spPr>
      </p:sp>
      <p:pic>
        <p:nvPicPr>
          <p:cNvPr id="12" name="Image 2" descr="assets/icon2_banknote_green.png">    </p:cNvPr>
          <p:cNvPicPr>
            <a:picLocks noChangeAspect="1"/>
          </p:cNvPicPr>
          <p:nvPr/>
        </p:nvPicPr>
        <p:blipFill>
          <a:blip r:embed="rId3"/>
          <a:stretch>
            <a:fillRect/>
          </a:stretch>
        </p:blipFill>
        <p:spPr>
          <a:xfrm>
            <a:off x="4434840" y="2578608"/>
            <a:ext cx="502920" cy="502920"/>
          </a:xfrm>
          <a:prstGeom prst="rect">
            <a:avLst/>
          </a:prstGeom>
        </p:spPr>
      </p:pic>
      <p:sp>
        <p:nvSpPr>
          <p:cNvPr id="13" name="Text 8"/>
          <p:cNvSpPr txBox="1"/>
          <p:nvPr/>
        </p:nvSpPr>
        <p:spPr>
          <a:xfrm>
            <a:off x="359359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Deposit 5000</a:t>
            </a:r>
            <a:endParaRPr lang="en-US" sz="1600" dirty="0"/>
          </a:p>
        </p:txBody>
      </p:sp>
      <p:sp>
        <p:nvSpPr>
          <p:cNvPr id="14" name="Text 9"/>
          <p:cNvSpPr txBox="1"/>
          <p:nvPr/>
        </p:nvSpPr>
        <p:spPr>
          <a:xfrm>
            <a:off x="361188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balance becomes 10000</a:t>
            </a:r>
            <a:endParaRPr lang="en-US" sz="1300" dirty="0"/>
          </a:p>
        </p:txBody>
      </p:sp>
      <p:sp>
        <p:nvSpPr>
          <p:cNvPr id="15" name="Shape 10"/>
          <p:cNvSpPr/>
          <p:nvPr/>
        </p:nvSpPr>
        <p:spPr>
          <a:xfrm>
            <a:off x="5907024" y="3360420"/>
            <a:ext cx="347472" cy="0"/>
          </a:xfrm>
          <a:prstGeom prst="line">
            <a:avLst/>
          </a:prstGeom>
          <a:noFill/>
          <a:ln w="31750">
            <a:solidFill>
              <a:srgbClr val="8B5CF6"/>
            </a:solidFill>
            <a:prstDash val="solid"/>
            <a:tailEnd type="triangle"/>
          </a:ln>
        </p:spPr>
      </p:sp>
      <p:sp>
        <p:nvSpPr>
          <p:cNvPr id="16" name="Shape 11"/>
          <p:cNvSpPr/>
          <p:nvPr/>
        </p:nvSpPr>
        <p:spPr>
          <a:xfrm>
            <a:off x="6309360" y="2468880"/>
            <a:ext cx="2331720" cy="1783080"/>
          </a:xfrm>
          <a:prstGeom prst="roundRect">
            <a:avLst>
              <a:gd name="adj" fmla="val 5128"/>
            </a:avLst>
          </a:prstGeom>
          <a:solidFill>
            <a:srgbClr val="FFF7ED"/>
          </a:solidFill>
          <a:ln w="19050">
            <a:solidFill>
              <a:srgbClr val="F97316"/>
            </a:solidFill>
            <a:prstDash val="solid"/>
          </a:ln>
        </p:spPr>
      </p:sp>
      <p:pic>
        <p:nvPicPr>
          <p:cNvPr id="17" name="Image 3" descr="assets/icon2_wallet_green.png">    </p:cNvPr>
          <p:cNvPicPr>
            <a:picLocks noChangeAspect="1"/>
          </p:cNvPicPr>
          <p:nvPr/>
        </p:nvPicPr>
        <p:blipFill>
          <a:blip r:embed="rId4"/>
          <a:stretch>
            <a:fillRect/>
          </a:stretch>
        </p:blipFill>
        <p:spPr>
          <a:xfrm>
            <a:off x="7223760" y="2578608"/>
            <a:ext cx="502920" cy="502920"/>
          </a:xfrm>
          <a:prstGeom prst="rect">
            <a:avLst/>
          </a:prstGeom>
        </p:spPr>
      </p:pic>
      <p:sp>
        <p:nvSpPr>
          <p:cNvPr id="18" name="Text 12"/>
          <p:cNvSpPr txBox="1"/>
          <p:nvPr/>
        </p:nvSpPr>
        <p:spPr>
          <a:xfrm>
            <a:off x="638251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Withdraw 1000</a:t>
            </a:r>
            <a:endParaRPr lang="en-US" sz="1600" dirty="0"/>
          </a:p>
        </p:txBody>
      </p:sp>
      <p:sp>
        <p:nvSpPr>
          <p:cNvPr id="19" name="Text 13"/>
          <p:cNvSpPr txBox="1"/>
          <p:nvPr/>
        </p:nvSpPr>
        <p:spPr>
          <a:xfrm>
            <a:off x="640080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balance becomes 9000</a:t>
            </a:r>
            <a:endParaRPr lang="en-US" sz="1300" dirty="0"/>
          </a:p>
        </p:txBody>
      </p:sp>
      <p:sp>
        <p:nvSpPr>
          <p:cNvPr id="20" name="Shape 14"/>
          <p:cNvSpPr/>
          <p:nvPr/>
        </p:nvSpPr>
        <p:spPr>
          <a:xfrm>
            <a:off x="8695944" y="3360420"/>
            <a:ext cx="347472" cy="0"/>
          </a:xfrm>
          <a:prstGeom prst="line">
            <a:avLst/>
          </a:prstGeom>
          <a:noFill/>
          <a:ln w="31750">
            <a:solidFill>
              <a:srgbClr val="8B5CF6"/>
            </a:solidFill>
            <a:prstDash val="solid"/>
            <a:tailEnd type="triangle"/>
          </a:ln>
        </p:spPr>
      </p:sp>
      <p:sp>
        <p:nvSpPr>
          <p:cNvPr id="21" name="Shape 15"/>
          <p:cNvSpPr/>
          <p:nvPr/>
        </p:nvSpPr>
        <p:spPr>
          <a:xfrm>
            <a:off x="9098280" y="2468880"/>
            <a:ext cx="2331720" cy="1783080"/>
          </a:xfrm>
          <a:prstGeom prst="roundRect">
            <a:avLst>
              <a:gd name="adj" fmla="val 5128"/>
            </a:avLst>
          </a:prstGeom>
          <a:solidFill>
            <a:srgbClr val="F0FDF4"/>
          </a:solidFill>
          <a:ln w="19050">
            <a:solidFill>
              <a:srgbClr val="10B981"/>
            </a:solidFill>
            <a:prstDash val="solid"/>
          </a:ln>
        </p:spPr>
      </p:sp>
      <p:pic>
        <p:nvPicPr>
          <p:cNvPr id="22" name="Image 4" descr="assets/icon2_eye_teal.png">    </p:cNvPr>
          <p:cNvPicPr>
            <a:picLocks noChangeAspect="1"/>
          </p:cNvPicPr>
          <p:nvPr/>
        </p:nvPicPr>
        <p:blipFill>
          <a:blip r:embed="rId5"/>
          <a:stretch>
            <a:fillRect/>
          </a:stretch>
        </p:blipFill>
        <p:spPr>
          <a:xfrm>
            <a:off x="10012680" y="2578608"/>
            <a:ext cx="502920" cy="502920"/>
          </a:xfrm>
          <a:prstGeom prst="rect">
            <a:avLst/>
          </a:prstGeom>
        </p:spPr>
      </p:pic>
      <p:sp>
        <p:nvSpPr>
          <p:cNvPr id="23" name="Text 16"/>
          <p:cNvSpPr txBox="1"/>
          <p:nvPr/>
        </p:nvSpPr>
        <p:spPr>
          <a:xfrm>
            <a:off x="9171432" y="3145536"/>
            <a:ext cx="218541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Show balance</a:t>
            </a:r>
            <a:endParaRPr lang="en-US" sz="1600" dirty="0"/>
          </a:p>
        </p:txBody>
      </p:sp>
      <p:sp>
        <p:nvSpPr>
          <p:cNvPr id="24" name="Text 17"/>
          <p:cNvSpPr txBox="1"/>
          <p:nvPr/>
        </p:nvSpPr>
        <p:spPr>
          <a:xfrm>
            <a:off x="9189720" y="3511296"/>
            <a:ext cx="214884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Available balance: 9000</a:t>
            </a:r>
            <a:endParaRPr lang="en-US" sz="1300" dirty="0"/>
          </a:p>
        </p:txBody>
      </p:sp>
      <p:sp>
        <p:nvSpPr>
          <p:cNvPr id="25" name="Shape 18"/>
          <p:cNvSpPr/>
          <p:nvPr/>
        </p:nvSpPr>
        <p:spPr>
          <a:xfrm>
            <a:off x="731520" y="4480560"/>
            <a:ext cx="5212080" cy="868680"/>
          </a:xfrm>
          <a:prstGeom prst="roundRect">
            <a:avLst>
              <a:gd name="adj" fmla="val 10526"/>
            </a:avLst>
          </a:prstGeom>
          <a:solidFill>
            <a:srgbClr val="F0FDF4"/>
          </a:solidFill>
          <a:ln w="19050">
            <a:solidFill>
              <a:srgbClr val="10B981"/>
            </a:solidFill>
            <a:prstDash val="solid"/>
          </a:ln>
        </p:spPr>
      </p:sp>
      <p:sp>
        <p:nvSpPr>
          <p:cNvPr id="26" name="Text 19"/>
          <p:cNvSpPr txBox="1"/>
          <p:nvPr/>
        </p:nvSpPr>
        <p:spPr>
          <a:xfrm>
            <a:off x="8046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Through the methods</a:t>
            </a:r>
            <a:endParaRPr lang="en-US" sz="1550" dirty="0"/>
          </a:p>
        </p:txBody>
      </p:sp>
      <p:sp>
        <p:nvSpPr>
          <p:cNvPr id="27" name="Text 20"/>
          <p:cNvSpPr txBox="1"/>
          <p:nvPr/>
        </p:nvSpPr>
        <p:spPr>
          <a:xfrm>
            <a:off x="822960" y="4919472"/>
            <a:ext cx="5029200" cy="35661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allowed, and every rule is checked</a:t>
            </a:r>
            <a:endParaRPr lang="en-US" sz="1350" dirty="0"/>
          </a:p>
        </p:txBody>
      </p:sp>
      <p:sp>
        <p:nvSpPr>
          <p:cNvPr id="28" name="Shape 21"/>
          <p:cNvSpPr/>
          <p:nvPr/>
        </p:nvSpPr>
        <p:spPr>
          <a:xfrm>
            <a:off x="6217920" y="4480560"/>
            <a:ext cx="5212080" cy="868680"/>
          </a:xfrm>
          <a:prstGeom prst="roundRect">
            <a:avLst>
              <a:gd name="adj" fmla="val 10526"/>
            </a:avLst>
          </a:prstGeom>
          <a:solidFill>
            <a:srgbClr val="FFF7ED"/>
          </a:solidFill>
          <a:ln w="19050">
            <a:solidFill>
              <a:srgbClr val="F97316"/>
            </a:solidFill>
            <a:prstDash val="solid"/>
          </a:ln>
        </p:spPr>
      </p:sp>
      <p:sp>
        <p:nvSpPr>
          <p:cNvPr id="29" name="Text 22"/>
          <p:cNvSpPr txBox="1"/>
          <p:nvPr/>
        </p:nvSpPr>
        <p:spPr>
          <a:xfrm>
            <a:off x="62910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Direct access from outside</a:t>
            </a:r>
            <a:endParaRPr lang="en-US" sz="1550" dirty="0"/>
          </a:p>
        </p:txBody>
      </p:sp>
      <p:sp>
        <p:nvSpPr>
          <p:cNvPr id="30" name="Text 23"/>
          <p:cNvSpPr txBox="1"/>
          <p:nvPr/>
        </p:nvSpPr>
        <p:spPr>
          <a:xfrm>
            <a:off x="6309360" y="4919472"/>
            <a:ext cx="5029200" cy="35661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AttributeError: no such attribute</a:t>
            </a:r>
            <a:endParaRPr lang="en-US" sz="1350" dirty="0"/>
          </a:p>
        </p:txBody>
      </p:sp>
      <p:sp>
        <p:nvSpPr>
          <p:cNvPr id="31" name="Shape 24"/>
          <p:cNvSpPr/>
          <p:nvPr/>
        </p:nvSpPr>
        <p:spPr>
          <a:xfrm>
            <a:off x="731520" y="5559552"/>
            <a:ext cx="10698480" cy="0"/>
          </a:xfrm>
          <a:prstGeom prst="line">
            <a:avLst/>
          </a:prstGeom>
          <a:noFill/>
          <a:ln w="12700">
            <a:solidFill>
              <a:srgbClr val="E2E8F0"/>
            </a:solidFill>
            <a:prstDash val="solid"/>
          </a:ln>
        </p:spPr>
      </p:sp>
      <p:sp>
        <p:nvSpPr>
          <p:cNvPr id="32" name="Shape 25"/>
          <p:cNvSpPr/>
          <p:nvPr/>
        </p:nvSpPr>
        <p:spPr>
          <a:xfrm>
            <a:off x="777240" y="5650992"/>
            <a:ext cx="475488" cy="475488"/>
          </a:xfrm>
          <a:prstGeom prst="ellipse">
            <a:avLst/>
          </a:prstGeom>
          <a:solidFill>
            <a:srgbClr val="FCE7F3"/>
          </a:solidFill>
          <a:ln w="19050">
            <a:solidFill>
              <a:srgbClr val="EC4899"/>
            </a:solidFill>
            <a:prstDash val="solid"/>
          </a:ln>
        </p:spPr>
      </p:sp>
      <p:pic>
        <p:nvPicPr>
          <p:cNvPr id="33" name="Image 5" descr="assets/icon2_user_pink.png">    </p:cNvPr>
          <p:cNvPicPr>
            <a:picLocks noChangeAspect="1"/>
          </p:cNvPicPr>
          <p:nvPr/>
        </p:nvPicPr>
        <p:blipFill>
          <a:blip r:embed="rId6"/>
          <a:stretch>
            <a:fillRect/>
          </a:stretch>
        </p:blipFill>
        <p:spPr>
          <a:xfrm>
            <a:off x="872338" y="5746090"/>
            <a:ext cx="285293" cy="285293"/>
          </a:xfrm>
          <a:prstGeom prst="rect">
            <a:avLst/>
          </a:prstGeom>
        </p:spPr>
      </p:pic>
      <p:sp>
        <p:nvSpPr>
          <p:cNvPr id="34" name="Shape 26"/>
          <p:cNvSpPr/>
          <p:nvPr/>
        </p:nvSpPr>
        <p:spPr>
          <a:xfrm rot="2700000">
            <a:off x="1508760" y="5797296"/>
            <a:ext cx="182880" cy="182880"/>
          </a:xfrm>
          <a:prstGeom prst="rect">
            <a:avLst/>
          </a:prstGeom>
          <a:solidFill>
            <a:srgbClr val="FDF2F8"/>
          </a:solidFill>
          <a:ln w="15875">
            <a:solidFill>
              <a:srgbClr val="EC4899"/>
            </a:solidFill>
            <a:prstDash val="solid"/>
          </a:ln>
        </p:spPr>
      </p:sp>
      <p:sp>
        <p:nvSpPr>
          <p:cNvPr id="35" name="Shape 27"/>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6" name="Text 28"/>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Outside code simply cannot find the private name, so it cannot break the rule.</a:t>
            </a:r>
            <a:endParaRPr lang="en-US" sz="1400" dirty="0"/>
          </a:p>
        </p:txBody>
      </p:sp>
      <p:sp>
        <p:nvSpPr>
          <p:cNvPr id="37" name="Text 2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38" name="Text 3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RULES INSIDE A METHOD</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What the Withdraw Method Checks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3017520"/>
            <a:ext cx="1920240" cy="640080"/>
          </a:xfrm>
          <a:prstGeom prst="flowChartTerminator">
            <a:avLst/>
          </a:prstGeom>
          <a:solidFill>
            <a:srgbClr val="F5F3FF"/>
          </a:solidFill>
          <a:ln w="22225">
            <a:solidFill>
              <a:srgbClr val="8B5CF6"/>
            </a:solidFill>
            <a:prstDash val="solid"/>
          </a:ln>
        </p:spPr>
      </p:sp>
      <p:sp>
        <p:nvSpPr>
          <p:cNvPr id="7" name="Text 4"/>
          <p:cNvSpPr txBox="1"/>
          <p:nvPr/>
        </p:nvSpPr>
        <p:spPr>
          <a:xfrm>
            <a:off x="804672" y="3017520"/>
            <a:ext cx="1773936" cy="640080"/>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Withdraw request</a:t>
            </a:r>
            <a:endParaRPr lang="en-US" sz="1350" dirty="0"/>
          </a:p>
        </p:txBody>
      </p:sp>
      <p:sp>
        <p:nvSpPr>
          <p:cNvPr id="8" name="Shape 5"/>
          <p:cNvSpPr/>
          <p:nvPr/>
        </p:nvSpPr>
        <p:spPr>
          <a:xfrm>
            <a:off x="2679192" y="3337560"/>
            <a:ext cx="219456" cy="0"/>
          </a:xfrm>
          <a:prstGeom prst="line">
            <a:avLst/>
          </a:prstGeom>
          <a:noFill/>
          <a:ln w="31750">
            <a:solidFill>
              <a:srgbClr val="8B5CF6"/>
            </a:solidFill>
            <a:prstDash val="solid"/>
            <a:tailEnd type="triangle"/>
          </a:ln>
        </p:spPr>
      </p:sp>
      <p:sp>
        <p:nvSpPr>
          <p:cNvPr id="9" name="Shape 6"/>
          <p:cNvSpPr/>
          <p:nvPr/>
        </p:nvSpPr>
        <p:spPr>
          <a:xfrm>
            <a:off x="2926080" y="2514600"/>
            <a:ext cx="2651760" cy="1645920"/>
          </a:xfrm>
          <a:prstGeom prst="flowChartDecision">
            <a:avLst/>
          </a:prstGeom>
          <a:solidFill>
            <a:srgbClr val="FFF7ED"/>
          </a:solidFill>
          <a:ln w="22225">
            <a:solidFill>
              <a:srgbClr val="F97316"/>
            </a:solidFill>
            <a:prstDash val="solid"/>
          </a:ln>
        </p:spPr>
      </p:sp>
      <p:sp>
        <p:nvSpPr>
          <p:cNvPr id="10" name="Text 7"/>
          <p:cNvSpPr txBox="1"/>
          <p:nvPr/>
        </p:nvSpPr>
        <p:spPr>
          <a:xfrm>
            <a:off x="3456432" y="2514600"/>
            <a:ext cx="1591056" cy="164592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Amount 0 or less?</a:t>
            </a:r>
            <a:endParaRPr lang="en-US" sz="1400" dirty="0"/>
          </a:p>
        </p:txBody>
      </p:sp>
      <p:sp>
        <p:nvSpPr>
          <p:cNvPr id="11" name="Shape 8"/>
          <p:cNvSpPr/>
          <p:nvPr/>
        </p:nvSpPr>
        <p:spPr>
          <a:xfrm>
            <a:off x="4251960" y="4187952"/>
            <a:ext cx="0" cy="338328"/>
          </a:xfrm>
          <a:prstGeom prst="line">
            <a:avLst/>
          </a:prstGeom>
          <a:noFill/>
          <a:ln w="31750">
            <a:solidFill>
              <a:srgbClr val="F97316"/>
            </a:solidFill>
            <a:prstDash val="solid"/>
            <a:tailEnd type="triangle"/>
          </a:ln>
        </p:spPr>
      </p:sp>
      <p:sp>
        <p:nvSpPr>
          <p:cNvPr id="12" name="Text 9"/>
          <p:cNvSpPr txBox="1"/>
          <p:nvPr/>
        </p:nvSpPr>
        <p:spPr>
          <a:xfrm>
            <a:off x="4297680" y="4160520"/>
            <a:ext cx="548640" cy="274320"/>
          </a:xfrm>
          <a:prstGeom prst="rect">
            <a:avLst/>
          </a:prstGeom>
          <a:noFill/>
          <a:ln/>
        </p:spPr>
        <p:txBody>
          <a:bodyPr wrap="square" rtlCol="0" anchor="ctr"/>
          <a:lstStyle/>
          <a:p>
            <a:pPr algn="ctr" indent="0" marL="0">
              <a:buNone/>
            </a:pPr>
            <a:r>
              <a:rPr lang="en-US" sz="1200" b="1" dirty="0">
                <a:solidFill>
                  <a:srgbClr val="F97316"/>
                </a:solidFill>
                <a:latin typeface="Calibri" pitchFamily="34" charset="0"/>
                <a:ea typeface="Calibri" pitchFamily="34" charset="-122"/>
                <a:cs typeface="Calibri" pitchFamily="34" charset="-120"/>
              </a:rPr>
              <a:t>Yes</a:t>
            </a:r>
            <a:endParaRPr lang="en-US" sz="1200" dirty="0"/>
          </a:p>
        </p:txBody>
      </p:sp>
      <p:sp>
        <p:nvSpPr>
          <p:cNvPr id="13" name="Shape 10"/>
          <p:cNvSpPr/>
          <p:nvPr/>
        </p:nvSpPr>
        <p:spPr>
          <a:xfrm>
            <a:off x="2926080" y="4553712"/>
            <a:ext cx="2651760" cy="731520"/>
          </a:xfrm>
          <a:prstGeom prst="flowChartProcess">
            <a:avLst/>
          </a:prstGeom>
          <a:solidFill>
            <a:srgbClr val="FFF7ED"/>
          </a:solidFill>
          <a:ln w="22225">
            <a:solidFill>
              <a:srgbClr val="F97316"/>
            </a:solidFill>
            <a:prstDash val="solid"/>
          </a:ln>
        </p:spPr>
      </p:sp>
      <p:sp>
        <p:nvSpPr>
          <p:cNvPr id="14" name="Text 11"/>
          <p:cNvSpPr txBox="1"/>
          <p:nvPr/>
        </p:nvSpPr>
        <p:spPr>
          <a:xfrm>
            <a:off x="2999232" y="4553712"/>
            <a:ext cx="2505456" cy="731520"/>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Invalid withdrawal amount</a:t>
            </a:r>
            <a:endParaRPr lang="en-US" sz="1350" dirty="0"/>
          </a:p>
        </p:txBody>
      </p:sp>
      <p:sp>
        <p:nvSpPr>
          <p:cNvPr id="15" name="Shape 12"/>
          <p:cNvSpPr/>
          <p:nvPr/>
        </p:nvSpPr>
        <p:spPr>
          <a:xfrm>
            <a:off x="5605272" y="3337560"/>
            <a:ext cx="676656" cy="0"/>
          </a:xfrm>
          <a:prstGeom prst="line">
            <a:avLst/>
          </a:prstGeom>
          <a:noFill/>
          <a:ln w="31750">
            <a:solidFill>
              <a:srgbClr val="10B981"/>
            </a:solidFill>
            <a:prstDash val="solid"/>
            <a:tailEnd type="triangle"/>
          </a:ln>
        </p:spPr>
      </p:sp>
      <p:sp>
        <p:nvSpPr>
          <p:cNvPr id="16" name="Text 13"/>
          <p:cNvSpPr txBox="1"/>
          <p:nvPr/>
        </p:nvSpPr>
        <p:spPr>
          <a:xfrm>
            <a:off x="5577840" y="3017520"/>
            <a:ext cx="731520" cy="274320"/>
          </a:xfrm>
          <a:prstGeom prst="rect">
            <a:avLst/>
          </a:prstGeom>
          <a:noFill/>
          <a:ln/>
        </p:spPr>
        <p:txBody>
          <a:bodyPr wrap="square"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No</a:t>
            </a:r>
            <a:endParaRPr lang="en-US" sz="1200" dirty="0"/>
          </a:p>
        </p:txBody>
      </p:sp>
      <p:sp>
        <p:nvSpPr>
          <p:cNvPr id="17" name="Shape 14"/>
          <p:cNvSpPr/>
          <p:nvPr/>
        </p:nvSpPr>
        <p:spPr>
          <a:xfrm>
            <a:off x="6309360" y="2514600"/>
            <a:ext cx="2651760" cy="1645920"/>
          </a:xfrm>
          <a:prstGeom prst="flowChartDecision">
            <a:avLst/>
          </a:prstGeom>
          <a:solidFill>
            <a:srgbClr val="FFF7ED"/>
          </a:solidFill>
          <a:ln w="22225">
            <a:solidFill>
              <a:srgbClr val="F97316"/>
            </a:solidFill>
            <a:prstDash val="solid"/>
          </a:ln>
        </p:spPr>
      </p:sp>
      <p:sp>
        <p:nvSpPr>
          <p:cNvPr id="18" name="Text 15"/>
          <p:cNvSpPr txBox="1"/>
          <p:nvPr/>
        </p:nvSpPr>
        <p:spPr>
          <a:xfrm>
            <a:off x="6839712" y="2514600"/>
            <a:ext cx="1591056" cy="164592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Amount more than balance?</a:t>
            </a:r>
            <a:endParaRPr lang="en-US" sz="1400" dirty="0"/>
          </a:p>
        </p:txBody>
      </p:sp>
      <p:sp>
        <p:nvSpPr>
          <p:cNvPr id="19" name="Shape 16"/>
          <p:cNvSpPr/>
          <p:nvPr/>
        </p:nvSpPr>
        <p:spPr>
          <a:xfrm>
            <a:off x="7635240" y="4187952"/>
            <a:ext cx="0" cy="338328"/>
          </a:xfrm>
          <a:prstGeom prst="line">
            <a:avLst/>
          </a:prstGeom>
          <a:noFill/>
          <a:ln w="31750">
            <a:solidFill>
              <a:srgbClr val="F97316"/>
            </a:solidFill>
            <a:prstDash val="solid"/>
            <a:tailEnd type="triangle"/>
          </a:ln>
        </p:spPr>
      </p:sp>
      <p:sp>
        <p:nvSpPr>
          <p:cNvPr id="20" name="Text 17"/>
          <p:cNvSpPr txBox="1"/>
          <p:nvPr/>
        </p:nvSpPr>
        <p:spPr>
          <a:xfrm>
            <a:off x="7680960" y="4160520"/>
            <a:ext cx="548640" cy="274320"/>
          </a:xfrm>
          <a:prstGeom prst="rect">
            <a:avLst/>
          </a:prstGeom>
          <a:noFill/>
          <a:ln/>
        </p:spPr>
        <p:txBody>
          <a:bodyPr wrap="square" rtlCol="0" anchor="ctr"/>
          <a:lstStyle/>
          <a:p>
            <a:pPr algn="ctr" indent="0" marL="0">
              <a:buNone/>
            </a:pPr>
            <a:r>
              <a:rPr lang="en-US" sz="1200" b="1" dirty="0">
                <a:solidFill>
                  <a:srgbClr val="F97316"/>
                </a:solidFill>
                <a:latin typeface="Calibri" pitchFamily="34" charset="0"/>
                <a:ea typeface="Calibri" pitchFamily="34" charset="-122"/>
                <a:cs typeface="Calibri" pitchFamily="34" charset="-120"/>
              </a:rPr>
              <a:t>Yes</a:t>
            </a:r>
            <a:endParaRPr lang="en-US" sz="1200" dirty="0"/>
          </a:p>
        </p:txBody>
      </p:sp>
      <p:sp>
        <p:nvSpPr>
          <p:cNvPr id="21" name="Shape 18"/>
          <p:cNvSpPr/>
          <p:nvPr/>
        </p:nvSpPr>
        <p:spPr>
          <a:xfrm>
            <a:off x="6309360" y="4553712"/>
            <a:ext cx="2651760" cy="731520"/>
          </a:xfrm>
          <a:prstGeom prst="flowChartProcess">
            <a:avLst/>
          </a:prstGeom>
          <a:solidFill>
            <a:srgbClr val="FFF7ED"/>
          </a:solidFill>
          <a:ln w="22225">
            <a:solidFill>
              <a:srgbClr val="F97316"/>
            </a:solidFill>
            <a:prstDash val="solid"/>
          </a:ln>
        </p:spPr>
      </p:sp>
      <p:sp>
        <p:nvSpPr>
          <p:cNvPr id="22" name="Text 19"/>
          <p:cNvSpPr txBox="1"/>
          <p:nvPr/>
        </p:nvSpPr>
        <p:spPr>
          <a:xfrm>
            <a:off x="6382512" y="4553712"/>
            <a:ext cx="2505456" cy="731520"/>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Insufficient balance</a:t>
            </a:r>
            <a:endParaRPr lang="en-US" sz="1350" dirty="0"/>
          </a:p>
        </p:txBody>
      </p:sp>
      <p:sp>
        <p:nvSpPr>
          <p:cNvPr id="23" name="Shape 20"/>
          <p:cNvSpPr/>
          <p:nvPr/>
        </p:nvSpPr>
        <p:spPr>
          <a:xfrm>
            <a:off x="8988552" y="3337560"/>
            <a:ext cx="310896" cy="0"/>
          </a:xfrm>
          <a:prstGeom prst="line">
            <a:avLst/>
          </a:prstGeom>
          <a:noFill/>
          <a:ln w="31750">
            <a:solidFill>
              <a:srgbClr val="10B981"/>
            </a:solidFill>
            <a:prstDash val="solid"/>
            <a:tailEnd type="triangle"/>
          </a:ln>
        </p:spPr>
      </p:sp>
      <p:sp>
        <p:nvSpPr>
          <p:cNvPr id="24" name="Text 21"/>
          <p:cNvSpPr txBox="1"/>
          <p:nvPr/>
        </p:nvSpPr>
        <p:spPr>
          <a:xfrm>
            <a:off x="8915400" y="3017520"/>
            <a:ext cx="548640" cy="274320"/>
          </a:xfrm>
          <a:prstGeom prst="rect">
            <a:avLst/>
          </a:prstGeom>
          <a:noFill/>
          <a:ln/>
        </p:spPr>
        <p:txBody>
          <a:bodyPr wrap="square"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No</a:t>
            </a:r>
            <a:endParaRPr lang="en-US" sz="1200" dirty="0"/>
          </a:p>
        </p:txBody>
      </p:sp>
      <p:sp>
        <p:nvSpPr>
          <p:cNvPr id="25" name="Shape 22"/>
          <p:cNvSpPr/>
          <p:nvPr/>
        </p:nvSpPr>
        <p:spPr>
          <a:xfrm>
            <a:off x="9326880" y="2971800"/>
            <a:ext cx="2103120" cy="731520"/>
          </a:xfrm>
          <a:prstGeom prst="flowChartProcess">
            <a:avLst/>
          </a:prstGeom>
          <a:solidFill>
            <a:srgbClr val="F0FDF4"/>
          </a:solidFill>
          <a:ln w="22225">
            <a:solidFill>
              <a:srgbClr val="10B981"/>
            </a:solidFill>
            <a:prstDash val="solid"/>
          </a:ln>
        </p:spPr>
      </p:sp>
      <p:sp>
        <p:nvSpPr>
          <p:cNvPr id="26" name="Text 23"/>
          <p:cNvSpPr txBox="1"/>
          <p:nvPr/>
        </p:nvSpPr>
        <p:spPr>
          <a:xfrm>
            <a:off x="9400032" y="2971800"/>
            <a:ext cx="1956816" cy="731520"/>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Deduct and confirm</a:t>
            </a:r>
            <a:endParaRPr lang="en-US" sz="1350" dirty="0"/>
          </a:p>
        </p:txBody>
      </p:sp>
      <p:sp>
        <p:nvSpPr>
          <p:cNvPr id="27" name="Shape 24"/>
          <p:cNvSpPr/>
          <p:nvPr/>
        </p:nvSpPr>
        <p:spPr>
          <a:xfrm>
            <a:off x="731520" y="5559552"/>
            <a:ext cx="10698480" cy="0"/>
          </a:xfrm>
          <a:prstGeom prst="line">
            <a:avLst/>
          </a:prstGeom>
          <a:noFill/>
          <a:ln w="12700">
            <a:solidFill>
              <a:srgbClr val="E2E8F0"/>
            </a:solidFill>
            <a:prstDash val="solid"/>
          </a:ln>
        </p:spPr>
      </p:sp>
      <p:sp>
        <p:nvSpPr>
          <p:cNvPr id="28" name="Shape 25"/>
          <p:cNvSpPr/>
          <p:nvPr/>
        </p:nvSpPr>
        <p:spPr>
          <a:xfrm>
            <a:off x="777240" y="5650992"/>
            <a:ext cx="475488" cy="475488"/>
          </a:xfrm>
          <a:prstGeom prst="ellipse">
            <a:avLst/>
          </a:prstGeom>
          <a:solidFill>
            <a:srgbClr val="FCE7F3"/>
          </a:solidFill>
          <a:ln w="19050">
            <a:solidFill>
              <a:srgbClr val="EC4899"/>
            </a:solidFill>
            <a:prstDash val="solid"/>
          </a:ln>
        </p:spPr>
      </p:sp>
      <p:pic>
        <p:nvPicPr>
          <p:cNvPr id="29"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30" name="Shape 26"/>
          <p:cNvSpPr/>
          <p:nvPr/>
        </p:nvSpPr>
        <p:spPr>
          <a:xfrm rot="2700000">
            <a:off x="1508760" y="5797296"/>
            <a:ext cx="182880" cy="182880"/>
          </a:xfrm>
          <a:prstGeom prst="rect">
            <a:avLst/>
          </a:prstGeom>
          <a:solidFill>
            <a:srgbClr val="FDF2F8"/>
          </a:solidFill>
          <a:ln w="15875">
            <a:solidFill>
              <a:srgbClr val="EC4899"/>
            </a:solidFill>
            <a:prstDash val="solid"/>
          </a:ln>
        </p:spPr>
      </p:sp>
      <p:sp>
        <p:nvSpPr>
          <p:cNvPr id="31" name="Shape 27"/>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2" name="Text 28"/>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Bad requests are stopped inside the method. The balance never goes wrong.</a:t>
            </a:r>
            <a:endParaRPr lang="en-US" sz="1400" dirty="0"/>
          </a:p>
        </p:txBody>
      </p:sp>
      <p:sp>
        <p:nvSpPr>
          <p:cNvPr id="33" name="Text 2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34" name="Text 3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3</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Public, Protected and Private</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A company has a reception area that anyone can enter, a staff floor meant for employees, and a vault that only a few can open. Different areas, different levels of access.</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Python uses naming for access. balance is public. _balance is protected, a signal to keep it inside the class and its children. __balance is private and hidden from outside code.</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Designing classes so that open parts are safe to use and sensitive parts are kept away from outside code.</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ACCESS LEVELS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Three Levels of Access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3413760" cy="3108960"/>
          </a:xfrm>
          <a:prstGeom prst="roundRect">
            <a:avLst>
              <a:gd name="adj" fmla="val 2941"/>
            </a:avLst>
          </a:prstGeom>
          <a:solidFill>
            <a:srgbClr val="F0FDFA"/>
          </a:solidFill>
          <a:ln w="19050">
            <a:solidFill>
              <a:srgbClr val="14B8A6"/>
            </a:solidFill>
            <a:prstDash val="solid"/>
          </a:ln>
        </p:spPr>
      </p:sp>
      <p:pic>
        <p:nvPicPr>
          <p:cNvPr id="7" name="Image 1" descr="assets/icon2_eye_teal.png">    </p:cNvPr>
          <p:cNvPicPr>
            <a:picLocks noChangeAspect="1"/>
          </p:cNvPicPr>
          <p:nvPr/>
        </p:nvPicPr>
        <p:blipFill>
          <a:blip r:embed="rId2"/>
          <a:stretch>
            <a:fillRect/>
          </a:stretch>
        </p:blipFill>
        <p:spPr>
          <a:xfrm>
            <a:off x="2186940" y="2505456"/>
            <a:ext cx="502920" cy="502920"/>
          </a:xfrm>
          <a:prstGeom prst="rect">
            <a:avLst/>
          </a:prstGeom>
        </p:spPr>
      </p:pic>
      <p:sp>
        <p:nvSpPr>
          <p:cNvPr id="8" name="Text 4"/>
          <p:cNvSpPr txBox="1"/>
          <p:nvPr/>
        </p:nvSpPr>
        <p:spPr>
          <a:xfrm>
            <a:off x="80467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Public</a:t>
            </a:r>
            <a:endParaRPr lang="en-US" sz="1900" dirty="0"/>
          </a:p>
        </p:txBody>
      </p:sp>
      <p:sp>
        <p:nvSpPr>
          <p:cNvPr id="9" name="Text 5"/>
          <p:cNvSpPr txBox="1"/>
          <p:nvPr/>
        </p:nvSpPr>
        <p:spPr>
          <a:xfrm>
            <a:off x="822960" y="3438144"/>
            <a:ext cx="3230880" cy="1993392"/>
          </a:xfrm>
          <a:prstGeom prst="rect">
            <a:avLst/>
          </a:prstGeom>
          <a:noFill/>
          <a:ln/>
        </p:spPr>
        <p:txBody>
          <a:bodyPr wrap="square" rtlCol="0" anchor="t"/>
          <a:lstStyle/>
          <a:p>
            <a:pPr algn="ctr" indent="0" marL="0">
              <a:buNone/>
            </a:pPr>
            <a:r>
              <a:rPr lang="en-US" sz="1450" dirty="0">
                <a:solidFill>
                  <a:srgbClr val="64748B"/>
                </a:solidFill>
                <a:latin typeface="Calibri" pitchFamily="34" charset="0"/>
                <a:ea typeface="Calibri" pitchFamily="34" charset="-122"/>
                <a:cs typeface="Calibri" pitchFamily="34" charset="-120"/>
              </a:rPr>
              <a:t>Anyone can read and change it.</a:t>
            </a:r>
            <a:endParaRPr lang="en-US" sz="1450" dirty="0"/>
          </a:p>
        </p:txBody>
      </p:sp>
      <p:sp>
        <p:nvSpPr>
          <p:cNvPr id="10" name="Shape 6"/>
          <p:cNvSpPr/>
          <p:nvPr/>
        </p:nvSpPr>
        <p:spPr>
          <a:xfrm>
            <a:off x="960120" y="5001768"/>
            <a:ext cx="2956560" cy="384048"/>
          </a:xfrm>
          <a:prstGeom prst="roundRect">
            <a:avLst>
              <a:gd name="adj" fmla="val 19048"/>
            </a:avLst>
          </a:prstGeom>
          <a:solidFill>
            <a:srgbClr val="CCFBF1"/>
          </a:solidFill>
          <a:ln w="25400">
            <a:solidFill>
              <a:srgbClr val="14B8A6"/>
            </a:solidFill>
            <a:prstDash val="solid"/>
          </a:ln>
        </p:spPr>
      </p:sp>
      <p:sp>
        <p:nvSpPr>
          <p:cNvPr id="11" name="Text 7"/>
          <p:cNvSpPr txBox="1"/>
          <p:nvPr/>
        </p:nvSpPr>
        <p:spPr>
          <a:xfrm>
            <a:off x="960120" y="5001768"/>
            <a:ext cx="2956560" cy="384048"/>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self.balance</a:t>
            </a:r>
            <a:endParaRPr lang="en-US" sz="1300" dirty="0"/>
          </a:p>
        </p:txBody>
      </p:sp>
      <p:sp>
        <p:nvSpPr>
          <p:cNvPr id="12" name="Shape 8"/>
          <p:cNvSpPr/>
          <p:nvPr/>
        </p:nvSpPr>
        <p:spPr>
          <a:xfrm>
            <a:off x="4373880" y="2395728"/>
            <a:ext cx="3413760" cy="3108960"/>
          </a:xfrm>
          <a:prstGeom prst="roundRect">
            <a:avLst>
              <a:gd name="adj" fmla="val 2941"/>
            </a:avLst>
          </a:prstGeom>
          <a:solidFill>
            <a:srgbClr val="FFF7ED"/>
          </a:solidFill>
          <a:ln w="19050">
            <a:solidFill>
              <a:srgbClr val="F97316"/>
            </a:solidFill>
            <a:prstDash val="solid"/>
          </a:ln>
        </p:spPr>
      </p:sp>
      <p:pic>
        <p:nvPicPr>
          <p:cNvPr id="13" name="Image 2" descr="assets/icon2_key_orange.png">    </p:cNvPr>
          <p:cNvPicPr>
            <a:picLocks noChangeAspect="1"/>
          </p:cNvPicPr>
          <p:nvPr/>
        </p:nvPicPr>
        <p:blipFill>
          <a:blip r:embed="rId3"/>
          <a:stretch>
            <a:fillRect/>
          </a:stretch>
        </p:blipFill>
        <p:spPr>
          <a:xfrm>
            <a:off x="5829300" y="2505456"/>
            <a:ext cx="502920" cy="502920"/>
          </a:xfrm>
          <a:prstGeom prst="rect">
            <a:avLst/>
          </a:prstGeom>
        </p:spPr>
      </p:pic>
      <p:sp>
        <p:nvSpPr>
          <p:cNvPr id="14" name="Text 9"/>
          <p:cNvSpPr txBox="1"/>
          <p:nvPr/>
        </p:nvSpPr>
        <p:spPr>
          <a:xfrm>
            <a:off x="444703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Protected</a:t>
            </a:r>
            <a:endParaRPr lang="en-US" sz="1900" dirty="0"/>
          </a:p>
        </p:txBody>
      </p:sp>
      <p:sp>
        <p:nvSpPr>
          <p:cNvPr id="15" name="Text 10"/>
          <p:cNvSpPr txBox="1"/>
          <p:nvPr/>
        </p:nvSpPr>
        <p:spPr>
          <a:xfrm>
            <a:off x="4465320" y="3438144"/>
            <a:ext cx="3230880" cy="1993392"/>
          </a:xfrm>
          <a:prstGeom prst="rect">
            <a:avLst/>
          </a:prstGeom>
          <a:noFill/>
          <a:ln/>
        </p:spPr>
        <p:txBody>
          <a:bodyPr wrap="square" rtlCol="0" anchor="t"/>
          <a:lstStyle/>
          <a:p>
            <a:pPr algn="ctr" indent="0" marL="0">
              <a:buNone/>
            </a:pPr>
            <a:r>
              <a:rPr lang="en-US" sz="1450" dirty="0">
                <a:solidFill>
                  <a:srgbClr val="64748B"/>
                </a:solidFill>
                <a:latin typeface="Calibri" pitchFamily="34" charset="0"/>
                <a:ea typeface="Calibri" pitchFamily="34" charset="-122"/>
                <a:cs typeface="Calibri" pitchFamily="34" charset="-120"/>
              </a:rPr>
              <a:t>A signal to use it only inside the class and its children. Python does not block it.</a:t>
            </a:r>
            <a:endParaRPr lang="en-US" sz="1450" dirty="0"/>
          </a:p>
        </p:txBody>
      </p:sp>
      <p:sp>
        <p:nvSpPr>
          <p:cNvPr id="16" name="Shape 11"/>
          <p:cNvSpPr/>
          <p:nvPr/>
        </p:nvSpPr>
        <p:spPr>
          <a:xfrm>
            <a:off x="4602480" y="5001768"/>
            <a:ext cx="2956560" cy="384048"/>
          </a:xfrm>
          <a:prstGeom prst="roundRect">
            <a:avLst>
              <a:gd name="adj" fmla="val 19048"/>
            </a:avLst>
          </a:prstGeom>
          <a:solidFill>
            <a:srgbClr val="FFEDD5"/>
          </a:solidFill>
          <a:ln w="25400">
            <a:solidFill>
              <a:srgbClr val="F97316"/>
            </a:solidFill>
            <a:prstDash val="solid"/>
          </a:ln>
        </p:spPr>
      </p:sp>
      <p:sp>
        <p:nvSpPr>
          <p:cNvPr id="17" name="Text 12"/>
          <p:cNvSpPr txBox="1"/>
          <p:nvPr/>
        </p:nvSpPr>
        <p:spPr>
          <a:xfrm>
            <a:off x="4602480" y="5001768"/>
            <a:ext cx="2956560" cy="384048"/>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self._balance</a:t>
            </a:r>
            <a:endParaRPr lang="en-US" sz="1300" dirty="0"/>
          </a:p>
        </p:txBody>
      </p:sp>
      <p:sp>
        <p:nvSpPr>
          <p:cNvPr id="18" name="Shape 13"/>
          <p:cNvSpPr/>
          <p:nvPr/>
        </p:nvSpPr>
        <p:spPr>
          <a:xfrm>
            <a:off x="8016240" y="2395728"/>
            <a:ext cx="3413760" cy="3108960"/>
          </a:xfrm>
          <a:prstGeom prst="roundRect">
            <a:avLst>
              <a:gd name="adj" fmla="val 2941"/>
            </a:avLst>
          </a:prstGeom>
          <a:solidFill>
            <a:srgbClr val="F5F3FF"/>
          </a:solidFill>
          <a:ln w="19050">
            <a:solidFill>
              <a:srgbClr val="8B5CF6"/>
            </a:solidFill>
            <a:prstDash val="solid"/>
          </a:ln>
        </p:spPr>
      </p:sp>
      <p:pic>
        <p:nvPicPr>
          <p:cNvPr id="19" name="Image 3" descr="assets/icon2_lock_navy.png">    </p:cNvPr>
          <p:cNvPicPr>
            <a:picLocks noChangeAspect="1"/>
          </p:cNvPicPr>
          <p:nvPr/>
        </p:nvPicPr>
        <p:blipFill>
          <a:blip r:embed="rId4"/>
          <a:stretch>
            <a:fillRect/>
          </a:stretch>
        </p:blipFill>
        <p:spPr>
          <a:xfrm>
            <a:off x="9471660" y="2505456"/>
            <a:ext cx="502920" cy="502920"/>
          </a:xfrm>
          <a:prstGeom prst="rect">
            <a:avLst/>
          </a:prstGeom>
        </p:spPr>
      </p:pic>
      <p:sp>
        <p:nvSpPr>
          <p:cNvPr id="20" name="Text 14"/>
          <p:cNvSpPr txBox="1"/>
          <p:nvPr/>
        </p:nvSpPr>
        <p:spPr>
          <a:xfrm>
            <a:off x="8089392" y="3072384"/>
            <a:ext cx="3267456" cy="365760"/>
          </a:xfrm>
          <a:prstGeom prst="rect">
            <a:avLst/>
          </a:prstGeom>
          <a:noFill/>
          <a:ln/>
        </p:spPr>
        <p:txBody>
          <a:bodyPr wrap="square" rtlCol="0" anchor="t"/>
          <a:lstStyle/>
          <a:p>
            <a:pPr algn="ctr" indent="0" marL="0">
              <a:buNone/>
            </a:pPr>
            <a:r>
              <a:rPr lang="en-US" sz="1900" b="1" dirty="0">
                <a:solidFill>
                  <a:srgbClr val="1E293B"/>
                </a:solidFill>
                <a:latin typeface="Calibri" pitchFamily="34" charset="0"/>
                <a:ea typeface="Calibri" pitchFamily="34" charset="-122"/>
                <a:cs typeface="Calibri" pitchFamily="34" charset="-120"/>
              </a:rPr>
              <a:t>Private</a:t>
            </a:r>
            <a:endParaRPr lang="en-US" sz="1900" dirty="0"/>
          </a:p>
        </p:txBody>
      </p:sp>
      <p:sp>
        <p:nvSpPr>
          <p:cNvPr id="21" name="Text 15"/>
          <p:cNvSpPr txBox="1"/>
          <p:nvPr/>
        </p:nvSpPr>
        <p:spPr>
          <a:xfrm>
            <a:off x="8107680" y="3438144"/>
            <a:ext cx="3230880" cy="1993392"/>
          </a:xfrm>
          <a:prstGeom prst="rect">
            <a:avLst/>
          </a:prstGeom>
          <a:noFill/>
          <a:ln/>
        </p:spPr>
        <p:txBody>
          <a:bodyPr wrap="square" rtlCol="0" anchor="t"/>
          <a:lstStyle/>
          <a:p>
            <a:pPr algn="ctr" indent="0" marL="0">
              <a:buNone/>
            </a:pPr>
            <a:r>
              <a:rPr lang="en-US" sz="1450" dirty="0">
                <a:solidFill>
                  <a:srgbClr val="64748B"/>
                </a:solidFill>
                <a:latin typeface="Calibri" pitchFamily="34" charset="0"/>
                <a:ea typeface="Calibri" pitchFamily="34" charset="-122"/>
                <a:cs typeface="Calibri" pitchFamily="34" charset="-120"/>
              </a:rPr>
              <a:t>Hidden from outside code. Direct access fails with an error.</a:t>
            </a:r>
            <a:endParaRPr lang="en-US" sz="1450" dirty="0"/>
          </a:p>
        </p:txBody>
      </p:sp>
      <p:sp>
        <p:nvSpPr>
          <p:cNvPr id="22" name="Shape 16"/>
          <p:cNvSpPr/>
          <p:nvPr/>
        </p:nvSpPr>
        <p:spPr>
          <a:xfrm>
            <a:off x="8244840" y="5001768"/>
            <a:ext cx="2956560" cy="384048"/>
          </a:xfrm>
          <a:prstGeom prst="roundRect">
            <a:avLst>
              <a:gd name="adj" fmla="val 19048"/>
            </a:avLst>
          </a:prstGeom>
          <a:solidFill>
            <a:srgbClr val="F5F3FF"/>
          </a:solidFill>
          <a:ln w="19050">
            <a:solidFill>
              <a:srgbClr val="8B5CF6"/>
            </a:solidFill>
            <a:prstDash val="solid"/>
          </a:ln>
        </p:spPr>
      </p:sp>
      <p:sp>
        <p:nvSpPr>
          <p:cNvPr id="23" name="Text 17"/>
          <p:cNvSpPr txBox="1"/>
          <p:nvPr/>
        </p:nvSpPr>
        <p:spPr>
          <a:xfrm>
            <a:off x="8244840" y="5001768"/>
            <a:ext cx="2956560" cy="384048"/>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self.__balance</a:t>
            </a:r>
            <a:endParaRPr lang="en-US" sz="1300" dirty="0"/>
          </a:p>
        </p:txBody>
      </p:sp>
      <p:sp>
        <p:nvSpPr>
          <p:cNvPr id="24" name="Shape 18"/>
          <p:cNvSpPr/>
          <p:nvPr/>
        </p:nvSpPr>
        <p:spPr>
          <a:xfrm>
            <a:off x="731520" y="5559552"/>
            <a:ext cx="10698480" cy="0"/>
          </a:xfrm>
          <a:prstGeom prst="line">
            <a:avLst/>
          </a:prstGeom>
          <a:noFill/>
          <a:ln w="12700">
            <a:solidFill>
              <a:srgbClr val="E2E8F0"/>
            </a:solidFill>
            <a:prstDash val="solid"/>
          </a:ln>
        </p:spPr>
      </p:sp>
      <p:sp>
        <p:nvSpPr>
          <p:cNvPr id="25" name="Shape 19"/>
          <p:cNvSpPr/>
          <p:nvPr/>
        </p:nvSpPr>
        <p:spPr>
          <a:xfrm>
            <a:off x="777240" y="5650992"/>
            <a:ext cx="475488" cy="475488"/>
          </a:xfrm>
          <a:prstGeom prst="ellipse">
            <a:avLst/>
          </a:prstGeom>
          <a:solidFill>
            <a:srgbClr val="FCE7F3"/>
          </a:solidFill>
          <a:ln w="19050">
            <a:solidFill>
              <a:srgbClr val="EC4899"/>
            </a:solidFill>
            <a:prstDash val="solid"/>
          </a:ln>
        </p:spPr>
      </p:sp>
      <p:pic>
        <p:nvPicPr>
          <p:cNvPr id="26" name="Image 4" descr="assets/icon2_user_pink.png">    </p:cNvPr>
          <p:cNvPicPr>
            <a:picLocks noChangeAspect="1"/>
          </p:cNvPicPr>
          <p:nvPr/>
        </p:nvPicPr>
        <p:blipFill>
          <a:blip r:embed="rId5"/>
          <a:stretch>
            <a:fillRect/>
          </a:stretch>
        </p:blipFill>
        <p:spPr>
          <a:xfrm>
            <a:off x="872338" y="5746090"/>
            <a:ext cx="285293" cy="285293"/>
          </a:xfrm>
          <a:prstGeom prst="rect">
            <a:avLst/>
          </a:prstGeom>
        </p:spPr>
      </p:pic>
      <p:sp>
        <p:nvSpPr>
          <p:cNvPr id="27" name="Shape 20"/>
          <p:cNvSpPr/>
          <p:nvPr/>
        </p:nvSpPr>
        <p:spPr>
          <a:xfrm rot="2700000">
            <a:off x="1508760" y="5797296"/>
            <a:ext cx="182880" cy="182880"/>
          </a:xfrm>
          <a:prstGeom prst="rect">
            <a:avLst/>
          </a:prstGeom>
          <a:solidFill>
            <a:srgbClr val="FDF2F8"/>
          </a:solidFill>
          <a:ln w="15875">
            <a:solidFill>
              <a:srgbClr val="EC4899"/>
            </a:solidFill>
            <a:prstDash val="solid"/>
          </a:ln>
        </p:spPr>
      </p:sp>
      <p:sp>
        <p:nvSpPr>
          <p:cNvPr id="28" name="Shape 21"/>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9" name="Text 22"/>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One underscore is a request. Two underscores are a lock.</a:t>
            </a:r>
            <a:endParaRPr lang="en-US" sz="1400" dirty="0"/>
          </a:p>
        </p:txBody>
      </p:sp>
      <p:sp>
        <p:nvSpPr>
          <p:cNvPr id="30" name="Text 23"/>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31" name="Text 24"/>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4</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Controlled Access With @property</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A hotel reception lets you ask for your bill and also ask to change your room. The desk reads the bill out as it is, but checks the rules before it changes anything.</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@property lets you read a private value using a simple name. A setter lets you change it, and it can check the new value first before saving it.</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Salary, age, price and quantity fields where reading should be easy but changing must follow rules.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PROPERTY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Read Freely, Change Carefully</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468880"/>
            <a:ext cx="3200400" cy="1783080"/>
          </a:xfrm>
          <a:prstGeom prst="roundRect">
            <a:avLst>
              <a:gd name="adj" fmla="val 5128"/>
            </a:avLst>
          </a:prstGeom>
          <a:solidFill>
            <a:srgbClr val="F0FDFA"/>
          </a:solidFill>
          <a:ln w="19050">
            <a:solidFill>
              <a:srgbClr val="14B8A6"/>
            </a:solidFill>
            <a:prstDash val="solid"/>
          </a:ln>
        </p:spPr>
      </p:sp>
      <p:pic>
        <p:nvPicPr>
          <p:cNvPr id="7" name="Image 1" descr="assets/icon2_eye_teal.png">    </p:cNvPr>
          <p:cNvPicPr>
            <a:picLocks noChangeAspect="1"/>
          </p:cNvPicPr>
          <p:nvPr/>
        </p:nvPicPr>
        <p:blipFill>
          <a:blip r:embed="rId2"/>
          <a:stretch>
            <a:fillRect/>
          </a:stretch>
        </p:blipFill>
        <p:spPr>
          <a:xfrm>
            <a:off x="2080260" y="2578608"/>
            <a:ext cx="502920" cy="502920"/>
          </a:xfrm>
          <a:prstGeom prst="rect">
            <a:avLst/>
          </a:prstGeom>
        </p:spPr>
      </p:pic>
      <p:sp>
        <p:nvSpPr>
          <p:cNvPr id="8" name="Text 4"/>
          <p:cNvSpPr txBox="1"/>
          <p:nvPr/>
        </p:nvSpPr>
        <p:spPr>
          <a:xfrm>
            <a:off x="804672" y="3145536"/>
            <a:ext cx="305409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Read salary</a:t>
            </a:r>
            <a:endParaRPr lang="en-US" sz="1600" dirty="0"/>
          </a:p>
        </p:txBody>
      </p:sp>
      <p:sp>
        <p:nvSpPr>
          <p:cNvPr id="9" name="Text 5"/>
          <p:cNvSpPr txBox="1"/>
          <p:nvPr/>
        </p:nvSpPr>
        <p:spPr>
          <a:xfrm>
            <a:off x="822960" y="3511296"/>
            <a:ext cx="301752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shows 30000</a:t>
            </a:r>
            <a:endParaRPr lang="en-US" sz="1300" dirty="0"/>
          </a:p>
        </p:txBody>
      </p:sp>
      <p:sp>
        <p:nvSpPr>
          <p:cNvPr id="10" name="Shape 6"/>
          <p:cNvSpPr/>
          <p:nvPr/>
        </p:nvSpPr>
        <p:spPr>
          <a:xfrm>
            <a:off x="3986784" y="3360420"/>
            <a:ext cx="438912" cy="0"/>
          </a:xfrm>
          <a:prstGeom prst="line">
            <a:avLst/>
          </a:prstGeom>
          <a:noFill/>
          <a:ln w="31750">
            <a:solidFill>
              <a:srgbClr val="8B5CF6"/>
            </a:solidFill>
            <a:prstDash val="solid"/>
            <a:tailEnd type="triangle"/>
          </a:ln>
        </p:spPr>
      </p:sp>
      <p:sp>
        <p:nvSpPr>
          <p:cNvPr id="11" name="Shape 7"/>
          <p:cNvSpPr/>
          <p:nvPr/>
        </p:nvSpPr>
        <p:spPr>
          <a:xfrm>
            <a:off x="4480560" y="2468880"/>
            <a:ext cx="3200400" cy="1783080"/>
          </a:xfrm>
          <a:prstGeom prst="roundRect">
            <a:avLst>
              <a:gd name="adj" fmla="val 5128"/>
            </a:avLst>
          </a:prstGeom>
          <a:solidFill>
            <a:srgbClr val="F0FDF4"/>
          </a:solidFill>
          <a:ln w="19050">
            <a:solidFill>
              <a:srgbClr val="10B981"/>
            </a:solidFill>
            <a:prstDash val="solid"/>
          </a:ln>
        </p:spPr>
      </p:sp>
      <p:pic>
        <p:nvPicPr>
          <p:cNvPr id="12" name="Image 2" descr="assets/icon2_circlecheck_green.png">    </p:cNvPr>
          <p:cNvPicPr>
            <a:picLocks noChangeAspect="1"/>
          </p:cNvPicPr>
          <p:nvPr/>
        </p:nvPicPr>
        <p:blipFill>
          <a:blip r:embed="rId3"/>
          <a:stretch>
            <a:fillRect/>
          </a:stretch>
        </p:blipFill>
        <p:spPr>
          <a:xfrm>
            <a:off x="5829300" y="2578608"/>
            <a:ext cx="502920" cy="502920"/>
          </a:xfrm>
          <a:prstGeom prst="rect">
            <a:avLst/>
          </a:prstGeom>
        </p:spPr>
      </p:pic>
      <p:sp>
        <p:nvSpPr>
          <p:cNvPr id="13" name="Text 8"/>
          <p:cNvSpPr txBox="1"/>
          <p:nvPr/>
        </p:nvSpPr>
        <p:spPr>
          <a:xfrm>
            <a:off x="4553712" y="3145536"/>
            <a:ext cx="305409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Set 40000</a:t>
            </a:r>
            <a:endParaRPr lang="en-US" sz="1600" dirty="0"/>
          </a:p>
        </p:txBody>
      </p:sp>
      <p:sp>
        <p:nvSpPr>
          <p:cNvPr id="14" name="Text 9"/>
          <p:cNvSpPr txBox="1"/>
          <p:nvPr/>
        </p:nvSpPr>
        <p:spPr>
          <a:xfrm>
            <a:off x="4572000" y="3511296"/>
            <a:ext cx="301752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accepted, salary is now 40000</a:t>
            </a:r>
            <a:endParaRPr lang="en-US" sz="1300" dirty="0"/>
          </a:p>
        </p:txBody>
      </p:sp>
      <p:sp>
        <p:nvSpPr>
          <p:cNvPr id="15" name="Shape 10"/>
          <p:cNvSpPr/>
          <p:nvPr/>
        </p:nvSpPr>
        <p:spPr>
          <a:xfrm>
            <a:off x="7735824" y="3360420"/>
            <a:ext cx="438912" cy="0"/>
          </a:xfrm>
          <a:prstGeom prst="line">
            <a:avLst/>
          </a:prstGeom>
          <a:noFill/>
          <a:ln w="31750">
            <a:solidFill>
              <a:srgbClr val="8B5CF6"/>
            </a:solidFill>
            <a:prstDash val="solid"/>
            <a:tailEnd type="triangle"/>
          </a:ln>
        </p:spPr>
      </p:sp>
      <p:sp>
        <p:nvSpPr>
          <p:cNvPr id="16" name="Shape 11"/>
          <p:cNvSpPr/>
          <p:nvPr/>
        </p:nvSpPr>
        <p:spPr>
          <a:xfrm>
            <a:off x="8229600" y="2468880"/>
            <a:ext cx="3200400" cy="1783080"/>
          </a:xfrm>
          <a:prstGeom prst="roundRect">
            <a:avLst>
              <a:gd name="adj" fmla="val 5128"/>
            </a:avLst>
          </a:prstGeom>
          <a:solidFill>
            <a:srgbClr val="FFF7ED"/>
          </a:solidFill>
          <a:ln w="19050">
            <a:solidFill>
              <a:srgbClr val="F97316"/>
            </a:solidFill>
            <a:prstDash val="solid"/>
          </a:ln>
        </p:spPr>
      </p:sp>
      <p:pic>
        <p:nvPicPr>
          <p:cNvPr id="17" name="Image 3" descr="assets/icon2_circlex_orange.png">    </p:cNvPr>
          <p:cNvPicPr>
            <a:picLocks noChangeAspect="1"/>
          </p:cNvPicPr>
          <p:nvPr/>
        </p:nvPicPr>
        <p:blipFill>
          <a:blip r:embed="rId4"/>
          <a:stretch>
            <a:fillRect/>
          </a:stretch>
        </p:blipFill>
        <p:spPr>
          <a:xfrm>
            <a:off x="9578340" y="2578608"/>
            <a:ext cx="502920" cy="502920"/>
          </a:xfrm>
          <a:prstGeom prst="rect">
            <a:avLst/>
          </a:prstGeom>
        </p:spPr>
      </p:pic>
      <p:sp>
        <p:nvSpPr>
          <p:cNvPr id="18" name="Text 12"/>
          <p:cNvSpPr txBox="1"/>
          <p:nvPr/>
        </p:nvSpPr>
        <p:spPr>
          <a:xfrm>
            <a:off x="8302752" y="3145536"/>
            <a:ext cx="3054096" cy="365760"/>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Set -5000</a:t>
            </a:r>
            <a:endParaRPr lang="en-US" sz="1600" dirty="0"/>
          </a:p>
        </p:txBody>
      </p:sp>
      <p:sp>
        <p:nvSpPr>
          <p:cNvPr id="19" name="Text 13"/>
          <p:cNvSpPr txBox="1"/>
          <p:nvPr/>
        </p:nvSpPr>
        <p:spPr>
          <a:xfrm>
            <a:off x="8321040" y="3511296"/>
            <a:ext cx="3017520" cy="667512"/>
          </a:xfrm>
          <a:prstGeom prst="rect">
            <a:avLst/>
          </a:prstGeom>
          <a:noFill/>
          <a:ln/>
        </p:spPr>
        <p:txBody>
          <a:bodyPr wrap="square" rtlCol="0" anchor="t"/>
          <a:lstStyle/>
          <a:p>
            <a:pPr algn="ctr" indent="0" marL="0">
              <a:buNone/>
            </a:pPr>
            <a:r>
              <a:rPr lang="en-US" sz="1300" dirty="0">
                <a:solidFill>
                  <a:srgbClr val="64748B"/>
                </a:solidFill>
                <a:latin typeface="Calibri" pitchFamily="34" charset="0"/>
                <a:ea typeface="Calibri" pitchFamily="34" charset="-122"/>
                <a:cs typeface="Calibri" pitchFamily="34" charset="-120"/>
              </a:rPr>
              <a:t>rejected with a message, salary stays 40000</a:t>
            </a:r>
            <a:endParaRPr lang="en-US" sz="1300" dirty="0"/>
          </a:p>
        </p:txBody>
      </p:sp>
      <p:sp>
        <p:nvSpPr>
          <p:cNvPr id="20" name="Shape 14"/>
          <p:cNvSpPr/>
          <p:nvPr/>
        </p:nvSpPr>
        <p:spPr>
          <a:xfrm>
            <a:off x="731520" y="4480560"/>
            <a:ext cx="5212080" cy="868680"/>
          </a:xfrm>
          <a:prstGeom prst="roundRect">
            <a:avLst>
              <a:gd name="adj" fmla="val 10526"/>
            </a:avLst>
          </a:prstGeom>
          <a:solidFill>
            <a:srgbClr val="F8FAFC"/>
          </a:solidFill>
          <a:ln w="19050">
            <a:solidFill>
              <a:srgbClr val="CBD5E1"/>
            </a:solidFill>
            <a:prstDash val="solid"/>
          </a:ln>
        </p:spPr>
      </p:sp>
      <p:sp>
        <p:nvSpPr>
          <p:cNvPr id="21" name="Text 15"/>
          <p:cNvSpPr txBox="1"/>
          <p:nvPr/>
        </p:nvSpPr>
        <p:spPr>
          <a:xfrm>
            <a:off x="8046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Getter</a:t>
            </a:r>
            <a:endParaRPr lang="en-US" sz="1550" dirty="0"/>
          </a:p>
        </p:txBody>
      </p:sp>
      <p:sp>
        <p:nvSpPr>
          <p:cNvPr id="22" name="Text 16"/>
          <p:cNvSpPr txBox="1"/>
          <p:nvPr/>
        </p:nvSpPr>
        <p:spPr>
          <a:xfrm>
            <a:off x="822960" y="4919472"/>
            <a:ext cx="5029200" cy="35661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reads the private value like a normal name</a:t>
            </a:r>
            <a:endParaRPr lang="en-US" sz="1350" dirty="0"/>
          </a:p>
        </p:txBody>
      </p:sp>
      <p:sp>
        <p:nvSpPr>
          <p:cNvPr id="23" name="Shape 17"/>
          <p:cNvSpPr/>
          <p:nvPr/>
        </p:nvSpPr>
        <p:spPr>
          <a:xfrm>
            <a:off x="6217920" y="4480560"/>
            <a:ext cx="5212080" cy="868680"/>
          </a:xfrm>
          <a:prstGeom prst="roundRect">
            <a:avLst>
              <a:gd name="adj" fmla="val 10526"/>
            </a:avLst>
          </a:prstGeom>
          <a:solidFill>
            <a:srgbClr val="F8FAFC"/>
          </a:solidFill>
          <a:ln w="19050">
            <a:solidFill>
              <a:srgbClr val="CBD5E1"/>
            </a:solidFill>
            <a:prstDash val="solid"/>
          </a:ln>
        </p:spPr>
      </p:sp>
      <p:sp>
        <p:nvSpPr>
          <p:cNvPr id="24" name="Text 18"/>
          <p:cNvSpPr txBox="1"/>
          <p:nvPr/>
        </p:nvSpPr>
        <p:spPr>
          <a:xfrm>
            <a:off x="6291072" y="4590288"/>
            <a:ext cx="5065776" cy="329184"/>
          </a:xfrm>
          <a:prstGeom prst="rect">
            <a:avLst/>
          </a:prstGeom>
          <a:noFill/>
          <a:ln/>
        </p:spPr>
        <p:txBody>
          <a:bodyPr wrap="square" rtlCol="0" anchor="t"/>
          <a:lstStyle/>
          <a:p>
            <a:pPr algn="ctr" indent="0" marL="0">
              <a:buNone/>
            </a:pPr>
            <a:r>
              <a:rPr lang="en-US" sz="1550" b="1" dirty="0">
                <a:solidFill>
                  <a:srgbClr val="1E293B"/>
                </a:solidFill>
                <a:latin typeface="Calibri" pitchFamily="34" charset="0"/>
                <a:ea typeface="Calibri" pitchFamily="34" charset="-122"/>
                <a:cs typeface="Calibri" pitchFamily="34" charset="-120"/>
              </a:rPr>
              <a:t>Setter</a:t>
            </a:r>
            <a:endParaRPr lang="en-US" sz="1550" dirty="0"/>
          </a:p>
        </p:txBody>
      </p:sp>
      <p:sp>
        <p:nvSpPr>
          <p:cNvPr id="25" name="Text 19"/>
          <p:cNvSpPr txBox="1"/>
          <p:nvPr/>
        </p:nvSpPr>
        <p:spPr>
          <a:xfrm>
            <a:off x="6309360" y="4919472"/>
            <a:ext cx="5029200" cy="356616"/>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checks the new value before saving it</a:t>
            </a:r>
            <a:endParaRPr lang="en-US" sz="1350" dirty="0"/>
          </a:p>
        </p:txBody>
      </p:sp>
      <p:sp>
        <p:nvSpPr>
          <p:cNvPr id="26" name="Shape 20"/>
          <p:cNvSpPr/>
          <p:nvPr/>
        </p:nvSpPr>
        <p:spPr>
          <a:xfrm>
            <a:off x="731520" y="5559552"/>
            <a:ext cx="10698480" cy="0"/>
          </a:xfrm>
          <a:prstGeom prst="line">
            <a:avLst/>
          </a:prstGeom>
          <a:noFill/>
          <a:ln w="12700">
            <a:solidFill>
              <a:srgbClr val="E2E8F0"/>
            </a:solidFill>
            <a:prstDash val="solid"/>
          </a:ln>
        </p:spPr>
      </p:sp>
      <p:sp>
        <p:nvSpPr>
          <p:cNvPr id="27" name="Shape 21"/>
          <p:cNvSpPr/>
          <p:nvPr/>
        </p:nvSpPr>
        <p:spPr>
          <a:xfrm>
            <a:off x="777240" y="5650992"/>
            <a:ext cx="475488" cy="475488"/>
          </a:xfrm>
          <a:prstGeom prst="ellipse">
            <a:avLst/>
          </a:prstGeom>
          <a:solidFill>
            <a:srgbClr val="FCE7F3"/>
          </a:solidFill>
          <a:ln w="19050">
            <a:solidFill>
              <a:srgbClr val="EC4899"/>
            </a:solidFill>
            <a:prstDash val="solid"/>
          </a:ln>
        </p:spPr>
      </p:sp>
      <p:pic>
        <p:nvPicPr>
          <p:cNvPr id="28" name="Image 4" descr="assets/icon2_user_pink.png">    </p:cNvPr>
          <p:cNvPicPr>
            <a:picLocks noChangeAspect="1"/>
          </p:cNvPicPr>
          <p:nvPr/>
        </p:nvPicPr>
        <p:blipFill>
          <a:blip r:embed="rId5"/>
          <a:stretch>
            <a:fillRect/>
          </a:stretch>
        </p:blipFill>
        <p:spPr>
          <a:xfrm>
            <a:off x="872338" y="5746090"/>
            <a:ext cx="285293" cy="285293"/>
          </a:xfrm>
          <a:prstGeom prst="rect">
            <a:avLst/>
          </a:prstGeom>
        </p:spPr>
      </p:pic>
      <p:sp>
        <p:nvSpPr>
          <p:cNvPr id="29" name="Shape 22"/>
          <p:cNvSpPr/>
          <p:nvPr/>
        </p:nvSpPr>
        <p:spPr>
          <a:xfrm rot="2700000">
            <a:off x="1508760" y="5797296"/>
            <a:ext cx="182880" cy="182880"/>
          </a:xfrm>
          <a:prstGeom prst="rect">
            <a:avLst/>
          </a:prstGeom>
          <a:solidFill>
            <a:srgbClr val="FDF2F8"/>
          </a:solidFill>
          <a:ln w="15875">
            <a:solidFill>
              <a:srgbClr val="EC4899"/>
            </a:solidFill>
            <a:prstDash val="solid"/>
          </a:ln>
        </p:spPr>
      </p:sp>
      <p:sp>
        <p:nvSpPr>
          <p:cNvPr id="30" name="Shape 23"/>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1" name="Text 24"/>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From outside it looks like a normal value, but the rule is always checked.</a:t>
            </a:r>
            <a:endParaRPr lang="en-US" sz="1400" dirty="0"/>
          </a:p>
        </p:txBody>
      </p:sp>
      <p:sp>
        <p:nvSpPr>
          <p:cNvPr id="32" name="Text 25"/>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33" name="Text 26"/>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5</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Polymorphism</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The same start button does a different job on a car, a washing machine and a laptop. You press one button and each machine responds in its own way.</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Polymorphism means many forms. The same method name can be used in different classes, and each class does the job in its own way.</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Payment methods, notification types and report formats, where one call must work for many different kinds of objects.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POLYMORPHISM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One Call, Many Behaviours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834640"/>
            <a:ext cx="2560320" cy="1463040"/>
          </a:xfrm>
          <a:prstGeom prst="roundRect">
            <a:avLst>
              <a:gd name="adj" fmla="val 6250"/>
            </a:avLst>
          </a:prstGeom>
          <a:solidFill>
            <a:srgbClr val="F5F3FF"/>
          </a:solidFill>
          <a:ln w="19050">
            <a:solidFill>
              <a:srgbClr val="8B5CF6"/>
            </a:solidFill>
            <a:prstDash val="solid"/>
          </a:ln>
        </p:spPr>
      </p:sp>
      <p:sp>
        <p:nvSpPr>
          <p:cNvPr id="7" name="Text 4"/>
          <p:cNvSpPr txBox="1"/>
          <p:nvPr/>
        </p:nvSpPr>
        <p:spPr>
          <a:xfrm>
            <a:off x="804672" y="2944368"/>
            <a:ext cx="2414016" cy="384048"/>
          </a:xfrm>
          <a:prstGeom prst="rect">
            <a:avLst/>
          </a:prstGeom>
          <a:noFill/>
          <a:ln/>
        </p:spPr>
        <p:txBody>
          <a:bodyPr wrap="square" rtlCol="0" anchor="t"/>
          <a:lstStyle/>
          <a:p>
            <a:pPr algn="ctr" indent="0" marL="0">
              <a:buNone/>
            </a:pPr>
            <a:r>
              <a:rPr lang="en-US" sz="1900" b="1" dirty="0">
                <a:solidFill>
                  <a:srgbClr val="1E293B"/>
                </a:solidFill>
                <a:latin typeface="Consolas" pitchFamily="34" charset="0"/>
                <a:ea typeface="Consolas" pitchFamily="34" charset="-122"/>
                <a:cs typeface="Consolas" pitchFamily="34" charset="-120"/>
              </a:rPr>
              <a:t>work()</a:t>
            </a:r>
            <a:endParaRPr lang="en-US" sz="1900" dirty="0"/>
          </a:p>
        </p:txBody>
      </p:sp>
      <p:sp>
        <p:nvSpPr>
          <p:cNvPr id="8" name="Text 5"/>
          <p:cNvSpPr txBox="1"/>
          <p:nvPr/>
        </p:nvSpPr>
        <p:spPr>
          <a:xfrm>
            <a:off x="822960" y="3328416"/>
            <a:ext cx="2377440" cy="896112"/>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the same method name in every class</a:t>
            </a:r>
            <a:endParaRPr lang="en-US" sz="1350" dirty="0"/>
          </a:p>
        </p:txBody>
      </p:sp>
      <p:sp>
        <p:nvSpPr>
          <p:cNvPr id="9" name="Shape 6"/>
          <p:cNvSpPr/>
          <p:nvPr/>
        </p:nvSpPr>
        <p:spPr>
          <a:xfrm flipV="1">
            <a:off x="3337560" y="2852928"/>
            <a:ext cx="1417320" cy="713232"/>
          </a:xfrm>
          <a:prstGeom prst="line">
            <a:avLst/>
          </a:prstGeom>
          <a:noFill/>
          <a:ln w="31750">
            <a:solidFill>
              <a:srgbClr val="8B5CF6"/>
            </a:solidFill>
            <a:prstDash val="solid"/>
            <a:tailEnd type="triangle"/>
          </a:ln>
        </p:spPr>
      </p:sp>
      <p:sp>
        <p:nvSpPr>
          <p:cNvPr id="10" name="Shape 7"/>
          <p:cNvSpPr/>
          <p:nvPr/>
        </p:nvSpPr>
        <p:spPr>
          <a:xfrm>
            <a:off x="4800600" y="2395728"/>
            <a:ext cx="2286000" cy="914400"/>
          </a:xfrm>
          <a:prstGeom prst="roundRect">
            <a:avLst>
              <a:gd name="adj" fmla="val 10000"/>
            </a:avLst>
          </a:prstGeom>
          <a:solidFill>
            <a:srgbClr val="F0FDFA"/>
          </a:solidFill>
          <a:ln w="19050">
            <a:solidFill>
              <a:srgbClr val="14B8A6"/>
            </a:solidFill>
            <a:prstDash val="solid"/>
          </a:ln>
        </p:spPr>
      </p:sp>
      <p:sp>
        <p:nvSpPr>
          <p:cNvPr id="11" name="Text 8"/>
          <p:cNvSpPr txBox="1"/>
          <p:nvPr/>
        </p:nvSpPr>
        <p:spPr>
          <a:xfrm>
            <a:off x="4873752" y="2505456"/>
            <a:ext cx="2139696" cy="694944"/>
          </a:xfrm>
          <a:prstGeom prst="rect">
            <a:avLst/>
          </a:prstGeom>
          <a:noFill/>
          <a:ln/>
        </p:spPr>
        <p:txBody>
          <a:bodyPr wrap="square"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Developer</a:t>
            </a:r>
            <a:endParaRPr lang="en-US" sz="1600" dirty="0"/>
          </a:p>
        </p:txBody>
      </p:sp>
      <p:sp>
        <p:nvSpPr>
          <p:cNvPr id="12" name="Shape 9"/>
          <p:cNvSpPr/>
          <p:nvPr/>
        </p:nvSpPr>
        <p:spPr>
          <a:xfrm>
            <a:off x="7132320" y="2852928"/>
            <a:ext cx="457200" cy="0"/>
          </a:xfrm>
          <a:prstGeom prst="line">
            <a:avLst/>
          </a:prstGeom>
          <a:noFill/>
          <a:ln w="31750">
            <a:solidFill>
              <a:srgbClr val="64748B"/>
            </a:solidFill>
            <a:prstDash val="solid"/>
            <a:tailEnd type="triangle"/>
          </a:ln>
        </p:spPr>
      </p:sp>
      <p:sp>
        <p:nvSpPr>
          <p:cNvPr id="13" name="Shape 10"/>
          <p:cNvSpPr/>
          <p:nvPr/>
        </p:nvSpPr>
        <p:spPr>
          <a:xfrm>
            <a:off x="7635240" y="2532888"/>
            <a:ext cx="3749040" cy="640080"/>
          </a:xfrm>
          <a:prstGeom prst="roundRect">
            <a:avLst>
              <a:gd name="adj" fmla="val 11429"/>
            </a:avLst>
          </a:prstGeom>
          <a:solidFill>
            <a:srgbClr val="CCFBF1"/>
          </a:solidFill>
          <a:ln w="25400">
            <a:solidFill>
              <a:srgbClr val="14B8A6"/>
            </a:solidFill>
            <a:prstDash val="solid"/>
          </a:ln>
        </p:spPr>
      </p:sp>
      <p:sp>
        <p:nvSpPr>
          <p:cNvPr id="14" name="Text 11"/>
          <p:cNvSpPr txBox="1"/>
          <p:nvPr/>
        </p:nvSpPr>
        <p:spPr>
          <a:xfrm>
            <a:off x="7635240" y="2532888"/>
            <a:ext cx="3749040" cy="64008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Developer writing code</a:t>
            </a:r>
            <a:endParaRPr lang="en-US" sz="1300" dirty="0"/>
          </a:p>
        </p:txBody>
      </p:sp>
      <p:sp>
        <p:nvSpPr>
          <p:cNvPr id="15" name="Shape 12"/>
          <p:cNvSpPr/>
          <p:nvPr/>
        </p:nvSpPr>
        <p:spPr>
          <a:xfrm>
            <a:off x="3337560" y="3566160"/>
            <a:ext cx="1417320" cy="310896"/>
          </a:xfrm>
          <a:prstGeom prst="line">
            <a:avLst/>
          </a:prstGeom>
          <a:noFill/>
          <a:ln w="31750">
            <a:solidFill>
              <a:srgbClr val="8B5CF6"/>
            </a:solidFill>
            <a:prstDash val="solid"/>
            <a:tailEnd type="triangle"/>
          </a:ln>
        </p:spPr>
      </p:sp>
      <p:sp>
        <p:nvSpPr>
          <p:cNvPr id="16" name="Shape 13"/>
          <p:cNvSpPr/>
          <p:nvPr/>
        </p:nvSpPr>
        <p:spPr>
          <a:xfrm>
            <a:off x="4800600" y="3419856"/>
            <a:ext cx="2286000" cy="914400"/>
          </a:xfrm>
          <a:prstGeom prst="roundRect">
            <a:avLst>
              <a:gd name="adj" fmla="val 10000"/>
            </a:avLst>
          </a:prstGeom>
          <a:solidFill>
            <a:srgbClr val="FFF7ED"/>
          </a:solidFill>
          <a:ln w="19050">
            <a:solidFill>
              <a:srgbClr val="F97316"/>
            </a:solidFill>
            <a:prstDash val="solid"/>
          </a:ln>
        </p:spPr>
      </p:sp>
      <p:sp>
        <p:nvSpPr>
          <p:cNvPr id="17" name="Text 14"/>
          <p:cNvSpPr txBox="1"/>
          <p:nvPr/>
        </p:nvSpPr>
        <p:spPr>
          <a:xfrm>
            <a:off x="4873752" y="3529584"/>
            <a:ext cx="2139696" cy="694944"/>
          </a:xfrm>
          <a:prstGeom prst="rect">
            <a:avLst/>
          </a:prstGeom>
          <a:noFill/>
          <a:ln/>
        </p:spPr>
        <p:txBody>
          <a:bodyPr wrap="square"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Tester</a:t>
            </a:r>
            <a:endParaRPr lang="en-US" sz="1600" dirty="0"/>
          </a:p>
        </p:txBody>
      </p:sp>
      <p:sp>
        <p:nvSpPr>
          <p:cNvPr id="18" name="Shape 15"/>
          <p:cNvSpPr/>
          <p:nvPr/>
        </p:nvSpPr>
        <p:spPr>
          <a:xfrm>
            <a:off x="7132320" y="3877056"/>
            <a:ext cx="457200" cy="0"/>
          </a:xfrm>
          <a:prstGeom prst="line">
            <a:avLst/>
          </a:prstGeom>
          <a:noFill/>
          <a:ln w="31750">
            <a:solidFill>
              <a:srgbClr val="64748B"/>
            </a:solidFill>
            <a:prstDash val="solid"/>
            <a:tailEnd type="triangle"/>
          </a:ln>
        </p:spPr>
      </p:sp>
      <p:sp>
        <p:nvSpPr>
          <p:cNvPr id="19" name="Shape 16"/>
          <p:cNvSpPr/>
          <p:nvPr/>
        </p:nvSpPr>
        <p:spPr>
          <a:xfrm>
            <a:off x="7635240" y="3557016"/>
            <a:ext cx="3749040" cy="640080"/>
          </a:xfrm>
          <a:prstGeom prst="roundRect">
            <a:avLst>
              <a:gd name="adj" fmla="val 11429"/>
            </a:avLst>
          </a:prstGeom>
          <a:solidFill>
            <a:srgbClr val="FFEDD5"/>
          </a:solidFill>
          <a:ln w="25400">
            <a:solidFill>
              <a:srgbClr val="F97316"/>
            </a:solidFill>
            <a:prstDash val="solid"/>
          </a:ln>
        </p:spPr>
      </p:sp>
      <p:sp>
        <p:nvSpPr>
          <p:cNvPr id="20" name="Text 17"/>
          <p:cNvSpPr txBox="1"/>
          <p:nvPr/>
        </p:nvSpPr>
        <p:spPr>
          <a:xfrm>
            <a:off x="7635240" y="3557016"/>
            <a:ext cx="3749040" cy="64008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Tester tests application</a:t>
            </a:r>
            <a:endParaRPr lang="en-US" sz="1300" dirty="0"/>
          </a:p>
        </p:txBody>
      </p:sp>
      <p:sp>
        <p:nvSpPr>
          <p:cNvPr id="21" name="Shape 18"/>
          <p:cNvSpPr/>
          <p:nvPr/>
        </p:nvSpPr>
        <p:spPr>
          <a:xfrm>
            <a:off x="3337560" y="3566160"/>
            <a:ext cx="1417320" cy="1335024"/>
          </a:xfrm>
          <a:prstGeom prst="line">
            <a:avLst/>
          </a:prstGeom>
          <a:noFill/>
          <a:ln w="31750">
            <a:solidFill>
              <a:srgbClr val="8B5CF6"/>
            </a:solidFill>
            <a:prstDash val="solid"/>
            <a:tailEnd type="triangle"/>
          </a:ln>
        </p:spPr>
      </p:sp>
      <p:sp>
        <p:nvSpPr>
          <p:cNvPr id="22" name="Shape 19"/>
          <p:cNvSpPr/>
          <p:nvPr/>
        </p:nvSpPr>
        <p:spPr>
          <a:xfrm>
            <a:off x="4800600" y="4443984"/>
            <a:ext cx="2286000" cy="914400"/>
          </a:xfrm>
          <a:prstGeom prst="roundRect">
            <a:avLst>
              <a:gd name="adj" fmla="val 10000"/>
            </a:avLst>
          </a:prstGeom>
          <a:solidFill>
            <a:srgbClr val="F0FDF4"/>
          </a:solidFill>
          <a:ln w="19050">
            <a:solidFill>
              <a:srgbClr val="10B981"/>
            </a:solidFill>
            <a:prstDash val="solid"/>
          </a:ln>
        </p:spPr>
      </p:sp>
      <p:sp>
        <p:nvSpPr>
          <p:cNvPr id="23" name="Text 20"/>
          <p:cNvSpPr txBox="1"/>
          <p:nvPr/>
        </p:nvSpPr>
        <p:spPr>
          <a:xfrm>
            <a:off x="4873752" y="4553712"/>
            <a:ext cx="2139696" cy="694944"/>
          </a:xfrm>
          <a:prstGeom prst="rect">
            <a:avLst/>
          </a:prstGeom>
          <a:noFill/>
          <a:ln/>
        </p:spPr>
        <p:txBody>
          <a:bodyPr wrap="square" rtlCol="0" anchor="ctr"/>
          <a:lstStyle/>
          <a:p>
            <a:pPr algn="ctr" indent="0" marL="0">
              <a:buNone/>
            </a:pPr>
            <a:r>
              <a:rPr lang="en-US" sz="1600" b="1" dirty="0">
                <a:solidFill>
                  <a:srgbClr val="1E293B"/>
                </a:solidFill>
                <a:latin typeface="Calibri" pitchFamily="34" charset="0"/>
                <a:ea typeface="Calibri" pitchFamily="34" charset="-122"/>
                <a:cs typeface="Calibri" pitchFamily="34" charset="-120"/>
              </a:rPr>
              <a:t>Designer</a:t>
            </a:r>
            <a:endParaRPr lang="en-US" sz="1600" dirty="0"/>
          </a:p>
        </p:txBody>
      </p:sp>
      <p:sp>
        <p:nvSpPr>
          <p:cNvPr id="24" name="Shape 21"/>
          <p:cNvSpPr/>
          <p:nvPr/>
        </p:nvSpPr>
        <p:spPr>
          <a:xfrm>
            <a:off x="7132320" y="4901184"/>
            <a:ext cx="457200" cy="0"/>
          </a:xfrm>
          <a:prstGeom prst="line">
            <a:avLst/>
          </a:prstGeom>
          <a:noFill/>
          <a:ln w="31750">
            <a:solidFill>
              <a:srgbClr val="64748B"/>
            </a:solidFill>
            <a:prstDash val="solid"/>
            <a:tailEnd type="triangle"/>
          </a:ln>
        </p:spPr>
      </p:sp>
      <p:sp>
        <p:nvSpPr>
          <p:cNvPr id="25" name="Shape 22"/>
          <p:cNvSpPr/>
          <p:nvPr/>
        </p:nvSpPr>
        <p:spPr>
          <a:xfrm>
            <a:off x="7635240" y="4581144"/>
            <a:ext cx="3749040" cy="640080"/>
          </a:xfrm>
          <a:prstGeom prst="roundRect">
            <a:avLst>
              <a:gd name="adj" fmla="val 11429"/>
            </a:avLst>
          </a:prstGeom>
          <a:solidFill>
            <a:srgbClr val="D1FAE5"/>
          </a:solidFill>
          <a:ln w="25400">
            <a:solidFill>
              <a:srgbClr val="10B981"/>
            </a:solidFill>
            <a:prstDash val="solid"/>
          </a:ln>
        </p:spPr>
      </p:sp>
      <p:sp>
        <p:nvSpPr>
          <p:cNvPr id="26" name="Text 23"/>
          <p:cNvSpPr txBox="1"/>
          <p:nvPr/>
        </p:nvSpPr>
        <p:spPr>
          <a:xfrm>
            <a:off x="7635240" y="4581144"/>
            <a:ext cx="3749040" cy="64008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Creates Design</a:t>
            </a:r>
            <a:endParaRPr lang="en-US" sz="1300" dirty="0"/>
          </a:p>
        </p:txBody>
      </p:sp>
      <p:sp>
        <p:nvSpPr>
          <p:cNvPr id="27" name="Shape 24"/>
          <p:cNvSpPr/>
          <p:nvPr/>
        </p:nvSpPr>
        <p:spPr>
          <a:xfrm>
            <a:off x="731520" y="5559552"/>
            <a:ext cx="10698480" cy="0"/>
          </a:xfrm>
          <a:prstGeom prst="line">
            <a:avLst/>
          </a:prstGeom>
          <a:noFill/>
          <a:ln w="12700">
            <a:solidFill>
              <a:srgbClr val="E2E8F0"/>
            </a:solidFill>
            <a:prstDash val="solid"/>
          </a:ln>
        </p:spPr>
      </p:sp>
      <p:sp>
        <p:nvSpPr>
          <p:cNvPr id="28" name="Shape 25"/>
          <p:cNvSpPr/>
          <p:nvPr/>
        </p:nvSpPr>
        <p:spPr>
          <a:xfrm>
            <a:off x="777240" y="5650992"/>
            <a:ext cx="475488" cy="475488"/>
          </a:xfrm>
          <a:prstGeom prst="ellipse">
            <a:avLst/>
          </a:prstGeom>
          <a:solidFill>
            <a:srgbClr val="FCE7F3"/>
          </a:solidFill>
          <a:ln w="19050">
            <a:solidFill>
              <a:srgbClr val="EC4899"/>
            </a:solidFill>
            <a:prstDash val="solid"/>
          </a:ln>
        </p:spPr>
      </p:sp>
      <p:pic>
        <p:nvPicPr>
          <p:cNvPr id="29"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30" name="Shape 26"/>
          <p:cNvSpPr/>
          <p:nvPr/>
        </p:nvSpPr>
        <p:spPr>
          <a:xfrm rot="2700000">
            <a:off x="1508760" y="5797296"/>
            <a:ext cx="182880" cy="182880"/>
          </a:xfrm>
          <a:prstGeom prst="rect">
            <a:avLst/>
          </a:prstGeom>
          <a:solidFill>
            <a:srgbClr val="FDF2F8"/>
          </a:solidFill>
          <a:ln w="15875">
            <a:solidFill>
              <a:srgbClr val="EC4899"/>
            </a:solidFill>
            <a:prstDash val="solid"/>
          </a:ln>
        </p:spPr>
      </p:sp>
      <p:sp>
        <p:nvSpPr>
          <p:cNvPr id="31" name="Shape 27"/>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2" name="Text 28"/>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The caller does not need to know the class. It just asks for work and each object knows how.</a:t>
            </a:r>
            <a:endParaRPr lang="en-US" sz="1400" dirty="0"/>
          </a:p>
        </p:txBody>
      </p:sp>
      <p:sp>
        <p:nvSpPr>
          <p:cNvPr id="33" name="Text 2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34" name="Text 3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6</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One Method, One or Two Values</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At a canteen counter you can order just a tea, or a tea with a biscuit. It is the same counter and the same order slip, and it handles both.</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Overloading means one method name that accepts a different number of values. Python has no separate overloading, so a default value of None lets one method handle one value or two.</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Flexible methods such as search, print and log functions that work with optional extra details.</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OVERLOADING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The Same Method, Two Ways to Call It</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77440"/>
            <a:ext cx="2743200" cy="566928"/>
          </a:xfrm>
          <a:prstGeom prst="flowChartTerminator">
            <a:avLst/>
          </a:prstGeom>
          <a:solidFill>
            <a:srgbClr val="F5F3FF"/>
          </a:solidFill>
          <a:ln w="22225">
            <a:solidFill>
              <a:srgbClr val="8B5CF6"/>
            </a:solidFill>
            <a:prstDash val="solid"/>
          </a:ln>
        </p:spPr>
      </p:sp>
      <p:sp>
        <p:nvSpPr>
          <p:cNvPr id="7" name="Text 4"/>
          <p:cNvSpPr txBox="1"/>
          <p:nvPr/>
        </p:nvSpPr>
        <p:spPr>
          <a:xfrm>
            <a:off x="804672" y="2377440"/>
            <a:ext cx="2596896" cy="566928"/>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work is called</a:t>
            </a:r>
            <a:endParaRPr lang="en-US" sz="1350" dirty="0"/>
          </a:p>
        </p:txBody>
      </p:sp>
      <p:sp>
        <p:nvSpPr>
          <p:cNvPr id="8" name="Shape 5"/>
          <p:cNvSpPr/>
          <p:nvPr/>
        </p:nvSpPr>
        <p:spPr>
          <a:xfrm>
            <a:off x="2103120" y="2971800"/>
            <a:ext cx="0" cy="228600"/>
          </a:xfrm>
          <a:prstGeom prst="line">
            <a:avLst/>
          </a:prstGeom>
          <a:noFill/>
          <a:ln w="31750">
            <a:solidFill>
              <a:srgbClr val="8B5CF6"/>
            </a:solidFill>
            <a:prstDash val="solid"/>
            <a:tailEnd type="triangle"/>
          </a:ln>
        </p:spPr>
      </p:sp>
      <p:sp>
        <p:nvSpPr>
          <p:cNvPr id="9" name="Shape 6"/>
          <p:cNvSpPr/>
          <p:nvPr/>
        </p:nvSpPr>
        <p:spPr>
          <a:xfrm>
            <a:off x="731520" y="3227832"/>
            <a:ext cx="2743200" cy="1234440"/>
          </a:xfrm>
          <a:prstGeom prst="flowChartDecision">
            <a:avLst/>
          </a:prstGeom>
          <a:solidFill>
            <a:srgbClr val="FFF7ED"/>
          </a:solidFill>
          <a:ln w="22225">
            <a:solidFill>
              <a:srgbClr val="F97316"/>
            </a:solidFill>
            <a:prstDash val="solid"/>
          </a:ln>
        </p:spPr>
      </p:sp>
      <p:sp>
        <p:nvSpPr>
          <p:cNvPr id="10" name="Text 7"/>
          <p:cNvSpPr txBox="1"/>
          <p:nvPr/>
        </p:nvSpPr>
        <p:spPr>
          <a:xfrm>
            <a:off x="1280160" y="3227832"/>
            <a:ext cx="1645920" cy="1234440"/>
          </a:xfrm>
          <a:prstGeom prst="rect">
            <a:avLst/>
          </a:prstGeom>
          <a:noFill/>
          <a:ln/>
        </p:spPr>
        <p:txBody>
          <a:bodyPr wrap="square" rtlCol="0" anchor="ctr"/>
          <a:lstStyle/>
          <a:p>
            <a:pPr algn="ctr" indent="0" marL="0">
              <a:buNone/>
            </a:pPr>
            <a:r>
              <a:rPr lang="en-US" sz="1400" b="1" dirty="0">
                <a:solidFill>
                  <a:srgbClr val="1E293B"/>
                </a:solidFill>
                <a:latin typeface="Calibri" pitchFamily="34" charset="0"/>
                <a:ea typeface="Calibri" pitchFamily="34" charset="-122"/>
                <a:cs typeface="Calibri" pitchFamily="34" charset="-120"/>
              </a:rPr>
              <a:t>Second task given?</a:t>
            </a:r>
            <a:endParaRPr lang="en-US" sz="1400" dirty="0"/>
          </a:p>
        </p:txBody>
      </p:sp>
      <p:sp>
        <p:nvSpPr>
          <p:cNvPr id="11" name="Shape 8"/>
          <p:cNvSpPr/>
          <p:nvPr/>
        </p:nvSpPr>
        <p:spPr>
          <a:xfrm>
            <a:off x="3502152" y="3840480"/>
            <a:ext cx="676656" cy="0"/>
          </a:xfrm>
          <a:prstGeom prst="line">
            <a:avLst/>
          </a:prstGeom>
          <a:noFill/>
          <a:ln w="31750">
            <a:solidFill>
              <a:srgbClr val="10B981"/>
            </a:solidFill>
            <a:prstDash val="solid"/>
            <a:tailEnd type="triangle"/>
          </a:ln>
        </p:spPr>
      </p:sp>
      <p:sp>
        <p:nvSpPr>
          <p:cNvPr id="12" name="Text 9"/>
          <p:cNvSpPr txBox="1"/>
          <p:nvPr/>
        </p:nvSpPr>
        <p:spPr>
          <a:xfrm>
            <a:off x="3474720" y="3474720"/>
            <a:ext cx="731520" cy="274320"/>
          </a:xfrm>
          <a:prstGeom prst="rect">
            <a:avLst/>
          </a:prstGeom>
          <a:noFill/>
          <a:ln/>
        </p:spPr>
        <p:txBody>
          <a:bodyPr wrap="square"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Yes</a:t>
            </a:r>
            <a:endParaRPr lang="en-US" sz="1200" dirty="0"/>
          </a:p>
        </p:txBody>
      </p:sp>
      <p:sp>
        <p:nvSpPr>
          <p:cNvPr id="13" name="Shape 10"/>
          <p:cNvSpPr/>
          <p:nvPr/>
        </p:nvSpPr>
        <p:spPr>
          <a:xfrm>
            <a:off x="4206240" y="3566160"/>
            <a:ext cx="3108960" cy="566928"/>
          </a:xfrm>
          <a:prstGeom prst="flowChartProcess">
            <a:avLst/>
          </a:prstGeom>
          <a:solidFill>
            <a:srgbClr val="F0FDF4"/>
          </a:solidFill>
          <a:ln w="22225">
            <a:solidFill>
              <a:srgbClr val="10B981"/>
            </a:solidFill>
            <a:prstDash val="solid"/>
          </a:ln>
        </p:spPr>
      </p:sp>
      <p:sp>
        <p:nvSpPr>
          <p:cNvPr id="14" name="Text 11"/>
          <p:cNvSpPr txBox="1"/>
          <p:nvPr/>
        </p:nvSpPr>
        <p:spPr>
          <a:xfrm>
            <a:off x="4279392" y="3566160"/>
            <a:ext cx="2962656" cy="566928"/>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Work on both tasks</a:t>
            </a:r>
            <a:endParaRPr lang="en-US" sz="1350" dirty="0"/>
          </a:p>
        </p:txBody>
      </p:sp>
      <p:sp>
        <p:nvSpPr>
          <p:cNvPr id="15" name="Shape 12"/>
          <p:cNvSpPr/>
          <p:nvPr/>
        </p:nvSpPr>
        <p:spPr>
          <a:xfrm>
            <a:off x="2103120" y="4480560"/>
            <a:ext cx="0" cy="274320"/>
          </a:xfrm>
          <a:prstGeom prst="line">
            <a:avLst/>
          </a:prstGeom>
          <a:noFill/>
          <a:ln w="31750">
            <a:solidFill>
              <a:srgbClr val="F97316"/>
            </a:solidFill>
            <a:prstDash val="solid"/>
            <a:tailEnd type="triangle"/>
          </a:ln>
        </p:spPr>
      </p:sp>
      <p:sp>
        <p:nvSpPr>
          <p:cNvPr id="16" name="Text 13"/>
          <p:cNvSpPr txBox="1"/>
          <p:nvPr/>
        </p:nvSpPr>
        <p:spPr>
          <a:xfrm>
            <a:off x="2194560" y="4462272"/>
            <a:ext cx="548640" cy="274320"/>
          </a:xfrm>
          <a:prstGeom prst="rect">
            <a:avLst/>
          </a:prstGeom>
          <a:noFill/>
          <a:ln/>
        </p:spPr>
        <p:txBody>
          <a:bodyPr wrap="square" rtlCol="0" anchor="ctr"/>
          <a:lstStyle/>
          <a:p>
            <a:pPr algn="ctr" indent="0" marL="0">
              <a:buNone/>
            </a:pPr>
            <a:r>
              <a:rPr lang="en-US" sz="1200" b="1" dirty="0">
                <a:solidFill>
                  <a:srgbClr val="F97316"/>
                </a:solidFill>
                <a:latin typeface="Calibri" pitchFamily="34" charset="0"/>
                <a:ea typeface="Calibri" pitchFamily="34" charset="-122"/>
                <a:cs typeface="Calibri" pitchFamily="34" charset="-120"/>
              </a:rPr>
              <a:t>No</a:t>
            </a:r>
            <a:endParaRPr lang="en-US" sz="1200" dirty="0"/>
          </a:p>
        </p:txBody>
      </p:sp>
      <p:sp>
        <p:nvSpPr>
          <p:cNvPr id="17" name="Shape 14"/>
          <p:cNvSpPr/>
          <p:nvPr/>
        </p:nvSpPr>
        <p:spPr>
          <a:xfrm>
            <a:off x="731520" y="4773168"/>
            <a:ext cx="2743200" cy="566928"/>
          </a:xfrm>
          <a:prstGeom prst="flowChartProcess">
            <a:avLst/>
          </a:prstGeom>
          <a:solidFill>
            <a:srgbClr val="FFF7ED"/>
          </a:solidFill>
          <a:ln w="22225">
            <a:solidFill>
              <a:srgbClr val="F97316"/>
            </a:solidFill>
            <a:prstDash val="solid"/>
          </a:ln>
        </p:spPr>
      </p:sp>
      <p:sp>
        <p:nvSpPr>
          <p:cNvPr id="18" name="Text 15"/>
          <p:cNvSpPr txBox="1"/>
          <p:nvPr/>
        </p:nvSpPr>
        <p:spPr>
          <a:xfrm>
            <a:off x="804672" y="4773168"/>
            <a:ext cx="2596896" cy="566928"/>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Work on task 1 only</a:t>
            </a:r>
            <a:endParaRPr lang="en-US" sz="1350" dirty="0"/>
          </a:p>
        </p:txBody>
      </p:sp>
      <p:sp>
        <p:nvSpPr>
          <p:cNvPr id="19" name="Shape 16"/>
          <p:cNvSpPr/>
          <p:nvPr/>
        </p:nvSpPr>
        <p:spPr>
          <a:xfrm>
            <a:off x="7680960" y="2423160"/>
            <a:ext cx="3749040" cy="1371600"/>
          </a:xfrm>
          <a:prstGeom prst="roundRect">
            <a:avLst>
              <a:gd name="adj" fmla="val 6667"/>
            </a:avLst>
          </a:prstGeom>
          <a:solidFill>
            <a:srgbClr val="FFF7ED"/>
          </a:solidFill>
          <a:ln w="19050">
            <a:solidFill>
              <a:srgbClr val="F97316"/>
            </a:solidFill>
            <a:prstDash val="solid"/>
          </a:ln>
        </p:spPr>
      </p:sp>
      <p:sp>
        <p:nvSpPr>
          <p:cNvPr id="20" name="Text 17"/>
          <p:cNvSpPr txBox="1"/>
          <p:nvPr/>
        </p:nvSpPr>
        <p:spPr>
          <a:xfrm>
            <a:off x="7754112" y="2532888"/>
            <a:ext cx="360273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Coding only</a:t>
            </a:r>
            <a:endParaRPr lang="en-US" sz="1600" dirty="0"/>
          </a:p>
        </p:txBody>
      </p:sp>
      <p:sp>
        <p:nvSpPr>
          <p:cNvPr id="21" name="Text 18"/>
          <p:cNvSpPr txBox="1"/>
          <p:nvPr/>
        </p:nvSpPr>
        <p:spPr>
          <a:xfrm>
            <a:off x="7772400" y="2880360"/>
            <a:ext cx="3566160" cy="841248"/>
          </a:xfrm>
          <a:prstGeom prst="rect">
            <a:avLst/>
          </a:prstGeom>
          <a:noFill/>
          <a:ln/>
        </p:spPr>
        <p:txBody>
          <a:bodyPr wrap="square"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Developer works on: Coding</a:t>
            </a:r>
            <a:endParaRPr lang="en-US" sz="1400" dirty="0"/>
          </a:p>
        </p:txBody>
      </p:sp>
      <p:sp>
        <p:nvSpPr>
          <p:cNvPr id="22" name="Shape 19"/>
          <p:cNvSpPr/>
          <p:nvPr/>
        </p:nvSpPr>
        <p:spPr>
          <a:xfrm>
            <a:off x="7680960" y="3931920"/>
            <a:ext cx="3749040" cy="1371600"/>
          </a:xfrm>
          <a:prstGeom prst="roundRect">
            <a:avLst>
              <a:gd name="adj" fmla="val 6667"/>
            </a:avLst>
          </a:prstGeom>
          <a:solidFill>
            <a:srgbClr val="F0FDF4"/>
          </a:solidFill>
          <a:ln w="19050">
            <a:solidFill>
              <a:srgbClr val="10B981"/>
            </a:solidFill>
            <a:prstDash val="solid"/>
          </a:ln>
        </p:spPr>
      </p:sp>
      <p:sp>
        <p:nvSpPr>
          <p:cNvPr id="23" name="Text 20"/>
          <p:cNvSpPr txBox="1"/>
          <p:nvPr/>
        </p:nvSpPr>
        <p:spPr>
          <a:xfrm>
            <a:off x="7754112" y="4041648"/>
            <a:ext cx="360273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Coding and Debug</a:t>
            </a:r>
            <a:endParaRPr lang="en-US" sz="1600" dirty="0"/>
          </a:p>
        </p:txBody>
      </p:sp>
      <p:sp>
        <p:nvSpPr>
          <p:cNvPr id="24" name="Text 21"/>
          <p:cNvSpPr txBox="1"/>
          <p:nvPr/>
        </p:nvSpPr>
        <p:spPr>
          <a:xfrm>
            <a:off x="7772400" y="4389120"/>
            <a:ext cx="3566160" cy="841248"/>
          </a:xfrm>
          <a:prstGeom prst="rect">
            <a:avLst/>
          </a:prstGeom>
          <a:noFill/>
          <a:ln/>
        </p:spPr>
        <p:txBody>
          <a:bodyPr wrap="square" rtlCol="0" anchor="t"/>
          <a:lstStyle/>
          <a:p>
            <a:pPr algn="ctr" indent="0" marL="0">
              <a:buNone/>
            </a:pPr>
            <a:r>
              <a:rPr lang="en-US" sz="1400" dirty="0">
                <a:solidFill>
                  <a:srgbClr val="64748B"/>
                </a:solidFill>
                <a:latin typeface="Calibri" pitchFamily="34" charset="0"/>
                <a:ea typeface="Calibri" pitchFamily="34" charset="-122"/>
                <a:cs typeface="Calibri" pitchFamily="34" charset="-120"/>
              </a:rPr>
              <a:t>Developer works on: Coding Debug</a:t>
            </a:r>
            <a:endParaRPr lang="en-US" sz="1400" dirty="0"/>
          </a:p>
        </p:txBody>
      </p:sp>
      <p:sp>
        <p:nvSpPr>
          <p:cNvPr id="25" name="Shape 22"/>
          <p:cNvSpPr/>
          <p:nvPr/>
        </p:nvSpPr>
        <p:spPr>
          <a:xfrm>
            <a:off x="731520" y="5559552"/>
            <a:ext cx="10698480" cy="0"/>
          </a:xfrm>
          <a:prstGeom prst="line">
            <a:avLst/>
          </a:prstGeom>
          <a:noFill/>
          <a:ln w="12700">
            <a:solidFill>
              <a:srgbClr val="E2E8F0"/>
            </a:solidFill>
            <a:prstDash val="solid"/>
          </a:ln>
        </p:spPr>
      </p:sp>
      <p:sp>
        <p:nvSpPr>
          <p:cNvPr id="26" name="Shape 23"/>
          <p:cNvSpPr/>
          <p:nvPr/>
        </p:nvSpPr>
        <p:spPr>
          <a:xfrm>
            <a:off x="777240" y="5650992"/>
            <a:ext cx="475488" cy="475488"/>
          </a:xfrm>
          <a:prstGeom prst="ellipse">
            <a:avLst/>
          </a:prstGeom>
          <a:solidFill>
            <a:srgbClr val="FCE7F3"/>
          </a:solidFill>
          <a:ln w="19050">
            <a:solidFill>
              <a:srgbClr val="EC4899"/>
            </a:solidFill>
            <a:prstDash val="solid"/>
          </a:ln>
        </p:spPr>
      </p:sp>
      <p:pic>
        <p:nvPicPr>
          <p:cNvPr id="27"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28" name="Shape 24"/>
          <p:cNvSpPr/>
          <p:nvPr/>
        </p:nvSpPr>
        <p:spPr>
          <a:xfrm rot="2700000">
            <a:off x="1508760" y="5797296"/>
            <a:ext cx="182880" cy="182880"/>
          </a:xfrm>
          <a:prstGeom prst="rect">
            <a:avLst/>
          </a:prstGeom>
          <a:solidFill>
            <a:srgbClr val="FDF2F8"/>
          </a:solidFill>
          <a:ln w="15875">
            <a:solidFill>
              <a:srgbClr val="EC4899"/>
            </a:solidFill>
            <a:prstDash val="solid"/>
          </a:ln>
        </p:spPr>
      </p:sp>
      <p:sp>
        <p:nvSpPr>
          <p:cNvPr id="29" name="Shape 25"/>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30" name="Text 26"/>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The second value is optional because it has a default of None.</a:t>
            </a:r>
            <a:endParaRPr lang="en-US" sz="1400" dirty="0"/>
          </a:p>
        </p:txBody>
      </p:sp>
      <p:sp>
        <p:nvSpPr>
          <p:cNvPr id="31" name="Text 27"/>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32" name="Text 28"/>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09728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TOPIC 7</a:t>
            </a:r>
            <a:endParaRPr lang="en-US" sz="1400" dirty="0"/>
          </a:p>
        </p:txBody>
      </p:sp>
      <p:sp>
        <p:nvSpPr>
          <p:cNvPr id="6" name="Text 2"/>
          <p:cNvSpPr txBox="1"/>
          <p:nvPr/>
        </p:nvSpPr>
        <p:spPr>
          <a:xfrm>
            <a:off x="457200" y="1417320"/>
            <a:ext cx="10972800" cy="731520"/>
          </a:xfrm>
          <a:prstGeom prst="rect">
            <a:avLst/>
          </a:prstGeom>
          <a:noFill/>
          <a:ln/>
        </p:spPr>
        <p:txBody>
          <a:bodyPr wrap="square"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__str__ Method</a:t>
            </a:r>
            <a:endParaRPr lang="en-US" sz="3000" dirty="0"/>
          </a:p>
        </p:txBody>
      </p:sp>
      <p:sp>
        <p:nvSpPr>
          <p:cNvPr id="7" name="rc_topic"/>
          <p:cNvSpPr/>
          <p:nvPr/>
        </p:nvSpPr>
        <p:spPr>
          <a:xfrm>
            <a:off x="457200" y="2286000"/>
            <a:ext cx="11247120" cy="3977640"/>
          </a:xfrm>
          <a:prstGeom prst="roundRect">
            <a:avLst>
              <a:gd name="adj" fmla="val 2299"/>
            </a:avLst>
          </a:prstGeom>
          <a:solidFill>
            <a:srgbClr val="0F172A"/>
          </a:solidFill>
          <a:ln w="12700">
            <a:solidFill>
              <a:srgbClr val="334155"/>
            </a:solidFill>
            <a:prstDash val="solid"/>
          </a:ln>
          <a:effectLst>
            <a:outerShdw sx="100000" sy="100000" kx="0" ky="0" algn="bl" rotWithShape="0" blurRad="76200" dist="25400" dir="5400000">
              <a:srgbClr val="000000">
                <a:alpha val="8000"/>
              </a:srgbClr>
            </a:outerShdw>
          </a:effectLst>
        </p:spPr>
      </p:sp>
      <p:sp>
        <p:nvSpPr>
          <p:cNvPr id="8" name="Text 4"/>
          <p:cNvSpPr txBox="1"/>
          <p:nvPr/>
        </p:nvSpPr>
        <p:spPr>
          <a:xfrm>
            <a:off x="914400" y="2450592"/>
            <a:ext cx="9601200" cy="292608"/>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Real time example</a:t>
            </a:r>
            <a:endParaRPr lang="en-US" sz="1400" dirty="0"/>
          </a:p>
        </p:txBody>
      </p:sp>
      <p:sp>
        <p:nvSpPr>
          <p:cNvPr id="9" name="Text 5"/>
          <p:cNvSpPr txBox="1"/>
          <p:nvPr/>
        </p:nvSpPr>
        <p:spPr>
          <a:xfrm>
            <a:off x="914400" y="2761488"/>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When you hand over a student ID card, the clerk reads out the name and marks clearly. Without that, all you would hear is a long card number that means nothing to anyone.</a:t>
            </a:r>
            <a:endParaRPr lang="en-US" sz="1600" dirty="0"/>
          </a:p>
        </p:txBody>
      </p:sp>
      <p:sp>
        <p:nvSpPr>
          <p:cNvPr id="10" name="Text 6"/>
          <p:cNvSpPr txBox="1"/>
          <p:nvPr/>
        </p:nvSpPr>
        <p:spPr>
          <a:xfrm>
            <a:off x="914400" y="3712464"/>
            <a:ext cx="9601200" cy="292608"/>
          </a:xfrm>
          <a:prstGeom prst="rect">
            <a:avLst/>
          </a:prstGeom>
          <a:noFill/>
          <a:ln/>
        </p:spPr>
        <p:txBody>
          <a:bodyPr wrap="square" rtlCol="0" anchor="ctr"/>
          <a:lstStyle/>
          <a:p>
            <a:pPr indent="0" marL="0">
              <a:buNone/>
            </a:pPr>
            <a:r>
              <a:rPr lang="en-US" sz="1400" b="1" dirty="0">
                <a:solidFill>
                  <a:srgbClr val="F97316"/>
                </a:solidFill>
                <a:latin typeface="Calibri" pitchFamily="34" charset="0"/>
                <a:ea typeface="Calibri" pitchFamily="34" charset="-122"/>
                <a:cs typeface="Calibri" pitchFamily="34" charset="-120"/>
              </a:rPr>
              <a:t>Definition</a:t>
            </a:r>
            <a:endParaRPr lang="en-US" sz="1400" dirty="0"/>
          </a:p>
        </p:txBody>
      </p:sp>
      <p:sp>
        <p:nvSpPr>
          <p:cNvPr id="11" name="Text 7"/>
          <p:cNvSpPr txBox="1"/>
          <p:nvPr/>
        </p:nvSpPr>
        <p:spPr>
          <a:xfrm>
            <a:off x="914400" y="4023360"/>
            <a:ext cx="10332720" cy="868680"/>
          </a:xfrm>
          <a:prstGeom prst="rect">
            <a:avLst/>
          </a:prstGeom>
          <a:noFill/>
          <a:ln/>
        </p:spPr>
        <p:txBody>
          <a:bodyPr wrap="square"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__str__ is a special method that returns the text shown when you print an object. Without it, Python prints only the class name and a memory address.</a:t>
            </a:r>
            <a:endParaRPr lang="en-US" sz="1800" dirty="0"/>
          </a:p>
        </p:txBody>
      </p:sp>
      <p:sp>
        <p:nvSpPr>
          <p:cNvPr id="12" name="Text 8"/>
          <p:cNvSpPr txBox="1"/>
          <p:nvPr/>
        </p:nvSpPr>
        <p:spPr>
          <a:xfrm>
            <a:off x="914400" y="4974336"/>
            <a:ext cx="9601200" cy="292608"/>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Where it is used</a:t>
            </a:r>
            <a:endParaRPr lang="en-US" sz="1400" dirty="0"/>
          </a:p>
        </p:txBody>
      </p:sp>
      <p:sp>
        <p:nvSpPr>
          <p:cNvPr id="13" name="Text 9"/>
          <p:cNvSpPr txBox="1"/>
          <p:nvPr/>
        </p:nvSpPr>
        <p:spPr>
          <a:xfrm>
            <a:off x="914400" y="5285232"/>
            <a:ext cx="10332720" cy="868680"/>
          </a:xfrm>
          <a:prstGeom prst="rect">
            <a:avLst/>
          </a:prstGeom>
          <a:noFill/>
          <a:ln/>
        </p:spPr>
        <p:txBody>
          <a:bodyPr wrap="square" rtlCol="0" anchor="t"/>
          <a:lstStyle/>
          <a:p>
            <a:pPr indent="0" marL="0">
              <a:buNone/>
            </a:pPr>
            <a:r>
              <a:rPr lang="en-US" sz="1600" dirty="0">
                <a:solidFill>
                  <a:srgbClr val="CBD5E1"/>
                </a:solidFill>
                <a:latin typeface="Calibri" pitchFamily="34" charset="0"/>
                <a:ea typeface="Calibri" pitchFamily="34" charset="-122"/>
                <a:cs typeface="Calibri" pitchFamily="34" charset="-120"/>
              </a:rPr>
              <a:t>Logs, reports, debugging and any place where objects must be shown to people in a readable way.</a:t>
            </a:r>
            <a:endParaRPr lang="en-US" sz="1600" dirty="0"/>
          </a:p>
        </p:txBody>
      </p:sp>
      <p:sp>
        <p:nvSpPr>
          <p:cNvPr id="14" name="Text 1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15" name="Text 1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STR IN PICTURES</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What Print Shows for an Object</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95728"/>
            <a:ext cx="5212080" cy="2148840"/>
          </a:xfrm>
          <a:prstGeom prst="roundRect">
            <a:avLst>
              <a:gd name="adj" fmla="val 4255"/>
            </a:avLst>
          </a:prstGeom>
          <a:solidFill>
            <a:srgbClr val="FFF7ED"/>
          </a:solidFill>
          <a:ln w="19050">
            <a:solidFill>
              <a:srgbClr val="F97316"/>
            </a:solidFill>
            <a:prstDash val="solid"/>
          </a:ln>
        </p:spPr>
      </p:sp>
      <p:sp>
        <p:nvSpPr>
          <p:cNvPr id="7" name="Text 4"/>
          <p:cNvSpPr txBox="1"/>
          <p:nvPr/>
        </p:nvSpPr>
        <p:spPr>
          <a:xfrm>
            <a:off x="914400" y="2468880"/>
            <a:ext cx="4572000" cy="274320"/>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WITHOUT __STR__</a:t>
            </a:r>
            <a:endParaRPr lang="en-US" sz="1100" dirty="0"/>
          </a:p>
        </p:txBody>
      </p:sp>
      <p:sp>
        <p:nvSpPr>
          <p:cNvPr id="8" name="Shape 5"/>
          <p:cNvSpPr/>
          <p:nvPr/>
        </p:nvSpPr>
        <p:spPr>
          <a:xfrm>
            <a:off x="914400" y="2926080"/>
            <a:ext cx="4846320" cy="594360"/>
          </a:xfrm>
          <a:prstGeom prst="roundRect">
            <a:avLst>
              <a:gd name="adj" fmla="val 12308"/>
            </a:avLst>
          </a:prstGeom>
          <a:solidFill>
            <a:srgbClr val="FFEDD5"/>
          </a:solidFill>
          <a:ln w="25400">
            <a:solidFill>
              <a:srgbClr val="F97316"/>
            </a:solidFill>
            <a:prstDash val="solid"/>
          </a:ln>
        </p:spPr>
      </p:sp>
      <p:sp>
        <p:nvSpPr>
          <p:cNvPr id="9" name="Text 6"/>
          <p:cNvSpPr txBox="1"/>
          <p:nvPr/>
        </p:nvSpPr>
        <p:spPr>
          <a:xfrm>
            <a:off x="914400" y="2926080"/>
            <a:ext cx="4846320" cy="59436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&lt;__main__.Student object at 0x...&gt;</a:t>
            </a:r>
            <a:endParaRPr lang="en-US" sz="1300" dirty="0"/>
          </a:p>
        </p:txBody>
      </p:sp>
      <p:sp>
        <p:nvSpPr>
          <p:cNvPr id="10" name="Text 7"/>
          <p:cNvSpPr txBox="1"/>
          <p:nvPr/>
        </p:nvSpPr>
        <p:spPr>
          <a:xfrm>
            <a:off x="914400" y="3703320"/>
            <a:ext cx="4846320" cy="731520"/>
          </a:xfrm>
          <a:prstGeom prst="rect">
            <a:avLst/>
          </a:prstGeom>
          <a:noFill/>
          <a:ln/>
        </p:spPr>
        <p:txBody>
          <a:bodyPr wrap="square" rtlCol="0" anchor="t"/>
          <a:lstStyle/>
          <a:p>
            <a:pPr indent="0" marL="0">
              <a:buNone/>
            </a:pPr>
            <a:r>
              <a:rPr lang="en-US" sz="1400" dirty="0">
                <a:solidFill>
                  <a:srgbClr val="64748B"/>
                </a:solidFill>
                <a:latin typeface="Calibri" pitchFamily="34" charset="0"/>
                <a:ea typeface="Calibri" pitchFamily="34" charset="-122"/>
                <a:cs typeface="Calibri" pitchFamily="34" charset="-120"/>
              </a:rPr>
              <a:t>The class name and a memory address. Not useful to a reader.</a:t>
            </a:r>
            <a:endParaRPr lang="en-US" sz="1400" dirty="0"/>
          </a:p>
        </p:txBody>
      </p:sp>
      <p:sp>
        <p:nvSpPr>
          <p:cNvPr id="11" name="Shape 8"/>
          <p:cNvSpPr/>
          <p:nvPr/>
        </p:nvSpPr>
        <p:spPr>
          <a:xfrm>
            <a:off x="6217920" y="2395728"/>
            <a:ext cx="5212080" cy="2148840"/>
          </a:xfrm>
          <a:prstGeom prst="roundRect">
            <a:avLst>
              <a:gd name="adj" fmla="val 4255"/>
            </a:avLst>
          </a:prstGeom>
          <a:solidFill>
            <a:srgbClr val="F0FDF4"/>
          </a:solidFill>
          <a:ln w="19050">
            <a:solidFill>
              <a:srgbClr val="10B981"/>
            </a:solidFill>
            <a:prstDash val="solid"/>
          </a:ln>
        </p:spPr>
      </p:sp>
      <p:sp>
        <p:nvSpPr>
          <p:cNvPr id="12" name="Text 9"/>
          <p:cNvSpPr txBox="1"/>
          <p:nvPr/>
        </p:nvSpPr>
        <p:spPr>
          <a:xfrm>
            <a:off x="6400800" y="2468880"/>
            <a:ext cx="4572000" cy="274320"/>
          </a:xfrm>
          <a:prstGeom prst="rect">
            <a:avLst/>
          </a:prstGeom>
          <a:noFill/>
          <a:ln/>
        </p:spPr>
        <p:txBody>
          <a:bodyPr wrap="square" rtlCol="0" anchor="ctr"/>
          <a:lstStyle/>
          <a:p>
            <a:pPr indent="0" marL="0">
              <a:buNone/>
            </a:pPr>
            <a:r>
              <a:rPr lang="en-US" sz="1100" b="1" spc="100" kern="0" dirty="0">
                <a:solidFill>
                  <a:srgbClr val="10B981"/>
                </a:solidFill>
                <a:latin typeface="Calibri" pitchFamily="34" charset="0"/>
                <a:ea typeface="Calibri" pitchFamily="34" charset="-122"/>
                <a:cs typeface="Calibri" pitchFamily="34" charset="-120"/>
              </a:rPr>
              <a:t>WITH __STR__</a:t>
            </a:r>
            <a:endParaRPr lang="en-US" sz="1100" dirty="0"/>
          </a:p>
        </p:txBody>
      </p:sp>
      <p:sp>
        <p:nvSpPr>
          <p:cNvPr id="13" name="Shape 10"/>
          <p:cNvSpPr/>
          <p:nvPr/>
        </p:nvSpPr>
        <p:spPr>
          <a:xfrm>
            <a:off x="6400800" y="2926080"/>
            <a:ext cx="4846320" cy="594360"/>
          </a:xfrm>
          <a:prstGeom prst="roundRect">
            <a:avLst>
              <a:gd name="adj" fmla="val 12308"/>
            </a:avLst>
          </a:prstGeom>
          <a:solidFill>
            <a:srgbClr val="D1FAE5"/>
          </a:solidFill>
          <a:ln w="25400">
            <a:solidFill>
              <a:srgbClr val="10B981"/>
            </a:solidFill>
            <a:prstDash val="solid"/>
          </a:ln>
        </p:spPr>
      </p:sp>
      <p:sp>
        <p:nvSpPr>
          <p:cNvPr id="14" name="Text 11"/>
          <p:cNvSpPr txBox="1"/>
          <p:nvPr/>
        </p:nvSpPr>
        <p:spPr>
          <a:xfrm>
            <a:off x="6400800" y="2926080"/>
            <a:ext cx="4846320" cy="59436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Student Name: Ravi, Marks: 90</a:t>
            </a:r>
            <a:endParaRPr lang="en-US" sz="1300" dirty="0"/>
          </a:p>
        </p:txBody>
      </p:sp>
      <p:sp>
        <p:nvSpPr>
          <p:cNvPr id="15" name="Text 12"/>
          <p:cNvSpPr txBox="1"/>
          <p:nvPr/>
        </p:nvSpPr>
        <p:spPr>
          <a:xfrm>
            <a:off x="6400800" y="3703320"/>
            <a:ext cx="4846320" cy="731520"/>
          </a:xfrm>
          <a:prstGeom prst="rect">
            <a:avLst/>
          </a:prstGeom>
          <a:noFill/>
          <a:ln/>
        </p:spPr>
        <p:txBody>
          <a:bodyPr wrap="square" rtlCol="0" anchor="t"/>
          <a:lstStyle/>
          <a:p>
            <a:pPr indent="0" marL="0">
              <a:buNone/>
            </a:pPr>
            <a:r>
              <a:rPr lang="en-US" sz="1400" dirty="0">
                <a:solidFill>
                  <a:srgbClr val="64748B"/>
                </a:solidFill>
                <a:latin typeface="Calibri" pitchFamily="34" charset="0"/>
                <a:ea typeface="Calibri" pitchFamily="34" charset="-122"/>
                <a:cs typeface="Calibri" pitchFamily="34" charset="-120"/>
              </a:rPr>
              <a:t>The exact text the class chose, clear and ready to read.</a:t>
            </a:r>
            <a:endParaRPr lang="en-US" sz="1400" dirty="0"/>
          </a:p>
        </p:txBody>
      </p:sp>
      <p:sp>
        <p:nvSpPr>
          <p:cNvPr id="16" name="Shape 13"/>
          <p:cNvSpPr/>
          <p:nvPr/>
        </p:nvSpPr>
        <p:spPr>
          <a:xfrm>
            <a:off x="731520" y="4709160"/>
            <a:ext cx="10698480" cy="685800"/>
          </a:xfrm>
          <a:prstGeom prst="roundRect">
            <a:avLst>
              <a:gd name="adj" fmla="val 13333"/>
            </a:avLst>
          </a:prstGeom>
          <a:solidFill>
            <a:srgbClr val="F8FAFC"/>
          </a:solidFill>
          <a:ln w="19050">
            <a:solidFill>
              <a:srgbClr val="CBD5E1"/>
            </a:solidFill>
            <a:prstDash val="solid"/>
          </a:ln>
        </p:spPr>
      </p:sp>
      <p:sp>
        <p:nvSpPr>
          <p:cNvPr id="17" name="Text 14"/>
          <p:cNvSpPr txBox="1"/>
          <p:nvPr/>
        </p:nvSpPr>
        <p:spPr>
          <a:xfrm>
            <a:off x="804672" y="4818888"/>
            <a:ext cx="10552176" cy="466344"/>
          </a:xfrm>
          <a:prstGeom prst="rect">
            <a:avLst/>
          </a:prstGeom>
          <a:noFill/>
          <a:ln/>
        </p:spPr>
        <p:txBody>
          <a:bodyPr wrap="square" rtlCol="0" anchor="ctr"/>
          <a:lstStyle/>
          <a:p>
            <a:pPr algn="ctr" indent="0" marL="0">
              <a:buNone/>
            </a:pPr>
            <a:r>
              <a:rPr lang="en-US" sz="1550" b="1" dirty="0">
                <a:solidFill>
                  <a:srgbClr val="1E293B"/>
                </a:solidFill>
                <a:latin typeface="Calibri" pitchFamily="34" charset="0"/>
                <a:ea typeface="Calibri" pitchFamily="34" charset="-122"/>
                <a:cs typeface="Calibri" pitchFamily="34" charset="-120"/>
              </a:rPr>
              <a:t>The address after 0x changes every time the program runs</a:t>
            </a:r>
            <a:endParaRPr lang="en-US" sz="1550" dirty="0"/>
          </a:p>
        </p:txBody>
      </p:sp>
      <p:sp>
        <p:nvSpPr>
          <p:cNvPr id="18" name="Shape 15"/>
          <p:cNvSpPr/>
          <p:nvPr/>
        </p:nvSpPr>
        <p:spPr>
          <a:xfrm>
            <a:off x="731520" y="5559552"/>
            <a:ext cx="10698480" cy="0"/>
          </a:xfrm>
          <a:prstGeom prst="line">
            <a:avLst/>
          </a:prstGeom>
          <a:noFill/>
          <a:ln w="12700">
            <a:solidFill>
              <a:srgbClr val="E2E8F0"/>
            </a:solidFill>
            <a:prstDash val="solid"/>
          </a:ln>
        </p:spPr>
      </p:sp>
      <p:sp>
        <p:nvSpPr>
          <p:cNvPr id="19" name="Shape 16"/>
          <p:cNvSpPr/>
          <p:nvPr/>
        </p:nvSpPr>
        <p:spPr>
          <a:xfrm>
            <a:off x="777240" y="5650992"/>
            <a:ext cx="475488" cy="475488"/>
          </a:xfrm>
          <a:prstGeom prst="ellipse">
            <a:avLst/>
          </a:prstGeom>
          <a:solidFill>
            <a:srgbClr val="FCE7F3"/>
          </a:solidFill>
          <a:ln w="19050">
            <a:solidFill>
              <a:srgbClr val="EC4899"/>
            </a:solidFill>
            <a:prstDash val="solid"/>
          </a:ln>
        </p:spPr>
      </p:sp>
      <p:pic>
        <p:nvPicPr>
          <p:cNvPr id="20"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21" name="Shape 17"/>
          <p:cNvSpPr/>
          <p:nvPr/>
        </p:nvSpPr>
        <p:spPr>
          <a:xfrm rot="2700000">
            <a:off x="1508760" y="5797296"/>
            <a:ext cx="182880" cy="182880"/>
          </a:xfrm>
          <a:prstGeom prst="rect">
            <a:avLst/>
          </a:prstGeom>
          <a:solidFill>
            <a:srgbClr val="FDF2F8"/>
          </a:solidFill>
          <a:ln w="15875">
            <a:solidFill>
              <a:srgbClr val="EC4899"/>
            </a:solidFill>
            <a:prstDash val="solid"/>
          </a:ln>
        </p:spPr>
      </p:sp>
      <p:sp>
        <p:nvSpPr>
          <p:cNvPr id="22" name="Shape 18"/>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3" name="Text 19"/>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You decide what print shows by returning text from __str__.</a:t>
            </a:r>
            <a:endParaRPr lang="en-US" sz="1400" dirty="0"/>
          </a:p>
        </p:txBody>
      </p:sp>
      <p:sp>
        <p:nvSpPr>
          <p:cNvPr id="24" name="Text 20"/>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25" name="Text 21"/>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PRINT FLOW</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How Print Decides What to Show</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731520" y="2377440"/>
            <a:ext cx="2743200" cy="566928"/>
          </a:xfrm>
          <a:prstGeom prst="flowChartTerminator">
            <a:avLst/>
          </a:prstGeom>
          <a:solidFill>
            <a:srgbClr val="F5F3FF"/>
          </a:solidFill>
          <a:ln w="22225">
            <a:solidFill>
              <a:srgbClr val="8B5CF6"/>
            </a:solidFill>
            <a:prstDash val="solid"/>
          </a:ln>
        </p:spPr>
      </p:sp>
      <p:sp>
        <p:nvSpPr>
          <p:cNvPr id="7" name="Text 4"/>
          <p:cNvSpPr txBox="1"/>
          <p:nvPr/>
        </p:nvSpPr>
        <p:spPr>
          <a:xfrm>
            <a:off x="804672" y="2377440"/>
            <a:ext cx="2596896" cy="566928"/>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print the object s1</a:t>
            </a:r>
            <a:endParaRPr lang="en-US" sz="1350" dirty="0"/>
          </a:p>
        </p:txBody>
      </p:sp>
      <p:sp>
        <p:nvSpPr>
          <p:cNvPr id="8" name="Shape 5"/>
          <p:cNvSpPr/>
          <p:nvPr/>
        </p:nvSpPr>
        <p:spPr>
          <a:xfrm>
            <a:off x="2103120" y="2971800"/>
            <a:ext cx="0" cy="228600"/>
          </a:xfrm>
          <a:prstGeom prst="line">
            <a:avLst/>
          </a:prstGeom>
          <a:noFill/>
          <a:ln w="31750">
            <a:solidFill>
              <a:srgbClr val="8B5CF6"/>
            </a:solidFill>
            <a:prstDash val="solid"/>
            <a:tailEnd type="triangle"/>
          </a:ln>
        </p:spPr>
      </p:sp>
      <p:sp>
        <p:nvSpPr>
          <p:cNvPr id="9" name="Shape 6"/>
          <p:cNvSpPr/>
          <p:nvPr/>
        </p:nvSpPr>
        <p:spPr>
          <a:xfrm>
            <a:off x="731520" y="3227832"/>
            <a:ext cx="2743200" cy="1234440"/>
          </a:xfrm>
          <a:prstGeom prst="flowChartDecision">
            <a:avLst/>
          </a:prstGeom>
          <a:solidFill>
            <a:srgbClr val="FFF7ED"/>
          </a:solidFill>
          <a:ln w="22225">
            <a:solidFill>
              <a:srgbClr val="F97316"/>
            </a:solidFill>
            <a:prstDash val="solid"/>
          </a:ln>
        </p:spPr>
      </p:sp>
      <p:sp>
        <p:nvSpPr>
          <p:cNvPr id="10" name="Text 7"/>
          <p:cNvSpPr txBox="1"/>
          <p:nvPr/>
        </p:nvSpPr>
        <p:spPr>
          <a:xfrm>
            <a:off x="1280160" y="3227832"/>
            <a:ext cx="1645920" cy="1234440"/>
          </a:xfrm>
          <a:prstGeom prst="rect">
            <a:avLst/>
          </a:prstGeom>
          <a:noFill/>
          <a:ln/>
        </p:spPr>
        <p:txBody>
          <a:bodyPr wrap="square"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Does the class have __str__?</a:t>
            </a:r>
            <a:endParaRPr lang="en-US" sz="1300" dirty="0"/>
          </a:p>
        </p:txBody>
      </p:sp>
      <p:sp>
        <p:nvSpPr>
          <p:cNvPr id="11" name="Shape 8"/>
          <p:cNvSpPr/>
          <p:nvPr/>
        </p:nvSpPr>
        <p:spPr>
          <a:xfrm>
            <a:off x="3502152" y="3840480"/>
            <a:ext cx="676656" cy="0"/>
          </a:xfrm>
          <a:prstGeom prst="line">
            <a:avLst/>
          </a:prstGeom>
          <a:noFill/>
          <a:ln w="31750">
            <a:solidFill>
              <a:srgbClr val="10B981"/>
            </a:solidFill>
            <a:prstDash val="solid"/>
            <a:tailEnd type="triangle"/>
          </a:ln>
        </p:spPr>
      </p:sp>
      <p:sp>
        <p:nvSpPr>
          <p:cNvPr id="12" name="Text 9"/>
          <p:cNvSpPr txBox="1"/>
          <p:nvPr/>
        </p:nvSpPr>
        <p:spPr>
          <a:xfrm>
            <a:off x="3474720" y="3474720"/>
            <a:ext cx="731520" cy="274320"/>
          </a:xfrm>
          <a:prstGeom prst="rect">
            <a:avLst/>
          </a:prstGeom>
          <a:noFill/>
          <a:ln/>
        </p:spPr>
        <p:txBody>
          <a:bodyPr wrap="square" rtlCol="0" anchor="ctr"/>
          <a:lstStyle/>
          <a:p>
            <a:pPr algn="ctr" indent="0" marL="0">
              <a:buNone/>
            </a:pPr>
            <a:r>
              <a:rPr lang="en-US" sz="1200" b="1" dirty="0">
                <a:solidFill>
                  <a:srgbClr val="10B981"/>
                </a:solidFill>
                <a:latin typeface="Calibri" pitchFamily="34" charset="0"/>
                <a:ea typeface="Calibri" pitchFamily="34" charset="-122"/>
                <a:cs typeface="Calibri" pitchFamily="34" charset="-120"/>
              </a:rPr>
              <a:t>Yes</a:t>
            </a:r>
            <a:endParaRPr lang="en-US" sz="1200" dirty="0"/>
          </a:p>
        </p:txBody>
      </p:sp>
      <p:sp>
        <p:nvSpPr>
          <p:cNvPr id="13" name="Shape 10"/>
          <p:cNvSpPr/>
          <p:nvPr/>
        </p:nvSpPr>
        <p:spPr>
          <a:xfrm>
            <a:off x="4206240" y="3566160"/>
            <a:ext cx="3291840" cy="566928"/>
          </a:xfrm>
          <a:prstGeom prst="flowChartProcess">
            <a:avLst/>
          </a:prstGeom>
          <a:solidFill>
            <a:srgbClr val="F0FDF4"/>
          </a:solidFill>
          <a:ln w="22225">
            <a:solidFill>
              <a:srgbClr val="10B981"/>
            </a:solidFill>
            <a:prstDash val="solid"/>
          </a:ln>
        </p:spPr>
      </p:sp>
      <p:sp>
        <p:nvSpPr>
          <p:cNvPr id="14" name="Text 11"/>
          <p:cNvSpPr txBox="1"/>
          <p:nvPr/>
        </p:nvSpPr>
        <p:spPr>
          <a:xfrm>
            <a:off x="4279392" y="3566160"/>
            <a:ext cx="3145536" cy="566928"/>
          </a:xfrm>
          <a:prstGeom prst="rect">
            <a:avLst/>
          </a:prstGeom>
          <a:noFill/>
          <a:ln/>
        </p:spPr>
        <p:txBody>
          <a:bodyPr wrap="square" rtlCol="0" anchor="ctr"/>
          <a:lstStyle/>
          <a:p>
            <a:pPr algn="ctr" indent="0" marL="0">
              <a:buNone/>
            </a:pPr>
            <a:r>
              <a:rPr lang="en-US" sz="1350" b="1" dirty="0">
                <a:solidFill>
                  <a:srgbClr val="1E293B"/>
                </a:solidFill>
                <a:latin typeface="Calibri" pitchFamily="34" charset="0"/>
                <a:ea typeface="Calibri" pitchFamily="34" charset="-122"/>
                <a:cs typeface="Calibri" pitchFamily="34" charset="-120"/>
              </a:rPr>
              <a:t>Show the text it returns</a:t>
            </a:r>
            <a:endParaRPr lang="en-US" sz="1350" dirty="0"/>
          </a:p>
        </p:txBody>
      </p:sp>
      <p:sp>
        <p:nvSpPr>
          <p:cNvPr id="15" name="Shape 12"/>
          <p:cNvSpPr/>
          <p:nvPr/>
        </p:nvSpPr>
        <p:spPr>
          <a:xfrm>
            <a:off x="2103120" y="4480560"/>
            <a:ext cx="0" cy="274320"/>
          </a:xfrm>
          <a:prstGeom prst="line">
            <a:avLst/>
          </a:prstGeom>
          <a:noFill/>
          <a:ln w="31750">
            <a:solidFill>
              <a:srgbClr val="F97316"/>
            </a:solidFill>
            <a:prstDash val="solid"/>
            <a:tailEnd type="triangle"/>
          </a:ln>
        </p:spPr>
      </p:sp>
      <p:sp>
        <p:nvSpPr>
          <p:cNvPr id="16" name="Text 13"/>
          <p:cNvSpPr txBox="1"/>
          <p:nvPr/>
        </p:nvSpPr>
        <p:spPr>
          <a:xfrm>
            <a:off x="2194560" y="4462272"/>
            <a:ext cx="548640" cy="274320"/>
          </a:xfrm>
          <a:prstGeom prst="rect">
            <a:avLst/>
          </a:prstGeom>
          <a:noFill/>
          <a:ln/>
        </p:spPr>
        <p:txBody>
          <a:bodyPr wrap="square" rtlCol="0" anchor="ctr"/>
          <a:lstStyle/>
          <a:p>
            <a:pPr algn="ctr" indent="0" marL="0">
              <a:buNone/>
            </a:pPr>
            <a:r>
              <a:rPr lang="en-US" sz="1200" b="1" dirty="0">
                <a:solidFill>
                  <a:srgbClr val="F97316"/>
                </a:solidFill>
                <a:latin typeface="Calibri" pitchFamily="34" charset="0"/>
                <a:ea typeface="Calibri" pitchFamily="34" charset="-122"/>
                <a:cs typeface="Calibri" pitchFamily="34" charset="-120"/>
              </a:rPr>
              <a:t>No</a:t>
            </a:r>
            <a:endParaRPr lang="en-US" sz="1200" dirty="0"/>
          </a:p>
        </p:txBody>
      </p:sp>
      <p:sp>
        <p:nvSpPr>
          <p:cNvPr id="17" name="Shape 14"/>
          <p:cNvSpPr/>
          <p:nvPr/>
        </p:nvSpPr>
        <p:spPr>
          <a:xfrm>
            <a:off x="731520" y="4773168"/>
            <a:ext cx="2743200" cy="640080"/>
          </a:xfrm>
          <a:prstGeom prst="flowChartProcess">
            <a:avLst/>
          </a:prstGeom>
          <a:solidFill>
            <a:srgbClr val="FFF7ED"/>
          </a:solidFill>
          <a:ln w="22225">
            <a:solidFill>
              <a:srgbClr val="F97316"/>
            </a:solidFill>
            <a:prstDash val="solid"/>
          </a:ln>
        </p:spPr>
      </p:sp>
      <p:sp>
        <p:nvSpPr>
          <p:cNvPr id="18" name="Text 15"/>
          <p:cNvSpPr txBox="1"/>
          <p:nvPr/>
        </p:nvSpPr>
        <p:spPr>
          <a:xfrm>
            <a:off x="804672" y="4773168"/>
            <a:ext cx="2596896" cy="640080"/>
          </a:xfrm>
          <a:prstGeom prst="rect">
            <a:avLst/>
          </a:prstGeom>
          <a:noFill/>
          <a:ln/>
        </p:spPr>
        <p:txBody>
          <a:bodyPr wrap="square"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Show class name and address</a:t>
            </a:r>
            <a:endParaRPr lang="en-US" sz="1300" dirty="0"/>
          </a:p>
        </p:txBody>
      </p:sp>
      <p:sp>
        <p:nvSpPr>
          <p:cNvPr id="19" name="Shape 16"/>
          <p:cNvSpPr/>
          <p:nvPr/>
        </p:nvSpPr>
        <p:spPr>
          <a:xfrm>
            <a:off x="7863840" y="2743200"/>
            <a:ext cx="3566160" cy="1737360"/>
          </a:xfrm>
          <a:prstGeom prst="roundRect">
            <a:avLst>
              <a:gd name="adj" fmla="val 5263"/>
            </a:avLst>
          </a:prstGeom>
          <a:solidFill>
            <a:srgbClr val="F5F3FF"/>
          </a:solidFill>
          <a:ln w="19050">
            <a:solidFill>
              <a:srgbClr val="8B5CF6"/>
            </a:solidFill>
            <a:prstDash val="solid"/>
          </a:ln>
        </p:spPr>
      </p:sp>
      <p:sp>
        <p:nvSpPr>
          <p:cNvPr id="20" name="Text 17"/>
          <p:cNvSpPr txBox="1"/>
          <p:nvPr/>
        </p:nvSpPr>
        <p:spPr>
          <a:xfrm>
            <a:off x="7936992" y="2852928"/>
            <a:ext cx="3419856" cy="347472"/>
          </a:xfrm>
          <a:prstGeom prst="rect">
            <a:avLst/>
          </a:prstGeom>
          <a:noFill/>
          <a:ln/>
        </p:spPr>
        <p:txBody>
          <a:bodyPr wrap="square" rtlCol="0" anchor="t"/>
          <a:lstStyle/>
          <a:p>
            <a:pPr algn="ctr" indent="0" marL="0">
              <a:buNone/>
            </a:pPr>
            <a:r>
              <a:rPr lang="en-US" sz="1600" b="1" dirty="0">
                <a:solidFill>
                  <a:srgbClr val="1E293B"/>
                </a:solidFill>
                <a:latin typeface="Calibri" pitchFamily="34" charset="0"/>
                <a:ea typeface="Calibri" pitchFamily="34" charset="-122"/>
                <a:cs typeface="Calibri" pitchFamily="34" charset="-120"/>
              </a:rPr>
              <a:t>Print asks the object</a:t>
            </a:r>
            <a:endParaRPr lang="en-US" sz="1600" dirty="0"/>
          </a:p>
        </p:txBody>
      </p:sp>
      <p:sp>
        <p:nvSpPr>
          <p:cNvPr id="21" name="Text 18"/>
          <p:cNvSpPr txBox="1"/>
          <p:nvPr/>
        </p:nvSpPr>
        <p:spPr>
          <a:xfrm>
            <a:off x="7955280" y="3200400"/>
            <a:ext cx="3383280" cy="1207008"/>
          </a:xfrm>
          <a:prstGeom prst="rect">
            <a:avLst/>
          </a:prstGeom>
          <a:noFill/>
          <a:ln/>
        </p:spPr>
        <p:txBody>
          <a:bodyPr wrap="square"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print asks the object for its text. __str__ is how the object answers.</a:t>
            </a:r>
            <a:endParaRPr lang="en-US" sz="1350" dirty="0"/>
          </a:p>
        </p:txBody>
      </p:sp>
      <p:sp>
        <p:nvSpPr>
          <p:cNvPr id="22" name="Shape 19"/>
          <p:cNvSpPr/>
          <p:nvPr/>
        </p:nvSpPr>
        <p:spPr>
          <a:xfrm>
            <a:off x="731520" y="5559552"/>
            <a:ext cx="10698480" cy="0"/>
          </a:xfrm>
          <a:prstGeom prst="line">
            <a:avLst/>
          </a:prstGeom>
          <a:noFill/>
          <a:ln w="12700">
            <a:solidFill>
              <a:srgbClr val="E2E8F0"/>
            </a:solidFill>
            <a:prstDash val="solid"/>
          </a:ln>
        </p:spPr>
      </p:sp>
      <p:sp>
        <p:nvSpPr>
          <p:cNvPr id="23" name="Shape 20"/>
          <p:cNvSpPr/>
          <p:nvPr/>
        </p:nvSpPr>
        <p:spPr>
          <a:xfrm>
            <a:off x="777240" y="5650992"/>
            <a:ext cx="475488" cy="475488"/>
          </a:xfrm>
          <a:prstGeom prst="ellipse">
            <a:avLst/>
          </a:prstGeom>
          <a:solidFill>
            <a:srgbClr val="FCE7F3"/>
          </a:solidFill>
          <a:ln w="19050">
            <a:solidFill>
              <a:srgbClr val="EC4899"/>
            </a:solidFill>
            <a:prstDash val="solid"/>
          </a:ln>
        </p:spPr>
      </p:sp>
      <p:pic>
        <p:nvPicPr>
          <p:cNvPr id="24" name="Image 1" descr="assets/icon2_user_pink.png">    </p:cNvPr>
          <p:cNvPicPr>
            <a:picLocks noChangeAspect="1"/>
          </p:cNvPicPr>
          <p:nvPr/>
        </p:nvPicPr>
        <p:blipFill>
          <a:blip r:embed="rId2"/>
          <a:stretch>
            <a:fillRect/>
          </a:stretch>
        </p:blipFill>
        <p:spPr>
          <a:xfrm>
            <a:off x="872338" y="5746090"/>
            <a:ext cx="285293" cy="285293"/>
          </a:xfrm>
          <a:prstGeom prst="rect">
            <a:avLst/>
          </a:prstGeom>
        </p:spPr>
      </p:pic>
      <p:sp>
        <p:nvSpPr>
          <p:cNvPr id="25" name="Shape 21"/>
          <p:cNvSpPr/>
          <p:nvPr/>
        </p:nvSpPr>
        <p:spPr>
          <a:xfrm rot="2700000">
            <a:off x="1508760" y="5797296"/>
            <a:ext cx="182880" cy="182880"/>
          </a:xfrm>
          <a:prstGeom prst="rect">
            <a:avLst/>
          </a:prstGeom>
          <a:solidFill>
            <a:srgbClr val="FDF2F8"/>
          </a:solidFill>
          <a:ln w="15875">
            <a:solidFill>
              <a:srgbClr val="EC4899"/>
            </a:solidFill>
            <a:prstDash val="solid"/>
          </a:ln>
        </p:spPr>
      </p:sp>
      <p:sp>
        <p:nvSpPr>
          <p:cNvPr id="26" name="Shape 22"/>
          <p:cNvSpPr/>
          <p:nvPr/>
        </p:nvSpPr>
        <p:spPr>
          <a:xfrm>
            <a:off x="1600200" y="5641848"/>
            <a:ext cx="9829800" cy="502920"/>
          </a:xfrm>
          <a:prstGeom prst="roundRect">
            <a:avLst>
              <a:gd name="adj" fmla="val 21818"/>
            </a:avLst>
          </a:prstGeom>
          <a:solidFill>
            <a:srgbClr val="FDF2F8"/>
          </a:solidFill>
          <a:ln w="15875">
            <a:solidFill>
              <a:srgbClr val="EC4899"/>
            </a:solidFill>
            <a:prstDash val="solid"/>
          </a:ln>
        </p:spPr>
      </p:sp>
      <p:sp>
        <p:nvSpPr>
          <p:cNvPr id="27" name="Text 23"/>
          <p:cNvSpPr txBox="1"/>
          <p:nvPr/>
        </p:nvSpPr>
        <p:spPr>
          <a:xfrm>
            <a:off x="1783080" y="5641848"/>
            <a:ext cx="9464040" cy="502920"/>
          </a:xfrm>
          <a:prstGeom prst="rect">
            <a:avLst/>
          </a:prstGeom>
          <a:noFill/>
          <a:ln/>
        </p:spPr>
        <p:txBody>
          <a:bodyPr wrap="square" rtlCol="0" anchor="ctr"/>
          <a:lstStyle/>
          <a:p>
            <a:pPr indent="0" marL="0">
              <a:buNone/>
            </a:pPr>
            <a:r>
              <a:rPr lang="en-US" sz="1400" b="1" dirty="0">
                <a:solidFill>
                  <a:srgbClr val="EC4899"/>
                </a:solidFill>
                <a:latin typeface="Calibri" pitchFamily="34" charset="0"/>
                <a:ea typeface="Calibri" pitchFamily="34" charset="-122"/>
                <a:cs typeface="Calibri" pitchFamily="34" charset="-120"/>
              </a:rPr>
              <a:t>Ravi says  </a:t>
            </a:r>
            <a:pPr indent="0" marL="0">
              <a:buNone/>
            </a:pPr>
            <a:r>
              <a:rPr lang="en-US" sz="1400" dirty="0">
                <a:solidFill>
                  <a:srgbClr val="1E293B"/>
                </a:solidFill>
                <a:latin typeface="Calibri" pitchFamily="34" charset="0"/>
                <a:ea typeface="Calibri" pitchFamily="34" charset="-122"/>
                <a:cs typeface="Calibri" pitchFamily="34" charset="-120"/>
              </a:rPr>
              <a:t>Write __str__ once and every print of that object is readable.</a:t>
            </a:r>
            <a:endParaRPr lang="en-US" sz="1400" dirty="0"/>
          </a:p>
        </p:txBody>
      </p:sp>
      <p:sp>
        <p:nvSpPr>
          <p:cNvPr id="28" name="Text 24"/>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29" name="Text 25"/>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WHERE IT IS USED</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Advanced OOP in the Real World</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Text 3"/>
          <p:cNvSpPr txBox="1"/>
          <p:nvPr/>
        </p:nvSpPr>
        <p:spPr>
          <a:xfrm>
            <a:off x="731520" y="2359152"/>
            <a:ext cx="5120640" cy="320040"/>
          </a:xfrm>
          <a:prstGeom prst="rect">
            <a:avLst/>
          </a:prstGeom>
          <a:noFill/>
          <a:ln/>
        </p:spPr>
        <p:txBody>
          <a:bodyPr wrap="square" rtlCol="0" anchor="ctr"/>
          <a:lstStyle/>
          <a:p>
            <a:pPr indent="0" marL="0">
              <a:buNone/>
            </a:pPr>
            <a:r>
              <a:rPr lang="en-US" sz="1400" b="1" dirty="0">
                <a:solidFill>
                  <a:srgbClr val="14B8A6"/>
                </a:solidFill>
                <a:latin typeface="Calibri" pitchFamily="34" charset="0"/>
                <a:ea typeface="Calibri" pitchFamily="34" charset="-122"/>
                <a:cs typeface="Calibri" pitchFamily="34" charset="-120"/>
              </a:rPr>
              <a:t>Industries</a:t>
            </a:r>
            <a:endParaRPr lang="en-US" sz="1400" dirty="0"/>
          </a:p>
        </p:txBody>
      </p:sp>
      <p:sp>
        <p:nvSpPr>
          <p:cNvPr id="7" name="Shape 4"/>
          <p:cNvSpPr/>
          <p:nvPr/>
        </p:nvSpPr>
        <p:spPr>
          <a:xfrm>
            <a:off x="731520" y="2743200"/>
            <a:ext cx="5212080" cy="749808"/>
          </a:xfrm>
          <a:prstGeom prst="roundRect">
            <a:avLst>
              <a:gd name="adj" fmla="val 9756"/>
            </a:avLst>
          </a:prstGeom>
          <a:solidFill>
            <a:srgbClr val="FFFFFF"/>
          </a:solidFill>
          <a:ln w="15875">
            <a:solidFill>
              <a:srgbClr val="14B8A6"/>
            </a:solidFill>
            <a:prstDash val="solid"/>
          </a:ln>
        </p:spPr>
      </p:sp>
      <p:pic>
        <p:nvPicPr>
          <p:cNvPr id="8" name="Image 1" descr="assets/icon2_bank_navy.png">    </p:cNvPr>
          <p:cNvPicPr>
            <a:picLocks noChangeAspect="1"/>
          </p:cNvPicPr>
          <p:nvPr/>
        </p:nvPicPr>
        <p:blipFill>
          <a:blip r:embed="rId2"/>
          <a:stretch>
            <a:fillRect/>
          </a:stretch>
        </p:blipFill>
        <p:spPr>
          <a:xfrm>
            <a:off x="896112" y="2916936"/>
            <a:ext cx="402336" cy="402336"/>
          </a:xfrm>
          <a:prstGeom prst="rect">
            <a:avLst/>
          </a:prstGeom>
        </p:spPr>
      </p:pic>
      <p:sp>
        <p:nvSpPr>
          <p:cNvPr id="9" name="Text 5"/>
          <p:cNvSpPr txBox="1"/>
          <p:nvPr/>
        </p:nvSpPr>
        <p:spPr>
          <a:xfrm>
            <a:off x="1463040" y="274320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Banking</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private balances changed only through safe methods</a:t>
            </a:r>
            <a:endParaRPr lang="en-US" sz="1500" dirty="0"/>
          </a:p>
        </p:txBody>
      </p:sp>
      <p:sp>
        <p:nvSpPr>
          <p:cNvPr id="10" name="Shape 6"/>
          <p:cNvSpPr/>
          <p:nvPr/>
        </p:nvSpPr>
        <p:spPr>
          <a:xfrm>
            <a:off x="731520" y="3611880"/>
            <a:ext cx="5212080" cy="749808"/>
          </a:xfrm>
          <a:prstGeom prst="roundRect">
            <a:avLst>
              <a:gd name="adj" fmla="val 9756"/>
            </a:avLst>
          </a:prstGeom>
          <a:solidFill>
            <a:srgbClr val="FFFFFF"/>
          </a:solidFill>
          <a:ln w="15875">
            <a:solidFill>
              <a:srgbClr val="14B8A6"/>
            </a:solidFill>
            <a:prstDash val="solid"/>
          </a:ln>
        </p:spPr>
      </p:sp>
      <p:pic>
        <p:nvPicPr>
          <p:cNvPr id="11" name="Image 2" descr="assets/icon2_users_pink.png">    </p:cNvPr>
          <p:cNvPicPr>
            <a:picLocks noChangeAspect="1"/>
          </p:cNvPicPr>
          <p:nvPr/>
        </p:nvPicPr>
        <p:blipFill>
          <a:blip r:embed="rId3"/>
          <a:stretch>
            <a:fillRect/>
          </a:stretch>
        </p:blipFill>
        <p:spPr>
          <a:xfrm>
            <a:off x="896112" y="3785616"/>
            <a:ext cx="402336" cy="402336"/>
          </a:xfrm>
          <a:prstGeom prst="rect">
            <a:avLst/>
          </a:prstGeom>
        </p:spPr>
      </p:pic>
      <p:sp>
        <p:nvSpPr>
          <p:cNvPr id="12" name="Text 7"/>
          <p:cNvSpPr txBox="1"/>
          <p:nvPr/>
        </p:nvSpPr>
        <p:spPr>
          <a:xfrm>
            <a:off x="1463040" y="361188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Human Resources</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salary rules checked before saving</a:t>
            </a:r>
            <a:endParaRPr lang="en-US" sz="1500" dirty="0"/>
          </a:p>
        </p:txBody>
      </p:sp>
      <p:sp>
        <p:nvSpPr>
          <p:cNvPr id="13" name="Shape 8"/>
          <p:cNvSpPr/>
          <p:nvPr/>
        </p:nvSpPr>
        <p:spPr>
          <a:xfrm>
            <a:off x="731520" y="4480560"/>
            <a:ext cx="5212080" cy="749808"/>
          </a:xfrm>
          <a:prstGeom prst="roundRect">
            <a:avLst>
              <a:gd name="adj" fmla="val 9756"/>
            </a:avLst>
          </a:prstGeom>
          <a:solidFill>
            <a:srgbClr val="FFFFFF"/>
          </a:solidFill>
          <a:ln w="15875">
            <a:solidFill>
              <a:srgbClr val="14B8A6"/>
            </a:solidFill>
            <a:prstDash val="solid"/>
          </a:ln>
        </p:spPr>
      </p:sp>
      <p:pic>
        <p:nvPicPr>
          <p:cNvPr id="14" name="Image 3" descr="assets/icon2_cart_orange.png">    </p:cNvPr>
          <p:cNvPicPr>
            <a:picLocks noChangeAspect="1"/>
          </p:cNvPicPr>
          <p:nvPr/>
        </p:nvPicPr>
        <p:blipFill>
          <a:blip r:embed="rId4"/>
          <a:stretch>
            <a:fillRect/>
          </a:stretch>
        </p:blipFill>
        <p:spPr>
          <a:xfrm>
            <a:off x="896112" y="4654296"/>
            <a:ext cx="402336" cy="402336"/>
          </a:xfrm>
          <a:prstGeom prst="rect">
            <a:avLst/>
          </a:prstGeom>
        </p:spPr>
      </p:pic>
      <p:sp>
        <p:nvSpPr>
          <p:cNvPr id="15" name="Text 9"/>
          <p:cNvSpPr txBox="1"/>
          <p:nvPr/>
        </p:nvSpPr>
        <p:spPr>
          <a:xfrm>
            <a:off x="1463040" y="448056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Online Shopping</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one pay call for many payment types</a:t>
            </a:r>
            <a:endParaRPr lang="en-US" sz="1500" dirty="0"/>
          </a:p>
        </p:txBody>
      </p:sp>
      <p:sp>
        <p:nvSpPr>
          <p:cNvPr id="16" name="Shape 10"/>
          <p:cNvSpPr/>
          <p:nvPr/>
        </p:nvSpPr>
        <p:spPr>
          <a:xfrm>
            <a:off x="731520" y="5349240"/>
            <a:ext cx="5212080" cy="749808"/>
          </a:xfrm>
          <a:prstGeom prst="roundRect">
            <a:avLst>
              <a:gd name="adj" fmla="val 9756"/>
            </a:avLst>
          </a:prstGeom>
          <a:solidFill>
            <a:srgbClr val="FFFFFF"/>
          </a:solidFill>
          <a:ln w="15875">
            <a:solidFill>
              <a:srgbClr val="14B8A6"/>
            </a:solidFill>
            <a:prstDash val="solid"/>
          </a:ln>
        </p:spPr>
      </p:sp>
      <p:pic>
        <p:nvPicPr>
          <p:cNvPr id="17" name="Image 4" descr="assets/icon2_hospital_pink.png">    </p:cNvPr>
          <p:cNvPicPr>
            <a:picLocks noChangeAspect="1"/>
          </p:cNvPicPr>
          <p:nvPr/>
        </p:nvPicPr>
        <p:blipFill>
          <a:blip r:embed="rId5"/>
          <a:stretch>
            <a:fillRect/>
          </a:stretch>
        </p:blipFill>
        <p:spPr>
          <a:xfrm>
            <a:off x="896112" y="5522976"/>
            <a:ext cx="402336" cy="402336"/>
          </a:xfrm>
          <a:prstGeom prst="rect">
            <a:avLst/>
          </a:prstGeom>
        </p:spPr>
      </p:pic>
      <p:sp>
        <p:nvSpPr>
          <p:cNvPr id="18" name="Text 11"/>
          <p:cNvSpPr txBox="1"/>
          <p:nvPr/>
        </p:nvSpPr>
        <p:spPr>
          <a:xfrm>
            <a:off x="1463040" y="534924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Healthcare</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patient records protected from direct edits</a:t>
            </a:r>
            <a:endParaRPr lang="en-US" sz="1500" dirty="0"/>
          </a:p>
        </p:txBody>
      </p:sp>
      <p:sp>
        <p:nvSpPr>
          <p:cNvPr id="19" name="Text 12"/>
          <p:cNvSpPr txBox="1"/>
          <p:nvPr/>
        </p:nvSpPr>
        <p:spPr>
          <a:xfrm>
            <a:off x="6217920" y="2359152"/>
            <a:ext cx="5120640" cy="320040"/>
          </a:xfrm>
          <a:prstGeom prst="rect">
            <a:avLst/>
          </a:prstGeom>
          <a:noFill/>
          <a:ln/>
        </p:spPr>
        <p:txBody>
          <a:bodyPr wrap="square" rtlCol="0" anchor="ctr"/>
          <a:lstStyle/>
          <a:p>
            <a:pPr indent="0" marL="0">
              <a:buNone/>
            </a:pPr>
            <a:r>
              <a:rPr lang="en-US" sz="1400" b="1" dirty="0">
                <a:solidFill>
                  <a:srgbClr val="8B5CF6"/>
                </a:solidFill>
                <a:latin typeface="Calibri" pitchFamily="34" charset="0"/>
                <a:ea typeface="Calibri" pitchFamily="34" charset="-122"/>
                <a:cs typeface="Calibri" pitchFamily="34" charset="-120"/>
              </a:rPr>
              <a:t>Real time projects</a:t>
            </a:r>
            <a:endParaRPr lang="en-US" sz="1400" dirty="0"/>
          </a:p>
        </p:txBody>
      </p:sp>
      <p:sp>
        <p:nvSpPr>
          <p:cNvPr id="20" name="Shape 13"/>
          <p:cNvSpPr/>
          <p:nvPr/>
        </p:nvSpPr>
        <p:spPr>
          <a:xfrm>
            <a:off x="6217920" y="2743200"/>
            <a:ext cx="5212080" cy="749808"/>
          </a:xfrm>
          <a:prstGeom prst="roundRect">
            <a:avLst>
              <a:gd name="adj" fmla="val 9756"/>
            </a:avLst>
          </a:prstGeom>
          <a:solidFill>
            <a:srgbClr val="FFFFFF"/>
          </a:solidFill>
          <a:ln w="15875">
            <a:solidFill>
              <a:srgbClr val="8B5CF6"/>
            </a:solidFill>
            <a:prstDash val="solid"/>
          </a:ln>
        </p:spPr>
      </p:sp>
      <p:pic>
        <p:nvPicPr>
          <p:cNvPr id="21" name="Image 5" descr="assets/icon2_banknote_green.png">    </p:cNvPr>
          <p:cNvPicPr>
            <a:picLocks noChangeAspect="1"/>
          </p:cNvPicPr>
          <p:nvPr/>
        </p:nvPicPr>
        <p:blipFill>
          <a:blip r:embed="rId6"/>
          <a:stretch>
            <a:fillRect/>
          </a:stretch>
        </p:blipFill>
        <p:spPr>
          <a:xfrm>
            <a:off x="6382512" y="2916936"/>
            <a:ext cx="402336" cy="402336"/>
          </a:xfrm>
          <a:prstGeom prst="rect">
            <a:avLst/>
          </a:prstGeom>
        </p:spPr>
      </p:pic>
      <p:sp>
        <p:nvSpPr>
          <p:cNvPr id="22" name="Text 14"/>
          <p:cNvSpPr txBox="1"/>
          <p:nvPr/>
        </p:nvSpPr>
        <p:spPr>
          <a:xfrm>
            <a:off x="6949440" y="274320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ATM Simulator</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deposit, withdraw and balance with rules</a:t>
            </a:r>
            <a:endParaRPr lang="en-US" sz="1500" dirty="0"/>
          </a:p>
        </p:txBody>
      </p:sp>
      <p:sp>
        <p:nvSpPr>
          <p:cNvPr id="23" name="Shape 15"/>
          <p:cNvSpPr/>
          <p:nvPr/>
        </p:nvSpPr>
        <p:spPr>
          <a:xfrm>
            <a:off x="6217920" y="3611880"/>
            <a:ext cx="5212080" cy="749808"/>
          </a:xfrm>
          <a:prstGeom prst="roundRect">
            <a:avLst>
              <a:gd name="adj" fmla="val 9756"/>
            </a:avLst>
          </a:prstGeom>
          <a:solidFill>
            <a:srgbClr val="FFFFFF"/>
          </a:solidFill>
          <a:ln w="15875">
            <a:solidFill>
              <a:srgbClr val="8B5CF6"/>
            </a:solidFill>
            <a:prstDash val="solid"/>
          </a:ln>
        </p:spPr>
      </p:sp>
      <p:pic>
        <p:nvPicPr>
          <p:cNvPr id="24" name="Image 6" descr="assets/icon2_idcard_purple.png">    </p:cNvPr>
          <p:cNvPicPr>
            <a:picLocks noChangeAspect="1"/>
          </p:cNvPicPr>
          <p:nvPr/>
        </p:nvPicPr>
        <p:blipFill>
          <a:blip r:embed="rId7"/>
          <a:stretch>
            <a:fillRect/>
          </a:stretch>
        </p:blipFill>
        <p:spPr>
          <a:xfrm>
            <a:off x="6382512" y="3785616"/>
            <a:ext cx="402336" cy="402336"/>
          </a:xfrm>
          <a:prstGeom prst="rect">
            <a:avLst/>
          </a:prstGeom>
        </p:spPr>
      </p:pic>
      <p:sp>
        <p:nvSpPr>
          <p:cNvPr id="25" name="Text 16"/>
          <p:cNvSpPr txBox="1"/>
          <p:nvPr/>
        </p:nvSpPr>
        <p:spPr>
          <a:xfrm>
            <a:off x="6949440" y="361188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Employee Payroll System</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validated salary updates</a:t>
            </a:r>
            <a:endParaRPr lang="en-US" sz="1500" dirty="0"/>
          </a:p>
        </p:txBody>
      </p:sp>
      <p:sp>
        <p:nvSpPr>
          <p:cNvPr id="26" name="Shape 17"/>
          <p:cNvSpPr/>
          <p:nvPr/>
        </p:nvSpPr>
        <p:spPr>
          <a:xfrm>
            <a:off x="6217920" y="4480560"/>
            <a:ext cx="5212080" cy="749808"/>
          </a:xfrm>
          <a:prstGeom prst="roundRect">
            <a:avLst>
              <a:gd name="adj" fmla="val 9756"/>
            </a:avLst>
          </a:prstGeom>
          <a:solidFill>
            <a:srgbClr val="FFFFFF"/>
          </a:solidFill>
          <a:ln w="15875">
            <a:solidFill>
              <a:srgbClr val="8B5CF6"/>
            </a:solidFill>
            <a:prstDash val="solid"/>
          </a:ln>
        </p:spPr>
      </p:sp>
      <p:pic>
        <p:nvPicPr>
          <p:cNvPr id="27" name="Image 7" descr="assets/icon2_wallet_green.png">    </p:cNvPr>
          <p:cNvPicPr>
            <a:picLocks noChangeAspect="1"/>
          </p:cNvPicPr>
          <p:nvPr/>
        </p:nvPicPr>
        <p:blipFill>
          <a:blip r:embed="rId8"/>
          <a:stretch>
            <a:fillRect/>
          </a:stretch>
        </p:blipFill>
        <p:spPr>
          <a:xfrm>
            <a:off x="6382512" y="4654296"/>
            <a:ext cx="402336" cy="402336"/>
          </a:xfrm>
          <a:prstGeom prst="rect">
            <a:avLst/>
          </a:prstGeom>
        </p:spPr>
      </p:pic>
      <p:sp>
        <p:nvSpPr>
          <p:cNvPr id="28" name="Text 18"/>
          <p:cNvSpPr txBox="1"/>
          <p:nvPr/>
        </p:nvSpPr>
        <p:spPr>
          <a:xfrm>
            <a:off x="6949440" y="448056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Payment Gateway</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one pay method for card, UPI and wallet</a:t>
            </a:r>
            <a:endParaRPr lang="en-US" sz="1500" dirty="0"/>
          </a:p>
        </p:txBody>
      </p:sp>
      <p:sp>
        <p:nvSpPr>
          <p:cNvPr id="29" name="Shape 19"/>
          <p:cNvSpPr/>
          <p:nvPr/>
        </p:nvSpPr>
        <p:spPr>
          <a:xfrm>
            <a:off x="6217920" y="5349240"/>
            <a:ext cx="5212080" cy="749808"/>
          </a:xfrm>
          <a:prstGeom prst="roundRect">
            <a:avLst>
              <a:gd name="adj" fmla="val 9756"/>
            </a:avLst>
          </a:prstGeom>
          <a:solidFill>
            <a:srgbClr val="FFFFFF"/>
          </a:solidFill>
          <a:ln w="15875">
            <a:solidFill>
              <a:srgbClr val="8B5CF6"/>
            </a:solidFill>
            <a:prstDash val="solid"/>
          </a:ln>
        </p:spPr>
      </p:sp>
      <p:pic>
        <p:nvPicPr>
          <p:cNvPr id="30" name="Image 8" descr="assets/icon2_printer_teal.png">    </p:cNvPr>
          <p:cNvPicPr>
            <a:picLocks noChangeAspect="1"/>
          </p:cNvPicPr>
          <p:nvPr/>
        </p:nvPicPr>
        <p:blipFill>
          <a:blip r:embed="rId9"/>
          <a:stretch>
            <a:fillRect/>
          </a:stretch>
        </p:blipFill>
        <p:spPr>
          <a:xfrm>
            <a:off x="6382512" y="5522976"/>
            <a:ext cx="402336" cy="402336"/>
          </a:xfrm>
          <a:prstGeom prst="rect">
            <a:avLst/>
          </a:prstGeom>
        </p:spPr>
      </p:pic>
      <p:sp>
        <p:nvSpPr>
          <p:cNvPr id="31" name="Text 20"/>
          <p:cNvSpPr txBox="1"/>
          <p:nvPr/>
        </p:nvSpPr>
        <p:spPr>
          <a:xfrm>
            <a:off x="6949440" y="5349240"/>
            <a:ext cx="4389120" cy="749808"/>
          </a:xfrm>
          <a:prstGeom prst="rect">
            <a:avLst/>
          </a:prstGeom>
          <a:noFill/>
          <a:ln/>
        </p:spPr>
        <p:txBody>
          <a:bodyPr wrap="square"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Student Report Printer</a:t>
            </a:r>
            <a:endParaRPr lang="en-US" sz="1500" dirty="0"/>
          </a:p>
          <a:p>
            <a:pPr indent="0" marL="0">
              <a:buNone/>
            </a:pPr>
            <a:r>
              <a:rPr lang="en-US" sz="1250" dirty="0">
                <a:solidFill>
                  <a:srgbClr val="64748B"/>
                </a:solidFill>
                <a:latin typeface="Calibri" pitchFamily="34" charset="0"/>
                <a:ea typeface="Calibri" pitchFamily="34" charset="-122"/>
                <a:cs typeface="Calibri" pitchFamily="34" charset="-120"/>
              </a:rPr>
              <a:t>readable printed student details</a:t>
            </a:r>
            <a:endParaRPr lang="en-US" sz="1500" dirty="0"/>
          </a:p>
        </p:txBody>
      </p:sp>
      <p:sp>
        <p:nvSpPr>
          <p:cNvPr id="32" name="Text 21"/>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33" name="Text 22"/>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9601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PRACTICE TIME</a:t>
            </a:r>
            <a:endParaRPr lang="en-US" sz="1400" dirty="0"/>
          </a:p>
        </p:txBody>
      </p:sp>
      <p:sp>
        <p:nvSpPr>
          <p:cNvPr id="4" name="Text 1"/>
          <p:cNvSpPr txBox="1"/>
          <p:nvPr/>
        </p:nvSpPr>
        <p:spPr>
          <a:xfrm>
            <a:off x="457200" y="1280160"/>
            <a:ext cx="11155680" cy="822960"/>
          </a:xfrm>
          <a:prstGeom prst="rect">
            <a:avLst/>
          </a:prstGeom>
          <a:noFill/>
          <a:ln/>
        </p:spPr>
        <p:txBody>
          <a:bodyPr wrap="square"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Ravi's Practice Challenges</a:t>
            </a:r>
            <a:endParaRPr lang="en-US" sz="3000" dirty="0"/>
          </a:p>
        </p:txBody>
      </p:sp>
      <p:sp>
        <p:nvSpPr>
          <p:cNvPr id="5" name="rc_vis"/>
          <p:cNvSpPr/>
          <p:nvPr/>
        </p:nvSpPr>
        <p:spPr>
          <a:xfrm>
            <a:off x="457200" y="2240280"/>
            <a:ext cx="11247120" cy="4023360"/>
          </a:xfrm>
          <a:prstGeom prst="roundRect">
            <a:avLst>
              <a:gd name="adj" fmla="val 2273"/>
            </a:avLst>
          </a:prstGeom>
          <a:solidFill>
            <a:srgbClr val="F8FAFC"/>
          </a:solidFill>
          <a:ln w="12700">
            <a:solidFill>
              <a:srgbClr val="E2E8F0"/>
            </a:solidFill>
            <a:prstDash val="solid"/>
          </a:ln>
          <a:effectLst>
            <a:outerShdw sx="100000" sy="100000" kx="0" ky="0" algn="bl" rotWithShape="0" blurRad="76200" dist="25400" dir="5400000">
              <a:srgbClr val="000000">
                <a:alpha val="8000"/>
              </a:srgbClr>
            </a:outerShdw>
          </a:effectLst>
        </p:spPr>
      </p:sp>
      <p:sp>
        <p:nvSpPr>
          <p:cNvPr id="6" name="Shape 3"/>
          <p:cNvSpPr/>
          <p:nvPr/>
        </p:nvSpPr>
        <p:spPr>
          <a:xfrm>
            <a:off x="685800" y="2395728"/>
            <a:ext cx="2560320" cy="3749040"/>
          </a:xfrm>
          <a:prstGeom prst="roundRect">
            <a:avLst>
              <a:gd name="adj" fmla="val 3571"/>
            </a:avLst>
          </a:prstGeom>
          <a:solidFill>
            <a:srgbClr val="FFFFFF"/>
          </a:solidFill>
          <a:ln w="19050">
            <a:solidFill>
              <a:srgbClr val="8B5CF6"/>
            </a:solidFill>
            <a:prstDash val="solid"/>
          </a:ln>
        </p:spPr>
      </p:sp>
      <p:sp>
        <p:nvSpPr>
          <p:cNvPr id="7" name="Shape 4"/>
          <p:cNvSpPr/>
          <p:nvPr/>
        </p:nvSpPr>
        <p:spPr>
          <a:xfrm>
            <a:off x="868680" y="2560320"/>
            <a:ext cx="457200" cy="457200"/>
          </a:xfrm>
          <a:prstGeom prst="ellipse">
            <a:avLst/>
          </a:prstGeom>
          <a:solidFill>
            <a:srgbClr val="8B5CF6"/>
          </a:solidFill>
          <a:ln w="12700">
            <a:solidFill>
              <a:srgbClr val="FFFFFF"/>
            </a:solidFill>
            <a:prstDash val="solid"/>
          </a:ln>
        </p:spPr>
      </p:sp>
      <p:sp>
        <p:nvSpPr>
          <p:cNvPr id="8" name="Text 5"/>
          <p:cNvSpPr txBox="1"/>
          <p:nvPr/>
        </p:nvSpPr>
        <p:spPr>
          <a:xfrm>
            <a:off x="8686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4630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Safe Wallet</a:t>
            </a:r>
            <a:endParaRPr lang="en-US" sz="1600" dirty="0"/>
          </a:p>
        </p:txBody>
      </p:sp>
      <p:sp>
        <p:nvSpPr>
          <p:cNvPr id="10" name="Text 7"/>
          <p:cNvSpPr txBox="1"/>
          <p:nvPr/>
        </p:nvSpPr>
        <p:spPr>
          <a:xfrm>
            <a:off x="9144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Keep the balance private. Add money with a method and show it.</a:t>
            </a:r>
            <a:endParaRPr lang="en-US" sz="1350" dirty="0"/>
          </a:p>
        </p:txBody>
      </p:sp>
      <p:sp>
        <p:nvSpPr>
          <p:cNvPr id="11" name="Text 8"/>
          <p:cNvSpPr txBox="1"/>
          <p:nvPr/>
        </p:nvSpPr>
        <p:spPr>
          <a:xfrm>
            <a:off x="9144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12" name="Shape 9"/>
          <p:cNvSpPr/>
          <p:nvPr/>
        </p:nvSpPr>
        <p:spPr>
          <a:xfrm>
            <a:off x="914400" y="4453128"/>
            <a:ext cx="2103120" cy="411480"/>
          </a:xfrm>
          <a:prstGeom prst="roundRect">
            <a:avLst>
              <a:gd name="adj" fmla="val 17778"/>
            </a:avLst>
          </a:prstGeom>
          <a:solidFill>
            <a:srgbClr val="F1F5F9"/>
          </a:solidFill>
          <a:ln w="12700">
            <a:solidFill>
              <a:srgbClr val="CBD5E1"/>
            </a:solidFill>
            <a:prstDash val="solid"/>
          </a:ln>
        </p:spPr>
      </p:sp>
      <p:sp>
        <p:nvSpPr>
          <p:cNvPr id="13" name="Text 10"/>
          <p:cNvSpPr txBox="1"/>
          <p:nvPr/>
        </p:nvSpPr>
        <p:spPr>
          <a:xfrm>
            <a:off x="9144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1000, then 500</a:t>
            </a:r>
            <a:endParaRPr lang="en-US" sz="1300" dirty="0"/>
          </a:p>
        </p:txBody>
      </p:sp>
      <p:sp>
        <p:nvSpPr>
          <p:cNvPr id="14" name="Text 11"/>
          <p:cNvSpPr txBox="1"/>
          <p:nvPr/>
        </p:nvSpPr>
        <p:spPr>
          <a:xfrm>
            <a:off x="9144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15" name="Shape 12"/>
          <p:cNvSpPr/>
          <p:nvPr/>
        </p:nvSpPr>
        <p:spPr>
          <a:xfrm>
            <a:off x="914400" y="5230368"/>
            <a:ext cx="2103120" cy="640080"/>
          </a:xfrm>
          <a:prstGeom prst="roundRect">
            <a:avLst>
              <a:gd name="adj" fmla="val 11429"/>
            </a:avLst>
          </a:prstGeom>
          <a:solidFill>
            <a:srgbClr val="FFEDD5"/>
          </a:solidFill>
          <a:ln w="25400">
            <a:solidFill>
              <a:srgbClr val="F97316"/>
            </a:solidFill>
            <a:prstDash val="solid"/>
          </a:ln>
        </p:spPr>
      </p:sp>
      <p:sp>
        <p:nvSpPr>
          <p:cNvPr id="16" name="Text 13"/>
          <p:cNvSpPr txBox="1"/>
          <p:nvPr/>
        </p:nvSpPr>
        <p:spPr>
          <a:xfrm>
            <a:off x="914400" y="5230368"/>
            <a:ext cx="2103120" cy="64008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1500</a:t>
            </a:r>
            <a:endParaRPr lang="en-US" sz="1300" dirty="0"/>
          </a:p>
        </p:txBody>
      </p:sp>
      <p:sp>
        <p:nvSpPr>
          <p:cNvPr id="17" name="Shape 14"/>
          <p:cNvSpPr/>
          <p:nvPr/>
        </p:nvSpPr>
        <p:spPr>
          <a:xfrm>
            <a:off x="3429000" y="2395728"/>
            <a:ext cx="2560320" cy="3749040"/>
          </a:xfrm>
          <a:prstGeom prst="roundRect">
            <a:avLst>
              <a:gd name="adj" fmla="val 3571"/>
            </a:avLst>
          </a:prstGeom>
          <a:solidFill>
            <a:srgbClr val="FFFFFF"/>
          </a:solidFill>
          <a:ln w="19050">
            <a:solidFill>
              <a:srgbClr val="14B8A6"/>
            </a:solidFill>
            <a:prstDash val="solid"/>
          </a:ln>
        </p:spPr>
      </p:sp>
      <p:sp>
        <p:nvSpPr>
          <p:cNvPr id="18" name="Shape 15"/>
          <p:cNvSpPr/>
          <p:nvPr/>
        </p:nvSpPr>
        <p:spPr>
          <a:xfrm>
            <a:off x="3611880" y="2560320"/>
            <a:ext cx="457200" cy="457200"/>
          </a:xfrm>
          <a:prstGeom prst="ellipse">
            <a:avLst/>
          </a:prstGeom>
          <a:solidFill>
            <a:srgbClr val="14B8A6"/>
          </a:solidFill>
          <a:ln w="12700">
            <a:solidFill>
              <a:srgbClr val="FFFFFF"/>
            </a:solidFill>
            <a:prstDash val="solid"/>
          </a:ln>
        </p:spPr>
      </p:sp>
      <p:sp>
        <p:nvSpPr>
          <p:cNvPr id="19" name="Text 16"/>
          <p:cNvSpPr txBox="1"/>
          <p:nvPr/>
        </p:nvSpPr>
        <p:spPr>
          <a:xfrm>
            <a:off x="36118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0" name="Text 17"/>
          <p:cNvSpPr txBox="1"/>
          <p:nvPr/>
        </p:nvSpPr>
        <p:spPr>
          <a:xfrm>
            <a:off x="42062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Positive Salary</a:t>
            </a:r>
            <a:endParaRPr lang="en-US" sz="1600" dirty="0"/>
          </a:p>
        </p:txBody>
      </p:sp>
      <p:sp>
        <p:nvSpPr>
          <p:cNvPr id="21" name="Text 18"/>
          <p:cNvSpPr txBox="1"/>
          <p:nvPr/>
        </p:nvSpPr>
        <p:spPr>
          <a:xfrm>
            <a:off x="36576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Use a property setter that rejects a negative salary.</a:t>
            </a:r>
            <a:endParaRPr lang="en-US" sz="1350" dirty="0"/>
          </a:p>
        </p:txBody>
      </p:sp>
      <p:sp>
        <p:nvSpPr>
          <p:cNvPr id="22" name="Text 19"/>
          <p:cNvSpPr txBox="1"/>
          <p:nvPr/>
        </p:nvSpPr>
        <p:spPr>
          <a:xfrm>
            <a:off x="36576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23" name="Shape 20"/>
          <p:cNvSpPr/>
          <p:nvPr/>
        </p:nvSpPr>
        <p:spPr>
          <a:xfrm>
            <a:off x="3657600" y="4453128"/>
            <a:ext cx="2103120" cy="411480"/>
          </a:xfrm>
          <a:prstGeom prst="roundRect">
            <a:avLst>
              <a:gd name="adj" fmla="val 17778"/>
            </a:avLst>
          </a:prstGeom>
          <a:solidFill>
            <a:srgbClr val="F1F5F9"/>
          </a:solidFill>
          <a:ln w="12700">
            <a:solidFill>
              <a:srgbClr val="CBD5E1"/>
            </a:solidFill>
            <a:prstDash val="solid"/>
          </a:ln>
        </p:spPr>
      </p:sp>
      <p:sp>
        <p:nvSpPr>
          <p:cNvPr id="24" name="Text 21"/>
          <p:cNvSpPr txBox="1"/>
          <p:nvPr/>
        </p:nvSpPr>
        <p:spPr>
          <a:xfrm>
            <a:off x="36576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-5000</a:t>
            </a:r>
            <a:endParaRPr lang="en-US" sz="1300" dirty="0"/>
          </a:p>
        </p:txBody>
      </p:sp>
      <p:sp>
        <p:nvSpPr>
          <p:cNvPr id="25" name="Text 22"/>
          <p:cNvSpPr txBox="1"/>
          <p:nvPr/>
        </p:nvSpPr>
        <p:spPr>
          <a:xfrm>
            <a:off x="36576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26" name="Shape 23"/>
          <p:cNvSpPr/>
          <p:nvPr/>
        </p:nvSpPr>
        <p:spPr>
          <a:xfrm>
            <a:off x="3657600" y="5230368"/>
            <a:ext cx="2103120" cy="822960"/>
          </a:xfrm>
          <a:prstGeom prst="roundRect">
            <a:avLst>
              <a:gd name="adj" fmla="val 8889"/>
            </a:avLst>
          </a:prstGeom>
          <a:solidFill>
            <a:srgbClr val="FFEDD5"/>
          </a:solidFill>
          <a:ln w="25400">
            <a:solidFill>
              <a:srgbClr val="F97316"/>
            </a:solidFill>
            <a:prstDash val="solid"/>
          </a:ln>
        </p:spPr>
      </p:sp>
      <p:sp>
        <p:nvSpPr>
          <p:cNvPr id="27" name="Text 24"/>
          <p:cNvSpPr txBox="1"/>
          <p:nvPr/>
        </p:nvSpPr>
        <p:spPr>
          <a:xfrm>
            <a:off x="3657600" y="5230368"/>
            <a:ext cx="2103120" cy="82296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Salary must be positive</a:t>
            </a:r>
            <a:endParaRPr lang="en-US" sz="1300" dirty="0"/>
          </a:p>
        </p:txBody>
      </p:sp>
      <p:sp>
        <p:nvSpPr>
          <p:cNvPr id="28" name="Shape 25"/>
          <p:cNvSpPr/>
          <p:nvPr/>
        </p:nvSpPr>
        <p:spPr>
          <a:xfrm>
            <a:off x="6172200" y="2395728"/>
            <a:ext cx="2560320" cy="3749040"/>
          </a:xfrm>
          <a:prstGeom prst="roundRect">
            <a:avLst>
              <a:gd name="adj" fmla="val 3571"/>
            </a:avLst>
          </a:prstGeom>
          <a:solidFill>
            <a:srgbClr val="FFFFFF"/>
          </a:solidFill>
          <a:ln w="19050">
            <a:solidFill>
              <a:srgbClr val="8B5CF6"/>
            </a:solidFill>
            <a:prstDash val="solid"/>
          </a:ln>
        </p:spPr>
      </p:sp>
      <p:sp>
        <p:nvSpPr>
          <p:cNvPr id="29" name="Shape 26"/>
          <p:cNvSpPr/>
          <p:nvPr/>
        </p:nvSpPr>
        <p:spPr>
          <a:xfrm>
            <a:off x="6355080" y="2560320"/>
            <a:ext cx="457200" cy="457200"/>
          </a:xfrm>
          <a:prstGeom prst="ellipse">
            <a:avLst/>
          </a:prstGeom>
          <a:solidFill>
            <a:srgbClr val="8B5CF6"/>
          </a:solidFill>
          <a:ln w="12700">
            <a:solidFill>
              <a:srgbClr val="FFFFFF"/>
            </a:solidFill>
            <a:prstDash val="solid"/>
          </a:ln>
        </p:spPr>
      </p:sp>
      <p:sp>
        <p:nvSpPr>
          <p:cNvPr id="30" name="Text 27"/>
          <p:cNvSpPr txBox="1"/>
          <p:nvPr/>
        </p:nvSpPr>
        <p:spPr>
          <a:xfrm>
            <a:off x="63550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1" name="Text 28"/>
          <p:cNvSpPr txBox="1"/>
          <p:nvPr/>
        </p:nvSpPr>
        <p:spPr>
          <a:xfrm>
            <a:off x="69494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Speak</a:t>
            </a:r>
            <a:endParaRPr lang="en-US" sz="1600" dirty="0"/>
          </a:p>
        </p:txBody>
      </p:sp>
      <p:sp>
        <p:nvSpPr>
          <p:cNvPr id="32" name="Text 29"/>
          <p:cNvSpPr txBox="1"/>
          <p:nvPr/>
        </p:nvSpPr>
        <p:spPr>
          <a:xfrm>
            <a:off x="64008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Make Dog and Cat classes with the same method name, speak.</a:t>
            </a:r>
            <a:endParaRPr lang="en-US" sz="1350" dirty="0"/>
          </a:p>
        </p:txBody>
      </p:sp>
      <p:sp>
        <p:nvSpPr>
          <p:cNvPr id="33" name="Text 30"/>
          <p:cNvSpPr txBox="1"/>
          <p:nvPr/>
        </p:nvSpPr>
        <p:spPr>
          <a:xfrm>
            <a:off x="64008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34" name="Shape 31"/>
          <p:cNvSpPr/>
          <p:nvPr/>
        </p:nvSpPr>
        <p:spPr>
          <a:xfrm>
            <a:off x="6400800" y="4453128"/>
            <a:ext cx="2103120" cy="411480"/>
          </a:xfrm>
          <a:prstGeom prst="roundRect">
            <a:avLst>
              <a:gd name="adj" fmla="val 17778"/>
            </a:avLst>
          </a:prstGeom>
          <a:solidFill>
            <a:srgbClr val="F1F5F9"/>
          </a:solidFill>
          <a:ln w="12700">
            <a:solidFill>
              <a:srgbClr val="CBD5E1"/>
            </a:solidFill>
            <a:prstDash val="solid"/>
          </a:ln>
        </p:spPr>
      </p:sp>
      <p:sp>
        <p:nvSpPr>
          <p:cNvPr id="35" name="Text 32"/>
          <p:cNvSpPr txBox="1"/>
          <p:nvPr/>
        </p:nvSpPr>
        <p:spPr>
          <a:xfrm>
            <a:off x="64008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Dog, Cat</a:t>
            </a:r>
            <a:endParaRPr lang="en-US" sz="1300" dirty="0"/>
          </a:p>
        </p:txBody>
      </p:sp>
      <p:sp>
        <p:nvSpPr>
          <p:cNvPr id="36" name="Text 33"/>
          <p:cNvSpPr txBox="1"/>
          <p:nvPr/>
        </p:nvSpPr>
        <p:spPr>
          <a:xfrm>
            <a:off x="64008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37" name="Shape 34"/>
          <p:cNvSpPr/>
          <p:nvPr/>
        </p:nvSpPr>
        <p:spPr>
          <a:xfrm>
            <a:off x="6400800" y="5230368"/>
            <a:ext cx="2103120" cy="822960"/>
          </a:xfrm>
          <a:prstGeom prst="roundRect">
            <a:avLst>
              <a:gd name="adj" fmla="val 8889"/>
            </a:avLst>
          </a:prstGeom>
          <a:solidFill>
            <a:srgbClr val="FFEDD5"/>
          </a:solidFill>
          <a:ln w="25400">
            <a:solidFill>
              <a:srgbClr val="F97316"/>
            </a:solidFill>
            <a:prstDash val="solid"/>
          </a:ln>
        </p:spPr>
      </p:sp>
      <p:sp>
        <p:nvSpPr>
          <p:cNvPr id="38" name="Text 35"/>
          <p:cNvSpPr txBox="1"/>
          <p:nvPr/>
        </p:nvSpPr>
        <p:spPr>
          <a:xfrm>
            <a:off x="6720840" y="5230368"/>
            <a:ext cx="1463040" cy="822960"/>
          </a:xfrm>
          <a:prstGeom prst="rect">
            <a:avLst/>
          </a:prstGeom>
          <a:noFill/>
          <a:ln/>
        </p:spPr>
        <p:txBody>
          <a:bodyPr wrap="square" rtlCol="0" anchor="ctr"/>
          <a:lstStyle/>
          <a:p>
            <a:pPr algn="l" indent="0" marL="0">
              <a:buNone/>
            </a:pPr>
            <a:r>
              <a:rPr lang="en-US" sz="1300" b="1" dirty="0">
                <a:solidFill>
                  <a:srgbClr val="1E293B"/>
                </a:solidFill>
                <a:latin typeface="Consolas" pitchFamily="34" charset="0"/>
                <a:ea typeface="Consolas" pitchFamily="34" charset="-122"/>
                <a:cs typeface="Consolas" pitchFamily="34" charset="-120"/>
              </a:rPr>
              <a:t>Woof</a:t>
            </a:r>
            <a:endParaRPr lang="en-US" sz="1300" dirty="0"/>
          </a:p>
          <a:p>
            <a:pPr algn="l" indent="0" marL="0">
              <a:buNone/>
            </a:pPr>
            <a:r>
              <a:rPr lang="en-US" sz="1300" b="1" dirty="0">
                <a:solidFill>
                  <a:srgbClr val="1E293B"/>
                </a:solidFill>
                <a:latin typeface="Consolas" pitchFamily="34" charset="0"/>
                <a:ea typeface="Consolas" pitchFamily="34" charset="-122"/>
                <a:cs typeface="Consolas" pitchFamily="34" charset="-120"/>
              </a:rPr>
              <a:t>Meow</a:t>
            </a:r>
            <a:endParaRPr lang="en-US" sz="1300" dirty="0"/>
          </a:p>
        </p:txBody>
      </p:sp>
      <p:sp>
        <p:nvSpPr>
          <p:cNvPr id="39" name="Shape 36"/>
          <p:cNvSpPr/>
          <p:nvPr/>
        </p:nvSpPr>
        <p:spPr>
          <a:xfrm>
            <a:off x="8915400" y="2395728"/>
            <a:ext cx="2560320" cy="3749040"/>
          </a:xfrm>
          <a:prstGeom prst="roundRect">
            <a:avLst>
              <a:gd name="adj" fmla="val 3571"/>
            </a:avLst>
          </a:prstGeom>
          <a:solidFill>
            <a:srgbClr val="FFFFFF"/>
          </a:solidFill>
          <a:ln w="19050">
            <a:solidFill>
              <a:srgbClr val="14B8A6"/>
            </a:solidFill>
            <a:prstDash val="solid"/>
          </a:ln>
        </p:spPr>
      </p:sp>
      <p:sp>
        <p:nvSpPr>
          <p:cNvPr id="40" name="Shape 37"/>
          <p:cNvSpPr/>
          <p:nvPr/>
        </p:nvSpPr>
        <p:spPr>
          <a:xfrm>
            <a:off x="9098280" y="2560320"/>
            <a:ext cx="457200" cy="457200"/>
          </a:xfrm>
          <a:prstGeom prst="ellipse">
            <a:avLst/>
          </a:prstGeom>
          <a:solidFill>
            <a:srgbClr val="14B8A6"/>
          </a:solidFill>
          <a:ln w="12700">
            <a:solidFill>
              <a:srgbClr val="FFFFFF"/>
            </a:solidFill>
            <a:prstDash val="solid"/>
          </a:ln>
        </p:spPr>
      </p:sp>
      <p:sp>
        <p:nvSpPr>
          <p:cNvPr id="41" name="Text 38"/>
          <p:cNvSpPr txBox="1"/>
          <p:nvPr/>
        </p:nvSpPr>
        <p:spPr>
          <a:xfrm>
            <a:off x="9098280" y="25603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2" name="Text 39"/>
          <p:cNvSpPr txBox="1"/>
          <p:nvPr/>
        </p:nvSpPr>
        <p:spPr>
          <a:xfrm>
            <a:off x="9692640" y="2505456"/>
            <a:ext cx="1645920" cy="566928"/>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Printable Student</a:t>
            </a:r>
            <a:endParaRPr lang="en-US" sz="1600" dirty="0"/>
          </a:p>
        </p:txBody>
      </p:sp>
      <p:sp>
        <p:nvSpPr>
          <p:cNvPr id="43" name="Text 40"/>
          <p:cNvSpPr txBox="1"/>
          <p:nvPr/>
        </p:nvSpPr>
        <p:spPr>
          <a:xfrm>
            <a:off x="9144000" y="3172968"/>
            <a:ext cx="2103120" cy="960120"/>
          </a:xfrm>
          <a:prstGeom prst="rect">
            <a:avLst/>
          </a:prstGeom>
          <a:noFill/>
          <a:ln/>
        </p:spPr>
        <p:txBody>
          <a:bodyPr wrap="square" rtlCol="0" anchor="t"/>
          <a:lstStyle/>
          <a:p>
            <a:pPr indent="0" marL="0">
              <a:buNone/>
            </a:pPr>
            <a:r>
              <a:rPr lang="en-US" sz="1350" dirty="0">
                <a:solidFill>
                  <a:srgbClr val="64748B"/>
                </a:solidFill>
                <a:latin typeface="Calibri" pitchFamily="34" charset="0"/>
                <a:ea typeface="Calibri" pitchFamily="34" charset="-122"/>
                <a:cs typeface="Calibri" pitchFamily="34" charset="-120"/>
              </a:rPr>
              <a:t>Use __str__ so print shows the student name and marks.</a:t>
            </a:r>
            <a:endParaRPr lang="en-US" sz="1350" dirty="0"/>
          </a:p>
        </p:txBody>
      </p:sp>
      <p:sp>
        <p:nvSpPr>
          <p:cNvPr id="44" name="Text 41"/>
          <p:cNvSpPr txBox="1"/>
          <p:nvPr/>
        </p:nvSpPr>
        <p:spPr>
          <a:xfrm>
            <a:off x="9144000" y="4178808"/>
            <a:ext cx="2103120" cy="256032"/>
          </a:xfrm>
          <a:prstGeom prst="rect">
            <a:avLst/>
          </a:prstGeom>
          <a:noFill/>
          <a:ln/>
        </p:spPr>
        <p:txBody>
          <a:bodyPr wrap="square" rtlCol="0" anchor="ctr"/>
          <a:lstStyle/>
          <a:p>
            <a:pPr indent="0" marL="0">
              <a:buNone/>
            </a:pPr>
            <a:r>
              <a:rPr lang="en-US" sz="1100" b="1" spc="100" kern="0" dirty="0">
                <a:solidFill>
                  <a:srgbClr val="14B8A6"/>
                </a:solidFill>
                <a:latin typeface="Calibri" pitchFamily="34" charset="0"/>
                <a:ea typeface="Calibri" pitchFamily="34" charset="-122"/>
                <a:cs typeface="Calibri" pitchFamily="34" charset="-120"/>
              </a:rPr>
              <a:t>SAMPLE INPUT</a:t>
            </a:r>
            <a:endParaRPr lang="en-US" sz="1100" dirty="0"/>
          </a:p>
        </p:txBody>
      </p:sp>
      <p:sp>
        <p:nvSpPr>
          <p:cNvPr id="45" name="Shape 42"/>
          <p:cNvSpPr/>
          <p:nvPr/>
        </p:nvSpPr>
        <p:spPr>
          <a:xfrm>
            <a:off x="9144000" y="4453128"/>
            <a:ext cx="2103120" cy="411480"/>
          </a:xfrm>
          <a:prstGeom prst="roundRect">
            <a:avLst>
              <a:gd name="adj" fmla="val 17778"/>
            </a:avLst>
          </a:prstGeom>
          <a:solidFill>
            <a:srgbClr val="F1F5F9"/>
          </a:solidFill>
          <a:ln w="12700">
            <a:solidFill>
              <a:srgbClr val="CBD5E1"/>
            </a:solidFill>
            <a:prstDash val="solid"/>
          </a:ln>
        </p:spPr>
      </p:sp>
      <p:sp>
        <p:nvSpPr>
          <p:cNvPr id="46" name="Text 43"/>
          <p:cNvSpPr txBox="1"/>
          <p:nvPr/>
        </p:nvSpPr>
        <p:spPr>
          <a:xfrm>
            <a:off x="9144000" y="4453128"/>
            <a:ext cx="2103120" cy="411480"/>
          </a:xfrm>
          <a:prstGeom prst="rect">
            <a:avLst/>
          </a:prstGeom>
          <a:noFill/>
          <a:ln/>
        </p:spPr>
        <p:txBody>
          <a:bodyPr wrap="square" rtlCol="0" anchor="ctr"/>
          <a:lstStyle/>
          <a:p>
            <a:pPr algn="ctr" indent="0" marL="0">
              <a:buNone/>
            </a:pPr>
            <a:r>
              <a:rPr lang="en-US" sz="1300" dirty="0">
                <a:solidFill>
                  <a:srgbClr val="1E293B"/>
                </a:solidFill>
                <a:latin typeface="Consolas" pitchFamily="34" charset="0"/>
                <a:ea typeface="Consolas" pitchFamily="34" charset="-122"/>
                <a:cs typeface="Consolas" pitchFamily="34" charset="-120"/>
              </a:rPr>
              <a:t>Ravi, 90</a:t>
            </a:r>
            <a:endParaRPr lang="en-US" sz="1300" dirty="0"/>
          </a:p>
        </p:txBody>
      </p:sp>
      <p:sp>
        <p:nvSpPr>
          <p:cNvPr id="47" name="Text 44"/>
          <p:cNvSpPr txBox="1"/>
          <p:nvPr/>
        </p:nvSpPr>
        <p:spPr>
          <a:xfrm>
            <a:off x="9144000" y="4956048"/>
            <a:ext cx="2103120" cy="256032"/>
          </a:xfrm>
          <a:prstGeom prst="rect">
            <a:avLst/>
          </a:prstGeom>
          <a:noFill/>
          <a:ln/>
        </p:spPr>
        <p:txBody>
          <a:bodyPr wrap="square" rtlCol="0" anchor="ctr"/>
          <a:lstStyle/>
          <a:p>
            <a:pPr indent="0" marL="0">
              <a:buNone/>
            </a:pPr>
            <a:r>
              <a:rPr lang="en-US" sz="1100" b="1" spc="100" kern="0" dirty="0">
                <a:solidFill>
                  <a:srgbClr val="F97316"/>
                </a:solidFill>
                <a:latin typeface="Calibri" pitchFamily="34" charset="0"/>
                <a:ea typeface="Calibri" pitchFamily="34" charset="-122"/>
                <a:cs typeface="Calibri" pitchFamily="34" charset="-120"/>
              </a:rPr>
              <a:t>SAMPLE OUTPUT</a:t>
            </a:r>
            <a:endParaRPr lang="en-US" sz="1100" dirty="0"/>
          </a:p>
        </p:txBody>
      </p:sp>
      <p:sp>
        <p:nvSpPr>
          <p:cNvPr id="48" name="Shape 45"/>
          <p:cNvSpPr/>
          <p:nvPr/>
        </p:nvSpPr>
        <p:spPr>
          <a:xfrm>
            <a:off x="9144000" y="5230368"/>
            <a:ext cx="2103120" cy="640080"/>
          </a:xfrm>
          <a:prstGeom prst="roundRect">
            <a:avLst>
              <a:gd name="adj" fmla="val 11429"/>
            </a:avLst>
          </a:prstGeom>
          <a:solidFill>
            <a:srgbClr val="FFEDD5"/>
          </a:solidFill>
          <a:ln w="25400">
            <a:solidFill>
              <a:srgbClr val="F97316"/>
            </a:solidFill>
            <a:prstDash val="solid"/>
          </a:ln>
        </p:spPr>
      </p:sp>
      <p:sp>
        <p:nvSpPr>
          <p:cNvPr id="49" name="Text 46"/>
          <p:cNvSpPr txBox="1"/>
          <p:nvPr/>
        </p:nvSpPr>
        <p:spPr>
          <a:xfrm>
            <a:off x="9144000" y="5230368"/>
            <a:ext cx="2103120" cy="640080"/>
          </a:xfrm>
          <a:prstGeom prst="rect">
            <a:avLst/>
          </a:prstGeom>
          <a:noFill/>
          <a:ln/>
        </p:spPr>
        <p:txBody>
          <a:bodyPr wrap="square" rtlCol="0" anchor="ctr"/>
          <a:lstStyle/>
          <a:p>
            <a:pPr algn="ctr" indent="0" marL="0">
              <a:buNone/>
            </a:pPr>
            <a:r>
              <a:rPr lang="en-US" sz="1300" b="1" dirty="0">
                <a:solidFill>
                  <a:srgbClr val="1E293B"/>
                </a:solidFill>
                <a:latin typeface="Consolas" pitchFamily="34" charset="0"/>
                <a:ea typeface="Consolas" pitchFamily="34" charset="-122"/>
                <a:cs typeface="Consolas" pitchFamily="34" charset="-120"/>
              </a:rPr>
              <a:t>Ravi 90</a:t>
            </a:r>
            <a:endParaRPr lang="en-US" sz="1300" dirty="0"/>
          </a:p>
        </p:txBody>
      </p:sp>
      <p:sp>
        <p:nvSpPr>
          <p:cNvPr id="50" name="Text 47"/>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51" name="Text 48"/>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AFA"/>
        </a:solidFill>
      </p:bgPr>
    </p:bg>
    <p:spTree>
      <p:nvGrpSpPr>
        <p:cNvPr id="1" name=""/>
        <p:cNvGrpSpPr/>
        <p:nvPr/>
      </p:nvGrpSpPr>
      <p:grpSpPr>
        <a:xfrm>
          <a:off x="0" y="0"/>
          <a:ext cx="0" cy="0"/>
          <a:chOff x="0" y="0"/>
          <a:chExt cx="0" cy="0"/>
        </a:xfrm>
      </p:grpSpPr>
      <p:pic>
        <p:nvPicPr>
          <p:cNvPr id="2" name="Image 0" descr="assets/intellea_logo_cropped.png">    </p:cNvPr>
          <p:cNvPicPr>
            <a:picLocks noChangeAspect="1"/>
          </p:cNvPicPr>
          <p:nvPr/>
        </p:nvPicPr>
        <p:blipFill>
          <a:blip r:embed="rId1"/>
          <a:stretch>
            <a:fillRect/>
          </a:stretch>
        </p:blipFill>
        <p:spPr>
          <a:xfrm>
            <a:off x="457200" y="320040"/>
            <a:ext cx="1371600" cy="454323"/>
          </a:xfrm>
          <a:prstGeom prst="rect">
            <a:avLst/>
          </a:prstGeom>
        </p:spPr>
      </p:pic>
      <p:sp>
        <p:nvSpPr>
          <p:cNvPr id="3" name="Text 0"/>
          <p:cNvSpPr txBox="1"/>
          <p:nvPr/>
        </p:nvSpPr>
        <p:spPr>
          <a:xfrm>
            <a:off x="457200" y="1188720"/>
            <a:ext cx="91440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QUICK RECAP</a:t>
            </a:r>
            <a:endParaRPr lang="en-US" sz="1400" dirty="0"/>
          </a:p>
        </p:txBody>
      </p:sp>
      <p:sp>
        <p:nvSpPr>
          <p:cNvPr id="4" name="Text 1"/>
          <p:cNvSpPr txBox="1"/>
          <p:nvPr/>
        </p:nvSpPr>
        <p:spPr>
          <a:xfrm>
            <a:off x="457200" y="1554480"/>
            <a:ext cx="11155680" cy="822960"/>
          </a:xfrm>
          <a:prstGeom prst="rect">
            <a:avLst/>
          </a:prstGeom>
          <a:noFill/>
          <a:ln/>
        </p:spPr>
        <p:txBody>
          <a:bodyPr wrap="square" rtlCol="0" anchor="ctr"/>
          <a:lstStyle/>
          <a:p>
            <a:pPr indent="0" marL="0">
              <a:buNone/>
            </a:pPr>
            <a:r>
              <a:rPr lang="en-US" sz="3200" b="1" dirty="0">
                <a:solidFill>
                  <a:srgbClr val="1E293B"/>
                </a:solidFill>
                <a:latin typeface="Calibri" pitchFamily="34" charset="0"/>
                <a:ea typeface="Calibri" pitchFamily="34" charset="-122"/>
                <a:cs typeface="Calibri" pitchFamily="34" charset="-120"/>
              </a:rPr>
              <a:t>What Ravi Learned Today</a:t>
            </a:r>
            <a:endParaRPr lang="en-US" sz="3200" dirty="0"/>
          </a:p>
        </p:txBody>
      </p:sp>
      <p:sp>
        <p:nvSpPr>
          <p:cNvPr id="5" name="Text 2"/>
          <p:cNvSpPr txBox="1"/>
          <p:nvPr/>
        </p:nvSpPr>
        <p:spPr>
          <a:xfrm>
            <a:off x="457200" y="2286000"/>
            <a:ext cx="10515600" cy="365760"/>
          </a:xfrm>
          <a:prstGeom prst="rect">
            <a:avLst/>
          </a:prstGeom>
          <a:noFill/>
          <a:ln/>
        </p:spPr>
        <p:txBody>
          <a:bodyPr wrap="square" rtlCol="0" anchor="ctr"/>
          <a:lstStyle/>
          <a:p>
            <a:pPr indent="0" marL="0">
              <a:buNone/>
            </a:pPr>
            <a:r>
              <a:rPr lang="en-US" sz="1400" i="1" dirty="0">
                <a:solidFill>
                  <a:srgbClr val="64748B"/>
                </a:solidFill>
                <a:latin typeface="Calibri" pitchFamily="34" charset="0"/>
                <a:ea typeface="Calibri" pitchFamily="34" charset="-122"/>
                <a:cs typeface="Calibri" pitchFamily="34" charset="-120"/>
              </a:rPr>
              <a:t>Click to reveal each one.</a:t>
            </a:r>
            <a:endParaRPr lang="en-US" sz="1400" dirty="0"/>
          </a:p>
        </p:txBody>
      </p:sp>
      <p:sp>
        <p:nvSpPr>
          <p:cNvPr id="6" name="rc_8"/>
          <p:cNvSpPr/>
          <p:nvPr/>
        </p:nvSpPr>
        <p:spPr>
          <a:xfrm>
            <a:off x="457200" y="2834640"/>
            <a:ext cx="3566160" cy="2468880"/>
          </a:xfrm>
          <a:prstGeom prst="roundRect">
            <a:avLst>
              <a:gd name="adj" fmla="val 3704"/>
            </a:avLst>
          </a:prstGeom>
          <a:solidFill>
            <a:srgbClr val="F5F3FF"/>
          </a:solidFill>
          <a:ln w="12700">
            <a:solidFill>
              <a:srgbClr val="E2E8F0"/>
            </a:solidFill>
            <a:prstDash val="solid"/>
          </a:ln>
          <a:effectLst>
            <a:outerShdw sx="100000" sy="100000" kx="0" ky="0" algn="bl" rotWithShape="0" blurRad="76200" dist="25400" dir="5400000">
              <a:srgbClr val="000000">
                <a:alpha val="8000"/>
              </a:srgbClr>
            </a:outerShdw>
          </a:effectLst>
        </p:spPr>
      </p:sp>
      <p:pic>
        <p:nvPicPr>
          <p:cNvPr id="7" name="Image 1" descr="assets/icon2_lock_navy.png">    </p:cNvPr>
          <p:cNvPicPr>
            <a:picLocks noChangeAspect="1"/>
          </p:cNvPicPr>
          <p:nvPr/>
        </p:nvPicPr>
        <p:blipFill>
          <a:blip r:embed="rId2"/>
          <a:stretch>
            <a:fillRect/>
          </a:stretch>
        </p:blipFill>
        <p:spPr>
          <a:xfrm>
            <a:off x="777240" y="3154680"/>
            <a:ext cx="548640" cy="548640"/>
          </a:xfrm>
          <a:prstGeom prst="rect">
            <a:avLst/>
          </a:prstGeom>
        </p:spPr>
      </p:pic>
      <p:sp>
        <p:nvSpPr>
          <p:cNvPr id="8" name="Text 4"/>
          <p:cNvSpPr txBox="1"/>
          <p:nvPr/>
        </p:nvSpPr>
        <p:spPr>
          <a:xfrm>
            <a:off x="731520" y="3931920"/>
            <a:ext cx="3017520" cy="109728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Encapsulation protects data. Private names and @property control how it is read and changed</a:t>
            </a:r>
            <a:endParaRPr lang="en-US" sz="1600" dirty="0"/>
          </a:p>
        </p:txBody>
      </p:sp>
      <p:sp>
        <p:nvSpPr>
          <p:cNvPr id="9" name="rc_9"/>
          <p:cNvSpPr/>
          <p:nvPr/>
        </p:nvSpPr>
        <p:spPr>
          <a:xfrm>
            <a:off x="4297680" y="2834640"/>
            <a:ext cx="3566160" cy="2468880"/>
          </a:xfrm>
          <a:prstGeom prst="roundRect">
            <a:avLst>
              <a:gd name="adj" fmla="val 3704"/>
            </a:avLst>
          </a:prstGeom>
          <a:solidFill>
            <a:srgbClr val="F0FDFA"/>
          </a:solidFill>
          <a:ln w="12700">
            <a:solidFill>
              <a:srgbClr val="E2E8F0"/>
            </a:solidFill>
            <a:prstDash val="solid"/>
          </a:ln>
          <a:effectLst>
            <a:outerShdw sx="100000" sy="100000" kx="0" ky="0" algn="bl" rotWithShape="0" blurRad="76200" dist="25400" dir="5400000">
              <a:srgbClr val="000000">
                <a:alpha val="8000"/>
              </a:srgbClr>
            </a:outerShdw>
          </a:effectLst>
        </p:spPr>
      </p:sp>
      <p:pic>
        <p:nvPicPr>
          <p:cNvPr id="10" name="Image 2" descr="assets/icon2_shuffle_purple.png">    </p:cNvPr>
          <p:cNvPicPr>
            <a:picLocks noChangeAspect="1"/>
          </p:cNvPicPr>
          <p:nvPr/>
        </p:nvPicPr>
        <p:blipFill>
          <a:blip r:embed="rId3"/>
          <a:stretch>
            <a:fillRect/>
          </a:stretch>
        </p:blipFill>
        <p:spPr>
          <a:xfrm>
            <a:off x="4617720" y="3154680"/>
            <a:ext cx="548640" cy="548640"/>
          </a:xfrm>
          <a:prstGeom prst="rect">
            <a:avLst/>
          </a:prstGeom>
        </p:spPr>
      </p:pic>
      <p:sp>
        <p:nvSpPr>
          <p:cNvPr id="11" name="Text 6"/>
          <p:cNvSpPr txBox="1"/>
          <p:nvPr/>
        </p:nvSpPr>
        <p:spPr>
          <a:xfrm>
            <a:off x="4572000" y="3931920"/>
            <a:ext cx="3017520" cy="109728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Polymorphism lets one method name work differently in each class. A default value lets one method take one or two values</a:t>
            </a:r>
            <a:endParaRPr lang="en-US" sz="1600" dirty="0"/>
          </a:p>
        </p:txBody>
      </p:sp>
      <p:sp>
        <p:nvSpPr>
          <p:cNvPr id="12" name="rc_10"/>
          <p:cNvSpPr/>
          <p:nvPr/>
        </p:nvSpPr>
        <p:spPr>
          <a:xfrm>
            <a:off x="8138160" y="2834640"/>
            <a:ext cx="3566160" cy="2468880"/>
          </a:xfrm>
          <a:prstGeom prst="roundRect">
            <a:avLst>
              <a:gd name="adj" fmla="val 3704"/>
            </a:avLst>
          </a:prstGeom>
          <a:solidFill>
            <a:srgbClr val="FFF7ED"/>
          </a:solidFill>
          <a:ln w="12700">
            <a:solidFill>
              <a:srgbClr val="E2E8F0"/>
            </a:solidFill>
            <a:prstDash val="solid"/>
          </a:ln>
          <a:effectLst>
            <a:outerShdw sx="100000" sy="100000" kx="0" ky="0" algn="bl" rotWithShape="0" blurRad="76200" dist="25400" dir="5400000">
              <a:srgbClr val="000000">
                <a:alpha val="8000"/>
              </a:srgbClr>
            </a:outerShdw>
          </a:effectLst>
        </p:spPr>
      </p:sp>
      <p:pic>
        <p:nvPicPr>
          <p:cNvPr id="13" name="Image 3" descr="assets/icon2_printer_teal.png">    </p:cNvPr>
          <p:cNvPicPr>
            <a:picLocks noChangeAspect="1"/>
          </p:cNvPicPr>
          <p:nvPr/>
        </p:nvPicPr>
        <p:blipFill>
          <a:blip r:embed="rId4"/>
          <a:stretch>
            <a:fillRect/>
          </a:stretch>
        </p:blipFill>
        <p:spPr>
          <a:xfrm>
            <a:off x="8458200" y="3154680"/>
            <a:ext cx="548640" cy="548640"/>
          </a:xfrm>
          <a:prstGeom prst="rect">
            <a:avLst/>
          </a:prstGeom>
        </p:spPr>
      </p:pic>
      <p:sp>
        <p:nvSpPr>
          <p:cNvPr id="14" name="Text 8"/>
          <p:cNvSpPr txBox="1"/>
          <p:nvPr/>
        </p:nvSpPr>
        <p:spPr>
          <a:xfrm>
            <a:off x="8412480" y="3931920"/>
            <a:ext cx="3017520" cy="1097280"/>
          </a:xfrm>
          <a:prstGeom prst="rect">
            <a:avLst/>
          </a:prstGeom>
          <a:noFill/>
          <a:ln/>
        </p:spPr>
        <p:txBody>
          <a:bodyPr wrap="square"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__str__ decides the text that print shows for an object</a:t>
            </a:r>
            <a:endParaRPr lang="en-US" sz="1600" dirty="0"/>
          </a:p>
        </p:txBody>
      </p:sp>
      <p:sp>
        <p:nvSpPr>
          <p:cNvPr id="15" name="Text 9"/>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16" name="Text 10"/>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21</a:t>
            </a:r>
            <a:endParaRPr lang="en-US" sz="1000" dirty="0"/>
          </a:p>
        </p:txBody>
      </p:sp>
    </p:spTree>
  </p:cSld>
  <p:clrMapOvr>
    <a:masterClrMapping/>
  </p:clrMapOvr>
  <p:timing>
    <p:tnLst>
      <p:par>
        <p:cTn id="1" dur="indefinite" restart="never" nodeType="tmRoot">
          <p:childTnLst>
            <p:seq concurrent="1" nextAc="seek">
              <p:cTn id="2" dur="indefinite" nodeType="mainSeq">
                <p:childTnLst>
                  <p:par>
                    <p:cTn id="100" presetID="1" presetClass="entr" presetSubtype="0" fill="hold" nodeType="clickEffect">
                      <p:stCondLst>
                        <p:cond delay="0"/>
                      </p:stCondLst>
                      <p:childTnLst>
                        <p:set>
                          <p:cBhvr>
                            <p:cTn id="101" dur="1" fill="hold">
                              <p:stCondLst>
                                <p:cond delay="0"/>
                              </p:stCondLst>
                            </p:cTn>
                            <p:tgtEl>
                              <p:spTgt spid="6"/>
                            </p:tgtEl>
                            <p:attrNameLst>
                              <p:attrName>style.visibility</p:attrName>
                            </p:attrNameLst>
                          </p:cBhvr>
                          <p:to>
                            <p:strVal val="visible"/>
                          </p:to>
                        </p:set>
                        <p:anim calcmode="lin" valueType="num">
                          <p:cBhvr>
                            <p:cTn id="102" dur="500" fill="hold"/>
                            <p:tgtEl>
                              <p:spTgt spid="6"/>
                            </p:tgtEl>
                            <p:attrNameLst>
                              <p:attrName>ppt_opacity</p:attrName>
                            </p:attrNameLst>
                          </p:cBhvr>
                          <p:tavLst>
                            <p:tav tm="0">
                              <p:val>
                                <p:fltVal val="0"/>
                              </p:val>
                            </p:tav>
                            <p:tav tm="100000">
                              <p:val>
                                <p:fltVal val="1"/>
                              </p:val>
                            </p:tav>
                          </p:tavLst>
                        </p:anim>
                      </p:childTnLst>
                    </p:cTn>
                  </p:par>
                  <p:par>
                    <p:cTn id="110" presetID="1" presetClass="entr" presetSubtype="0" fill="hold" nodeType="clickEffect">
                      <p:stCondLst>
                        <p:cond delay="0"/>
                      </p:stCondLst>
                      <p:childTnLst>
                        <p:set>
                          <p:cBhvr>
                            <p:cTn id="111" dur="1" fill="hold">
                              <p:stCondLst>
                                <p:cond delay="0"/>
                              </p:stCondLst>
                            </p:cTn>
                            <p:tgtEl>
                              <p:spTgt spid="9"/>
                            </p:tgtEl>
                            <p:attrNameLst>
                              <p:attrName>style.visibility</p:attrName>
                            </p:attrNameLst>
                          </p:cBhvr>
                          <p:to>
                            <p:strVal val="visible"/>
                          </p:to>
                        </p:set>
                        <p:anim calcmode="lin" valueType="num">
                          <p:cBhvr>
                            <p:cTn id="112" dur="500" fill="hold"/>
                            <p:tgtEl>
                              <p:spTgt spid="9"/>
                            </p:tgtEl>
                            <p:attrNameLst>
                              <p:attrName>ppt_opacity</p:attrName>
                            </p:attrNameLst>
                          </p:cBhvr>
                          <p:tavLst>
                            <p:tav tm="0">
                              <p:val>
                                <p:fltVal val="0"/>
                              </p:val>
                            </p:tav>
                            <p:tav tm="100000">
                              <p:val>
                                <p:fltVal val="1"/>
                              </p:val>
                            </p:tav>
                          </p:tavLst>
                        </p:anim>
                      </p:childTnLst>
                    </p:cTn>
                  </p:par>
                  <p:par>
                    <p:cTn id="120" presetID="1" presetClass="entr" presetSubtype="0" fill="hold" nodeType="clickEffect">
                      <p:stCondLst>
                        <p:cond delay="0"/>
                      </p:stCondLst>
                      <p:childTnLst>
                        <p:set>
                          <p:cBhvr>
                            <p:cTn id="121" dur="1" fill="hold">
                              <p:stCondLst>
                                <p:cond delay="0"/>
                              </p:stCondLst>
                            </p:cTn>
                            <p:tgtEl>
                              <p:spTgt spid="12"/>
                            </p:tgtEl>
                            <p:attrNameLst>
                              <p:attrName>style.visibility</p:attrName>
                            </p:attrNameLst>
                          </p:cBhvr>
                          <p:to>
                            <p:strVal val="visible"/>
                          </p:to>
                        </p:set>
                        <p:anim calcmode="lin" valueType="num">
                          <p:cBhvr>
                            <p:cTn id="122" dur="500" fill="hold"/>
                            <p:tgtEl>
                              <p:spTgt spid="12"/>
                            </p:tgtEl>
                            <p:attrNameLst>
                              <p:attrName>ppt_opacity</p:attrName>
                            </p:attrNameLst>
                          </p:cBhvr>
                          <p:tavLst>
                            <p:tav tm="0">
                              <p:val>
                                <p:fltVal val="0"/>
                              </p:val>
                            </p:tav>
                            <p:tav tm="100000">
                              <p:val>
                                <p:fltVal val="1"/>
                              </p:val>
                            </p:tav>
                          </p:tavLst>
                        </p:anim>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pic>
        <p:nvPicPr>
          <p:cNvPr id="2" name="Image 0" descr="assets/bloom_purple.png">    </p:cNvPr>
          <p:cNvPicPr>
            <a:picLocks noChangeAspect="1"/>
          </p:cNvPicPr>
          <p:nvPr/>
        </p:nvPicPr>
        <p:blipFill>
          <a:blip r:embed="rId1"/>
          <a:stretch>
            <a:fillRect/>
          </a:stretch>
        </p:blipFill>
        <p:spPr>
          <a:xfrm>
            <a:off x="-1828800" y="-1828800"/>
            <a:ext cx="6858000" cy="6858000"/>
          </a:xfrm>
          <a:prstGeom prst="rect">
            <a:avLst/>
          </a:prstGeom>
        </p:spPr>
      </p:pic>
      <p:pic>
        <p:nvPicPr>
          <p:cNvPr id="3" name="Image 1" descr="assets/bloom_pink.png">    </p:cNvPr>
          <p:cNvPicPr>
            <a:picLocks noChangeAspect="1"/>
          </p:cNvPicPr>
          <p:nvPr/>
        </p:nvPicPr>
        <p:blipFill>
          <a:blip r:embed="rId2"/>
          <a:stretch>
            <a:fillRect/>
          </a:stretch>
        </p:blipFill>
        <p:spPr>
          <a:xfrm>
            <a:off x="7772400" y="2286000"/>
            <a:ext cx="6400800" cy="6400800"/>
          </a:xfrm>
          <a:prstGeom prst="rect">
            <a:avLst/>
          </a:prstGeom>
        </p:spPr>
      </p:pic>
      <p:sp>
        <p:nvSpPr>
          <p:cNvPr id="4" name="Text 0"/>
          <p:cNvSpPr txBox="1"/>
          <p:nvPr/>
        </p:nvSpPr>
        <p:spPr>
          <a:xfrm>
            <a:off x="457200" y="320040"/>
            <a:ext cx="2286000" cy="457200"/>
          </a:xfrm>
          <a:prstGeom prst="rect">
            <a:avLst/>
          </a:prstGeom>
          <a:noFill/>
          <a:ln/>
        </p:spPr>
        <p:txBody>
          <a:bodyPr wrap="square"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intellea</a:t>
            </a:r>
            <a:endParaRPr lang="en-US" sz="2200" dirty="0"/>
          </a:p>
        </p:txBody>
      </p:sp>
      <p:sp>
        <p:nvSpPr>
          <p:cNvPr id="5" name="Text 1"/>
          <p:cNvSpPr txBox="1"/>
          <p:nvPr/>
        </p:nvSpPr>
        <p:spPr>
          <a:xfrm>
            <a:off x="457200" y="1371600"/>
            <a:ext cx="10058400" cy="365760"/>
          </a:xfrm>
          <a:prstGeom prst="rect">
            <a:avLst/>
          </a:prstGeom>
          <a:noFill/>
          <a:ln/>
        </p:spPr>
        <p:txBody>
          <a:bodyPr wrap="square" rtlCol="0" anchor="ctr"/>
          <a:lstStyle/>
          <a:p>
            <a:pPr indent="0" marL="0">
              <a:buNone/>
            </a:pPr>
            <a:r>
              <a:rPr lang="en-US" sz="1400" b="1" spc="200" kern="0" dirty="0">
                <a:solidFill>
                  <a:srgbClr val="8B5CF6"/>
                </a:solidFill>
                <a:latin typeface="Calibri" pitchFamily="34" charset="0"/>
                <a:ea typeface="Calibri" pitchFamily="34" charset="-122"/>
                <a:cs typeface="Calibri" pitchFamily="34" charset="-120"/>
              </a:rPr>
              <a:t>WEEK 3  ·  DAY 13 COMPLETE</a:t>
            </a:r>
            <a:endParaRPr lang="en-US" sz="1400" dirty="0"/>
          </a:p>
        </p:txBody>
      </p:sp>
      <p:sp>
        <p:nvSpPr>
          <p:cNvPr id="6" name="Text 2"/>
          <p:cNvSpPr txBox="1"/>
          <p:nvPr/>
        </p:nvSpPr>
        <p:spPr>
          <a:xfrm>
            <a:off x="457200" y="1737360"/>
            <a:ext cx="10515600" cy="82296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Great Work Today</a:t>
            </a:r>
            <a:endParaRPr lang="en-US" sz="3600" dirty="0"/>
          </a:p>
        </p:txBody>
      </p:sp>
      <p:sp>
        <p:nvSpPr>
          <p:cNvPr id="7" name="Text 3"/>
          <p:cNvSpPr txBox="1"/>
          <p:nvPr/>
        </p:nvSpPr>
        <p:spPr>
          <a:xfrm>
            <a:off x="457200" y="2651760"/>
            <a:ext cx="10515600" cy="731520"/>
          </a:xfrm>
          <a:prstGeom prst="rect">
            <a:avLst/>
          </a:prstGeom>
          <a:noFill/>
          <a:ln/>
        </p:spPr>
        <p:txBody>
          <a:bodyPr wrap="square" rtlCol="0" anchor="ctr"/>
          <a:lstStyle/>
          <a:p>
            <a:pPr indent="0" marL="0">
              <a:buNone/>
            </a:pPr>
            <a:r>
              <a:rPr lang="en-US" sz="1700" dirty="0">
                <a:solidFill>
                  <a:srgbClr val="CBD5E1"/>
                </a:solidFill>
                <a:latin typeface="Calibri" pitchFamily="34" charset="0"/>
                <a:ea typeface="Calibri" pitchFamily="34" charset="-122"/>
                <a:cs typeface="Calibri" pitchFamily="34" charset="-120"/>
              </a:rPr>
              <a:t>Ravi can now protect data inside classes, reuse one method name across classes and print objects clearly.</a:t>
            </a:r>
            <a:endParaRPr lang="en-US" sz="1700" dirty="0"/>
          </a:p>
        </p:txBody>
      </p:sp>
      <p:sp>
        <p:nvSpPr>
          <p:cNvPr id="8" name="rc_next"/>
          <p:cNvSpPr/>
          <p:nvPr/>
        </p:nvSpPr>
        <p:spPr>
          <a:xfrm>
            <a:off x="457200" y="3657600"/>
            <a:ext cx="11247120" cy="2377440"/>
          </a:xfrm>
          <a:prstGeom prst="roundRect">
            <a:avLst>
              <a:gd name="adj" fmla="val 3846"/>
            </a:avLst>
          </a:prstGeom>
          <a:solidFill>
            <a:srgbClr val="1E1B4B"/>
          </a:solidFill>
          <a:ln w="12700">
            <a:solidFill>
              <a:srgbClr val="6D28D9"/>
            </a:solidFill>
            <a:prstDash val="solid"/>
          </a:ln>
          <a:effectLst>
            <a:outerShdw sx="100000" sy="100000" kx="0" ky="0" algn="bl" rotWithShape="0" blurRad="76200" dist="25400" dir="5400000">
              <a:srgbClr val="000000">
                <a:alpha val="8000"/>
              </a:srgbClr>
            </a:outerShdw>
          </a:effectLst>
        </p:spPr>
      </p:sp>
      <p:sp>
        <p:nvSpPr>
          <p:cNvPr id="9" name="Text 5"/>
          <p:cNvSpPr txBox="1"/>
          <p:nvPr/>
        </p:nvSpPr>
        <p:spPr>
          <a:xfrm>
            <a:off x="914400" y="3931920"/>
            <a:ext cx="9601200" cy="365760"/>
          </a:xfrm>
          <a:prstGeom prst="rect">
            <a:avLst/>
          </a:prstGeom>
          <a:noFill/>
          <a:ln/>
        </p:spPr>
        <p:txBody>
          <a:bodyPr wrap="square" rtlCol="0" anchor="ctr"/>
          <a:lstStyle/>
          <a:p>
            <a:pPr indent="0" marL="0">
              <a:buNone/>
            </a:pPr>
            <a:r>
              <a:rPr lang="en-US" sz="1300" b="1" spc="200" kern="0" dirty="0">
                <a:solidFill>
                  <a:srgbClr val="8B5CF6"/>
                </a:solidFill>
                <a:latin typeface="Calibri" pitchFamily="34" charset="0"/>
                <a:ea typeface="Calibri" pitchFamily="34" charset="-122"/>
                <a:cs typeface="Calibri" pitchFamily="34" charset="-120"/>
              </a:rPr>
              <a:t>COMING UP NEXT, DAY 14</a:t>
            </a:r>
            <a:endParaRPr lang="en-US" sz="1300" dirty="0"/>
          </a:p>
        </p:txBody>
      </p:sp>
      <p:sp>
        <p:nvSpPr>
          <p:cNvPr id="10" name="Text 6"/>
          <p:cNvSpPr txBox="1"/>
          <p:nvPr/>
        </p:nvSpPr>
        <p:spPr>
          <a:xfrm>
            <a:off x="914400" y="4297680"/>
            <a:ext cx="10332720" cy="7315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Abstraction and Python Advanced</a:t>
            </a:r>
            <a:endParaRPr lang="en-US" sz="2800" dirty="0"/>
          </a:p>
        </p:txBody>
      </p:sp>
      <p:sp>
        <p:nvSpPr>
          <p:cNvPr id="11" name="Text 7"/>
          <p:cNvSpPr txBox="1"/>
          <p:nvPr/>
        </p:nvSpPr>
        <p:spPr>
          <a:xfrm>
            <a:off x="914400" y="5074920"/>
            <a:ext cx="9875520" cy="731520"/>
          </a:xfrm>
          <a:prstGeom prst="rect">
            <a:avLst/>
          </a:prstGeom>
          <a:noFill/>
          <a:ln/>
        </p:spPr>
        <p:txBody>
          <a:bodyPr wrap="square" rtlCol="0" anchor="ctr"/>
          <a:lstStyle/>
          <a:p>
            <a:pPr indent="0" marL="0">
              <a:buNone/>
            </a:pPr>
            <a:r>
              <a:rPr lang="en-US" sz="1600" dirty="0">
                <a:solidFill>
                  <a:srgbClr val="CBD5E1"/>
                </a:solidFill>
                <a:latin typeface="Calibri" pitchFamily="34" charset="0"/>
                <a:ea typeface="Calibri" pitchFamily="34" charset="-122"/>
                <a:cs typeface="Calibri" pitchFamily="34" charset="-120"/>
              </a:rPr>
              <a:t>Tomorrow, Ravi learns to hide complex work behind a simple design, and then explores iterators, generators and decorators.</a:t>
            </a:r>
            <a:endParaRPr lang="en-US" sz="1600" dirty="0"/>
          </a:p>
        </p:txBody>
      </p:sp>
      <p:sp>
        <p:nvSpPr>
          <p:cNvPr id="12" name="Text 8"/>
          <p:cNvSpPr txBox="1"/>
          <p:nvPr/>
        </p:nvSpPr>
        <p:spPr>
          <a:xfrm>
            <a:off x="457200" y="6446520"/>
            <a:ext cx="73152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OOP Advanced  ·  Week 3  ·  Day 13</a:t>
            </a:r>
            <a:endParaRPr lang="en-US" sz="1000" dirty="0"/>
          </a:p>
        </p:txBody>
      </p:sp>
      <p:sp>
        <p:nvSpPr>
          <p:cNvPr id="13" name="Text 9"/>
          <p:cNvSpPr txBox="1"/>
          <p:nvPr/>
        </p:nvSpPr>
        <p:spPr>
          <a:xfrm>
            <a:off x="11277295" y="644652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2026-10-29T05:30:39Z</dcterms:created>
  <dcterms:modified xsi:type="dcterms:W3CDTF">2026-10-29T05:30:39Z</dcterms:modified>
</cp:coreProperties>
</file>